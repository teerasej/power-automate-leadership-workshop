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db3f66618a4a0a" /><Relationship Type="http://schemas.openxmlformats.org/officeDocument/2006/relationships/extended-properties" Target="/docProps/app.xml" Id="R3013083bffdb4652" /><Relationship Type="http://schemas.openxmlformats.org/officeDocument/2006/relationships/officeDocument" Target="/ppt/presentation.xml" Id="Rd51e8d9a576342e2" /></Relationships>
</file>

<file path=ppt/presentation.xml><?xml version="1.0" encoding="utf-8"?>
<p:presentation xmlns:p="http://schemas.openxmlformats.org/presentationml/2006/main">
  <p:sldMasterIdLst>
    <p:sldMasterId xmlns:r="http://schemas.openxmlformats.org/officeDocument/2006/relationships" id="2147483648" r:id="R387b8a2ef3a64d73"/>
  </p:sldMasterIdLst>
  <p:notesMasterIdLst>
    <p:notesMasterId xmlns:r="http://schemas.openxmlformats.org/officeDocument/2006/relationships" r:id="Ra31009ea0273445e"/>
  </p:notesMasterIdLst>
  <p:sldIdLst>
    <p:sldId xmlns:r="http://schemas.openxmlformats.org/officeDocument/2006/relationships" id="256" r:id="Re98b1bf89ec940e4"/>
    <p:sldId xmlns:r="http://schemas.openxmlformats.org/officeDocument/2006/relationships" id="257" r:id="Ra82a13c2d0f84bf3"/>
    <p:sldId xmlns:r="http://schemas.openxmlformats.org/officeDocument/2006/relationships" id="258" r:id="R51589c130fce4617"/>
    <p:sldId xmlns:r="http://schemas.openxmlformats.org/officeDocument/2006/relationships" id="259" r:id="R1deb7cd8e7834c2f"/>
    <p:sldId xmlns:r="http://schemas.openxmlformats.org/officeDocument/2006/relationships" id="260" r:id="R1f6e04814cbc4c32"/>
    <p:sldId xmlns:r="http://schemas.openxmlformats.org/officeDocument/2006/relationships" id="261" r:id="Rd25e8f7340f840c1"/>
    <p:sldId xmlns:r="http://schemas.openxmlformats.org/officeDocument/2006/relationships" id="262" r:id="R6652a51cbbca4fff"/>
    <p:sldId xmlns:r="http://schemas.openxmlformats.org/officeDocument/2006/relationships" id="263" r:id="R8c885fb5cf374ef3"/>
    <p:sldId xmlns:r="http://schemas.openxmlformats.org/officeDocument/2006/relationships" id="264" r:id="R8918b8a36ef74717"/>
    <p:sldId xmlns:r="http://schemas.openxmlformats.org/officeDocument/2006/relationships" id="265" r:id="Ra4f18e7a1b654cde"/>
    <p:sldId xmlns:r="http://schemas.openxmlformats.org/officeDocument/2006/relationships" id="266" r:id="R6415e9f93b6045c7"/>
    <p:sldId xmlns:r="http://schemas.openxmlformats.org/officeDocument/2006/relationships" id="267" r:id="Red95e41c67854cc2"/>
    <p:sldId xmlns:r="http://schemas.openxmlformats.org/officeDocument/2006/relationships" id="268" r:id="R7d7dd1f73ca64f98"/>
    <p:sldId xmlns:r="http://schemas.openxmlformats.org/officeDocument/2006/relationships" id="269" r:id="R1a5db45d3e164ebb"/>
    <p:sldId xmlns:r="http://schemas.openxmlformats.org/officeDocument/2006/relationships" id="270" r:id="Re9251449b3e54041"/>
    <p:sldId xmlns:r="http://schemas.openxmlformats.org/officeDocument/2006/relationships" id="271" r:id="Rafeb969269ef4664"/>
    <p:sldId xmlns:r="http://schemas.openxmlformats.org/officeDocument/2006/relationships" id="272" r:id="Rd1cdde1a921a4d7a"/>
    <p:sldId xmlns:r="http://schemas.openxmlformats.org/officeDocument/2006/relationships" id="273" r:id="R1f52c0d5a63f493c"/>
    <p:sldId xmlns:r="http://schemas.openxmlformats.org/officeDocument/2006/relationships" id="274" r:id="Rc24a69fcc1ba46e1"/>
    <p:sldId xmlns:r="http://schemas.openxmlformats.org/officeDocument/2006/relationships" id="275" r:id="R53d6f77390994f1b"/>
    <p:sldId xmlns:r="http://schemas.openxmlformats.org/officeDocument/2006/relationships" id="276" r:id="R203216f9ca654baf"/>
    <p:sldId xmlns:r="http://schemas.openxmlformats.org/officeDocument/2006/relationships" id="277" r:id="R37b21cbccfcb44cf"/>
    <p:sldId xmlns:r="http://schemas.openxmlformats.org/officeDocument/2006/relationships" id="278" r:id="Rd3ff85d6eeb1486e"/>
    <p:sldId xmlns:r="http://schemas.openxmlformats.org/officeDocument/2006/relationships" id="279" r:id="R6066317a9b074441"/>
    <p:sldId xmlns:r="http://schemas.openxmlformats.org/officeDocument/2006/relationships" id="280" r:id="Re8d21318d7e44350"/>
    <p:sldId xmlns:r="http://schemas.openxmlformats.org/officeDocument/2006/relationships" id="281" r:id="R2a6a4d60dd1d405a"/>
    <p:sldId xmlns:r="http://schemas.openxmlformats.org/officeDocument/2006/relationships" id="282" r:id="R151e03930f6e4525"/>
    <p:sldId xmlns:r="http://schemas.openxmlformats.org/officeDocument/2006/relationships" id="283" r:id="R1cde968f79f54871"/>
    <p:sldId xmlns:r="http://schemas.openxmlformats.org/officeDocument/2006/relationships" id="284" r:id="R9fc74d123ce04f27"/>
    <p:sldId xmlns:r="http://schemas.openxmlformats.org/officeDocument/2006/relationships" id="285" r:id="R12d9d190343d4507"/>
    <p:sldId xmlns:r="http://schemas.openxmlformats.org/officeDocument/2006/relationships" id="286" r:id="R9c455bed92964043"/>
    <p:sldId xmlns:r="http://schemas.openxmlformats.org/officeDocument/2006/relationships" id="287" r:id="R9a703c95fb034a94"/>
    <p:sldId xmlns:r="http://schemas.openxmlformats.org/officeDocument/2006/relationships" id="288" r:id="Rc22759967e124c02"/>
    <p:sldId xmlns:r="http://schemas.openxmlformats.org/officeDocument/2006/relationships" id="289" r:id="Rca95e030df474bf4"/>
    <p:sldId xmlns:r="http://schemas.openxmlformats.org/officeDocument/2006/relationships" id="290" r:id="R0994e0aa6d514efe"/>
    <p:sldId xmlns:r="http://schemas.openxmlformats.org/officeDocument/2006/relationships" id="291" r:id="Rcb30ca4d23ed4de7"/>
    <p:sldId xmlns:r="http://schemas.openxmlformats.org/officeDocument/2006/relationships" id="292" r:id="R2c273123998f46bb"/>
    <p:sldId xmlns:r="http://schemas.openxmlformats.org/officeDocument/2006/relationships" id="293" r:id="Rc35241367c4f42d3"/>
    <p:sldId xmlns:r="http://schemas.openxmlformats.org/officeDocument/2006/relationships" id="294" r:id="Rb95b00b34bd04e83"/>
    <p:sldId xmlns:r="http://schemas.openxmlformats.org/officeDocument/2006/relationships" id="295" r:id="R03c8bd6bdab346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dbe9ca21f4470d" /><Relationship Type="http://schemas.openxmlformats.org/officeDocument/2006/relationships/slideMaster" Target="/ppt/slideMasters/slideMaster1.xml" Id="R387b8a2ef3a64d73" /><Relationship Type="http://schemas.openxmlformats.org/officeDocument/2006/relationships/notesMaster" Target="/ppt/notesMasters/notesMaster1.xml" Id="Ra31009ea0273445e" /><Relationship Type="http://schemas.openxmlformats.org/officeDocument/2006/relationships/presProps" Target="/ppt/presProps.xml" Id="R956be3dab1514fe0" /><Relationship Type="http://schemas.openxmlformats.org/officeDocument/2006/relationships/tableStyles" Target="/ppt/tableStyles.xml" Id="R0716e3044d47425d" /><Relationship Type="http://schemas.openxmlformats.org/officeDocument/2006/relationships/slide" Target="/ppt/slides/slide1.xml" Id="Re98b1bf89ec940e4" /><Relationship Type="http://schemas.openxmlformats.org/officeDocument/2006/relationships/slide" Target="/ppt/slides/slide2.xml" Id="Ra82a13c2d0f84bf3" /><Relationship Type="http://schemas.openxmlformats.org/officeDocument/2006/relationships/slide" Target="/ppt/slides/slide3.xml" Id="R51589c130fce4617" /><Relationship Type="http://schemas.openxmlformats.org/officeDocument/2006/relationships/slide" Target="/ppt/slides/slide4.xml" Id="R1deb7cd8e7834c2f" /><Relationship Type="http://schemas.openxmlformats.org/officeDocument/2006/relationships/slide" Target="/ppt/slides/slide5.xml" Id="R1f6e04814cbc4c32" /><Relationship Type="http://schemas.openxmlformats.org/officeDocument/2006/relationships/slide" Target="/ppt/slides/slide6.xml" Id="Rd25e8f7340f840c1" /><Relationship Type="http://schemas.openxmlformats.org/officeDocument/2006/relationships/slide" Target="/ppt/slides/slide7.xml" Id="R6652a51cbbca4fff" /><Relationship Type="http://schemas.openxmlformats.org/officeDocument/2006/relationships/slide" Target="/ppt/slides/slide8.xml" Id="R8c885fb5cf374ef3" /><Relationship Type="http://schemas.openxmlformats.org/officeDocument/2006/relationships/slide" Target="/ppt/slides/slide9.xml" Id="R8918b8a36ef74717" /><Relationship Type="http://schemas.openxmlformats.org/officeDocument/2006/relationships/slide" Target="/ppt/slides/slide10.xml" Id="Ra4f18e7a1b654cde" /><Relationship Type="http://schemas.openxmlformats.org/officeDocument/2006/relationships/slide" Target="/ppt/slides/slide11.xml" Id="R6415e9f93b6045c7" /><Relationship Type="http://schemas.openxmlformats.org/officeDocument/2006/relationships/slide" Target="/ppt/slides/slide12.xml" Id="Red95e41c67854cc2" /><Relationship Type="http://schemas.openxmlformats.org/officeDocument/2006/relationships/slide" Target="/ppt/slides/slide13.xml" Id="R7d7dd1f73ca64f98" /><Relationship Type="http://schemas.openxmlformats.org/officeDocument/2006/relationships/slide" Target="/ppt/slides/slide14.xml" Id="R1a5db45d3e164ebb" /><Relationship Type="http://schemas.openxmlformats.org/officeDocument/2006/relationships/slide" Target="/ppt/slides/slide15.xml" Id="Re9251449b3e54041" /><Relationship Type="http://schemas.openxmlformats.org/officeDocument/2006/relationships/slide" Target="/ppt/slides/slide16.xml" Id="Rafeb969269ef4664" /><Relationship Type="http://schemas.openxmlformats.org/officeDocument/2006/relationships/slide" Target="/ppt/slides/slide17.xml" Id="Rd1cdde1a921a4d7a" /><Relationship Type="http://schemas.openxmlformats.org/officeDocument/2006/relationships/slide" Target="/ppt/slides/slide18.xml" Id="R1f52c0d5a63f493c" /><Relationship Type="http://schemas.openxmlformats.org/officeDocument/2006/relationships/slide" Target="/ppt/slides/slide19.xml" Id="Rc24a69fcc1ba46e1" /><Relationship Type="http://schemas.openxmlformats.org/officeDocument/2006/relationships/slide" Target="/ppt/slides/slide20.xml" Id="R53d6f77390994f1b" /><Relationship Type="http://schemas.openxmlformats.org/officeDocument/2006/relationships/slide" Target="/ppt/slides/slide21.xml" Id="R203216f9ca654baf" /><Relationship Type="http://schemas.openxmlformats.org/officeDocument/2006/relationships/slide" Target="/ppt/slides/slide22.xml" Id="R37b21cbccfcb44cf" /><Relationship Type="http://schemas.openxmlformats.org/officeDocument/2006/relationships/slide" Target="/ppt/slides/slide23.xml" Id="Rd3ff85d6eeb1486e" /><Relationship Type="http://schemas.openxmlformats.org/officeDocument/2006/relationships/slide" Target="/ppt/slides/slide24.xml" Id="R6066317a9b074441" /><Relationship Type="http://schemas.openxmlformats.org/officeDocument/2006/relationships/slide" Target="/ppt/slides/slide25.xml" Id="Re8d21318d7e44350" /><Relationship Type="http://schemas.openxmlformats.org/officeDocument/2006/relationships/slide" Target="/ppt/slides/slide26.xml" Id="R2a6a4d60dd1d405a" /><Relationship Type="http://schemas.openxmlformats.org/officeDocument/2006/relationships/slide" Target="/ppt/slides/slide27.xml" Id="R151e03930f6e4525" /><Relationship Type="http://schemas.openxmlformats.org/officeDocument/2006/relationships/slide" Target="/ppt/slides/slide28.xml" Id="R1cde968f79f54871" /><Relationship Type="http://schemas.openxmlformats.org/officeDocument/2006/relationships/slide" Target="/ppt/slides/slide29.xml" Id="R9fc74d123ce04f27" /><Relationship Type="http://schemas.openxmlformats.org/officeDocument/2006/relationships/slide" Target="/ppt/slides/slide30.xml" Id="R12d9d190343d4507" /><Relationship Type="http://schemas.openxmlformats.org/officeDocument/2006/relationships/slide" Target="/ppt/slides/slide31.xml" Id="R9c455bed92964043" /><Relationship Type="http://schemas.openxmlformats.org/officeDocument/2006/relationships/slide" Target="/ppt/slides/slide32.xml" Id="R9a703c95fb034a94" /><Relationship Type="http://schemas.openxmlformats.org/officeDocument/2006/relationships/slide" Target="/ppt/slides/slide33.xml" Id="Rc22759967e124c02" /><Relationship Type="http://schemas.openxmlformats.org/officeDocument/2006/relationships/slide" Target="/ppt/slides/slide34.xml" Id="Rca95e030df474bf4" /><Relationship Type="http://schemas.openxmlformats.org/officeDocument/2006/relationships/slide" Target="/ppt/slides/slide35.xml" Id="R0994e0aa6d514efe" /><Relationship Type="http://schemas.openxmlformats.org/officeDocument/2006/relationships/slide" Target="/ppt/slides/slide36.xml" Id="Rcb30ca4d23ed4de7" /><Relationship Type="http://schemas.openxmlformats.org/officeDocument/2006/relationships/slide" Target="/ppt/slides/slide37.xml" Id="R2c273123998f46bb" /><Relationship Type="http://schemas.openxmlformats.org/officeDocument/2006/relationships/slide" Target="/ppt/slides/slide38.xml" Id="Rc35241367c4f42d3" /><Relationship Type="http://schemas.openxmlformats.org/officeDocument/2006/relationships/slide" Target="/ppt/slides/slide39.xml" Id="Rb95b00b34bd04e83" /><Relationship Type="http://schemas.openxmlformats.org/officeDocument/2006/relationships/slide" Target="/ppt/slides/slide40.xml" Id="R03c8bd6bdab346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5cfd5b108741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288fd7a2d334314" /><Relationship Type="http://schemas.openxmlformats.org/officeDocument/2006/relationships/notesMaster" Target="/ppt/notesMasters/notesMaster1.xml" Id="Rfd11d3838c93478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608f5abd99f4ee1" /><Relationship Type="http://schemas.openxmlformats.org/officeDocument/2006/relationships/notesMaster" Target="/ppt/notesMasters/notesMaster1.xml" Id="Rab568342e7ec4d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4100faa7184ddf" /><Relationship Type="http://schemas.openxmlformats.org/officeDocument/2006/relationships/notesMaster" Target="/ppt/notesMasters/notesMaster1.xml" Id="R1c927e3150e24b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23e2b2828648ff" /><Relationship Type="http://schemas.openxmlformats.org/officeDocument/2006/relationships/notesMaster" Target="/ppt/notesMasters/notesMaster1.xml" Id="R6a8e1c4092f646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3e70a2a5854af3" /><Relationship Type="http://schemas.openxmlformats.org/officeDocument/2006/relationships/notesMaster" Target="/ppt/notesMasters/notesMaster1.xml" Id="Re2b3cc4bbe50401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21c5542806436a" /><Relationship Type="http://schemas.openxmlformats.org/officeDocument/2006/relationships/notesMaster" Target="/ppt/notesMasters/notesMaster1.xml" Id="R52451e56d41945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bd7fe9a7fc4d31" /><Relationship Type="http://schemas.openxmlformats.org/officeDocument/2006/relationships/notesMaster" Target="/ppt/notesMasters/notesMaster1.xml" Id="R39163dbad8a74d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b5485d1ed04f81" /><Relationship Type="http://schemas.openxmlformats.org/officeDocument/2006/relationships/notesMaster" Target="/ppt/notesMasters/notesMaster1.xml" Id="Ra5db3a6ccf2042a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cd3fb231494fcd" /><Relationship Type="http://schemas.openxmlformats.org/officeDocument/2006/relationships/notesMaster" Target="/ppt/notesMasters/notesMaster1.xml" Id="Rc40b145e778e45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6262e8520344a3" /><Relationship Type="http://schemas.openxmlformats.org/officeDocument/2006/relationships/notesMaster" Target="/ppt/notesMasters/notesMaster1.xml" Id="Rb9ac63204bdc432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0b291c7f3c4704" /><Relationship Type="http://schemas.openxmlformats.org/officeDocument/2006/relationships/notesMaster" Target="/ppt/notesMasters/notesMaster1.xml" Id="R024b97604c284c7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56f03e311924cc9" /><Relationship Type="http://schemas.openxmlformats.org/officeDocument/2006/relationships/notesMaster" Target="/ppt/notesMasters/notesMaster1.xml" Id="Rcc5ee34f97c242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145a4da29f84afb" /><Relationship Type="http://schemas.openxmlformats.org/officeDocument/2006/relationships/notesMaster" Target="/ppt/notesMasters/notesMaster1.xml" Id="Reb43b3299a5c46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c0d95dafef04e44" /><Relationship Type="http://schemas.openxmlformats.org/officeDocument/2006/relationships/notesMaster" Target="/ppt/notesMasters/notesMaster1.xml" Id="R95955f491418442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ce2fdd339424825" /><Relationship Type="http://schemas.openxmlformats.org/officeDocument/2006/relationships/notesMaster" Target="/ppt/notesMasters/notesMaster1.xml" Id="R3908fb683673411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b064dcef9774a01" /><Relationship Type="http://schemas.openxmlformats.org/officeDocument/2006/relationships/notesMaster" Target="/ppt/notesMasters/notesMaster1.xml" Id="Rbc4fd0e202ba493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d77340bed6b430b" /><Relationship Type="http://schemas.openxmlformats.org/officeDocument/2006/relationships/notesMaster" Target="/ppt/notesMasters/notesMaster1.xml" Id="R6eb349364b28428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1443734ceab42b7" /><Relationship Type="http://schemas.openxmlformats.org/officeDocument/2006/relationships/notesMaster" Target="/ppt/notesMasters/notesMaster1.xml" Id="R62ce411d5bbe43f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4ab99790f734cd5" /><Relationship Type="http://schemas.openxmlformats.org/officeDocument/2006/relationships/notesMaster" Target="/ppt/notesMasters/notesMaster1.xml" Id="R59e73cd2ac134ec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527fe37380a4f98" /><Relationship Type="http://schemas.openxmlformats.org/officeDocument/2006/relationships/notesMaster" Target="/ppt/notesMasters/notesMaster1.xml" Id="Rc49e4950cf9644b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beb53cf034b4d45" /><Relationship Type="http://schemas.openxmlformats.org/officeDocument/2006/relationships/notesMaster" Target="/ppt/notesMasters/notesMaster1.xml" Id="Rb04dc496ecdc4b5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75274cd42934a9d" /><Relationship Type="http://schemas.openxmlformats.org/officeDocument/2006/relationships/notesMaster" Target="/ppt/notesMasters/notesMaster1.xml" Id="Rcebd91ee6fe844a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7a9e139d94f4e91" /><Relationship Type="http://schemas.openxmlformats.org/officeDocument/2006/relationships/notesMaster" Target="/ppt/notesMasters/notesMaster1.xml" Id="R2bd16ce5c764479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7c29cfb07104640" /><Relationship Type="http://schemas.openxmlformats.org/officeDocument/2006/relationships/notesMaster" Target="/ppt/notesMasters/notesMaster1.xml" Id="Rebfed16008da474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6fc465fe97d476d" /><Relationship Type="http://schemas.openxmlformats.org/officeDocument/2006/relationships/notesMaster" Target="/ppt/notesMasters/notesMaster1.xml" Id="R6f82fb990ba142e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b50c8d03fed04362" /><Relationship Type="http://schemas.openxmlformats.org/officeDocument/2006/relationships/notesMaster" Target="/ppt/notesMasters/notesMaster1.xml" Id="R67b565fe91ca4bf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1931629cb874b3a" /><Relationship Type="http://schemas.openxmlformats.org/officeDocument/2006/relationships/notesMaster" Target="/ppt/notesMasters/notesMaster1.xml" Id="R675e6551232440d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8b7f90dded849e1" /><Relationship Type="http://schemas.openxmlformats.org/officeDocument/2006/relationships/notesMaster" Target="/ppt/notesMasters/notesMaster1.xml" Id="R8562eabb6168419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35fa1a713f34e88" /><Relationship Type="http://schemas.openxmlformats.org/officeDocument/2006/relationships/notesMaster" Target="/ppt/notesMasters/notesMaster1.xml" Id="Rbc0503b521ea4f9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e3e793aac71441c" /><Relationship Type="http://schemas.openxmlformats.org/officeDocument/2006/relationships/notesMaster" Target="/ppt/notesMasters/notesMaster1.xml" Id="Rb43c6904ac634ad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cdbbcca2489452f" /><Relationship Type="http://schemas.openxmlformats.org/officeDocument/2006/relationships/notesMaster" Target="/ppt/notesMasters/notesMaster1.xml" Id="R0425b91e580647e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32a5437afe4447c" /><Relationship Type="http://schemas.openxmlformats.org/officeDocument/2006/relationships/notesMaster" Target="/ppt/notesMasters/notesMaster1.xml" Id="Rba80081ab0674c7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a580d5fdb72d4037" /><Relationship Type="http://schemas.openxmlformats.org/officeDocument/2006/relationships/notesMaster" Target="/ppt/notesMasters/notesMaster1.xml" Id="Rd21c424e62f743c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b9233e41eef4787" /><Relationship Type="http://schemas.openxmlformats.org/officeDocument/2006/relationships/notesMaster" Target="/ppt/notesMasters/notesMaster1.xml" Id="R7fffc17777d84cf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bb57aa787114580" /><Relationship Type="http://schemas.openxmlformats.org/officeDocument/2006/relationships/notesMaster" Target="/ppt/notesMasters/notesMaster1.xml" Id="R51d5db57b5d74b6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bc0060386f84987" /><Relationship Type="http://schemas.openxmlformats.org/officeDocument/2006/relationships/notesMaster" Target="/ppt/notesMasters/notesMaster1.xml" Id="Re216dfd9cfe548f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7a6471b58174d5e" /><Relationship Type="http://schemas.openxmlformats.org/officeDocument/2006/relationships/notesMaster" Target="/ppt/notesMasters/notesMaster1.xml" Id="R345084fcb656440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200964f493444e7a" /><Relationship Type="http://schemas.openxmlformats.org/officeDocument/2006/relationships/notesMaster" Target="/ppt/notesMasters/notesMaster1.xml" Id="R5daa86de3fd748b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18a84ddcca2d489e" /><Relationship Type="http://schemas.openxmlformats.org/officeDocument/2006/relationships/notesMaster" Target="/ppt/notesMasters/notesMaster1.xml" Id="Ra46a1b3037124c14"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3e4200197b74258" /><Relationship Type="http://schemas.openxmlformats.org/officeDocument/2006/relationships/notesMaster" Target="/ppt/notesMasters/notesMaster1.xml" Id="R53f6d663291f41c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09:00–09:05; 5 minutes.</a:t>
            </a:r>
          </a:p>
          <a:p xmlns:a="http://schemas.openxmlformats.org/drawingml/2006/main">
            <a:r>
              <a:t/>
            </a:r>
          </a:p>
          <a:p xmlns:a="http://schemas.openxmlformats.org/drawingml/2006/main">
            <a:r>
              <a:t>Think of one repetitive task. Work in groups of 4–6. Begin with discussion and paper design. In the final block, use a safe photo and any available image-capable Generative AI tool to improve the map before presenting it.</a:t>
            </a:r>
          </a:p>
          <a:p xmlns:a="http://schemas.openxmlformats.org/drawingml/2006/main">
            <a:r>
              <a:t/>
            </a:r>
          </a:p>
          <a:p xmlns:a="http://schemas.openxmlformats.org/drawingml/2006/main">
            <a:r>
              <a:t>Learning content: Strategic Automation Leadership / Batch 1</a:t>
            </a:r>
          </a:p>
          <a:p xmlns:a="http://schemas.openxmlformats.org/drawingml/2006/main">
            <a:r>
              <a:t/>
            </a:r>
          </a:p>
          <a:p xmlns:a="http://schemas.openxmlformats.org/drawingml/2006/main">
            <a:r>
              <a:t>Visual explanation: Power Automate for leaders. Strategic Automation Leadership. Batch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09:05–09:10; 5 minutes.</a:t>
            </a:r>
          </a:p>
          <a:p xmlns:a="http://schemas.openxmlformats.org/drawingml/2006/main">
            <a:r>
              <a:t/>
            </a:r>
          </a:p>
          <a:p xmlns:a="http://schemas.openxmlformats.org/drawingml/2006/main">
            <a:r>
              <a:t>Connect available pre-survey findings to the day without exposing individual responses. If findings are unavailable, use the fictional training-request case. Carry one safe scenario through all five Exercises. The day contains three Modules, four Delivery blocks, five Exercises, and focused Practices.</a:t>
            </a:r>
          </a:p>
          <a:p xmlns:a="http://schemas.openxmlformats.org/drawingml/2006/main">
            <a:r>
              <a:t/>
            </a:r>
          </a:p>
          <a:p xmlns:a="http://schemas.openxmlformats.org/drawingml/2006/main">
            <a:r>
              <a:t>Learning content: One justified opportunity / A physical Flow-card draft / An improved flipchart flow map / A Leadership Handover Card</a:t>
            </a:r>
          </a:p>
          <a:p xmlns:a="http://schemas.openxmlformats.org/drawingml/2006/main">
            <a:r>
              <a:t/>
            </a:r>
          </a:p>
          <a:p xmlns:a="http://schemas.openxmlformats.org/drawingml/2006/main">
            <a:r>
              <a:t>Visual explanation: Your end-of-day outputs. One justified opportunity. A physical Flow-card draft. An improved flipchart flow map. A Leadership Handover Card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09:10–09:15; 5 minutes.</a:t>
            </a:r>
          </a:p>
          <a:p xmlns:a="http://schemas.openxmlformats.org/drawingml/2006/main">
            <a:r>
              <a:t/>
            </a:r>
          </a:p>
          <a:p xmlns:a="http://schemas.openxmlformats.org/drawingml/2006/main">
            <a:r>
              <a:t>Power Automate supports workflows across connected services. This workshop focuses on cloud-flow concepts. The proposed process still needs suitable data, permissions, connections, and responsible people.</a:t>
            </a:r>
          </a:p>
          <a:p xmlns:a="http://schemas.openxmlformats.org/drawingml/2006/main">
            <a:r>
              <a:t/>
            </a:r>
          </a:p>
          <a:p xmlns:a="http://schemas.openxmlformats.org/drawingml/2006/main">
            <a:r>
              <a:t>Learning content: A start event / Steps governed by agreed rules / An outcome that can be checked</a:t>
            </a:r>
          </a:p>
          <a:p xmlns:a="http://schemas.openxmlformats.org/drawingml/2006/main">
            <a:r>
              <a:t/>
            </a:r>
          </a:p>
          <a:p xmlns:a="http://schemas.openxmlformats.org/drawingml/2006/main">
            <a:r>
              <a:t>Visual explanation: Power Automate in everyday work. A start event. Steps governed by agreed rules. An outcome that can be checked</a:t>
            </a:r>
          </a:p>
          <a:p xmlns:a="http://schemas.openxmlformats.org/drawingml/2006/main">
            <a:r>
              <a:t/>
            </a:r>
          </a:p>
          <a:p xmlns:a="http://schemas.openxmlformats.org/drawingml/2006/main">
            <a:r>
              <a:t>Source: https://learn.microsoft.com/en-us/power-automate/triggers-introduction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09:15–09:17; 2 minutes.</a:t>
            </a:r>
          </a:p>
          <a:p xmlns:a="http://schemas.openxmlformats.org/drawingml/2006/main">
            <a:r>
              <a:t/>
            </a:r>
          </a:p>
          <a:p xmlns:a="http://schemas.openxmlformats.org/drawingml/2006/main">
            <a:r>
              <a:t>A repeatable recipe helps coordinate work. An allergy exception needs a responsible person to check the details. Use the analogy to distinguish an agreed rule from business judgement.</a:t>
            </a:r>
          </a:p>
          <a:p xmlns:a="http://schemas.openxmlformats.org/drawingml/2006/main">
            <a:r>
              <a:t/>
            </a:r>
          </a:p>
          <a:p xmlns:a="http://schemas.openxmlformats.org/drawingml/2006/main">
            <a:r>
              <a:t>Learning content: Which tasks follow a recipe? / Which exceptions need a person?</a:t>
            </a:r>
          </a:p>
          <a:p xmlns:a="http://schemas.openxmlformats.org/drawingml/2006/main">
            <a:r>
              <a:t/>
            </a:r>
          </a:p>
          <a:p xmlns:a="http://schemas.openxmlformats.org/drawingml/2006/main">
            <a:r>
              <a:t>Visual explanation: A kitchen analogy. Which tasks follow a recipe?. Which exceptions need a 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09:17–09:20; 3 minutes.</a:t>
            </a:r>
          </a:p>
          <a:p xmlns:a="http://schemas.openxmlformats.org/drawingml/2006/main">
            <a:r>
              <a:t/>
            </a:r>
          </a:p>
          <a:p xmlns:a="http://schemas.openxmlformats.org/drawingml/2006/main">
            <a:r>
              <a:t>The AI-generated fictional kitchen image illustrates a chef checking an order before serving it. It is not a photograph of a real workshop. Connect this to checking missing information before routing a request.</a:t>
            </a:r>
          </a:p>
          <a:p xmlns:a="http://schemas.openxmlformats.org/drawingml/2006/main">
            <a:r>
              <a:t/>
            </a:r>
          </a:p>
          <a:p xmlns:a="http://schemas.openxmlformats.org/drawingml/2006/main">
            <a:r>
              <a:t>Learning content: Routine steps can follow rules / Exceptions need an accountable person</a:t>
            </a:r>
          </a:p>
          <a:p xmlns:a="http://schemas.openxmlformats.org/drawingml/2006/main">
            <a:r>
              <a:t/>
            </a:r>
          </a:p>
          <a:p xmlns:a="http://schemas.openxmlformats.org/drawingml/2006/main">
            <a:r>
              <a:t>Visual explanation: People check exceptions. Routine steps can follow rules. Exceptions need an accountable person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09:20–09:25; 5 minutes.</a:t>
            </a:r>
          </a:p>
          <a:p xmlns:a="http://schemas.openxmlformats.org/drawingml/2006/main">
            <a:r>
              <a:t/>
            </a:r>
          </a:p>
          <a:p xmlns:a="http://schemas.openxmlformats.org/drawingml/2006/main">
            <a:r>
              <a:t>These are examples of tasks available through suitable services and connectors. They do not prove that a particular organisation has enabled the required connections or permissions.</a:t>
            </a:r>
          </a:p>
          <a:p xmlns:a="http://schemas.openxmlformats.org/drawingml/2006/main">
            <a:r>
              <a:t/>
            </a:r>
          </a:p>
          <a:p xmlns:a="http://schemas.openxmlformats.org/drawingml/2006/main">
            <a:r>
              <a:t>Learning content: Route requests / Send notifications / Update information</a:t>
            </a:r>
          </a:p>
          <a:p xmlns:a="http://schemas.openxmlformats.org/drawingml/2006/main">
            <a:r>
              <a:t/>
            </a:r>
          </a:p>
          <a:p xmlns:a="http://schemas.openxmlformats.org/drawingml/2006/main">
            <a:r>
              <a:t>Visual explanation: Common workflow tasks. Route requests. Send notifications. Update information</a:t>
            </a:r>
          </a:p>
          <a:p xmlns:a="http://schemas.openxmlformats.org/drawingml/2006/main">
            <a:r>
              <a:t/>
            </a:r>
          </a:p>
          <a:p xmlns:a="http://schemas.openxmlformats.org/drawingml/2006/main">
            <a:r>
              <a:t>Source: https://learn.microsoft.com/en-us/power-automate/triggers-introduction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09:25–09:30; 5 minutes.</a:t>
            </a:r>
          </a:p>
          <a:p xmlns:a="http://schemas.openxmlformats.org/drawingml/2006/main">
            <a:r>
              <a:t/>
            </a:r>
          </a:p>
          <a:p xmlns:a="http://schemas.openxmlformats.org/drawingml/2006/main">
            <a:r>
              <a:t>In this workshop, the manager retains the approval decision. Automation may route the request and communicate the decision once available. It does not replace the accountable role.</a:t>
            </a:r>
          </a:p>
          <a:p xmlns:a="http://schemas.openxmlformats.org/drawingml/2006/main">
            <a:r>
              <a:t/>
            </a:r>
          </a:p>
          <a:p xmlns:a="http://schemas.openxmlformats.org/drawingml/2006/main">
            <a:r>
              <a:t>Learning content: Systems carry out configured steps / People own business decisions / Verify access and information</a:t>
            </a:r>
          </a:p>
          <a:p xmlns:a="http://schemas.openxmlformats.org/drawingml/2006/main">
            <a:r>
              <a:t/>
            </a:r>
          </a:p>
          <a:p xmlns:a="http://schemas.openxmlformats.org/drawingml/2006/main">
            <a:r>
              <a:t>Visual explanation: Rules and human judgement. Systems carry out configured steps. People own business decisions. Verify access and information</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09:30–09:35; 5 minutes.</a:t>
            </a:r>
          </a:p>
          <a:p xmlns:a="http://schemas.openxmlformats.org/drawingml/2006/main">
            <a:r>
              <a:t/>
            </a:r>
          </a:p>
          <a:p xmlns:a="http://schemas.openxmlformats.org/drawingml/2006/main">
            <a:r>
              <a:t>Project and read the complete simplified case aloud. Participants do not open a file. The process is fictional and supports rehearsal; it is not a live tenant demonstration.</a:t>
            </a:r>
          </a:p>
          <a:p xmlns:a="http://schemas.openxmlformats.org/drawingml/2006/main">
            <a:r>
              <a:t/>
            </a:r>
          </a:p>
          <a:p xmlns:a="http://schemas.openxmlformats.org/drawingml/2006/main">
            <a:r>
              <a:t>Learning content: Requester submits required details / Coordinator checks completeness / Coordinator records the request / Manager approves or rejects / Coordinator notifies the requester</a:t>
            </a:r>
          </a:p>
          <a:p xmlns:a="http://schemas.openxmlformats.org/drawingml/2006/main">
            <a:r>
              <a:t/>
            </a:r>
          </a:p>
          <a:p xmlns:a="http://schemas.openxmlformats.org/drawingml/2006/main">
            <a:r>
              <a:t>Visual explanation: The fictional training request. Requester submits required details. Coordinator checks completeness. Coordinator records the request. Manager approves or rejects. Coordinator notifies the requester</a:t>
            </a:r>
          </a:p>
          <a:p xmlns:a="http://schemas.openxmlformats.org/drawingml/2006/main">
            <a:r>
              <a:t/>
            </a:r>
          </a:p>
          <a:p xmlns:a="http://schemas.openxmlformats.org/drawingml/2006/main">
            <a:r>
              <a:t>Participant instruction: exercises/01-understand-automation/README.md</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09:35–09:50; 15 minutes.</a:t>
            </a:r>
          </a:p>
          <a:p xmlns:a="http://schemas.openxmlformats.org/drawingml/2006/main">
            <a:r>
              <a:t/>
            </a:r>
          </a:p>
          <a:p xmlns:a="http://schemas.openxmlformats.org/drawingml/2006/main">
            <a:r>
              <a:t>Exercise 1 Practice 1. Give each group the first flipchart sheet. Participants post one repeated step each, then agree on one step to explore. Complete the other three areas with sticky notes and add one expected benefit at the bottom. Label the benefit as expected, not measured.</a:t>
            </a:r>
          </a:p>
          <a:p xmlns:a="http://schemas.openxmlformats.org/drawingml/2006/main">
            <a:r>
              <a:t/>
            </a:r>
          </a:p>
          <a:p xmlns:a="http://schemas.openxmlformats.org/drawingml/2006/main">
            <a:r>
              <a:t>Learning content: Current repeated step / System could support / Human decision / Check before trial / Expected benefit</a:t>
            </a:r>
          </a:p>
          <a:p xmlns:a="http://schemas.openxmlformats.org/drawingml/2006/main">
            <a:r>
              <a:t/>
            </a:r>
          </a:p>
          <a:p xmlns:a="http://schemas.openxmlformats.org/drawingml/2006/main">
            <a:r>
              <a:t>Visual explanation: The flipchart before-and-after canvas. Current repeated step. System could support. Human decision. Check before trial. Expected benefit</a:t>
            </a:r>
          </a:p>
          <a:p xmlns:a="http://schemas.openxmlformats.org/drawingml/2006/main">
            <a:r>
              <a:t/>
            </a:r>
          </a:p>
          <a:p xmlns:a="http://schemas.openxmlformats.org/drawingml/2006/main">
            <a:r>
              <a:t>Participant instruction: exercises/01-understand-automation/README.md</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09:50–10:00; 10 minutes.</a:t>
            </a:r>
          </a:p>
          <a:p xmlns:a="http://schemas.openxmlformats.org/drawingml/2006/main">
            <a:r>
              <a:t/>
            </a:r>
          </a:p>
          <a:p xmlns:a="http://schemas.openxmlformats.org/drawingml/2006/main">
            <a:r>
              <a:t>Exercise 1 Practice 2, first 10 minutes. Project and read each prompt aloud. Apply the guide in order: unknown rule, access, or responsible person means More information needed; judgement or approval means Human decision needed; clear rules and access mean System can help. Expected classifications are A: system, B: human, and C: system. Require one reason for every placement.</a:t>
            </a:r>
          </a:p>
          <a:p xmlns:a="http://schemas.openxmlformats.org/drawingml/2006/main">
            <a:r>
              <a:t/>
            </a:r>
          </a:p>
          <a:p xmlns:a="http://schemas.openxmlformats.org/drawingml/2006/main">
            <a:r>
              <a:t>Learning content: A: A request arrives in the approved mailbox. Notify the coordinator. / B: A request does not match an agreed rule. A manager must decide whether it is suitable. / C: The date is blank. The agreed rule says to ask the requester for it.</a:t>
            </a:r>
          </a:p>
          <a:p xmlns:a="http://schemas.openxmlformats.org/drawingml/2006/main">
            <a:r>
              <a:t/>
            </a:r>
          </a:p>
          <a:p xmlns:a="http://schemas.openxmlformats.org/drawingml/2006/main">
            <a:r>
              <a:t>Visual explanation: Scenario prompts A–C. A: A request arrives in the approved mailbox. Notify the coordinator.. B: A request does not match an agreed rule. A manager must decide whether it is suitable.. C: The date is blank. The agreed rule says to ask the requester for it.</a:t>
            </a:r>
          </a:p>
          <a:p xmlns:a="http://schemas.openxmlformats.org/drawingml/2006/main">
            <a:r>
              <a:t/>
            </a:r>
          </a:p>
          <a:p xmlns:a="http://schemas.openxmlformats.org/drawingml/2006/main">
            <a:r>
              <a:t>Participant instruction: exercises/01-understand-automation/README.md</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10:00–10:10; 10 minutes.</a:t>
            </a:r>
          </a:p>
          <a:p xmlns:a="http://schemas.openxmlformats.org/drawingml/2006/main">
            <a:r>
              <a:t/>
            </a:r>
          </a:p>
          <a:p xmlns:a="http://schemas.openxmlformats.org/drawingml/2006/main">
            <a:r>
              <a:t>Exercise 1 Practice 2, second 10 minutes. Project and read each prompt aloud. Expected classifications are D: more information, E: system, and F: human. For D, groups name the missing access information and a verification owner. For F, clarify that routing an approval request differs from making the approval decision. Require one reason for every placement.</a:t>
            </a:r>
          </a:p>
          <a:p xmlns:a="http://schemas.openxmlformats.org/drawingml/2006/main">
            <a:r>
              <a:t/>
            </a:r>
          </a:p>
          <a:p xmlns:a="http://schemas.openxmlformats.org/drawingml/2006/main">
            <a:r>
              <a:t>Learning content: D: Copy data from another system. Access has not been confirmed. / E: At the agreed time, remind the agreed person about a waiting request. / F: The manager has not decided. Tell the requester it is approved.</a:t>
            </a:r>
          </a:p>
          <a:p xmlns:a="http://schemas.openxmlformats.org/drawingml/2006/main">
            <a:r>
              <a:t/>
            </a:r>
          </a:p>
          <a:p xmlns:a="http://schemas.openxmlformats.org/drawingml/2006/main">
            <a:r>
              <a:t>Visual explanation: Scenario prompts D–F. D: Copy data from another system. Access has not been confirmed.. E: At the agreed time, remind the agreed person about a waiting request.. F: The manager has not decided. Tell the requester it is approved.</a:t>
            </a:r>
          </a:p>
          <a:p xmlns:a="http://schemas.openxmlformats.org/drawingml/2006/main">
            <a:r>
              <a:t/>
            </a:r>
          </a:p>
          <a:p xmlns:a="http://schemas.openxmlformats.org/drawingml/2006/main">
            <a:r>
              <a:t>Participant instruction: exercises/01-understand-automation/README.md</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10:10–10:25; 15 minutes.</a:t>
            </a:r>
          </a:p>
          <a:p xmlns:a="http://schemas.openxmlformats.org/drawingml/2006/main">
            <a:r>
              <a:t/>
            </a:r>
          </a:p>
          <a:p xmlns:a="http://schemas.openxmlformats.org/drawingml/2006/main">
            <a:r>
              <a:t>Separate product facts from tenant readiness and business policy. Record unknowns with a responsible role instead of guessing.</a:t>
            </a:r>
          </a:p>
          <a:p xmlns:a="http://schemas.openxmlformats.org/drawingml/2006/main">
            <a:r>
              <a:t/>
            </a:r>
          </a:p>
          <a:p xmlns:a="http://schemas.openxmlformats.org/drawingml/2006/main">
            <a:r>
              <a:t>Learning content: What could the system support? / Which rule or detail remains unclear? / What must the process owner or IT confirm?</a:t>
            </a:r>
          </a:p>
          <a:p xmlns:a="http://schemas.openxmlformats.org/drawingml/2006/main">
            <a:r>
              <a:t/>
            </a:r>
          </a:p>
          <a:p xmlns:a="http://schemas.openxmlformats.org/drawingml/2006/main">
            <a:r>
              <a:t>Visual explanation: Questions from the groups. What could the system support?. Which rule or detail remains unclear?. What must the process owner or IT confirm?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1; 10:25–10:30; 5 minutes.</a:t>
            </a:r>
          </a:p>
          <a:p xmlns:a="http://schemas.openxmlformats.org/drawingml/2006/main">
            <a:r>
              <a:t/>
            </a:r>
          </a:p>
          <a:p xmlns:a="http://schemas.openxmlformats.org/drawingml/2006/main">
            <a:r>
              <a:t>Describe one potential benefit and one boundary. Break from 10:30 to 10:45.</a:t>
            </a:r>
          </a:p>
          <a:p xmlns:a="http://schemas.openxmlformats.org/drawingml/2006/main">
            <a:r>
              <a:t/>
            </a:r>
          </a:p>
          <a:p xmlns:a="http://schemas.openxmlformats.org/drawingml/2006/main">
            <a:r>
              <a:t>Learning content: Systems support repeatable rules / People retain accountability / After the break: test your understanding</a:t>
            </a:r>
          </a:p>
          <a:p xmlns:a="http://schemas.openxmlformats.org/drawingml/2006/main">
            <a:r>
              <a:t/>
            </a:r>
          </a:p>
          <a:p xmlns:a="http://schemas.openxmlformats.org/drawingml/2006/main">
            <a:r>
              <a:t>Visual explanation: Block 1 checkpoint. Systems support repeatable rules. People retain accountability. After the break: test your understanding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10:45–11:00; 15 minutes.</a:t>
            </a:r>
          </a:p>
          <a:p xmlns:a="http://schemas.openxmlformats.org/drawingml/2006/main">
            <a:r>
              <a:t/>
            </a:r>
          </a:p>
          <a:p xmlns:a="http://schemas.openxmlformats.org/drawingml/2006/main">
            <a:r>
              <a:t>Exercise 1 Practice 3. Each participant answers the three projected questions on separate sticky notes, compares with a partner, and revises the reasoning. This is a formative check rather than the full pre/post assessment.</a:t>
            </a:r>
          </a:p>
          <a:p xmlns:a="http://schemas.openxmlformats.org/drawingml/2006/main">
            <a:r>
              <a:t/>
            </a:r>
          </a:p>
          <a:p xmlns:a="http://schemas.openxmlformats.org/drawingml/2006/main">
            <a:r>
              <a:t>Learning content: Routine copying or undefined exceptions? / Do reminders alone remove a delay? / What must be checked before connecting a system?</a:t>
            </a:r>
          </a:p>
          <a:p xmlns:a="http://schemas.openxmlformats.org/drawingml/2006/main">
            <a:r>
              <a:t/>
            </a:r>
          </a:p>
          <a:p xmlns:a="http://schemas.openxmlformats.org/drawingml/2006/main">
            <a:r>
              <a:t>Visual explanation: Knowledge check. Routine copying or undefined exceptions?. Do reminders alone remove a delay?. What must be checked before connecting a system?</a:t>
            </a:r>
          </a:p>
          <a:p xmlns:a="http://schemas.openxmlformats.org/drawingml/2006/main">
            <a:r>
              <a:t/>
            </a:r>
          </a:p>
          <a:p xmlns:a="http://schemas.openxmlformats.org/drawingml/2006/main">
            <a:r>
              <a:t>Participant instruction: exercises/01-understand-automation/README.md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11:00–11:05; 5 minutes.</a:t>
            </a:r>
          </a:p>
          <a:p xmlns:a="http://schemas.openxmlformats.org/drawingml/2006/main">
            <a:r>
              <a:t/>
            </a:r>
          </a:p>
          <a:p xmlns:a="http://schemas.openxmlformats.org/drawingml/2006/main">
            <a:r>
              <a:t>Complete the knowledge check on the A4 sheet. Each group records one supported fact and one open question with the role that must verify it. Demystifying Power Automate ends at 11:05, after 110 teaching minutes.</a:t>
            </a:r>
          </a:p>
          <a:p xmlns:a="http://schemas.openxmlformats.org/drawingml/2006/main">
            <a:r>
              <a:t/>
            </a:r>
          </a:p>
          <a:p xmlns:a="http://schemas.openxmlformats.org/drawingml/2006/main">
            <a:r>
              <a:t>Learning content: Known fact / Open question / Verification owner</a:t>
            </a:r>
          </a:p>
          <a:p xmlns:a="http://schemas.openxmlformats.org/drawingml/2006/main">
            <a:r>
              <a:t/>
            </a:r>
          </a:p>
          <a:p xmlns:a="http://schemas.openxmlformats.org/drawingml/2006/main">
            <a:r>
              <a:t>Visual explanation: Known facts and open questions. Known fact. Open question. Verification owner</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11:05–11:08; 3 minutes.</a:t>
            </a:r>
          </a:p>
          <a:p xmlns:a="http://schemas.openxmlformats.org/drawingml/2006/main">
            <a:r>
              <a:t/>
            </a:r>
          </a:p>
          <a:p xmlns:a="http://schemas.openxmlformats.org/drawingml/2006/main">
            <a:r>
              <a:t>Understand the current process before proposing technology. A delay may reflect unclear decision criteria, not simply a missing notification.</a:t>
            </a:r>
          </a:p>
          <a:p xmlns:a="http://schemas.openxmlformats.org/drawingml/2006/main">
            <a:r>
              <a:t/>
            </a:r>
          </a:p>
          <a:p xmlns:a="http://schemas.openxmlformats.org/drawingml/2006/main">
            <a:r>
              <a:t>Learning content: Map the work as it happens / Show handovers and waiting / Connect pain points to evidence</a:t>
            </a:r>
          </a:p>
          <a:p xmlns:a="http://schemas.openxmlformats.org/drawingml/2006/main">
            <a:r>
              <a:t/>
            </a:r>
          </a:p>
          <a:p xmlns:a="http://schemas.openxmlformats.org/drawingml/2006/main">
            <a:r>
              <a:t>Visual explanation: Unlocking Operational Bottlenecks. Map the work as it happens. Show handovers and waiting. Connect pain points to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11:08–11:15; 7 minutes.</a:t>
            </a:r>
          </a:p>
          <a:p xmlns:a="http://schemas.openxmlformats.org/drawingml/2006/main">
            <a:r>
              <a:t/>
            </a:r>
          </a:p>
          <a:p xmlns:a="http://schemas.openxmlformats.org/drawingml/2006/main">
            <a:r>
              <a:t>The diagram shows the fictional current process. The waiting points are investigation prompts, not a claim that automation will solve every delay.</a:t>
            </a:r>
          </a:p>
          <a:p xmlns:a="http://schemas.openxmlformats.org/drawingml/2006/main">
            <a:r>
              <a:t/>
            </a:r>
          </a:p>
          <a:p xmlns:a="http://schemas.openxmlformats.org/drawingml/2006/main">
            <a:r>
              <a:t>Learning content: Missing information blocks progress / Waiting for a decision is a separate issue / Locate the problem before proposing a solution</a:t>
            </a:r>
          </a:p>
          <a:p xmlns:a="http://schemas.openxmlformats.org/drawingml/2006/main">
            <a:r>
              <a:t/>
            </a:r>
          </a:p>
          <a:p xmlns:a="http://schemas.openxmlformats.org/drawingml/2006/main">
            <a:r>
              <a:t>Visual explanation: Where requests wait. Missing information blocks progress. Waiting for a decision is a separate issue. Locate the problem before proposing a solution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11:15–11:30; 15 minutes.</a:t>
            </a:r>
          </a:p>
          <a:p xmlns:a="http://schemas.openxmlformats.org/drawingml/2006/main">
            <a:r>
              <a:t/>
            </a:r>
          </a:p>
          <a:p xmlns:a="http://schemas.openxmlformats.org/drawingml/2006/main">
            <a:r>
              <a:t>Exercise 2 Practice 1. Use ordinary sticky notes, one action per note. Require the information or status received and passed on at every handover. Do not introduce Flow cards during current-process mapping.</a:t>
            </a:r>
          </a:p>
          <a:p xmlns:a="http://schemas.openxmlformats.org/drawingml/2006/main">
            <a:r>
              <a:t/>
            </a:r>
          </a:p>
          <a:p xmlns:a="http://schemas.openxmlformats.org/drawingml/2006/main">
            <a:r>
              <a:t>Learning content: Agree the start and end / Map 5–8 steps / Show information or status at each handover / Name each responsible role</a:t>
            </a:r>
          </a:p>
          <a:p xmlns:a="http://schemas.openxmlformats.org/drawingml/2006/main">
            <a:r>
              <a:t/>
            </a:r>
          </a:p>
          <a:p xmlns:a="http://schemas.openxmlformats.org/drawingml/2006/main">
            <a:r>
              <a:t>Visual explanation: Current-process map. Agree the start and end. Map 5–8 steps. Show information or status at each handover. Name each responsible role</a:t>
            </a:r>
          </a:p>
          <a:p xmlns:a="http://schemas.openxmlformats.org/drawingml/2006/main">
            <a:r>
              <a:t/>
            </a:r>
          </a:p>
          <a:p xmlns:a="http://schemas.openxmlformats.org/drawingml/2006/main">
            <a:r>
              <a:t>Participant instruction: exercises/02-map-work-friction/README.md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11:30–11:50; 20 minutes.</a:t>
            </a:r>
          </a:p>
          <a:p xmlns:a="http://schemas.openxmlformats.org/drawingml/2006/main">
            <a:r>
              <a:t/>
            </a:r>
          </a:p>
          <a:p xmlns:a="http://schemas.openxmlformats.org/drawingml/2006/main">
            <a:r>
              <a:t>Exercise 2 Practice 2. Attach each friction point to a step, impact, and evidence or open question. Discuss process conditions rather than blaming people.</a:t>
            </a:r>
          </a:p>
          <a:p xmlns:a="http://schemas.openxmlformats.org/drawingml/2006/main">
            <a:r>
              <a:t/>
            </a:r>
          </a:p>
          <a:p xmlns:a="http://schemas.openxmlformats.org/drawingml/2006/main">
            <a:r>
              <a:t>Learning content: Repeated work and waiting / Missing information / Unclear ownership</a:t>
            </a:r>
          </a:p>
          <a:p xmlns:a="http://schemas.openxmlformats.org/drawingml/2006/main">
            <a:r>
              <a:t/>
            </a:r>
          </a:p>
          <a:p xmlns:a="http://schemas.openxmlformats.org/drawingml/2006/main">
            <a:r>
              <a:t>Visual explanation: Four types of friction. Repeated work and waiting. Missing information. Unclear ownership</a:t>
            </a:r>
          </a:p>
          <a:p xmlns:a="http://schemas.openxmlformats.org/drawingml/2006/main">
            <a:r>
              <a:t/>
            </a:r>
          </a:p>
          <a:p xmlns:a="http://schemas.openxmlformats.org/drawingml/2006/main">
            <a:r>
              <a:t>Participant instruction: exercises/02-map-work-friction/README.md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11:50–11:55; 5 minutes.</a:t>
            </a:r>
          </a:p>
          <a:p xmlns:a="http://schemas.openxmlformats.org/drawingml/2006/main">
            <a:r>
              <a:t/>
            </a:r>
          </a:p>
          <a:p xmlns:a="http://schemas.openxmlformats.org/drawingml/2006/main">
            <a:r>
              <a:t>Exercise 2 Practice 3. Record pain points A, B, and C for comparison after lunch.</a:t>
            </a:r>
          </a:p>
          <a:p xmlns:a="http://schemas.openxmlformats.org/drawingml/2006/main">
            <a:r>
              <a:t/>
            </a:r>
          </a:p>
          <a:p xmlns:a="http://schemas.openxmlformats.org/drawingml/2006/main">
            <a:r>
              <a:t>Learning content: Choose three locations on the map / Name what gets stuck and where / Keep the map as evidence</a:t>
            </a:r>
          </a:p>
          <a:p xmlns:a="http://schemas.openxmlformats.org/drawingml/2006/main">
            <a:r>
              <a:t/>
            </a:r>
          </a:p>
          <a:p xmlns:a="http://schemas.openxmlformats.org/drawingml/2006/main">
            <a:r>
              <a:t>Visual explanation: Three pain points to compare. Choose three locations on the map. Name what gets stuck and where. Keep the map as evidence</a:t>
            </a:r>
          </a:p>
          <a:p xmlns:a="http://schemas.openxmlformats.org/drawingml/2006/main">
            <a:r>
              <a:t/>
            </a:r>
          </a:p>
          <a:p xmlns:a="http://schemas.openxmlformats.org/drawingml/2006/main">
            <a:r>
              <a:t>Participant instruction: exercises/02-map-work-friction/README.md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2; 11:55–12:00; 5 minutes.</a:t>
            </a:r>
          </a:p>
          <a:p xmlns:a="http://schemas.openxmlformats.org/drawingml/2006/main">
            <a:r>
              <a:t/>
            </a:r>
          </a:p>
          <a:p xmlns:a="http://schemas.openxmlformats.org/drawingml/2006/main">
            <a:r>
              <a:t>Keep the current map visible. Lunch is 12:00–13:00.</a:t>
            </a:r>
          </a:p>
          <a:p xmlns:a="http://schemas.openxmlformats.org/drawingml/2006/main">
            <a:r>
              <a:t/>
            </a:r>
          </a:p>
          <a:p xmlns:a="http://schemas.openxmlformats.org/drawingml/2006/main">
            <a:r>
              <a:t>Learning content: One current-process map / Three evidence-linked pain points / After lunch: select one opportunity</a:t>
            </a:r>
          </a:p>
          <a:p xmlns:a="http://schemas.openxmlformats.org/drawingml/2006/main">
            <a:r>
              <a:t/>
            </a:r>
          </a:p>
          <a:p xmlns:a="http://schemas.openxmlformats.org/drawingml/2006/main">
            <a:r>
              <a:t>Visual explanation: Block 2 checkpoint. One current-process map. Three evidence-linked pain points. After lunch: select one opportunity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13:00–13:10; 10 minutes.</a:t>
            </a:r>
          </a:p>
          <a:p xmlns:a="http://schemas.openxmlformats.org/drawingml/2006/main">
            <a:r>
              <a:t/>
            </a:r>
          </a:p>
          <a:p xmlns:a="http://schemas.openxmlformats.org/drawingml/2006/main">
            <a:r>
              <a:t>Screen each candidate before scoring. Sensitive or restricted data, material harm, unstable rules, frequent unowned exceptions, or missing ownership prevents workshop progression. A high expected benefit never overrides the gate.</a:t>
            </a:r>
          </a:p>
          <a:p xmlns:a="http://schemas.openxmlformats.org/drawingml/2006/main">
            <a:r>
              <a:t/>
            </a:r>
          </a:p>
          <a:p xmlns:a="http://schemas.openxmlformats.org/drawingml/2006/main">
            <a:r>
              <a:t>Learning content: Proceed to compare / Explore after validation / Do not progress in this workshop</a:t>
            </a:r>
          </a:p>
          <a:p xmlns:a="http://schemas.openxmlformats.org/drawingml/2006/main">
            <a:r>
              <a:t/>
            </a:r>
          </a:p>
          <a:p xmlns:a="http://schemas.openxmlformats.org/drawingml/2006/main">
            <a:r>
              <a:t>Visual explanation: Opportunity readiness gate. Proceed to compare. Explore after validation. Do not progress in this workshop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13:10–13:30; 20 minutes.</a:t>
            </a:r>
          </a:p>
          <a:p xmlns:a="http://schemas.openxmlformats.org/drawingml/2006/main">
            <a:r>
              <a:t/>
            </a:r>
          </a:p>
          <a:p xmlns:a="http://schemas.openxmlformats.org/drawingml/2006/main">
            <a:r>
              <a:t>Exercise 3 Practices 1–2. Apply the readiness gate first, then compare eligible candidates. The score supports discussion rather than proving ROI. For equal scores, prefer smaller scope, lower effort, and clearer ownership.</a:t>
            </a:r>
          </a:p>
          <a:p xmlns:a="http://schemas.openxmlformats.org/drawingml/2006/main">
            <a:r>
              <a:t/>
            </a:r>
          </a:p>
          <a:p xmlns:a="http://schemas.openxmlformats.org/drawingml/2006/main">
            <a:r>
              <a:t>Learning content: Impact, frequency, readiness: 1–3 / Effort: Low / Medium / High / Record reasons and uncertainty</a:t>
            </a:r>
          </a:p>
          <a:p xmlns:a="http://schemas.openxmlformats.org/drawingml/2006/main">
            <a:r>
              <a:t/>
            </a:r>
          </a:p>
          <a:p xmlns:a="http://schemas.openxmlformats.org/drawingml/2006/main">
            <a:r>
              <a:t>Visual explanation: Compare eligible opportunities. Impact, frequency, readiness: 1–3. Effort: Low / Medium / High. Record reasons and uncertainty</a:t>
            </a:r>
          </a:p>
          <a:p xmlns:a="http://schemas.openxmlformats.org/drawingml/2006/main">
            <a:r>
              <a:t/>
            </a:r>
          </a:p>
          <a:p xmlns:a="http://schemas.openxmlformats.org/drawingml/2006/main">
            <a:r>
              <a:t>Participant instruction: exercises/03-prioritize-opportunity/README.md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13:30–13:40; 10 minutes.</a:t>
            </a:r>
          </a:p>
          <a:p xmlns:a="http://schemas.openxmlformats.org/drawingml/2006/main">
            <a:r>
              <a:t/>
            </a:r>
          </a:p>
          <a:p xmlns:a="http://schemas.openxmlformats.org/drawingml/2006/main">
            <a:r>
              <a:t>Complete Exercise 3 Practice 1 by naming the selected opportunity, start, end, owner, and open checks. Start Worksheet 6C with the problem, scope, and owner.</a:t>
            </a:r>
          </a:p>
          <a:p xmlns:a="http://schemas.openxmlformats.org/drawingml/2006/main">
            <a:r>
              <a:t/>
            </a:r>
          </a:p>
          <a:p xmlns:a="http://schemas.openxmlformats.org/drawingml/2006/main">
            <a:r>
              <a:t>Learning content: Start event / Work to change / End outcome and process owner</a:t>
            </a:r>
          </a:p>
          <a:p xmlns:a="http://schemas.openxmlformats.org/drawingml/2006/main">
            <a:r>
              <a:t/>
            </a:r>
          </a:p>
          <a:p xmlns:a="http://schemas.openxmlformats.org/drawingml/2006/main">
            <a:r>
              <a:t>Visual explanation: A manageable boundary. Start event. Work to change. End outcome and process owner</a:t>
            </a:r>
          </a:p>
          <a:p xmlns:a="http://schemas.openxmlformats.org/drawingml/2006/main">
            <a:r>
              <a:t/>
            </a:r>
          </a:p>
          <a:p xmlns:a="http://schemas.openxmlformats.org/drawingml/2006/main">
            <a:r>
              <a:t>Participant instruction: exercises/03-prioritize-opportunity/README.md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13:40–13:50; 10 minutes.</a:t>
            </a:r>
          </a:p>
          <a:p xmlns:a="http://schemas.openxmlformats.org/drawingml/2006/main">
            <a:r>
              <a:t/>
            </a:r>
          </a:p>
          <a:p xmlns:a="http://schemas.openxmlformats.org/drawingml/2006/main">
            <a:r>
              <a:t>Exercise 3 Practice 2. Explain for two minutes and take questions for two minutes; swap roles, then use two minutes to refine the scope.</a:t>
            </a:r>
          </a:p>
          <a:p xmlns:a="http://schemas.openxmlformats.org/drawingml/2006/main">
            <a:r>
              <a:t/>
            </a:r>
          </a:p>
          <a:p xmlns:a="http://schemas.openxmlformats.org/drawingml/2006/main">
            <a:r>
              <a:t>Learning content: Explain the opportunity and evidence / Ask about scope, owner, and unknowns / Refine the boundary</a:t>
            </a:r>
          </a:p>
          <a:p xmlns:a="http://schemas.openxmlformats.org/drawingml/2006/main">
            <a:r>
              <a:t/>
            </a:r>
          </a:p>
          <a:p xmlns:a="http://schemas.openxmlformats.org/drawingml/2006/main">
            <a:r>
              <a:t>Visual explanation: Peer scope review. Explain the opportunity and evidence. Ask about scope, owner, and unknowns. Refine the boundary</a:t>
            </a:r>
          </a:p>
          <a:p xmlns:a="http://schemas.openxmlformats.org/drawingml/2006/main">
            <a:r>
              <a:t/>
            </a:r>
          </a:p>
          <a:p xmlns:a="http://schemas.openxmlformats.org/drawingml/2006/main">
            <a:r>
              <a:t>Participant instruction: exercises/03-prioritize-opportunity/README.md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13:50–13:55; 5 minutes.</a:t>
            </a:r>
          </a:p>
          <a:p xmlns:a="http://schemas.openxmlformats.org/drawingml/2006/main">
            <a:r>
              <a:t/>
            </a:r>
          </a:p>
          <a:p xmlns:a="http://schemas.openxmlformats.org/drawingml/2006/main">
            <a:r>
              <a:t>Confirm the selected opportunity. Unlocking Operational Bottlenecks ends at 13:55, after 110 teaching minutes.</a:t>
            </a:r>
          </a:p>
          <a:p xmlns:a="http://schemas.openxmlformats.org/drawingml/2006/main">
            <a:r>
              <a:t/>
            </a:r>
          </a:p>
          <a:p xmlns:a="http://schemas.openxmlformats.org/drawingml/2006/main">
            <a:r>
              <a:t>Learning content: One evidence-based opportunity / A clear boundary and owner / Carry the same opportunity forward</a:t>
            </a:r>
          </a:p>
          <a:p xmlns:a="http://schemas.openxmlformats.org/drawingml/2006/main">
            <a:r>
              <a:t/>
            </a:r>
          </a:p>
          <a:p xmlns:a="http://schemas.openxmlformats.org/drawingml/2006/main">
            <a:r>
              <a:t>Visual explanation: The selected bottleneck. One evidence-based opportunity. A clear boundary and owner. Carry the same opportunity forward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13:55–13:59; 4 minutes.</a:t>
            </a:r>
          </a:p>
          <a:p xmlns:a="http://schemas.openxmlformats.org/drawingml/2006/main">
            <a:r>
              <a:t/>
            </a:r>
          </a:p>
          <a:p xmlns:a="http://schemas.openxmlformats.org/drawingml/2006/main">
            <a:r>
              <a:t>Open Module 3 with the physical-card visual. The next slides introduce Trigger, Action, connector, Condition, human decision, and owned exceptions one concept at a time.</a:t>
            </a:r>
          </a:p>
          <a:p xmlns:a="http://schemas.openxmlformats.org/drawingml/2006/main">
            <a:r>
              <a:t/>
            </a:r>
          </a:p>
          <a:p xmlns:a="http://schemas.openxmlformats.org/drawingml/2006/main">
            <a:r>
              <a:t>Learning content: Steps, decisions, and exceptions</a:t>
            </a:r>
          </a:p>
          <a:p xmlns:a="http://schemas.openxmlformats.org/drawingml/2006/main">
            <a:r>
              <a:t/>
            </a:r>
          </a:p>
          <a:p xmlns:a="http://schemas.openxmlformats.org/drawingml/2006/main">
            <a:r>
              <a:t>Visual explanation: Strategic Workflow Blueprinting. Steps, decisions, and exceptions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13:59–14:03; 4 minutes.</a:t>
            </a:r>
          </a:p>
          <a:p xmlns:a="http://schemas.openxmlformats.org/drawingml/2006/main">
            <a:r>
              <a:t/>
            </a:r>
          </a:p>
          <a:p xmlns:a="http://schemas.openxmlformats.org/drawingml/2006/main">
            <a:r>
              <a:t>A cloud flow can start from an event, manual start, or schedule. Think of a connector as a way to contact another service, not a key that grants access to everything. A real implementation needs valid connections and appropriate permissions.</a:t>
            </a:r>
          </a:p>
          <a:p xmlns:a="http://schemas.openxmlformats.org/drawingml/2006/main">
            <a:r>
              <a:t/>
            </a:r>
          </a:p>
          <a:p xmlns:a="http://schemas.openxmlformats.org/drawingml/2006/main">
            <a:r>
              <a:t>Learning content: A Trigger starts the flow / An Action performs a step / A connector exposes service operations</a:t>
            </a:r>
          </a:p>
          <a:p xmlns:a="http://schemas.openxmlformats.org/drawingml/2006/main">
            <a:r>
              <a:t/>
            </a:r>
          </a:p>
          <a:p xmlns:a="http://schemas.openxmlformats.org/drawingml/2006/main">
            <a:r>
              <a:t>Visual explanation: Triggers, Actions, and connectors. A Trigger starts the flow. An Action performs a step. A connector exposes service operations</a:t>
            </a:r>
          </a:p>
          <a:p xmlns:a="http://schemas.openxmlformats.org/drawingml/2006/main">
            <a:r>
              <a:t/>
            </a:r>
          </a:p>
          <a:p xmlns:a="http://schemas.openxmlformats.org/drawingml/2006/main">
            <a:r>
              <a:t>Source: https://learn.microsoft.com/en-us/power-automate/triggers-introduction</a:t>
            </a:r>
          </a:p>
          <a:p xmlns:a="http://schemas.openxmlformats.org/drawingml/2006/main">
            <a:r>
              <a:t/>
            </a:r>
          </a:p>
          <a:p xmlns:a="http://schemas.openxmlformats.org/drawingml/2006/main">
            <a:r>
              <a:t>Source: https://learn.microsoft.com/en-us/connectors/overview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14:03–14:07; 4 minutes.</a:t>
            </a:r>
          </a:p>
          <a:p xmlns:a="http://schemas.openxmlformats.org/drawingml/2006/main">
            <a:r>
              <a:t/>
            </a:r>
          </a:p>
          <a:p xmlns:a="http://schemas.openxmlformats.org/drawingml/2006/main">
            <a:r>
              <a:t>A Condition branches according to a true/false result. A person makes the approval or rejection decision. Yes/No labels here express the conceptual rule, not an exact UI sequence. Both decision outcomes need an explicit next route.</a:t>
            </a:r>
          </a:p>
          <a:p xmlns:a="http://schemas.openxmlformats.org/drawingml/2006/main">
            <a:r>
              <a:t/>
            </a:r>
          </a:p>
          <a:p xmlns:a="http://schemas.openxmlformats.org/drawingml/2006/main">
            <a:r>
              <a:t>Learning content: Check details against an agreed rule / Human owner approves or rejects / Both outcomes reach notification or owned follow-up</a:t>
            </a:r>
          </a:p>
          <a:p xmlns:a="http://schemas.openxmlformats.org/drawingml/2006/main">
            <a:r>
              <a:t/>
            </a:r>
          </a:p>
          <a:p xmlns:a="http://schemas.openxmlformats.org/drawingml/2006/main">
            <a:r>
              <a:t>Visual explanation: Conditions and human decisions. Check details against an agreed rule. Human owner approves or rejects. Both outcomes reach notification or owned follow-up</a:t>
            </a:r>
          </a:p>
          <a:p xmlns:a="http://schemas.openxmlformats.org/drawingml/2006/main">
            <a:r>
              <a:t/>
            </a:r>
          </a:p>
          <a:p xmlns:a="http://schemas.openxmlformats.org/drawingml/2006/main">
            <a:r>
              <a:t>Source: https://learn.microsoft.com/en-us/power-automate/get-started-approvals</a:t>
            </a:r>
          </a:p>
          <a:p xmlns:a="http://schemas.openxmlformats.org/drawingml/2006/main">
            <a:r>
              <a:t/>
            </a:r>
          </a:p>
          <a:p xmlns:a="http://schemas.openxmlformats.org/drawingml/2006/main">
            <a:r>
              <a:t>Source: https://learn.microsoft.com/en-us/power-automate/add-condition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14:07–14:10; 3 minutes.</a:t>
            </a:r>
          </a:p>
          <a:p xmlns:a="http://schemas.openxmlformats.org/drawingml/2006/main">
            <a:r>
              <a:t/>
            </a:r>
          </a:p>
          <a:p xmlns:a="http://schemas.openxmlformats.org/drawingml/2006/main">
            <a:r>
              <a:t>Review the components before the physical-card exercise. Show both approval and rejection outcomes before adding exception routes. The diagram is conceptual and does not validate connector availability or tenant readiness.</a:t>
            </a:r>
          </a:p>
          <a:p xmlns:a="http://schemas.openxmlformats.org/drawingml/2006/main">
            <a:r>
              <a:t/>
            </a:r>
          </a:p>
          <a:p xmlns:a="http://schemas.openxmlformats.org/drawingml/2006/main">
            <a:r>
              <a:t>Learning content: Trigger and Actions / Condition outcomes / Human approval or rejection / Owned exception routes</a:t>
            </a:r>
          </a:p>
          <a:p xmlns:a="http://schemas.openxmlformats.org/drawingml/2006/main">
            <a:r>
              <a:t/>
            </a:r>
          </a:p>
          <a:p xmlns:a="http://schemas.openxmlformats.org/drawingml/2006/main">
            <a:r>
              <a:t>Visual explanation: Workflow Blueprint anatomy. Trigger and Actions. Condition outcomes. Human approval or rejection. Owned exception routes</a:t>
            </a:r>
          </a:p>
          <a:p xmlns:a="http://schemas.openxmlformats.org/drawingml/2006/main">
            <a:r>
              <a:t/>
            </a:r>
          </a:p>
          <a:p xmlns:a="http://schemas.openxmlformats.org/drawingml/2006/main">
            <a:r>
              <a:t>Source: https://learn.microsoft.com/en-us/power-automate/triggers-introduction</a:t>
            </a:r>
          </a:p>
          <a:p xmlns:a="http://schemas.openxmlformats.org/drawingml/2006/main">
            <a:r>
              <a:t/>
            </a:r>
          </a:p>
          <a:p xmlns:a="http://schemas.openxmlformats.org/drawingml/2006/main">
            <a:r>
              <a:t>Source: https://learn.microsoft.com/en-us/power-automate/get-started-approvals</a:t>
            </a:r>
          </a:p>
          <a:p xmlns:a="http://schemas.openxmlformats.org/drawingml/2006/main">
            <a:r>
              <a:t/>
            </a:r>
          </a:p>
          <a:p xmlns:a="http://schemas.openxmlformats.org/drawingml/2006/main">
            <a:r>
              <a:t>Source: https://learn.microsoft.com/en-us/power-automate/add-condition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14:10–14:25; 15 minutes.</a:t>
            </a:r>
          </a:p>
          <a:p xmlns:a="http://schemas.openxmlformats.org/drawingml/2006/main">
            <a:r>
              <a:t/>
            </a:r>
          </a:p>
          <a:p xmlns:a="http://schemas.openxmlformats.org/drawingml/2006/main">
            <a:r>
              <a:t>Exercise 4 Practices 1–2. Use the printed cards supplied separately. Use sticky notes for repeated or missing steps, owners, human decisions, and unknowns. Show the correction visibly: Start and wait for an approval is an Action after a valid Trigger despite the printed Trigger label. Leave the original card unchanged.</a:t>
            </a:r>
          </a:p>
          <a:p xmlns:a="http://schemas.openxmlformats.org/drawingml/2006/main">
            <a:r>
              <a:t/>
            </a:r>
          </a:p>
          <a:p xmlns:a="http://schemas.openxmlformats.org/drawingml/2006/main">
            <a:r>
              <a:t>Learning content: Choose a suitable Trigger / Arrange cards and sticky notes / Add an outcome and explain the path / `Start and wait for an approval` is an Action</a:t>
            </a:r>
          </a:p>
          <a:p xmlns:a="http://schemas.openxmlformats.org/drawingml/2006/main">
            <a:r>
              <a:t/>
            </a:r>
          </a:p>
          <a:p xmlns:a="http://schemas.openxmlformats.org/drawingml/2006/main">
            <a:r>
              <a:t>Visual explanation: Flow cards: the physical draft. Choose a suitable Trigger. Arrange cards and sticky notes. Add an outcome and explain the path. `Start and wait for an approval` is an Action</a:t>
            </a:r>
          </a:p>
          <a:p xmlns:a="http://schemas.openxmlformats.org/drawingml/2006/main">
            <a:r>
              <a:t/>
            </a:r>
          </a:p>
          <a:p xmlns:a="http://schemas.openxmlformats.org/drawingml/2006/main">
            <a:r>
              <a:t>Participant instruction: exercises/04-workflow-blueprint/README.md</a:t>
            </a:r>
          </a:p>
          <a:p xmlns:a="http://schemas.openxmlformats.org/drawingml/2006/main">
            <a:r>
              <a:t/>
            </a:r>
          </a:p>
          <a:p xmlns:a="http://schemas.openxmlformats.org/drawingml/2006/main">
            <a:r>
              <a:t>Source: https://learn.microsoft.com/en-us/power-automate/triggers-introduction</a:t>
            </a:r>
          </a:p>
          <a:p xmlns:a="http://schemas.openxmlformats.org/drawingml/2006/main">
            <a:r>
              <a:t/>
            </a:r>
          </a:p>
          <a:p xmlns:a="http://schemas.openxmlformats.org/drawingml/2006/main">
            <a:r>
              <a:t>Source: https://learn.microsoft.com/en-us/power-automate/get-started-approvals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3; 14:25–14:30; 5 minutes.</a:t>
            </a:r>
          </a:p>
          <a:p xmlns:a="http://schemas.openxmlformats.org/drawingml/2006/main">
            <a:r>
              <a:t/>
            </a:r>
          </a:p>
          <a:p xmlns:a="http://schemas.openxmlformats.org/drawingml/2006/main">
            <a:r>
              <a:t>Another participant should be able to explain the visible path. Keep the physical card arrangement available as inspiration for the flipchart map after the 14:30–14:45 break.</a:t>
            </a:r>
          </a:p>
          <a:p xmlns:a="http://schemas.openxmlformats.org/drawingml/2006/main">
            <a:r>
              <a:t/>
            </a:r>
          </a:p>
          <a:p xmlns:a="http://schemas.openxmlformats.org/drawingml/2006/main">
            <a:r>
              <a:t>Learning content: One selected opportunity / A visible Trigger-to-outcome path / After the break: redraw the idea freely</a:t>
            </a:r>
          </a:p>
          <a:p xmlns:a="http://schemas.openxmlformats.org/drawingml/2006/main">
            <a:r>
              <a:t/>
            </a:r>
          </a:p>
          <a:p xmlns:a="http://schemas.openxmlformats.org/drawingml/2006/main">
            <a:r>
              <a:t>Visual explanation: Block 3 checkpoint. One selected opportunity. A visible Trigger-to-outcome path. After the break: redraw the idea freely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14:45–14:55; 10 minutes.</a:t>
            </a:r>
          </a:p>
          <a:p xmlns:a="http://schemas.openxmlformats.org/drawingml/2006/main">
            <a:r>
              <a:t/>
            </a:r>
          </a:p>
          <a:p xmlns:a="http://schemas.openxmlformats.org/drawingml/2006/main">
            <a:r>
              <a:t>Exercise 5 Practice 1, 14:45–14:55. Each group redraws the card idea on a clean flipchart. Encourage arrows, words, symbols, colours, and sketches that make the business idea easy to explain.</a:t>
            </a:r>
          </a:p>
          <a:p xmlns:a="http://schemas.openxmlformats.org/drawingml/2006/main">
            <a:r>
              <a:t/>
            </a:r>
          </a:p>
          <a:p xmlns:a="http://schemas.openxmlformats.org/drawingml/2006/main">
            <a:r>
              <a:t>Learning content: Use the cards as inspiration / Show the start, sequence, people, decisions, exceptions, and outcome / Exact Power Automate names are optional</a:t>
            </a:r>
          </a:p>
          <a:p xmlns:a="http://schemas.openxmlformats.org/drawingml/2006/main">
            <a:r>
              <a:t/>
            </a:r>
          </a:p>
          <a:p xmlns:a="http://schemas.openxmlformats.org/drawingml/2006/main">
            <a:r>
              <a:t>Visual explanation: The free-form flow map. Use the cards as inspiration. Show the start, sequence, people, decisions, exceptions, and outcome. Exact Power Automate names are optional</a:t>
            </a:r>
          </a:p>
          <a:p xmlns:a="http://schemas.openxmlformats.org/drawingml/2006/main">
            <a:r>
              <a:t/>
            </a:r>
          </a:p>
          <a:p xmlns:a="http://schemas.openxmlformats.org/drawingml/2006/main">
            <a:r>
              <a:t>Participant instruction: exercises/05-leadership-handover/README.md</a:t>
            </a:r>
          </a:p>
          <a:p xmlns:a="http://schemas.openxmlformats.org/drawingml/2006/main">
            <a:r>
              <a:t/>
            </a:r>
          </a:p>
          <a:p xmlns:a="http://schemas.openxmlformats.org/drawingml/2006/main">
            <a:r>
              <a:t>Source: https://learn.microsoft.com/en-us/power-automate/get-started-approvals</a:t>
            </a:r>
          </a:p>
          <a:p xmlns:a="http://schemas.openxmlformats.org/drawingml/2006/main">
            <a:r>
              <a:t/>
            </a:r>
          </a:p>
          <a:p xmlns:a="http://schemas.openxmlformats.org/drawingml/2006/main">
            <a:r>
              <a:t>Source: https://learn.microsoft.com/en-us/power-automate/add-condition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14:55–15:00; 5 minutes.</a:t>
            </a:r>
          </a:p>
          <a:p xmlns:a="http://schemas.openxmlformats.org/drawingml/2006/main">
            <a:r>
              <a:t/>
            </a:r>
          </a:p>
          <a:p xmlns:a="http://schemas.openxmlformats.org/drawingml/2006/main">
            <a:r>
              <a:t>Exercise 5 Practice 2, 14:55–15:00. The photo must contain only the sanitised workflow map. No unrelated flipcharts, people, customer details, email addresses, or real reference numbers may remain in frame.</a:t>
            </a:r>
          </a:p>
          <a:p xmlns:a="http://schemas.openxmlformats.org/drawingml/2006/main">
            <a:r>
              <a:t/>
            </a:r>
          </a:p>
          <a:p xmlns:a="http://schemas.openxmlformats.org/drawingml/2006/main">
            <a:r>
              <a:t>Learning content: Remove names, confidential details, faces, and badges / Photograph the map straight on / Crop tightly and ask a second person to check</a:t>
            </a:r>
          </a:p>
          <a:p xmlns:a="http://schemas.openxmlformats.org/drawingml/2006/main">
            <a:r>
              <a:t/>
            </a:r>
          </a:p>
          <a:p xmlns:a="http://schemas.openxmlformats.org/drawingml/2006/main">
            <a:r>
              <a:t>Visual explanation: A safe workflow photo. Remove names, confidential details, faces, and badges. Photograph the map straight on. Crop tightly and ask a second person to check</a:t>
            </a:r>
          </a:p>
          <a:p xmlns:a="http://schemas.openxmlformats.org/drawingml/2006/main">
            <a:r>
              <a:t/>
            </a:r>
          </a:p>
          <a:p xmlns:a="http://schemas.openxmlformats.org/drawingml/2006/main">
            <a:r>
              <a:t>Participant instruction: exercises/05-leadership-handover/README.md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15:00–15:03; 3 minutes.</a:t>
            </a:r>
          </a:p>
          <a:p xmlns:a="http://schemas.openxmlformats.org/drawingml/2006/main">
            <a:r>
              <a:t/>
            </a:r>
          </a:p>
          <a:p xmlns:a="http://schemas.openxmlformats.org/drawingml/2006/main">
            <a:r>
              <a:t>Exercise 5 Practice 3 begins at 15:00. Position Generative AI like a colleague reviewing a rough sketch: it may notice a missing step, but the group owns the meaning and every revision.</a:t>
            </a:r>
          </a:p>
          <a:p xmlns:a="http://schemas.openxmlformats.org/drawingml/2006/main">
            <a:r>
              <a:t/>
            </a:r>
          </a:p>
          <a:p xmlns:a="http://schemas.openxmlformats.org/drawingml/2006/main">
            <a:r>
              <a:t>Learning content: Use ChatGPT, Gemini, Claude, Copilot, or another available tool / Suggestions may be wrong or unsuitable / People decide what improves the map</a:t>
            </a:r>
          </a:p>
          <a:p xmlns:a="http://schemas.openxmlformats.org/drawingml/2006/main">
            <a:r>
              <a:t/>
            </a:r>
          </a:p>
          <a:p xmlns:a="http://schemas.openxmlformats.org/drawingml/2006/main">
            <a:r>
              <a:t>Visual explanation: Generative AI as a second reader. Use ChatGPT, Gemini, Claude, Copilot, or another available tool. Suggestions may be wrong or unsuitable. People decide what improves the map</a:t>
            </a:r>
          </a:p>
          <a:p xmlns:a="http://schemas.openxmlformats.org/drawingml/2006/main">
            <a:r>
              <a:t/>
            </a:r>
          </a:p>
          <a:p xmlns:a="http://schemas.openxmlformats.org/drawingml/2006/main">
            <a:r>
              <a:t>Participant instruction: exercises/05-leadership-handover/README.md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15:03–15:15; 12 minutes.</a:t>
            </a:r>
          </a:p>
          <a:p xmlns:a="http://schemas.openxmlformats.org/drawingml/2006/main">
            <a:r>
              <a:t/>
            </a:r>
          </a:p>
          <a:p xmlns:a="http://schemas.openxmlformats.org/drawingml/2006/main">
            <a:r>
              <a:t>Exercise 5 Practice 3 continues until 15:15. If image upload or access fails, use the facilitator-led review questions. The response cannot certify feasibility, licences, connectors, permissions, compliance, or production readiness.</a:t>
            </a:r>
          </a:p>
          <a:p xmlns:a="http://schemas.openxmlformats.org/drawingml/2006/main">
            <a:r>
              <a:t/>
            </a:r>
          </a:p>
          <a:p xmlns:a="http://schemas.openxmlformats.org/drawingml/2006/main">
            <a:r>
              <a:t>Learning content: Upload the safe photo with the supplied prompt / Check missing steps, owners, decisions, exceptions, and open questions / Revise the map freely with human judgement</a:t>
            </a:r>
          </a:p>
          <a:p xmlns:a="http://schemas.openxmlformats.org/drawingml/2006/main">
            <a:r>
              <a:t/>
            </a:r>
          </a:p>
          <a:p xmlns:a="http://schemas.openxmlformats.org/drawingml/2006/main">
            <a:r>
              <a:t>Visual explanation: Photo review and human revision. Upload the safe photo with the supplied prompt. Check missing steps, owners, decisions, exceptions, and open questions. Revise the map freely with human judgement</a:t>
            </a:r>
          </a:p>
          <a:p xmlns:a="http://schemas.openxmlformats.org/drawingml/2006/main">
            <a:r>
              <a:t/>
            </a:r>
          </a:p>
          <a:p xmlns:a="http://schemas.openxmlformats.org/drawingml/2006/main">
            <a:r>
              <a:t>Participant instruction: exercises/05-leadership-handover/README.md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15:15–15:22; 7 minutes.</a:t>
            </a:r>
          </a:p>
          <a:p xmlns:a="http://schemas.openxmlformats.org/drawingml/2006/main">
            <a:r>
              <a:t/>
            </a:r>
          </a:p>
          <a:p xmlns:a="http://schemas.openxmlformats.org/drawingml/2006/main">
            <a:r>
              <a:t>Exercise 5 Practice 4, 15:15–15:22. Complete Worksheet 6C from the improved map. Keep unresolved technical or policy matters as questions for the process owner or IT.</a:t>
            </a:r>
          </a:p>
          <a:p xmlns:a="http://schemas.openxmlformats.org/drawingml/2006/main">
            <a:r>
              <a:t/>
            </a:r>
          </a:p>
          <a:p xmlns:a="http://schemas.openxmlformats.org/drawingml/2006/main">
            <a:r>
              <a:t>Learning content: Useful AI feedback and changes made / Questions still requiring confirmation / Owner, expected benefit, measure, and next decision</a:t>
            </a:r>
          </a:p>
          <a:p xmlns:a="http://schemas.openxmlformats.org/drawingml/2006/main">
            <a:r>
              <a:t/>
            </a:r>
          </a:p>
          <a:p xmlns:a="http://schemas.openxmlformats.org/drawingml/2006/main">
            <a:r>
              <a:t>Visual explanation: Leadership Handover Card. Useful AI feedback and changes made. Questions still requiring confirmation. Owner, expected benefit, measure, and next decision</a:t>
            </a:r>
          </a:p>
          <a:p xmlns:a="http://schemas.openxmlformats.org/drawingml/2006/main">
            <a:r>
              <a:t/>
            </a:r>
          </a:p>
          <a:p xmlns:a="http://schemas.openxmlformats.org/drawingml/2006/main">
            <a:r>
              <a:t>Participant instruction: exercises/05-leadership-handover/README.md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15:22–15:27; 5 minutes.</a:t>
            </a:r>
          </a:p>
          <a:p xmlns:a="http://schemas.openxmlformats.org/drawingml/2006/main">
            <a:r>
              <a:t/>
            </a:r>
          </a:p>
          <a:p xmlns:a="http://schemas.openxmlformats.org/drawingml/2006/main">
            <a:r>
              <a:t>Exercise 5 Practice 4, 15:22–15:27. Choose speakers. Use the improved map and Handover Card as prompts rather than reading the worksheet word for word.</a:t>
            </a:r>
          </a:p>
          <a:p xmlns:a="http://schemas.openxmlformats.org/drawingml/2006/main">
            <a:r>
              <a:t/>
            </a:r>
          </a:p>
          <a:p xmlns:a="http://schemas.openxmlformats.org/drawingml/2006/main">
            <a:r>
              <a:t>Learning content: Problem and expected benefit / How the flow works and where people remain responsible / Next decision, owner, and most important open question</a:t>
            </a:r>
          </a:p>
          <a:p xmlns:a="http://schemas.openxmlformats.org/drawingml/2006/main">
            <a:r>
              <a:t/>
            </a:r>
          </a:p>
          <a:p xmlns:a="http://schemas.openxmlformats.org/drawingml/2006/main">
            <a:r>
              <a:t>Visual explanation: Three presentation points. Problem and expected benefit. How the flow works and where people remain responsible. Next decision, owner, and most important open question</a:t>
            </a:r>
          </a:p>
          <a:p xmlns:a="http://schemas.openxmlformats.org/drawingml/2006/main">
            <a:r>
              <a:t/>
            </a:r>
          </a:p>
          <a:p xmlns:a="http://schemas.openxmlformats.org/drawingml/2006/main">
            <a:r>
              <a:t>Participant instruction: exercises/05-leadership-handover/README.md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15:27–15:57; 30 minutes.</a:t>
            </a:r>
          </a:p>
          <a:p xmlns:a="http://schemas.openxmlformats.org/drawingml/2006/main">
            <a:r>
              <a:t/>
            </a:r>
          </a:p>
          <a:p xmlns:a="http://schemas.openxmlformats.org/drawingml/2006/main">
            <a:r>
              <a:t>Exercise 5 Practice 5, 15:27–15:57. Keep exactly five minutes per group. Feedback addresses business clarity, ownership, people, exceptions, and the next decision; it does not approve a technical solution.</a:t>
            </a:r>
          </a:p>
          <a:p xmlns:a="http://schemas.openxmlformats.org/drawingml/2006/main">
            <a:r>
              <a:t/>
            </a:r>
          </a:p>
          <a:p xmlns:a="http://schemas.openxmlformats.org/drawingml/2006/main">
            <a:r>
              <a:t>Learning content: 3 minutes: present the improved flow map / 2 minutes: facilitator feedback / Record one useful follow-up on Worksheet 6C</a:t>
            </a:r>
          </a:p>
          <a:p xmlns:a="http://schemas.openxmlformats.org/drawingml/2006/main">
            <a:r>
              <a:t/>
            </a:r>
          </a:p>
          <a:p xmlns:a="http://schemas.openxmlformats.org/drawingml/2006/main">
            <a:r>
              <a:t>Visual explanation: Six group presentations. 3 minutes: present the improved flow map. 2 minutes: facilitator feedback. Record one useful follow-up on Worksheet 6C</a:t>
            </a:r>
          </a:p>
          <a:p xmlns:a="http://schemas.openxmlformats.org/drawingml/2006/main">
            <a:r>
              <a:t/>
            </a:r>
          </a:p>
          <a:p xmlns:a="http://schemas.openxmlformats.org/drawingml/2006/main">
            <a:r>
              <a:t>Participant instruction: exercises/05-leadership-handover/README.md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Block 4; 15:57–16:00; 3 minutes.</a:t>
            </a:r>
          </a:p>
          <a:p xmlns:a="http://schemas.openxmlformats.org/drawingml/2006/main">
            <a:r>
              <a:t/>
            </a:r>
          </a:p>
          <a:p xmlns:a="http://schemas.openxmlformats.org/drawingml/2006/main">
            <a:r>
              <a:t>Complete Worksheet 7 with a concrete workplace follow-up: what, with whom, and when. The design still needs review and authorisation before any live trial. Finish at 16:00.</a:t>
            </a:r>
          </a:p>
          <a:p xmlns:a="http://schemas.openxmlformats.org/drawingml/2006/main">
            <a:r>
              <a:t/>
            </a:r>
          </a:p>
          <a:p xmlns:a="http://schemas.openxmlformats.org/drawingml/2006/main">
            <a:r>
              <a:t>Learning content: One selected opportunity / An improved flow map presented to the workshop / A Handover Card with a clear next decision</a:t>
            </a:r>
          </a:p>
          <a:p xmlns:a="http://schemas.openxmlformats.org/drawingml/2006/main">
            <a:r>
              <a:t/>
            </a:r>
          </a:p>
          <a:p xmlns:a="http://schemas.openxmlformats.org/drawingml/2006/main">
            <a:r>
              <a:t>Visual explanation: Outputs and next steps. One selected opportunity. An improved flow map presented to the workshop. A Handover Card with a clear next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ad71eadc5784d9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3d32e9a0e94ad1" /><Relationship Type="http://schemas.openxmlformats.org/officeDocument/2006/relationships/slideLayout" Target="/ppt/slideLayouts/slideLayout1.xml" Id="Rfaf70d9afe4e4e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f70d9afe4e4e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4b3bcaec62744c8" /><Relationship Type="http://schemas.openxmlformats.org/officeDocument/2006/relationships/image" Target="/ppt/media/image.png" Id="Rc1f5925118a940a0" /><Relationship Type="http://schemas.openxmlformats.org/officeDocument/2006/relationships/notesSlide" Target="/ppt/notesSlides/notesSlide1.xml" Id="Rcc3c0e1e3d8f4f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38d8e5a5a99454d" /><Relationship Type="http://schemas.openxmlformats.org/officeDocument/2006/relationships/notesSlide" Target="/ppt/notesSlides/notesSlide2.xml" Id="R30a6afaafc454e0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d67504b0af34c30" /><Relationship Type="http://schemas.openxmlformats.org/officeDocument/2006/relationships/notesSlide" Target="/ppt/notesSlides/notesSlide3.xml" Id="R9ff53299172646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ca92c1e9d8340a2" /><Relationship Type="http://schemas.openxmlformats.org/officeDocument/2006/relationships/notesSlide" Target="/ppt/notesSlides/notesSlide4.xml" Id="R348006643c9f4ec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0493ef90064cb6" /><Relationship Type="http://schemas.openxmlformats.org/officeDocument/2006/relationships/image" Target="/ppt/media/image2.png" Id="Rd04c3d48194e4b23" /><Relationship Type="http://schemas.openxmlformats.org/officeDocument/2006/relationships/notesSlide" Target="/ppt/notesSlides/notesSlide5.xml" Id="Rb9d0c3900010499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485816de8e4536" /><Relationship Type="http://schemas.openxmlformats.org/officeDocument/2006/relationships/notesSlide" Target="/ppt/notesSlides/notesSlide6.xml" Id="Red711cd2dc6941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4001f4f35d64e21" /><Relationship Type="http://schemas.openxmlformats.org/officeDocument/2006/relationships/notesSlide" Target="/ppt/notesSlides/notesSlide7.xml" Id="R04af61def65443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67f250281ea4774" /><Relationship Type="http://schemas.openxmlformats.org/officeDocument/2006/relationships/notesSlide" Target="/ppt/notesSlides/notesSlide8.xml" Id="R5b0bb7f36c9341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f0b072a33754588" /><Relationship Type="http://schemas.openxmlformats.org/officeDocument/2006/relationships/notesSlide" Target="/ppt/notesSlides/notesSlide9.xml" Id="Rf8e525cdcd6f46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9b1c28676484ed4" /><Relationship Type="http://schemas.openxmlformats.org/officeDocument/2006/relationships/notesSlide" Target="/ppt/notesSlides/notesSlide10.xml" Id="R152a66cc10e84f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b30de9dca154d80" /><Relationship Type="http://schemas.openxmlformats.org/officeDocument/2006/relationships/notesSlide" Target="/ppt/notesSlides/notesSlide11.xml" Id="R86b0e95878514a0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a160b3a077f4fcb" /><Relationship Type="http://schemas.openxmlformats.org/officeDocument/2006/relationships/notesSlide" Target="/ppt/notesSlides/notesSlide12.xml" Id="R4c33f99f4a1b4c4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058660b328b4d03" /><Relationship Type="http://schemas.openxmlformats.org/officeDocument/2006/relationships/notesSlide" Target="/ppt/notesSlides/notesSlide13.xml" Id="R5dc60a2b6a93472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2450884f34c4601" /><Relationship Type="http://schemas.openxmlformats.org/officeDocument/2006/relationships/notesSlide" Target="/ppt/notesSlides/notesSlide14.xml" Id="Rf25359b8f6904eb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ed7b0e608a541f6" /><Relationship Type="http://schemas.openxmlformats.org/officeDocument/2006/relationships/notesSlide" Target="/ppt/notesSlides/notesSlide15.xml" Id="Rf631870895d44e5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2f43a9be9f94c63" /><Relationship Type="http://schemas.openxmlformats.org/officeDocument/2006/relationships/image" Target="/ppt/media/image3.png" Id="R9121fea46c4e4080" /><Relationship Type="http://schemas.openxmlformats.org/officeDocument/2006/relationships/notesSlide" Target="/ppt/notesSlides/notesSlide16.xml" Id="R0f59bf8a9d56449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03eddfabfb246d9" /><Relationship Type="http://schemas.openxmlformats.org/officeDocument/2006/relationships/notesSlide" Target="/ppt/notesSlides/notesSlide17.xml" Id="Rc6b34ee994cd410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068f5913abe41ee" /><Relationship Type="http://schemas.openxmlformats.org/officeDocument/2006/relationships/notesSlide" Target="/ppt/notesSlides/notesSlide18.xml" Id="Rb42676af459c436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70241ce932142d0" /><Relationship Type="http://schemas.openxmlformats.org/officeDocument/2006/relationships/notesSlide" Target="/ppt/notesSlides/notesSlide19.xml" Id="R04a6cdb87b3141f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2db577d48044e21" /><Relationship Type="http://schemas.openxmlformats.org/officeDocument/2006/relationships/notesSlide" Target="/ppt/notesSlides/notesSlide20.xml" Id="R3b7cd6b9c17b44a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71afb31e7804487" /><Relationship Type="http://schemas.openxmlformats.org/officeDocument/2006/relationships/notesSlide" Target="/ppt/notesSlides/notesSlide21.xml" Id="R97adeba718fd41b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49210ed89b14df3" /><Relationship Type="http://schemas.openxmlformats.org/officeDocument/2006/relationships/notesSlide" Target="/ppt/notesSlides/notesSlide22.xml" Id="Rae60a0afd23642c7"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019cd163130453b" /><Relationship Type="http://schemas.openxmlformats.org/officeDocument/2006/relationships/notesSlide" Target="/ppt/notesSlides/notesSlide23.xml" Id="R9436f4d5fd26424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8281635554c420f" /><Relationship Type="http://schemas.openxmlformats.org/officeDocument/2006/relationships/notesSlide" Target="/ppt/notesSlides/notesSlide24.xml" Id="R8f951d7d572145d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86ce700ab2949c8" /><Relationship Type="http://schemas.openxmlformats.org/officeDocument/2006/relationships/notesSlide" Target="/ppt/notesSlides/notesSlide25.xml" Id="Rd4f622c395e7455a"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5086d25cf0e4861" /><Relationship Type="http://schemas.openxmlformats.org/officeDocument/2006/relationships/notesSlide" Target="/ppt/notesSlides/notesSlide26.xml" Id="R3451673deb98424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9138c83ced6f488c" /><Relationship Type="http://schemas.openxmlformats.org/officeDocument/2006/relationships/image" Target="/ppt/media/image4.png" Id="R14e0495312254659" /><Relationship Type="http://schemas.openxmlformats.org/officeDocument/2006/relationships/notesSlide" Target="/ppt/notesSlides/notesSlide27.xml" Id="Re2d0a8999ac34dd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472aee09a42463c" /><Relationship Type="http://schemas.openxmlformats.org/officeDocument/2006/relationships/notesSlide" Target="/ppt/notesSlides/notesSlide28.xml" Id="Re42441cd2a5f48cc"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647057043634e3a" /><Relationship Type="http://schemas.openxmlformats.org/officeDocument/2006/relationships/notesSlide" Target="/ppt/notesSlides/notesSlide29.xml" Id="R4d130fb02c81472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8d0a41d66af4b35" /><Relationship Type="http://schemas.openxmlformats.org/officeDocument/2006/relationships/notesSlide" Target="/ppt/notesSlides/notesSlide30.xml" Id="R441fb7b02f5e46f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467eccb37210471f" /><Relationship Type="http://schemas.openxmlformats.org/officeDocument/2006/relationships/notesSlide" Target="/ppt/notesSlides/notesSlide31.xml" Id="Rb3349b3f9d9f418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557b22bf96a4998" /><Relationship Type="http://schemas.openxmlformats.org/officeDocument/2006/relationships/notesSlide" Target="/ppt/notesSlides/notesSlide32.xml" Id="Rb8b5e39f9aaa499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784335d961e546bd" /><Relationship Type="http://schemas.openxmlformats.org/officeDocument/2006/relationships/notesSlide" Target="/ppt/notesSlides/notesSlide33.xml" Id="Rba167e016ceb47e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02d11ae6980c44b5" /><Relationship Type="http://schemas.openxmlformats.org/officeDocument/2006/relationships/notesSlide" Target="/ppt/notesSlides/notesSlide34.xml" Id="R298edc42e92b404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166e6e56a35b4851" /><Relationship Type="http://schemas.openxmlformats.org/officeDocument/2006/relationships/image" Target="/ppt/media/image5.png" Id="R10c41095f6f34e0e" /><Relationship Type="http://schemas.openxmlformats.org/officeDocument/2006/relationships/notesSlide" Target="/ppt/notesSlides/notesSlide35.xml" Id="R2610caf1080148d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1f750da72324837" /><Relationship Type="http://schemas.openxmlformats.org/officeDocument/2006/relationships/notesSlide" Target="/ppt/notesSlides/notesSlide36.xml" Id="R184b7d949ba14fe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c2210c40a9a341b1" /><Relationship Type="http://schemas.openxmlformats.org/officeDocument/2006/relationships/notesSlide" Target="/ppt/notesSlides/notesSlide37.xml" Id="Rdcd2a5cbb9b445b9"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9316c8038044b44" /><Relationship Type="http://schemas.openxmlformats.org/officeDocument/2006/relationships/notesSlide" Target="/ppt/notesSlides/notesSlide38.xml" Id="R43dfabb1cbe14a8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41ee399da30447c" /><Relationship Type="http://schemas.openxmlformats.org/officeDocument/2006/relationships/notesSlide" Target="/ppt/notesSlides/notesSlide39.xml" Id="R728b9c4d515b43c2"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72352bca04764213" /><Relationship Type="http://schemas.openxmlformats.org/officeDocument/2006/relationships/notesSlide" Target="/ppt/notesSlides/notesSlide40.xml" Id="R77ccda3dfe944918" /></Relationships>
</file>

<file path=ppt/slides/slide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pic>
        <p:nvPicPr>
          <p:cNvPr id="5" name="Workshop team designing a workflow" descr="Fictional 2D editorial illustration of three colleagues arranging a workflow together on a whiteboard."/>
          <p:cNvPicPr>
            <a:picLocks xmlns:a="http://schemas.openxmlformats.org/drawingml/2006/main" noChangeAspect="1"/>
          </p:cNvPicPr>
          <p:nvPr/>
        </p:nvPicPr>
        <p:blipFill>
          <a:blip xmlns:r="http://schemas.openxmlformats.org/officeDocument/2006/relationships" xmlns:a="http://schemas.openxmlformats.org/drawingml/2006/main" r:embed="Rc1f5925118a940a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iagram-0">
            <a:extLst xmlns:a="http://schemas.openxmlformats.org/drawingml/2006/main">
              <a:ext uri="{FF2B5EF4-FFF2-40B4-BE49-F238E27FC236}">
                <a16:creationId xmlns:a16="http://schemas.microsoft.com/office/drawing/2014/main" id="{B66656B0-2807-4AF7-AD17-4C7E1507FCDD}"/>
              </a:ext>
            </a:extLst>
          </p:cNvPr>
          <p:cNvSpPr>
            <a:spLocks xmlns:a="http://schemas.openxmlformats.org/drawingml/2006/main" noGrp="1"/>
          </p:cNvSpPr>
          <p:nvPr/>
        </p:nvSpPr>
        <p:spPr>
          <a:xfrm xmlns:a="http://schemas.openxmlformats.org/drawingml/2006/main">
            <a:off x="619125" y="952500"/>
            <a:ext cx="6858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02D50"/>
                </a:solidFill>
                <a:latin typeface="Tahoma"/>
                <a:ea typeface="Tahoma"/>
                <a:cs typeface="Tahoma"/>
              </a:defRPr>
            </a:pPr>
            <a:r>
              <a:rPr sz="4350" b="1">
                <a:solidFill>
                  <a:srgbClr val="102D50"/>
                </a:solidFill>
                <a:latin typeface="Tahoma"/>
                <a:ea typeface="Tahoma"/>
                <a:cs typeface="Tahoma"/>
              </a:rPr>
              <a:t>Power Automate</a:t>
            </a:r>
          </a:p>
          <a:p xmlns:a="http://schemas.openxmlformats.org/drawingml/2006/main">
            <a:pPr>
              <a:defRPr sz="4350" b="1">
                <a:solidFill>
                  <a:srgbClr val="102D50"/>
                </a:solidFill>
                <a:latin typeface="Tahoma"/>
                <a:ea typeface="Tahoma"/>
                <a:cs typeface="Tahoma"/>
              </a:defRPr>
            </a:pPr>
            <a:r>
              <a:rPr sz="4350" b="1">
                <a:solidFill>
                  <a:srgbClr val="102D50"/>
                </a:solidFill>
                <a:latin typeface="Tahoma"/>
                <a:ea typeface="Tahoma"/>
                <a:cs typeface="Tahoma"/>
              </a:rPr>
              <a:t>for leaders</a:t>
            </a:r>
          </a:p>
        </p:txBody>
      </p:sp>
      <p:sp>
        <p:nvSpPr>
          <p:cNvPr id="3" name="diagram-1">
            <a:extLst xmlns:a="http://schemas.openxmlformats.org/drawingml/2006/main">
              <a:ext uri="{FF2B5EF4-FFF2-40B4-BE49-F238E27FC236}">
                <a16:creationId xmlns:a16="http://schemas.microsoft.com/office/drawing/2014/main" id="{8587C5B8-FA86-4C35-BF36-5A0917D5892C}"/>
              </a:ext>
            </a:extLst>
          </p:cNvPr>
          <p:cNvSpPr>
            <a:spLocks xmlns:a="http://schemas.openxmlformats.org/drawingml/2006/main" noGrp="1"/>
          </p:cNvSpPr>
          <p:nvPr/>
        </p:nvSpPr>
        <p:spPr>
          <a:xfrm xmlns:a="http://schemas.openxmlformats.org/drawingml/2006/main">
            <a:off x="666750" y="3238500"/>
            <a:ext cx="628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B"/>
                </a:solidFill>
                <a:latin typeface="Tahoma"/>
                <a:ea typeface="Tahoma"/>
                <a:cs typeface="Tahoma"/>
              </a:defRPr>
            </a:pPr>
            <a:r>
              <a:rPr sz="2100" b="0">
                <a:solidFill>
                  <a:srgbClr val="18324B"/>
                </a:solidFill>
                <a:latin typeface="Tahoma"/>
                <a:ea typeface="Tahoma"/>
                <a:cs typeface="Tahoma"/>
              </a:rPr>
              <a:t>Strategic Automation Leadership</a:t>
            </a:r>
          </a:p>
        </p:txBody>
      </p:sp>
      <p:sp>
        <p:nvSpPr>
          <p:cNvPr id="4" name="diagram-2">
            <a:extLst xmlns:a="http://schemas.openxmlformats.org/drawingml/2006/main">
              <a:ext uri="{FF2B5EF4-FFF2-40B4-BE49-F238E27FC236}">
                <a16:creationId xmlns:a16="http://schemas.microsoft.com/office/drawing/2014/main" id="{ABFEACFB-BDED-4CA0-90ED-CAF2DF8A708E}"/>
              </a:ext>
            </a:extLst>
          </p:cNvPr>
          <p:cNvSpPr>
            <a:spLocks xmlns:a="http://schemas.openxmlformats.org/drawingml/2006/main" noGrp="1"/>
          </p:cNvSpPr>
          <p:nvPr/>
        </p:nvSpPr>
        <p:spPr>
          <a:xfrm xmlns:a="http://schemas.openxmlformats.org/drawingml/2006/main">
            <a:off x="666750" y="5572125"/>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B80"/>
                </a:solidFill>
                <a:latin typeface="Tahoma"/>
                <a:ea typeface="Tahoma"/>
                <a:cs typeface="Tahoma"/>
              </a:defRPr>
            </a:pPr>
            <a:r>
              <a:rPr sz="1800" b="0">
                <a:solidFill>
                  <a:srgbClr val="536B80"/>
                </a:solidFill>
                <a:latin typeface="Tahoma"/>
                <a:ea typeface="Tahoma"/>
                <a:cs typeface="Tahoma"/>
              </a:rPr>
              <a:t>Batch 1     09:00–16:00</a:t>
            </a:r>
          </a:p>
        </p:txBody>
      </p:sp>
    </p:spTree>
    <p:extLst>
      <p:ext uri="{BB962C8B-B14F-4D97-AF65-F5344CB8AC3E}">
        <p14:creationId xmlns:p14="http://schemas.microsoft.com/office/powerpoint/2010/main" val="286549981"/>
      </p:ext>
    </p:extLst>
  </p:cSld>
</p:sld>
</file>

<file path=ppt/slides/slide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diagram-3">
            <a:extLst xmlns:a="http://schemas.openxmlformats.org/drawingml/2006/main">
              <a:ext uri="{FF2B5EF4-FFF2-40B4-BE49-F238E27FC236}">
                <a16:creationId xmlns:a16="http://schemas.microsoft.com/office/drawing/2014/main" id="{668FFA8D-5BF7-47E2-B548-94C0AB44582B}"/>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Your end-of-day outputs</a:t>
            </a:r>
          </a:p>
        </p:txBody>
      </p:sp>
      <p:sp>
        <p:nvSpPr>
          <p:cNvPr id="2" name="diagram-4">
            <a:extLst xmlns:a="http://schemas.openxmlformats.org/drawingml/2006/main">
              <a:ext uri="{FF2B5EF4-FFF2-40B4-BE49-F238E27FC236}">
                <a16:creationId xmlns:a16="http://schemas.microsoft.com/office/drawing/2014/main" id="{D5BBDF42-CF7C-4DB3-8404-E8551B58E77E}"/>
              </a:ext>
            </a:extLst>
          </p:cNvPr>
          <p:cNvSpPr>
            <a:spLocks xmlns:a="http://schemas.openxmlformats.org/drawingml/2006/main" noGrp="1"/>
          </p:cNvSpPr>
          <p:nvPr/>
        </p:nvSpPr>
        <p:spPr>
          <a:xfrm xmlns:a="http://schemas.openxmlformats.org/drawingml/2006/main">
            <a:off x="762000" y="27622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5">
            <a:extLst xmlns:a="http://schemas.openxmlformats.org/drawingml/2006/main">
              <a:ext uri="{FF2B5EF4-FFF2-40B4-BE49-F238E27FC236}">
                <a16:creationId xmlns:a16="http://schemas.microsoft.com/office/drawing/2014/main" id="{966EE386-5BBF-4444-8AC5-70370AB3E3BE}"/>
              </a:ext>
            </a:extLst>
          </p:cNvPr>
          <p:cNvSpPr>
            <a:spLocks xmlns:a="http://schemas.openxmlformats.org/drawingml/2006/main" noGrp="1"/>
          </p:cNvSpPr>
          <p:nvPr/>
        </p:nvSpPr>
        <p:spPr>
          <a:xfrm xmlns:a="http://schemas.openxmlformats.org/drawingml/2006/main">
            <a:off x="933450" y="29051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Select an</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opportunity</a:t>
            </a:r>
          </a:p>
        </p:txBody>
      </p:sp>
      <p:sp>
        <p:nvSpPr>
          <p:cNvPr id="4" name="diagram-6">
            <a:extLst xmlns:a="http://schemas.openxmlformats.org/drawingml/2006/main">
              <a:ext uri="{FF2B5EF4-FFF2-40B4-BE49-F238E27FC236}">
                <a16:creationId xmlns:a16="http://schemas.microsoft.com/office/drawing/2014/main" id="{8D93903B-93FC-47FC-BDBB-4D2D01EE314E}"/>
              </a:ext>
            </a:extLst>
          </p:cNvPr>
          <p:cNvSpPr>
            <a:spLocks xmlns:a="http://schemas.openxmlformats.org/drawingml/2006/main" noGrp="1"/>
          </p:cNvSpPr>
          <p:nvPr/>
        </p:nvSpPr>
        <p:spPr>
          <a:xfrm xmlns:a="http://schemas.openxmlformats.org/drawingml/2006/main">
            <a:off x="3471863" y="27622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7">
            <a:extLst xmlns:a="http://schemas.openxmlformats.org/drawingml/2006/main">
              <a:ext uri="{FF2B5EF4-FFF2-40B4-BE49-F238E27FC236}">
                <a16:creationId xmlns:a16="http://schemas.microsoft.com/office/drawing/2014/main" id="{D37AF56B-E7FB-47AA-B54B-31A145E09D21}"/>
              </a:ext>
            </a:extLst>
          </p:cNvPr>
          <p:cNvSpPr>
            <a:spLocks xmlns:a="http://schemas.openxmlformats.org/drawingml/2006/main" noGrp="1"/>
          </p:cNvSpPr>
          <p:nvPr/>
        </p:nvSpPr>
        <p:spPr>
          <a:xfrm xmlns:a="http://schemas.openxmlformats.org/drawingml/2006/main">
            <a:off x="3643313" y="29051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Build a</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card draft</a:t>
            </a:r>
          </a:p>
        </p:txBody>
      </p:sp>
      <p:cxnSp>
        <p:nvCxnSpPr>
          <p:cNvPr id="20" name=""/>
          <p:cNvCxnSpPr>
            <a:stCxn xmlns:a="http://schemas.openxmlformats.org/drawingml/2006/main" id="2" idx="3"/>
            <a:endCxn xmlns:a="http://schemas.openxmlformats.org/drawingml/2006/main" id="4" idx="1"/>
          </p:cNvCxnSpPr>
          <p:nvPr/>
        </p:nvCxnSpPr>
        <p:spPr>
          <a:xfrm xmlns:a="http://schemas.openxmlformats.org/drawingml/2006/main">
            <a:off x="3109913" y="32385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7" name="diagram-8">
            <a:extLst xmlns:a="http://schemas.openxmlformats.org/drawingml/2006/main">
              <a:ext uri="{FF2B5EF4-FFF2-40B4-BE49-F238E27FC236}">
                <a16:creationId xmlns:a16="http://schemas.microsoft.com/office/drawing/2014/main" id="{C64D81E0-FD69-4611-A131-7604DE64CC76}"/>
              </a:ext>
            </a:extLst>
          </p:cNvPr>
          <p:cNvSpPr>
            <a:spLocks xmlns:a="http://schemas.openxmlformats.org/drawingml/2006/main" noGrp="1"/>
          </p:cNvSpPr>
          <p:nvPr/>
        </p:nvSpPr>
        <p:spPr>
          <a:xfrm xmlns:a="http://schemas.openxmlformats.org/drawingml/2006/main">
            <a:off x="6181725" y="27622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8" name="diagram-9">
            <a:extLst xmlns:a="http://schemas.openxmlformats.org/drawingml/2006/main">
              <a:ext uri="{FF2B5EF4-FFF2-40B4-BE49-F238E27FC236}">
                <a16:creationId xmlns:a16="http://schemas.microsoft.com/office/drawing/2014/main" id="{9BC85640-7312-4736-B008-42096BAAF874}"/>
              </a:ext>
            </a:extLst>
          </p:cNvPr>
          <p:cNvSpPr>
            <a:spLocks xmlns:a="http://schemas.openxmlformats.org/drawingml/2006/main" noGrp="1"/>
          </p:cNvSpPr>
          <p:nvPr/>
        </p:nvSpPr>
        <p:spPr>
          <a:xfrm xmlns:a="http://schemas.openxmlformats.org/drawingml/2006/main">
            <a:off x="6353175" y="29051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Improve the</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flow map</a:t>
            </a:r>
          </a:p>
        </p:txBody>
      </p:sp>
      <p:cxnSp>
        <p:nvCxnSpPr>
          <p:cNvPr id="23" name=""/>
          <p:cNvCxnSpPr>
            <a:stCxn xmlns:a="http://schemas.openxmlformats.org/drawingml/2006/main" id="4" idx="3"/>
            <a:endCxn xmlns:a="http://schemas.openxmlformats.org/drawingml/2006/main" id="7" idx="1"/>
          </p:cNvCxnSpPr>
          <p:nvPr/>
        </p:nvCxnSpPr>
        <p:spPr>
          <a:xfrm xmlns:a="http://schemas.openxmlformats.org/drawingml/2006/main">
            <a:off x="5819776" y="3238500"/>
            <a:ext cx="361949"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0" name="diagram-10">
            <a:extLst xmlns:a="http://schemas.openxmlformats.org/drawingml/2006/main">
              <a:ext uri="{FF2B5EF4-FFF2-40B4-BE49-F238E27FC236}">
                <a16:creationId xmlns:a16="http://schemas.microsoft.com/office/drawing/2014/main" id="{4C46F856-7AB9-4A43-B834-BBA488E5F2D1}"/>
              </a:ext>
            </a:extLst>
          </p:cNvPr>
          <p:cNvSpPr>
            <a:spLocks xmlns:a="http://schemas.openxmlformats.org/drawingml/2006/main" noGrp="1"/>
          </p:cNvSpPr>
          <p:nvPr/>
        </p:nvSpPr>
        <p:spPr>
          <a:xfrm xmlns:a="http://schemas.openxmlformats.org/drawingml/2006/main">
            <a:off x="8891588" y="27622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1" name="diagram-11">
            <a:extLst xmlns:a="http://schemas.openxmlformats.org/drawingml/2006/main">
              <a:ext uri="{FF2B5EF4-FFF2-40B4-BE49-F238E27FC236}">
                <a16:creationId xmlns:a16="http://schemas.microsoft.com/office/drawing/2014/main" id="{D823B96E-CCD7-47CB-9885-C92BD1DCB67A}"/>
              </a:ext>
            </a:extLst>
          </p:cNvPr>
          <p:cNvSpPr>
            <a:spLocks xmlns:a="http://schemas.openxmlformats.org/drawingml/2006/main" noGrp="1"/>
          </p:cNvSpPr>
          <p:nvPr/>
        </p:nvSpPr>
        <p:spPr>
          <a:xfrm xmlns:a="http://schemas.openxmlformats.org/drawingml/2006/main">
            <a:off x="9063038" y="29051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Present the</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handover</a:t>
            </a:r>
          </a:p>
        </p:txBody>
      </p:sp>
      <p:cxnSp>
        <p:nvCxnSpPr>
          <p:cNvPr id="26" name=""/>
          <p:cNvCxnSpPr>
            <a:stCxn xmlns:a="http://schemas.openxmlformats.org/drawingml/2006/main" id="7" idx="3"/>
            <a:endCxn xmlns:a="http://schemas.openxmlformats.org/drawingml/2006/main" id="10" idx="1"/>
          </p:cNvCxnSpPr>
          <p:nvPr/>
        </p:nvCxnSpPr>
        <p:spPr>
          <a:xfrm xmlns:a="http://schemas.openxmlformats.org/drawingml/2006/main">
            <a:off x="8529638" y="32385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3" name="diagram-12">
            <a:extLst xmlns:a="http://schemas.openxmlformats.org/drawingml/2006/main">
              <a:ext uri="{FF2B5EF4-FFF2-40B4-BE49-F238E27FC236}">
                <a16:creationId xmlns:a16="http://schemas.microsoft.com/office/drawing/2014/main" id="{120F02C4-29E5-49F9-BCAF-F75807D1F68A}"/>
              </a:ext>
            </a:extLst>
          </p:cNvPr>
          <p:cNvSpPr>
            <a:spLocks xmlns:a="http://schemas.openxmlformats.org/drawingml/2006/main" noGrp="1"/>
          </p:cNvSpPr>
          <p:nvPr/>
        </p:nvSpPr>
        <p:spPr>
          <a:xfrm xmlns:a="http://schemas.openxmlformats.org/drawingml/2006/main">
            <a:off x="762000" y="5000625"/>
            <a:ext cx="4905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4FBA"/>
                </a:solidFill>
                <a:latin typeface="Tahoma"/>
                <a:ea typeface="Tahoma"/>
                <a:cs typeface="Tahoma"/>
              </a:defRPr>
            </a:pPr>
            <a:r>
              <a:rPr sz="1875" b="1">
                <a:solidFill>
                  <a:srgbClr val="174FBA"/>
                </a:solidFill>
                <a:latin typeface="Tahoma"/>
                <a:ea typeface="Tahoma"/>
                <a:cs typeface="Tahoma"/>
              </a:rPr>
              <a:t>Use available pre-survey findings</a:t>
            </a:r>
          </a:p>
        </p:txBody>
      </p:sp>
      <p:sp>
        <p:nvSpPr>
          <p:cNvPr id="14" name="diagram-13">
            <a:extLst xmlns:a="http://schemas.openxmlformats.org/drawingml/2006/main">
              <a:ext uri="{FF2B5EF4-FFF2-40B4-BE49-F238E27FC236}">
                <a16:creationId xmlns:a16="http://schemas.microsoft.com/office/drawing/2014/main" id="{B3E9471C-1746-4A36-850F-E6F6BE5C11FF}"/>
              </a:ext>
            </a:extLst>
          </p:cNvPr>
          <p:cNvSpPr>
            <a:spLocks xmlns:a="http://schemas.openxmlformats.org/drawingml/2006/main" noGrp="1"/>
          </p:cNvSpPr>
          <p:nvPr/>
        </p:nvSpPr>
        <p:spPr>
          <a:xfrm xmlns:a="http://schemas.openxmlformats.org/drawingml/2006/main">
            <a:off x="6334125" y="500062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76D13"/>
                </a:solidFill>
                <a:latin typeface="Tahoma"/>
                <a:ea typeface="Tahoma"/>
                <a:cs typeface="Tahoma"/>
              </a:defRPr>
            </a:pPr>
            <a:r>
              <a:rPr sz="1875" b="1">
                <a:solidFill>
                  <a:srgbClr val="B76D13"/>
                </a:solidFill>
                <a:latin typeface="Tahoma"/>
                <a:ea typeface="Tahoma"/>
                <a:cs typeface="Tahoma"/>
              </a:rPr>
              <a:t>No findings? Use the fictional case</a:t>
            </a:r>
          </a:p>
        </p:txBody>
      </p:sp>
    </p:spTree>
    <p:extLst>
      <p:ext uri="{BB962C8B-B14F-4D97-AF65-F5344CB8AC3E}">
        <p14:creationId xmlns:p14="http://schemas.microsoft.com/office/powerpoint/2010/main" val="1848896665"/>
      </p:ext>
    </p:extLst>
  </p:cSld>
</p:sld>
</file>

<file path=ppt/slides/slide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diagram-14">
            <a:extLst xmlns:a="http://schemas.openxmlformats.org/drawingml/2006/main">
              <a:ext uri="{FF2B5EF4-FFF2-40B4-BE49-F238E27FC236}">
                <a16:creationId xmlns:a16="http://schemas.microsoft.com/office/drawing/2014/main" id="{F56494E2-F1B9-4BD8-845D-2106860F74AF}"/>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Power Automate in everyday work</a:t>
            </a:r>
          </a:p>
        </p:txBody>
      </p:sp>
      <p:sp>
        <p:nvSpPr>
          <p:cNvPr id="2" name="diagram-15">
            <a:extLst xmlns:a="http://schemas.openxmlformats.org/drawingml/2006/main">
              <a:ext uri="{FF2B5EF4-FFF2-40B4-BE49-F238E27FC236}">
                <a16:creationId xmlns:a16="http://schemas.microsoft.com/office/drawing/2014/main" id="{FBF564F0-9EA9-4B8C-A480-A6F59DC55FD2}"/>
              </a:ext>
            </a:extLst>
          </p:cNvPr>
          <p:cNvSpPr>
            <a:spLocks xmlns:a="http://schemas.openxmlformats.org/drawingml/2006/main" noGrp="1"/>
          </p:cNvSpPr>
          <p:nvPr/>
        </p:nvSpPr>
        <p:spPr>
          <a:xfrm xmlns:a="http://schemas.openxmlformats.org/drawingml/2006/main">
            <a:off x="762000" y="2857500"/>
            <a:ext cx="325120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16">
            <a:extLst xmlns:a="http://schemas.openxmlformats.org/drawingml/2006/main">
              <a:ext uri="{FF2B5EF4-FFF2-40B4-BE49-F238E27FC236}">
                <a16:creationId xmlns:a16="http://schemas.microsoft.com/office/drawing/2014/main" id="{1FAC3B28-CB37-4C5E-BAE7-C242046B0416}"/>
              </a:ext>
            </a:extLst>
          </p:cNvPr>
          <p:cNvSpPr>
            <a:spLocks xmlns:a="http://schemas.openxmlformats.org/drawingml/2006/main" noGrp="1"/>
          </p:cNvSpPr>
          <p:nvPr/>
        </p:nvSpPr>
        <p:spPr>
          <a:xfrm xmlns:a="http://schemas.openxmlformats.org/drawingml/2006/main">
            <a:off x="933450" y="3000375"/>
            <a:ext cx="2908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Start event</a:t>
            </a:r>
          </a:p>
        </p:txBody>
      </p:sp>
      <p:sp>
        <p:nvSpPr>
          <p:cNvPr id="4" name="diagram-17">
            <a:extLst xmlns:a="http://schemas.openxmlformats.org/drawingml/2006/main">
              <a:ext uri="{FF2B5EF4-FFF2-40B4-BE49-F238E27FC236}">
                <a16:creationId xmlns:a16="http://schemas.microsoft.com/office/drawing/2014/main" id="{203D8CAA-C5E1-46C0-92D3-8A3EEA1C5984}"/>
              </a:ext>
            </a:extLst>
          </p:cNvPr>
          <p:cNvSpPr>
            <a:spLocks xmlns:a="http://schemas.openxmlformats.org/drawingml/2006/main" noGrp="1"/>
          </p:cNvSpPr>
          <p:nvPr/>
        </p:nvSpPr>
        <p:spPr>
          <a:xfrm xmlns:a="http://schemas.openxmlformats.org/drawingml/2006/main">
            <a:off x="4375150" y="2857500"/>
            <a:ext cx="325120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18">
            <a:extLst xmlns:a="http://schemas.openxmlformats.org/drawingml/2006/main">
              <a:ext uri="{FF2B5EF4-FFF2-40B4-BE49-F238E27FC236}">
                <a16:creationId xmlns:a16="http://schemas.microsoft.com/office/drawing/2014/main" id="{824631CD-DECA-455C-ABF7-C3FD498CB0CB}"/>
              </a:ext>
            </a:extLst>
          </p:cNvPr>
          <p:cNvSpPr>
            <a:spLocks xmlns:a="http://schemas.openxmlformats.org/drawingml/2006/main" noGrp="1"/>
          </p:cNvSpPr>
          <p:nvPr/>
        </p:nvSpPr>
        <p:spPr>
          <a:xfrm xmlns:a="http://schemas.openxmlformats.org/drawingml/2006/main">
            <a:off x="4546600" y="3000375"/>
            <a:ext cx="2908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Steps and rules</a:t>
            </a:r>
          </a:p>
        </p:txBody>
      </p:sp>
      <p:cxnSp>
        <p:nvCxnSpPr>
          <p:cNvPr id="16" name=""/>
          <p:cNvCxnSpPr>
            <a:stCxn xmlns:a="http://schemas.openxmlformats.org/drawingml/2006/main" id="2" idx="3"/>
            <a:endCxn xmlns:a="http://schemas.openxmlformats.org/drawingml/2006/main" id="4" idx="1"/>
          </p:cNvCxnSpPr>
          <p:nvPr/>
        </p:nvCxnSpPr>
        <p:spPr>
          <a:xfrm xmlns:a="http://schemas.openxmlformats.org/drawingml/2006/main">
            <a:off x="4013200" y="333375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7" name="diagram-19">
            <a:extLst xmlns:a="http://schemas.openxmlformats.org/drawingml/2006/main">
              <a:ext uri="{FF2B5EF4-FFF2-40B4-BE49-F238E27FC236}">
                <a16:creationId xmlns:a16="http://schemas.microsoft.com/office/drawing/2014/main" id="{0DD9C181-553C-431F-BD42-8DA71EE901AA}"/>
              </a:ext>
            </a:extLst>
          </p:cNvPr>
          <p:cNvSpPr>
            <a:spLocks xmlns:a="http://schemas.openxmlformats.org/drawingml/2006/main" noGrp="1"/>
          </p:cNvSpPr>
          <p:nvPr/>
        </p:nvSpPr>
        <p:spPr>
          <a:xfrm xmlns:a="http://schemas.openxmlformats.org/drawingml/2006/main">
            <a:off x="7988300" y="2857500"/>
            <a:ext cx="325120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8" name="diagram-20">
            <a:extLst xmlns:a="http://schemas.openxmlformats.org/drawingml/2006/main">
              <a:ext uri="{FF2B5EF4-FFF2-40B4-BE49-F238E27FC236}">
                <a16:creationId xmlns:a16="http://schemas.microsoft.com/office/drawing/2014/main" id="{13B80036-1FF8-4AC9-8946-D4AE029DB932}"/>
              </a:ext>
            </a:extLst>
          </p:cNvPr>
          <p:cNvSpPr>
            <a:spLocks xmlns:a="http://schemas.openxmlformats.org/drawingml/2006/main" noGrp="1"/>
          </p:cNvSpPr>
          <p:nvPr/>
        </p:nvSpPr>
        <p:spPr>
          <a:xfrm xmlns:a="http://schemas.openxmlformats.org/drawingml/2006/main">
            <a:off x="8159750" y="3000375"/>
            <a:ext cx="2908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Checkable outcome</a:t>
            </a:r>
          </a:p>
        </p:txBody>
      </p:sp>
      <p:cxnSp>
        <p:nvCxnSpPr>
          <p:cNvPr id="19" name=""/>
          <p:cNvCxnSpPr>
            <a:stCxn xmlns:a="http://schemas.openxmlformats.org/drawingml/2006/main" id="4" idx="3"/>
            <a:endCxn xmlns:a="http://schemas.openxmlformats.org/drawingml/2006/main" id="7" idx="1"/>
          </p:cNvCxnSpPr>
          <p:nvPr/>
        </p:nvCxnSpPr>
        <p:spPr>
          <a:xfrm xmlns:a="http://schemas.openxmlformats.org/drawingml/2006/main">
            <a:off x="7626350" y="333375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0" name="diagram-21">
            <a:extLst xmlns:a="http://schemas.openxmlformats.org/drawingml/2006/main">
              <a:ext uri="{FF2B5EF4-FFF2-40B4-BE49-F238E27FC236}">
                <a16:creationId xmlns:a16="http://schemas.microsoft.com/office/drawing/2014/main" id="{33F4A869-5C4F-40F0-BB26-44BBD76EEE99}"/>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Power Automate runs configured workflow steps</a:t>
            </a:r>
          </a:p>
        </p:txBody>
      </p:sp>
    </p:spTree>
    <p:extLst>
      <p:ext uri="{BB962C8B-B14F-4D97-AF65-F5344CB8AC3E}">
        <p14:creationId xmlns:p14="http://schemas.microsoft.com/office/powerpoint/2010/main" val="1745376813"/>
      </p:ext>
    </p:extLst>
  </p:cSld>
</p:sld>
</file>

<file path=ppt/slides/slide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4" name="diagram-22">
            <a:extLst xmlns:a="http://schemas.openxmlformats.org/drawingml/2006/main">
              <a:ext uri="{FF2B5EF4-FFF2-40B4-BE49-F238E27FC236}">
                <a16:creationId xmlns:a16="http://schemas.microsoft.com/office/drawing/2014/main" id="{A7A8ACB8-B6ED-441F-9395-C285E798C475}"/>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A kitchen analogy</a:t>
            </a:r>
          </a:p>
        </p:txBody>
      </p:sp>
      <p:sp>
        <p:nvSpPr>
          <p:cNvPr id="2" name="diagram-23">
            <a:extLst xmlns:a="http://schemas.openxmlformats.org/drawingml/2006/main">
              <a:ext uri="{FF2B5EF4-FFF2-40B4-BE49-F238E27FC236}">
                <a16:creationId xmlns:a16="http://schemas.microsoft.com/office/drawing/2014/main" id="{5617977B-5F93-41AF-B5D2-681645E0E44A}"/>
              </a:ext>
            </a:extLst>
          </p:cNvPr>
          <p:cNvSpPr>
            <a:spLocks xmlns:a="http://schemas.openxmlformats.org/drawingml/2006/main" noGrp="1"/>
          </p:cNvSpPr>
          <p:nvPr/>
        </p:nvSpPr>
        <p:spPr>
          <a:xfrm xmlns:a="http://schemas.openxmlformats.org/drawingml/2006/main">
            <a:off x="809625" y="2428875"/>
            <a:ext cx="10287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102D50"/>
                </a:solidFill>
                <a:latin typeface="Tahoma"/>
                <a:ea typeface="Tahoma"/>
                <a:cs typeface="Tahoma"/>
              </a:defRPr>
            </a:pPr>
            <a:r>
              <a:rPr sz="3900" b="1">
                <a:solidFill>
                  <a:srgbClr val="102D50"/>
                </a:solidFill>
                <a:latin typeface="Tahoma"/>
                <a:ea typeface="Tahoma"/>
                <a:cs typeface="Tahoma"/>
              </a:rPr>
              <a:t>With a clear recipe,</a:t>
            </a:r>
          </a:p>
          <a:p xmlns:a="http://schemas.openxmlformats.org/drawingml/2006/main">
            <a:pPr>
              <a:defRPr sz="3900" b="1">
                <a:solidFill>
                  <a:srgbClr val="102D50"/>
                </a:solidFill>
                <a:latin typeface="Tahoma"/>
                <a:ea typeface="Tahoma"/>
                <a:cs typeface="Tahoma"/>
              </a:defRPr>
            </a:pPr>
            <a:r>
              <a:rPr sz="3900" b="1">
                <a:solidFill>
                  <a:srgbClr val="102D50"/>
                </a:solidFill>
                <a:latin typeface="Tahoma"/>
                <a:ea typeface="Tahoma"/>
                <a:cs typeface="Tahoma"/>
              </a:rPr>
              <a:t>which tasks can repeat?</a:t>
            </a:r>
          </a:p>
        </p:txBody>
      </p:sp>
      <p:sp>
        <p:nvSpPr>
          <p:cNvPr id="3" name="diagram-24">
            <a:extLst xmlns:a="http://schemas.openxmlformats.org/drawingml/2006/main">
              <a:ext uri="{FF2B5EF4-FFF2-40B4-BE49-F238E27FC236}">
                <a16:creationId xmlns:a16="http://schemas.microsoft.com/office/drawing/2014/main" id="{CF3AE514-4187-4CF2-A0B6-7B6FF74C5C00}"/>
              </a:ext>
            </a:extLst>
          </p:cNvPr>
          <p:cNvSpPr>
            <a:spLocks xmlns:a="http://schemas.openxmlformats.org/drawingml/2006/main" noGrp="1"/>
          </p:cNvSpPr>
          <p:nvPr/>
        </p:nvSpPr>
        <p:spPr>
          <a:xfrm xmlns:a="http://schemas.openxmlformats.org/drawingml/2006/main">
            <a:off x="809625" y="4667250"/>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B76D13"/>
                </a:solidFill>
                <a:latin typeface="Tahoma"/>
                <a:ea typeface="Tahoma"/>
                <a:cs typeface="Tahoma"/>
              </a:defRPr>
            </a:pPr>
            <a:r>
              <a:rPr sz="2550" b="0">
                <a:solidFill>
                  <a:srgbClr val="B76D13"/>
                </a:solidFill>
                <a:latin typeface="Tahoma"/>
                <a:ea typeface="Tahoma"/>
                <a:cs typeface="Tahoma"/>
              </a:rPr>
              <a:t>Who checks an allergy exception?</a:t>
            </a:r>
          </a:p>
        </p:txBody>
      </p:sp>
    </p:spTree>
    <p:extLst>
      <p:ext uri="{BB962C8B-B14F-4D97-AF65-F5344CB8AC3E}">
        <p14:creationId xmlns:p14="http://schemas.microsoft.com/office/powerpoint/2010/main" val="1146064772"/>
      </p:ext>
    </p:extLst>
  </p:cSld>
</p:sld>
</file>

<file path=ppt/slides/slide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pic>
        <p:nvPicPr>
          <p:cNvPr id="4" name="Chef checking an exception" descr="2D editorial illustration of a chef checking a dietary exception before serving a meal."/>
          <p:cNvPicPr>
            <a:picLocks xmlns:a="http://schemas.openxmlformats.org/drawingml/2006/main" noChangeAspect="1"/>
          </p:cNvPicPr>
          <p:nvPr/>
        </p:nvPicPr>
        <p:blipFill>
          <a:blip xmlns:r="http://schemas.openxmlformats.org/officeDocument/2006/relationships" xmlns:a="http://schemas.openxmlformats.org/drawingml/2006/main" r:embed="Rd04c3d48194e4b2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iagram-25">
            <a:extLst xmlns:a="http://schemas.openxmlformats.org/drawingml/2006/main">
              <a:ext uri="{FF2B5EF4-FFF2-40B4-BE49-F238E27FC236}">
                <a16:creationId xmlns:a16="http://schemas.microsoft.com/office/drawing/2014/main" id="{F7AB7BDC-4487-49F3-8FC1-48014202D4C4}"/>
              </a:ext>
            </a:extLst>
          </p:cNvPr>
          <p:cNvSpPr>
            <a:spLocks xmlns:a="http://schemas.openxmlformats.org/drawingml/2006/main" noGrp="1"/>
          </p:cNvSpPr>
          <p:nvPr/>
        </p:nvSpPr>
        <p:spPr>
          <a:xfrm xmlns:a="http://schemas.openxmlformats.org/drawingml/2006/main">
            <a:off x="571500" y="1952625"/>
            <a:ext cx="4191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FFFFFF"/>
                </a:solidFill>
                <a:latin typeface="Tahoma"/>
                <a:ea typeface="Tahoma"/>
                <a:cs typeface="Tahoma"/>
              </a:defRPr>
            </a:pPr>
            <a:r>
              <a:rPr sz="4200" b="1">
                <a:solidFill>
                  <a:srgbClr val="FFFFFF"/>
                </a:solidFill>
                <a:latin typeface="Tahoma"/>
                <a:ea typeface="Tahoma"/>
                <a:cs typeface="Tahoma"/>
              </a:rPr>
              <a:t>People check</a:t>
            </a:r>
          </a:p>
          <a:p xmlns:a="http://schemas.openxmlformats.org/drawingml/2006/main">
            <a:pPr>
              <a:defRPr sz="4200" b="1">
                <a:solidFill>
                  <a:srgbClr val="FFFFFF"/>
                </a:solidFill>
                <a:latin typeface="Tahoma"/>
                <a:ea typeface="Tahoma"/>
                <a:cs typeface="Tahoma"/>
              </a:defRPr>
            </a:pPr>
            <a:r>
              <a:rPr sz="4200" b="1">
                <a:solidFill>
                  <a:srgbClr val="FFFFFF"/>
                </a:solidFill>
                <a:latin typeface="Tahoma"/>
                <a:ea typeface="Tahoma"/>
                <a:cs typeface="Tahoma"/>
              </a:rPr>
              <a:t>exceptions</a:t>
            </a:r>
          </a:p>
        </p:txBody>
      </p:sp>
      <p:sp>
        <p:nvSpPr>
          <p:cNvPr id="3" name="diagram-26">
            <a:extLst xmlns:a="http://schemas.openxmlformats.org/drawingml/2006/main">
              <a:ext uri="{FF2B5EF4-FFF2-40B4-BE49-F238E27FC236}">
                <a16:creationId xmlns:a16="http://schemas.microsoft.com/office/drawing/2014/main" id="{6D6986AD-591C-4217-8469-F53AB2153D62}"/>
              </a:ext>
            </a:extLst>
          </p:cNvPr>
          <p:cNvSpPr>
            <a:spLocks xmlns:a="http://schemas.openxmlformats.org/drawingml/2006/main" noGrp="1"/>
          </p:cNvSpPr>
          <p:nvPr/>
        </p:nvSpPr>
        <p:spPr>
          <a:xfrm xmlns:a="http://schemas.openxmlformats.org/drawingml/2006/main">
            <a:off x="619125" y="4095750"/>
            <a:ext cx="4000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D7E7F5"/>
                </a:solidFill>
                <a:latin typeface="Tahoma"/>
                <a:ea typeface="Tahoma"/>
                <a:cs typeface="Tahoma"/>
              </a:defRPr>
            </a:pPr>
            <a:r>
              <a:rPr sz="2025" b="0">
                <a:solidFill>
                  <a:srgbClr val="D7E7F5"/>
                </a:solidFill>
                <a:latin typeface="Tahoma"/>
                <a:ea typeface="Tahoma"/>
                <a:cs typeface="Tahoma"/>
              </a:rPr>
              <a:t>Routine steps follow rules.</a:t>
            </a:r>
          </a:p>
          <a:p xmlns:a="http://schemas.openxmlformats.org/drawingml/2006/main">
            <a:pPr>
              <a:defRPr sz="2025" b="0">
                <a:solidFill>
                  <a:srgbClr val="D7E7F5"/>
                </a:solidFill>
                <a:latin typeface="Tahoma"/>
                <a:ea typeface="Tahoma"/>
                <a:cs typeface="Tahoma"/>
              </a:defRPr>
            </a:pPr>
            <a:r>
              <a:rPr sz="2025" b="0">
                <a:solidFill>
                  <a:srgbClr val="D7E7F5"/>
                </a:solidFill>
                <a:latin typeface="Tahoma"/>
                <a:ea typeface="Tahoma"/>
                <a:cs typeface="Tahoma"/>
              </a:rPr>
              <a:t>A responsible person checks exceptions.</a:t>
            </a:r>
          </a:p>
        </p:txBody>
      </p:sp>
    </p:spTree>
    <p:extLst>
      <p:ext uri="{BB962C8B-B14F-4D97-AF65-F5344CB8AC3E}">
        <p14:creationId xmlns:p14="http://schemas.microsoft.com/office/powerpoint/2010/main" val="2067467438"/>
      </p:ext>
    </p:extLst>
  </p:cSld>
</p:sld>
</file>

<file path=ppt/slides/slide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diagram-27">
            <a:extLst xmlns:a="http://schemas.openxmlformats.org/drawingml/2006/main">
              <a:ext uri="{FF2B5EF4-FFF2-40B4-BE49-F238E27FC236}">
                <a16:creationId xmlns:a16="http://schemas.microsoft.com/office/drawing/2014/main" id="{835C704B-6CD2-41FE-88B1-989A855ABA3B}"/>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Common workflow tasks</a:t>
            </a:r>
          </a:p>
        </p:txBody>
      </p:sp>
      <p:sp>
        <p:nvSpPr>
          <p:cNvPr id="2" name="diagram-28">
            <a:extLst xmlns:a="http://schemas.openxmlformats.org/drawingml/2006/main">
              <a:ext uri="{FF2B5EF4-FFF2-40B4-BE49-F238E27FC236}">
                <a16:creationId xmlns:a16="http://schemas.microsoft.com/office/drawing/2014/main" id="{B1E93F62-3B08-4C40-A90B-10108B211FDE}"/>
              </a:ext>
            </a:extLst>
          </p:cNvPr>
          <p:cNvSpPr>
            <a:spLocks xmlns:a="http://schemas.openxmlformats.org/drawingml/2006/main" noGrp="1"/>
          </p:cNvSpPr>
          <p:nvPr/>
        </p:nvSpPr>
        <p:spPr>
          <a:xfrm xmlns:a="http://schemas.openxmlformats.org/drawingml/2006/main">
            <a:off x="762000" y="247650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74FBA"/>
                </a:solidFill>
                <a:latin typeface="Tahoma"/>
                <a:ea typeface="Tahoma"/>
                <a:cs typeface="Tahoma"/>
              </a:defRPr>
            </a:pPr>
            <a:r>
              <a:rPr sz="4650" b="1">
                <a:solidFill>
                  <a:srgbClr val="174FBA"/>
                </a:solidFill>
                <a:latin typeface="Tahoma"/>
                <a:ea typeface="Tahoma"/>
                <a:cs typeface="Tahoma"/>
              </a:rPr>
              <a:t>01</a:t>
            </a:r>
          </a:p>
        </p:txBody>
      </p:sp>
      <p:sp>
        <p:nvSpPr>
          <p:cNvPr id="3" name="diagram-29">
            <a:extLst xmlns:a="http://schemas.openxmlformats.org/drawingml/2006/main">
              <a:ext uri="{FF2B5EF4-FFF2-40B4-BE49-F238E27FC236}">
                <a16:creationId xmlns:a16="http://schemas.microsoft.com/office/drawing/2014/main" id="{CA1FE97D-578F-4848-AB9F-30C8A1BBF5A8}"/>
              </a:ext>
            </a:extLst>
          </p:cNvPr>
          <p:cNvSpPr>
            <a:spLocks xmlns:a="http://schemas.openxmlformats.org/drawingml/2006/main" noGrp="1"/>
          </p:cNvSpPr>
          <p:nvPr/>
        </p:nvSpPr>
        <p:spPr>
          <a:xfrm xmlns:a="http://schemas.openxmlformats.org/drawingml/2006/main">
            <a:off x="762000" y="34766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02D50"/>
                </a:solidFill>
                <a:latin typeface="Tahoma"/>
                <a:ea typeface="Tahoma"/>
                <a:cs typeface="Tahoma"/>
              </a:defRPr>
            </a:pPr>
            <a:r>
              <a:rPr sz="2625" b="1">
                <a:solidFill>
                  <a:srgbClr val="102D50"/>
                </a:solidFill>
                <a:latin typeface="Tahoma"/>
                <a:ea typeface="Tahoma"/>
                <a:cs typeface="Tahoma"/>
              </a:rPr>
              <a:t>Route requests</a:t>
            </a:r>
          </a:p>
        </p:txBody>
      </p:sp>
      <p:sp>
        <p:nvSpPr>
          <p:cNvPr id="4" name="diagram-30">
            <a:extLst xmlns:a="http://schemas.openxmlformats.org/drawingml/2006/main">
              <a:ext uri="{FF2B5EF4-FFF2-40B4-BE49-F238E27FC236}">
                <a16:creationId xmlns:a16="http://schemas.microsoft.com/office/drawing/2014/main" id="{D049EEC4-5852-46A6-A833-6EBE278CFACF}"/>
              </a:ext>
            </a:extLst>
          </p:cNvPr>
          <p:cNvSpPr>
            <a:spLocks xmlns:a="http://schemas.openxmlformats.org/drawingml/2006/main" noGrp="1"/>
          </p:cNvSpPr>
          <p:nvPr/>
        </p:nvSpPr>
        <p:spPr>
          <a:xfrm xmlns:a="http://schemas.openxmlformats.org/drawingml/2006/main">
            <a:off x="762000" y="4286250"/>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80"/>
                </a:solidFill>
                <a:latin typeface="Tahoma"/>
                <a:ea typeface="Tahoma"/>
                <a:cs typeface="Tahoma"/>
              </a:defRPr>
            </a:pPr>
            <a:r>
              <a:rPr sz="2025" b="0">
                <a:solidFill>
                  <a:srgbClr val="536B80"/>
                </a:solidFill>
                <a:latin typeface="Tahoma"/>
                <a:ea typeface="Tahoma"/>
                <a:cs typeface="Tahoma"/>
              </a:rPr>
              <a:t>To the responsible person</a:t>
            </a:r>
          </a:p>
        </p:txBody>
      </p:sp>
      <p:sp>
        <p:nvSpPr>
          <p:cNvPr id="5" name="diagram-31">
            <a:extLst xmlns:a="http://schemas.openxmlformats.org/drawingml/2006/main">
              <a:ext uri="{FF2B5EF4-FFF2-40B4-BE49-F238E27FC236}">
                <a16:creationId xmlns:a16="http://schemas.microsoft.com/office/drawing/2014/main" id="{0D83C069-65F5-4306-8AB3-0D7C36180C73}"/>
              </a:ext>
            </a:extLst>
          </p:cNvPr>
          <p:cNvSpPr>
            <a:spLocks xmlns:a="http://schemas.openxmlformats.org/drawingml/2006/main" noGrp="1"/>
          </p:cNvSpPr>
          <p:nvPr/>
        </p:nvSpPr>
        <p:spPr>
          <a:xfrm xmlns:a="http://schemas.openxmlformats.org/drawingml/2006/main">
            <a:off x="4381500" y="247650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74FBA"/>
                </a:solidFill>
                <a:latin typeface="Tahoma"/>
                <a:ea typeface="Tahoma"/>
                <a:cs typeface="Tahoma"/>
              </a:defRPr>
            </a:pPr>
            <a:r>
              <a:rPr sz="4650" b="1">
                <a:solidFill>
                  <a:srgbClr val="174FBA"/>
                </a:solidFill>
                <a:latin typeface="Tahoma"/>
                <a:ea typeface="Tahoma"/>
                <a:cs typeface="Tahoma"/>
              </a:rPr>
              <a:t>02</a:t>
            </a:r>
          </a:p>
        </p:txBody>
      </p:sp>
      <p:sp>
        <p:nvSpPr>
          <p:cNvPr id="6" name="diagram-32">
            <a:extLst xmlns:a="http://schemas.openxmlformats.org/drawingml/2006/main">
              <a:ext uri="{FF2B5EF4-FFF2-40B4-BE49-F238E27FC236}">
                <a16:creationId xmlns:a16="http://schemas.microsoft.com/office/drawing/2014/main" id="{A7CD748E-4907-44F0-8AC8-0035570FBA00}"/>
              </a:ext>
            </a:extLst>
          </p:cNvPr>
          <p:cNvSpPr>
            <a:spLocks xmlns:a="http://schemas.openxmlformats.org/drawingml/2006/main" noGrp="1"/>
          </p:cNvSpPr>
          <p:nvPr/>
        </p:nvSpPr>
        <p:spPr>
          <a:xfrm xmlns:a="http://schemas.openxmlformats.org/drawingml/2006/main">
            <a:off x="4381500" y="34766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02D50"/>
                </a:solidFill>
                <a:latin typeface="Tahoma"/>
                <a:ea typeface="Tahoma"/>
                <a:cs typeface="Tahoma"/>
              </a:defRPr>
            </a:pPr>
            <a:r>
              <a:rPr sz="2625" b="1">
                <a:solidFill>
                  <a:srgbClr val="102D50"/>
                </a:solidFill>
                <a:latin typeface="Tahoma"/>
                <a:ea typeface="Tahoma"/>
                <a:cs typeface="Tahoma"/>
              </a:rPr>
              <a:t>Send notifications</a:t>
            </a:r>
          </a:p>
        </p:txBody>
      </p:sp>
      <p:sp>
        <p:nvSpPr>
          <p:cNvPr id="7" name="diagram-33">
            <a:extLst xmlns:a="http://schemas.openxmlformats.org/drawingml/2006/main">
              <a:ext uri="{FF2B5EF4-FFF2-40B4-BE49-F238E27FC236}">
                <a16:creationId xmlns:a16="http://schemas.microsoft.com/office/drawing/2014/main" id="{1AEA81D2-3857-4801-8B47-0E09346E4106}"/>
              </a:ext>
            </a:extLst>
          </p:cNvPr>
          <p:cNvSpPr>
            <a:spLocks xmlns:a="http://schemas.openxmlformats.org/drawingml/2006/main" noGrp="1"/>
          </p:cNvSpPr>
          <p:nvPr/>
        </p:nvSpPr>
        <p:spPr>
          <a:xfrm xmlns:a="http://schemas.openxmlformats.org/drawingml/2006/main">
            <a:off x="4381500" y="4286250"/>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80"/>
                </a:solidFill>
                <a:latin typeface="Tahoma"/>
                <a:ea typeface="Tahoma"/>
                <a:cs typeface="Tahoma"/>
              </a:defRPr>
            </a:pPr>
            <a:r>
              <a:rPr sz="2025" b="0">
                <a:solidFill>
                  <a:srgbClr val="536B80"/>
                </a:solidFill>
                <a:latin typeface="Tahoma"/>
                <a:ea typeface="Tahoma"/>
                <a:cs typeface="Tahoma"/>
              </a:rPr>
              <a:t>Under agreed rules</a:t>
            </a:r>
          </a:p>
        </p:txBody>
      </p:sp>
      <p:sp>
        <p:nvSpPr>
          <p:cNvPr id="8" name="diagram-34">
            <a:extLst xmlns:a="http://schemas.openxmlformats.org/drawingml/2006/main">
              <a:ext uri="{FF2B5EF4-FFF2-40B4-BE49-F238E27FC236}">
                <a16:creationId xmlns:a16="http://schemas.microsoft.com/office/drawing/2014/main" id="{38C45DFA-6E11-4E56-BFF5-97F7F6390EC9}"/>
              </a:ext>
            </a:extLst>
          </p:cNvPr>
          <p:cNvSpPr>
            <a:spLocks xmlns:a="http://schemas.openxmlformats.org/drawingml/2006/main" noGrp="1"/>
          </p:cNvSpPr>
          <p:nvPr/>
        </p:nvSpPr>
        <p:spPr>
          <a:xfrm xmlns:a="http://schemas.openxmlformats.org/drawingml/2006/main">
            <a:off x="8001000" y="247650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650" b="1">
                <a:solidFill>
                  <a:srgbClr val="174FBA"/>
                </a:solidFill>
                <a:latin typeface="Tahoma"/>
                <a:ea typeface="Tahoma"/>
                <a:cs typeface="Tahoma"/>
              </a:defRPr>
            </a:pPr>
            <a:r>
              <a:rPr sz="4650" b="1">
                <a:solidFill>
                  <a:srgbClr val="174FBA"/>
                </a:solidFill>
                <a:latin typeface="Tahoma"/>
                <a:ea typeface="Tahoma"/>
                <a:cs typeface="Tahoma"/>
              </a:rPr>
              <a:t>03</a:t>
            </a:r>
          </a:p>
        </p:txBody>
      </p:sp>
      <p:sp>
        <p:nvSpPr>
          <p:cNvPr id="9" name="diagram-35">
            <a:extLst xmlns:a="http://schemas.openxmlformats.org/drawingml/2006/main">
              <a:ext uri="{FF2B5EF4-FFF2-40B4-BE49-F238E27FC236}">
                <a16:creationId xmlns:a16="http://schemas.microsoft.com/office/drawing/2014/main" id="{82A89137-7F74-44A7-B346-8766021D12B9}"/>
              </a:ext>
            </a:extLst>
          </p:cNvPr>
          <p:cNvSpPr>
            <a:spLocks xmlns:a="http://schemas.openxmlformats.org/drawingml/2006/main" noGrp="1"/>
          </p:cNvSpPr>
          <p:nvPr/>
        </p:nvSpPr>
        <p:spPr>
          <a:xfrm xmlns:a="http://schemas.openxmlformats.org/drawingml/2006/main">
            <a:off x="8001000" y="3476625"/>
            <a:ext cx="323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02D50"/>
                </a:solidFill>
                <a:latin typeface="Tahoma"/>
                <a:ea typeface="Tahoma"/>
                <a:cs typeface="Tahoma"/>
              </a:defRPr>
            </a:pPr>
            <a:r>
              <a:rPr sz="2625" b="1">
                <a:solidFill>
                  <a:srgbClr val="102D50"/>
                </a:solidFill>
                <a:latin typeface="Tahoma"/>
                <a:ea typeface="Tahoma"/>
                <a:cs typeface="Tahoma"/>
              </a:rPr>
              <a:t>Update records</a:t>
            </a:r>
          </a:p>
        </p:txBody>
      </p:sp>
      <p:sp>
        <p:nvSpPr>
          <p:cNvPr id="10" name="diagram-36">
            <a:extLst xmlns:a="http://schemas.openxmlformats.org/drawingml/2006/main">
              <a:ext uri="{FF2B5EF4-FFF2-40B4-BE49-F238E27FC236}">
                <a16:creationId xmlns:a16="http://schemas.microsoft.com/office/drawing/2014/main" id="{3874F761-DA5E-4803-AA26-148E5AD92633}"/>
              </a:ext>
            </a:extLst>
          </p:cNvPr>
          <p:cNvSpPr>
            <a:spLocks xmlns:a="http://schemas.openxmlformats.org/drawingml/2006/main" noGrp="1"/>
          </p:cNvSpPr>
          <p:nvPr/>
        </p:nvSpPr>
        <p:spPr>
          <a:xfrm xmlns:a="http://schemas.openxmlformats.org/drawingml/2006/main">
            <a:off x="8001000" y="4286250"/>
            <a:ext cx="323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B80"/>
                </a:solidFill>
                <a:latin typeface="Tahoma"/>
                <a:ea typeface="Tahoma"/>
                <a:cs typeface="Tahoma"/>
              </a:defRPr>
            </a:pPr>
            <a:r>
              <a:rPr sz="2025" b="0">
                <a:solidFill>
                  <a:srgbClr val="536B80"/>
                </a:solidFill>
                <a:latin typeface="Tahoma"/>
                <a:ea typeface="Tahoma"/>
                <a:cs typeface="Tahoma"/>
              </a:rPr>
              <a:t>Through supported services</a:t>
            </a:r>
          </a:p>
        </p:txBody>
      </p:sp>
    </p:spTree>
    <p:extLst>
      <p:ext uri="{BB962C8B-B14F-4D97-AF65-F5344CB8AC3E}">
        <p14:creationId xmlns:p14="http://schemas.microsoft.com/office/powerpoint/2010/main" val="1613466557"/>
      </p:ext>
    </p:extLst>
  </p:cSld>
</p:sld>
</file>

<file path=ppt/slides/slide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diagram-37">
            <a:extLst xmlns:a="http://schemas.openxmlformats.org/drawingml/2006/main">
              <a:ext uri="{FF2B5EF4-FFF2-40B4-BE49-F238E27FC236}">
                <a16:creationId xmlns:a16="http://schemas.microsoft.com/office/drawing/2014/main" id="{8373F50A-6FD2-4426-9A65-39DBE52DA38E}"/>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Rules and human judgement</a:t>
            </a:r>
          </a:p>
        </p:txBody>
      </p:sp>
      <p:sp>
        <p:nvSpPr>
          <p:cNvPr id="2" name="diagram-38">
            <a:extLst xmlns:a="http://schemas.openxmlformats.org/drawingml/2006/main">
              <a:ext uri="{FF2B5EF4-FFF2-40B4-BE49-F238E27FC236}">
                <a16:creationId xmlns:a16="http://schemas.microsoft.com/office/drawing/2014/main" id="{21415260-B125-4A95-B8A3-DF810423197E}"/>
              </a:ext>
            </a:extLst>
          </p:cNvPr>
          <p:cNvSpPr>
            <a:spLocks xmlns:a="http://schemas.openxmlformats.org/drawingml/2006/main" noGrp="1"/>
          </p:cNvSpPr>
          <p:nvPr/>
        </p:nvSpPr>
        <p:spPr>
          <a:xfrm xmlns:a="http://schemas.openxmlformats.org/drawingml/2006/main">
            <a:off x="5905500" y="2190750"/>
            <a:ext cx="19050" cy="28098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39">
            <a:extLst xmlns:a="http://schemas.openxmlformats.org/drawingml/2006/main">
              <a:ext uri="{FF2B5EF4-FFF2-40B4-BE49-F238E27FC236}">
                <a16:creationId xmlns:a16="http://schemas.microsoft.com/office/drawing/2014/main" id="{63A60BA3-4F2B-4C58-99FA-24A8367EB1AB}"/>
              </a:ext>
            </a:extLst>
          </p:cNvPr>
          <p:cNvSpPr>
            <a:spLocks xmlns:a="http://schemas.openxmlformats.org/drawingml/2006/main" noGrp="1"/>
          </p:cNvSpPr>
          <p:nvPr/>
        </p:nvSpPr>
        <p:spPr>
          <a:xfrm xmlns:a="http://schemas.openxmlformats.org/drawingml/2006/main">
            <a:off x="762000" y="21431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Systems follow rules</a:t>
            </a:r>
          </a:p>
        </p:txBody>
      </p:sp>
      <p:sp>
        <p:nvSpPr>
          <p:cNvPr id="4" name="diagram-40">
            <a:extLst xmlns:a="http://schemas.openxmlformats.org/drawingml/2006/main">
              <a:ext uri="{FF2B5EF4-FFF2-40B4-BE49-F238E27FC236}">
                <a16:creationId xmlns:a16="http://schemas.microsoft.com/office/drawing/2014/main" id="{A4287431-3462-4934-B9CF-DD61D0C84C3D}"/>
              </a:ext>
            </a:extLst>
          </p:cNvPr>
          <p:cNvSpPr>
            <a:spLocks xmlns:a="http://schemas.openxmlformats.org/drawingml/2006/main" noGrp="1"/>
          </p:cNvSpPr>
          <p:nvPr/>
        </p:nvSpPr>
        <p:spPr>
          <a:xfrm xmlns:a="http://schemas.openxmlformats.org/drawingml/2006/main">
            <a:off x="6572250" y="21431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76D13"/>
                </a:solidFill>
                <a:latin typeface="Tahoma"/>
                <a:ea typeface="Tahoma"/>
                <a:cs typeface="Tahoma"/>
              </a:defRPr>
            </a:pPr>
            <a:r>
              <a:rPr sz="2850" b="1">
                <a:solidFill>
                  <a:srgbClr val="B76D13"/>
                </a:solidFill>
                <a:latin typeface="Tahoma"/>
                <a:ea typeface="Tahoma"/>
                <a:cs typeface="Tahoma"/>
              </a:rPr>
              <a:t>People use judgement</a:t>
            </a:r>
          </a:p>
        </p:txBody>
      </p:sp>
      <p:sp>
        <p:nvSpPr>
          <p:cNvPr id="5" name="diagram-41">
            <a:extLst xmlns:a="http://schemas.openxmlformats.org/drawingml/2006/main">
              <a:ext uri="{FF2B5EF4-FFF2-40B4-BE49-F238E27FC236}">
                <a16:creationId xmlns:a16="http://schemas.microsoft.com/office/drawing/2014/main" id="{02F54174-A3AB-432C-91DD-6C037B9A7572}"/>
              </a:ext>
            </a:extLst>
          </p:cNvPr>
          <p:cNvSpPr>
            <a:spLocks xmlns:a="http://schemas.openxmlformats.org/drawingml/2006/main" noGrp="1"/>
          </p:cNvSpPr>
          <p:nvPr/>
        </p:nvSpPr>
        <p:spPr>
          <a:xfrm xmlns:a="http://schemas.openxmlformats.org/drawingml/2006/main">
            <a:off x="762000" y="304800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Route information</a:t>
            </a:r>
          </a:p>
        </p:txBody>
      </p:sp>
      <p:sp>
        <p:nvSpPr>
          <p:cNvPr id="6" name="diagram-42">
            <a:extLst xmlns:a="http://schemas.openxmlformats.org/drawingml/2006/main">
              <a:ext uri="{FF2B5EF4-FFF2-40B4-BE49-F238E27FC236}">
                <a16:creationId xmlns:a16="http://schemas.microsoft.com/office/drawing/2014/main" id="{6EB488F7-BDB8-4AE8-9DCB-6231B8FDBDA9}"/>
              </a:ext>
            </a:extLst>
          </p:cNvPr>
          <p:cNvSpPr>
            <a:spLocks xmlns:a="http://schemas.openxmlformats.org/drawingml/2006/main" noGrp="1"/>
          </p:cNvSpPr>
          <p:nvPr/>
        </p:nvSpPr>
        <p:spPr>
          <a:xfrm xmlns:a="http://schemas.openxmlformats.org/drawingml/2006/main">
            <a:off x="762000" y="371475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Notify and follow up</a:t>
            </a:r>
          </a:p>
        </p:txBody>
      </p:sp>
      <p:sp>
        <p:nvSpPr>
          <p:cNvPr id="7" name="diagram-43">
            <a:extLst xmlns:a="http://schemas.openxmlformats.org/drawingml/2006/main">
              <a:ext uri="{FF2B5EF4-FFF2-40B4-BE49-F238E27FC236}">
                <a16:creationId xmlns:a16="http://schemas.microsoft.com/office/drawing/2014/main" id="{238C84A9-763F-4FDE-B5D0-69C44D142E48}"/>
              </a:ext>
            </a:extLst>
          </p:cNvPr>
          <p:cNvSpPr>
            <a:spLocks xmlns:a="http://schemas.openxmlformats.org/drawingml/2006/main" noGrp="1"/>
          </p:cNvSpPr>
          <p:nvPr/>
        </p:nvSpPr>
        <p:spPr>
          <a:xfrm xmlns:a="http://schemas.openxmlformats.org/drawingml/2006/main">
            <a:off x="6572250" y="304800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Make business decisions</a:t>
            </a:r>
          </a:p>
        </p:txBody>
      </p:sp>
      <p:sp>
        <p:nvSpPr>
          <p:cNvPr id="8" name="diagram-44">
            <a:extLst xmlns:a="http://schemas.openxmlformats.org/drawingml/2006/main">
              <a:ext uri="{FF2B5EF4-FFF2-40B4-BE49-F238E27FC236}">
                <a16:creationId xmlns:a16="http://schemas.microsoft.com/office/drawing/2014/main" id="{2B27A378-FB6B-4D25-A833-8E6757B9E799}"/>
              </a:ext>
            </a:extLst>
          </p:cNvPr>
          <p:cNvSpPr>
            <a:spLocks xmlns:a="http://schemas.openxmlformats.org/drawingml/2006/main" noGrp="1"/>
          </p:cNvSpPr>
          <p:nvPr/>
        </p:nvSpPr>
        <p:spPr>
          <a:xfrm xmlns:a="http://schemas.openxmlformats.org/drawingml/2006/main">
            <a:off x="6572250" y="371475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Check results and own outcomes</a:t>
            </a:r>
          </a:p>
        </p:txBody>
      </p:sp>
      <p:sp>
        <p:nvSpPr>
          <p:cNvPr id="9" name="diagram-45">
            <a:extLst xmlns:a="http://schemas.openxmlformats.org/drawingml/2006/main">
              <a:ext uri="{FF2B5EF4-FFF2-40B4-BE49-F238E27FC236}">
                <a16:creationId xmlns:a16="http://schemas.microsoft.com/office/drawing/2014/main" id="{2B5692E0-C90F-4611-B531-C081D50297BF}"/>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Information, permissions, and connections must be ready</a:t>
            </a:r>
          </a:p>
        </p:txBody>
      </p:sp>
    </p:spTree>
    <p:extLst>
      <p:ext uri="{BB962C8B-B14F-4D97-AF65-F5344CB8AC3E}">
        <p14:creationId xmlns:p14="http://schemas.microsoft.com/office/powerpoint/2010/main" val="1656000498"/>
      </p:ext>
    </p:extLst>
  </p:cSld>
</p:sld>
</file>

<file path=ppt/slides/slide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2" name="diagram-46">
            <a:extLst xmlns:a="http://schemas.openxmlformats.org/drawingml/2006/main">
              <a:ext uri="{FF2B5EF4-FFF2-40B4-BE49-F238E27FC236}">
                <a16:creationId xmlns:a16="http://schemas.microsoft.com/office/drawing/2014/main" id="{8B47F97D-11DC-4677-AA31-EE49DCB40EF4}"/>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1 · PRACTICE 1</a:t>
            </a:r>
          </a:p>
        </p:txBody>
      </p:sp>
      <p:sp>
        <p:nvSpPr>
          <p:cNvPr id="2" name="diagram-47">
            <a:extLst xmlns:a="http://schemas.openxmlformats.org/drawingml/2006/main">
              <a:ext uri="{FF2B5EF4-FFF2-40B4-BE49-F238E27FC236}">
                <a16:creationId xmlns:a16="http://schemas.microsoft.com/office/drawing/2014/main" id="{34F21925-A560-46E9-815E-42560851DE38}"/>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The fictional training request</a:t>
            </a:r>
          </a:p>
        </p:txBody>
      </p:sp>
      <p:sp>
        <p:nvSpPr>
          <p:cNvPr id="3" name="diagram-48">
            <a:extLst xmlns:a="http://schemas.openxmlformats.org/drawingml/2006/main">
              <a:ext uri="{FF2B5EF4-FFF2-40B4-BE49-F238E27FC236}">
                <a16:creationId xmlns:a16="http://schemas.microsoft.com/office/drawing/2014/main" id="{27320482-61A3-4F28-B701-DF17C717C915}"/>
              </a:ext>
            </a:extLst>
          </p:cNvPr>
          <p:cNvSpPr>
            <a:spLocks xmlns:a="http://schemas.openxmlformats.org/drawingml/2006/main" noGrp="1"/>
          </p:cNvSpPr>
          <p:nvPr/>
        </p:nvSpPr>
        <p:spPr>
          <a:xfrm xmlns:a="http://schemas.openxmlformats.org/drawingml/2006/main">
            <a:off x="666750" y="2905125"/>
            <a:ext cx="1619250" cy="857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49">
            <a:extLst xmlns:a="http://schemas.openxmlformats.org/drawingml/2006/main">
              <a:ext uri="{FF2B5EF4-FFF2-40B4-BE49-F238E27FC236}">
                <a16:creationId xmlns:a16="http://schemas.microsoft.com/office/drawing/2014/main" id="{07879C07-389F-4DFD-B874-4EFF518357C2}"/>
              </a:ext>
            </a:extLst>
          </p:cNvPr>
          <p:cNvSpPr>
            <a:spLocks xmlns:a="http://schemas.openxmlformats.org/drawingml/2006/main" noGrp="1"/>
          </p:cNvSpPr>
          <p:nvPr/>
        </p:nvSpPr>
        <p:spPr>
          <a:xfrm xmlns:a="http://schemas.openxmlformats.org/drawingml/2006/main">
            <a:off x="838200" y="3048000"/>
            <a:ext cx="1276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Submit</a:t>
            </a:r>
          </a:p>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details</a:t>
            </a:r>
          </a:p>
        </p:txBody>
      </p:sp>
      <p:sp>
        <p:nvSpPr>
          <p:cNvPr id="5" name="diagram-50">
            <a:extLst xmlns:a="http://schemas.openxmlformats.org/drawingml/2006/main">
              <a:ext uri="{FF2B5EF4-FFF2-40B4-BE49-F238E27FC236}">
                <a16:creationId xmlns:a16="http://schemas.microsoft.com/office/drawing/2014/main" id="{878C6506-25D5-4481-9074-C4188CED4F4D}"/>
              </a:ext>
            </a:extLst>
          </p:cNvPr>
          <p:cNvSpPr>
            <a:spLocks xmlns:a="http://schemas.openxmlformats.org/drawingml/2006/main" noGrp="1"/>
          </p:cNvSpPr>
          <p:nvPr/>
        </p:nvSpPr>
        <p:spPr>
          <a:xfrm xmlns:a="http://schemas.openxmlformats.org/drawingml/2006/main">
            <a:off x="2714625" y="2905125"/>
            <a:ext cx="1809750" cy="857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51">
            <a:extLst xmlns:a="http://schemas.openxmlformats.org/drawingml/2006/main">
              <a:ext uri="{FF2B5EF4-FFF2-40B4-BE49-F238E27FC236}">
                <a16:creationId xmlns:a16="http://schemas.microsoft.com/office/drawing/2014/main" id="{23B7A8A6-8E22-4F10-A925-2347849FE746}"/>
              </a:ext>
            </a:extLst>
          </p:cNvPr>
          <p:cNvSpPr>
            <a:spLocks xmlns:a="http://schemas.openxmlformats.org/drawingml/2006/main" noGrp="1"/>
          </p:cNvSpPr>
          <p:nvPr/>
        </p:nvSpPr>
        <p:spPr>
          <a:xfrm xmlns:a="http://schemas.openxmlformats.org/drawingml/2006/main">
            <a:off x="2886075" y="3048000"/>
            <a:ext cx="1466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Check required</a:t>
            </a:r>
          </a:p>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details</a:t>
            </a:r>
          </a:p>
        </p:txBody>
      </p:sp>
      <p:cxnSp>
        <p:nvCxnSpPr>
          <p:cNvPr id="28" name=""/>
          <p:cNvCxnSpPr>
            <a:stCxn xmlns:a="http://schemas.openxmlformats.org/drawingml/2006/main" id="3" idx="3"/>
            <a:endCxn xmlns:a="http://schemas.openxmlformats.org/drawingml/2006/main" id="5" idx="1"/>
          </p:cNvCxnSpPr>
          <p:nvPr/>
        </p:nvCxnSpPr>
        <p:spPr>
          <a:xfrm xmlns:a="http://schemas.openxmlformats.org/drawingml/2006/main">
            <a:off x="2286000" y="33337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8" name="diagram-52">
            <a:extLst xmlns:a="http://schemas.openxmlformats.org/drawingml/2006/main">
              <a:ext uri="{FF2B5EF4-FFF2-40B4-BE49-F238E27FC236}">
                <a16:creationId xmlns:a16="http://schemas.microsoft.com/office/drawing/2014/main" id="{800D0213-30F7-472A-A774-E42ED9488CDD}"/>
              </a:ext>
            </a:extLst>
          </p:cNvPr>
          <p:cNvSpPr>
            <a:spLocks xmlns:a="http://schemas.openxmlformats.org/drawingml/2006/main" noGrp="1"/>
          </p:cNvSpPr>
          <p:nvPr/>
        </p:nvSpPr>
        <p:spPr>
          <a:xfrm xmlns:a="http://schemas.openxmlformats.org/drawingml/2006/main">
            <a:off x="4953000" y="2905125"/>
            <a:ext cx="1619250" cy="857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53">
            <a:extLst xmlns:a="http://schemas.openxmlformats.org/drawingml/2006/main">
              <a:ext uri="{FF2B5EF4-FFF2-40B4-BE49-F238E27FC236}">
                <a16:creationId xmlns:a16="http://schemas.microsoft.com/office/drawing/2014/main" id="{DD944D64-4892-4AF1-BDCD-62BCD065F4A6}"/>
              </a:ext>
            </a:extLst>
          </p:cNvPr>
          <p:cNvSpPr>
            <a:spLocks xmlns:a="http://schemas.openxmlformats.org/drawingml/2006/main" noGrp="1"/>
          </p:cNvSpPr>
          <p:nvPr/>
        </p:nvSpPr>
        <p:spPr>
          <a:xfrm xmlns:a="http://schemas.openxmlformats.org/drawingml/2006/main">
            <a:off x="5124450" y="3048000"/>
            <a:ext cx="1276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Record</a:t>
            </a:r>
          </a:p>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request</a:t>
            </a:r>
          </a:p>
        </p:txBody>
      </p:sp>
      <p:cxnSp>
        <p:nvCxnSpPr>
          <p:cNvPr id="31" name=""/>
          <p:cNvCxnSpPr>
            <a:stCxn xmlns:a="http://schemas.openxmlformats.org/drawingml/2006/main" id="5" idx="3"/>
            <a:endCxn xmlns:a="http://schemas.openxmlformats.org/drawingml/2006/main" id="8" idx="1"/>
          </p:cNvCxnSpPr>
          <p:nvPr/>
        </p:nvCxnSpPr>
        <p:spPr>
          <a:xfrm xmlns:a="http://schemas.openxmlformats.org/drawingml/2006/main">
            <a:off x="4524375" y="33337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1" name="diagram-54">
            <a:extLst xmlns:a="http://schemas.openxmlformats.org/drawingml/2006/main">
              <a:ext uri="{FF2B5EF4-FFF2-40B4-BE49-F238E27FC236}">
                <a16:creationId xmlns:a16="http://schemas.microsoft.com/office/drawing/2014/main" id="{F8E578A3-26BD-4151-A4B3-88D2EFF1970D}"/>
              </a:ext>
            </a:extLst>
          </p:cNvPr>
          <p:cNvSpPr>
            <a:spLocks xmlns:a="http://schemas.openxmlformats.org/drawingml/2006/main" noGrp="1"/>
          </p:cNvSpPr>
          <p:nvPr/>
        </p:nvSpPr>
        <p:spPr>
          <a:xfrm xmlns:a="http://schemas.openxmlformats.org/drawingml/2006/main">
            <a:off x="7000875" y="2905125"/>
            <a:ext cx="1714500" cy="857250"/>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12" name="diagram-55">
            <a:extLst xmlns:a="http://schemas.openxmlformats.org/drawingml/2006/main">
              <a:ext uri="{FF2B5EF4-FFF2-40B4-BE49-F238E27FC236}">
                <a16:creationId xmlns:a16="http://schemas.microsoft.com/office/drawing/2014/main" id="{A55984C4-1132-4C2D-A9F8-53635138B526}"/>
              </a:ext>
            </a:extLst>
          </p:cNvPr>
          <p:cNvSpPr>
            <a:spLocks xmlns:a="http://schemas.openxmlformats.org/drawingml/2006/main" noGrp="1"/>
          </p:cNvSpPr>
          <p:nvPr/>
        </p:nvSpPr>
        <p:spPr>
          <a:xfrm xmlns:a="http://schemas.openxmlformats.org/drawingml/2006/main">
            <a:off x="7172325" y="3048000"/>
            <a:ext cx="1371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Approve</a:t>
            </a:r>
          </a:p>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or reject</a:t>
            </a:r>
          </a:p>
        </p:txBody>
      </p:sp>
      <p:cxnSp>
        <p:nvCxnSpPr>
          <p:cNvPr id="34" name=""/>
          <p:cNvCxnSpPr>
            <a:stCxn xmlns:a="http://schemas.openxmlformats.org/drawingml/2006/main" id="8" idx="3"/>
            <a:endCxn xmlns:a="http://schemas.openxmlformats.org/drawingml/2006/main" id="11" idx="1"/>
          </p:cNvCxnSpPr>
          <p:nvPr/>
        </p:nvCxnSpPr>
        <p:spPr>
          <a:xfrm xmlns:a="http://schemas.openxmlformats.org/drawingml/2006/main">
            <a:off x="6572250" y="33337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4" name="diagram-56">
            <a:extLst xmlns:a="http://schemas.openxmlformats.org/drawingml/2006/main">
              <a:ext uri="{FF2B5EF4-FFF2-40B4-BE49-F238E27FC236}">
                <a16:creationId xmlns:a16="http://schemas.microsoft.com/office/drawing/2014/main" id="{862497A3-DA8F-4A07-9969-029ECA5FA0BC}"/>
              </a:ext>
            </a:extLst>
          </p:cNvPr>
          <p:cNvSpPr>
            <a:spLocks xmlns:a="http://schemas.openxmlformats.org/drawingml/2006/main" noGrp="1"/>
          </p:cNvSpPr>
          <p:nvPr/>
        </p:nvSpPr>
        <p:spPr>
          <a:xfrm xmlns:a="http://schemas.openxmlformats.org/drawingml/2006/main">
            <a:off x="9144000" y="2905125"/>
            <a:ext cx="1714500" cy="857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5" name="diagram-57">
            <a:extLst xmlns:a="http://schemas.openxmlformats.org/drawingml/2006/main">
              <a:ext uri="{FF2B5EF4-FFF2-40B4-BE49-F238E27FC236}">
                <a16:creationId xmlns:a16="http://schemas.microsoft.com/office/drawing/2014/main" id="{185ED71C-3D3A-437C-854A-37667134157E}"/>
              </a:ext>
            </a:extLst>
          </p:cNvPr>
          <p:cNvSpPr>
            <a:spLocks xmlns:a="http://schemas.openxmlformats.org/drawingml/2006/main" noGrp="1"/>
          </p:cNvSpPr>
          <p:nvPr/>
        </p:nvSpPr>
        <p:spPr>
          <a:xfrm xmlns:a="http://schemas.openxmlformats.org/drawingml/2006/main">
            <a:off x="9315450" y="3048000"/>
            <a:ext cx="1371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Notify</a:t>
            </a:r>
          </a:p>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requester</a:t>
            </a:r>
          </a:p>
        </p:txBody>
      </p:sp>
      <p:cxnSp>
        <p:nvCxnSpPr>
          <p:cNvPr id="37" name=""/>
          <p:cNvCxnSpPr>
            <a:stCxn xmlns:a="http://schemas.openxmlformats.org/drawingml/2006/main" id="11" idx="3"/>
            <a:endCxn xmlns:a="http://schemas.openxmlformats.org/drawingml/2006/main" id="14" idx="1"/>
          </p:cNvCxnSpPr>
          <p:nvPr/>
        </p:nvCxnSpPr>
        <p:spPr>
          <a:xfrm xmlns:a="http://schemas.openxmlformats.org/drawingml/2006/main">
            <a:off x="8715375" y="33337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7" name="diagram-58">
            <a:extLst xmlns:a="http://schemas.openxmlformats.org/drawingml/2006/main">
              <a:ext uri="{FF2B5EF4-FFF2-40B4-BE49-F238E27FC236}">
                <a16:creationId xmlns:a16="http://schemas.microsoft.com/office/drawing/2014/main" id="{25EF49AD-ECB5-42F0-A8E4-F8107AF393F2}"/>
              </a:ext>
            </a:extLst>
          </p:cNvPr>
          <p:cNvSpPr>
            <a:spLocks xmlns:a="http://schemas.openxmlformats.org/drawingml/2006/main" noGrp="1"/>
          </p:cNvSpPr>
          <p:nvPr/>
        </p:nvSpPr>
        <p:spPr>
          <a:xfrm xmlns:a="http://schemas.openxmlformats.org/drawingml/2006/main">
            <a:off x="666750" y="2238375"/>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Requester</a:t>
            </a:r>
          </a:p>
        </p:txBody>
      </p:sp>
      <p:sp>
        <p:nvSpPr>
          <p:cNvPr id="18" name="diagram-59">
            <a:extLst xmlns:a="http://schemas.openxmlformats.org/drawingml/2006/main">
              <a:ext uri="{FF2B5EF4-FFF2-40B4-BE49-F238E27FC236}">
                <a16:creationId xmlns:a16="http://schemas.microsoft.com/office/drawing/2014/main" id="{0CBF0978-A1F5-4C81-918F-F735DD640077}"/>
              </a:ext>
            </a:extLst>
          </p:cNvPr>
          <p:cNvSpPr>
            <a:spLocks xmlns:a="http://schemas.openxmlformats.org/drawingml/2006/main" noGrp="1"/>
          </p:cNvSpPr>
          <p:nvPr/>
        </p:nvSpPr>
        <p:spPr>
          <a:xfrm xmlns:a="http://schemas.openxmlformats.org/drawingml/2006/main">
            <a:off x="2905125" y="2238375"/>
            <a:ext cx="376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Coordinator</a:t>
            </a:r>
          </a:p>
        </p:txBody>
      </p:sp>
      <p:sp>
        <p:nvSpPr>
          <p:cNvPr id="19" name="diagram-60">
            <a:extLst xmlns:a="http://schemas.openxmlformats.org/drawingml/2006/main">
              <a:ext uri="{FF2B5EF4-FFF2-40B4-BE49-F238E27FC236}">
                <a16:creationId xmlns:a16="http://schemas.microsoft.com/office/drawing/2014/main" id="{E912307C-4C02-493D-8CEC-56FE5523E964}"/>
              </a:ext>
            </a:extLst>
          </p:cNvPr>
          <p:cNvSpPr>
            <a:spLocks xmlns:a="http://schemas.openxmlformats.org/drawingml/2006/main" noGrp="1"/>
          </p:cNvSpPr>
          <p:nvPr/>
        </p:nvSpPr>
        <p:spPr>
          <a:xfrm xmlns:a="http://schemas.openxmlformats.org/drawingml/2006/main">
            <a:off x="7143750" y="223837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B76D13"/>
                </a:solidFill>
                <a:latin typeface="Tahoma"/>
                <a:ea typeface="Tahoma"/>
                <a:cs typeface="Tahoma"/>
              </a:defRPr>
            </a:pPr>
            <a:r>
              <a:rPr sz="1500" b="1">
                <a:solidFill>
                  <a:srgbClr val="B76D13"/>
                </a:solidFill>
                <a:latin typeface="Tahoma"/>
                <a:ea typeface="Tahoma"/>
                <a:cs typeface="Tahoma"/>
              </a:rPr>
              <a:t>Manager</a:t>
            </a:r>
          </a:p>
        </p:txBody>
      </p:sp>
      <p:sp>
        <p:nvSpPr>
          <p:cNvPr id="20" name="diagram-61">
            <a:extLst xmlns:a="http://schemas.openxmlformats.org/drawingml/2006/main">
              <a:ext uri="{FF2B5EF4-FFF2-40B4-BE49-F238E27FC236}">
                <a16:creationId xmlns:a16="http://schemas.microsoft.com/office/drawing/2014/main" id="{EE6F8628-5BA4-492D-8CEC-1C60A009CC1F}"/>
              </a:ext>
            </a:extLst>
          </p:cNvPr>
          <p:cNvSpPr>
            <a:spLocks xmlns:a="http://schemas.openxmlformats.org/drawingml/2006/main" noGrp="1"/>
          </p:cNvSpPr>
          <p:nvPr/>
        </p:nvSpPr>
        <p:spPr>
          <a:xfrm xmlns:a="http://schemas.openxmlformats.org/drawingml/2006/main">
            <a:off x="9286875" y="2238375"/>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Coordinator</a:t>
            </a:r>
          </a:p>
        </p:txBody>
      </p:sp>
      <p:sp>
        <p:nvSpPr>
          <p:cNvPr id="21" name="diagram-62">
            <a:extLst xmlns:a="http://schemas.openxmlformats.org/drawingml/2006/main">
              <a:ext uri="{FF2B5EF4-FFF2-40B4-BE49-F238E27FC236}">
                <a16:creationId xmlns:a16="http://schemas.microsoft.com/office/drawing/2014/main" id="{629F2011-FAAE-45F8-BE88-4432CCEDAC25}"/>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The coordinator checks missing details; the manager owns the business decision.</a:t>
            </a:r>
          </a:p>
        </p:txBody>
      </p:sp>
    </p:spTree>
    <p:extLst>
      <p:ext uri="{BB962C8B-B14F-4D97-AF65-F5344CB8AC3E}">
        <p14:creationId xmlns:p14="http://schemas.microsoft.com/office/powerpoint/2010/main" val="172072977"/>
      </p:ext>
    </p:extLst>
  </p:cSld>
</p:sld>
</file>

<file path=ppt/slides/slide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diagram-63">
            <a:extLst xmlns:a="http://schemas.openxmlformats.org/drawingml/2006/main">
              <a:ext uri="{FF2B5EF4-FFF2-40B4-BE49-F238E27FC236}">
                <a16:creationId xmlns:a16="http://schemas.microsoft.com/office/drawing/2014/main" id="{3DBF43CE-F22C-476B-BB45-51E7510A261D}"/>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1 · PRACTICE 1</a:t>
            </a:r>
          </a:p>
        </p:txBody>
      </p:sp>
      <p:sp>
        <p:nvSpPr>
          <p:cNvPr id="2" name="diagram-64">
            <a:extLst xmlns:a="http://schemas.openxmlformats.org/drawingml/2006/main">
              <a:ext uri="{FF2B5EF4-FFF2-40B4-BE49-F238E27FC236}">
                <a16:creationId xmlns:a16="http://schemas.microsoft.com/office/drawing/2014/main" id="{CFAC14C9-E917-4F7E-B7E9-C018008FDB8C}"/>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The flipchart before-and-after canvas</a:t>
            </a:r>
          </a:p>
        </p:txBody>
      </p:sp>
      <p:sp>
        <p:nvSpPr>
          <p:cNvPr id="3" name="diagram-65">
            <a:extLst xmlns:a="http://schemas.openxmlformats.org/drawingml/2006/main">
              <a:ext uri="{FF2B5EF4-FFF2-40B4-BE49-F238E27FC236}">
                <a16:creationId xmlns:a16="http://schemas.microsoft.com/office/drawing/2014/main" id="{53AC8F80-485E-4A18-98FD-B98339DB631E}"/>
              </a:ext>
            </a:extLst>
          </p:cNvPr>
          <p:cNvSpPr>
            <a:spLocks xmlns:a="http://schemas.openxmlformats.org/drawingml/2006/main" noGrp="1"/>
          </p:cNvSpPr>
          <p:nvPr/>
        </p:nvSpPr>
        <p:spPr>
          <a:xfrm xmlns:a="http://schemas.openxmlformats.org/drawingml/2006/main">
            <a:off x="762000" y="2095500"/>
            <a:ext cx="10572750" cy="3333750"/>
          </a:xfrm>
          <a:prstGeom xmlns:a="http://schemas.openxmlformats.org/drawingml/2006/main" prst="rect">
            <a:avLst/>
          </a:prstGeom>
          <a:solidFill xmlns:a="http://schemas.openxmlformats.org/drawingml/2006/main">
            <a:srgbClr val="FFFFFF"/>
          </a:solidFill>
          <a:ln xmlns:a="http://schemas.openxmlformats.org/drawingml/2006/main" w="19050">
            <a:solidFill>
              <a:srgbClr val="174FBA"/>
            </a:solidFill>
          </a:ln>
        </p:spPr>
      </p:sp>
      <p:sp>
        <p:nvSpPr>
          <p:cNvPr id="4" name="diagram-66">
            <a:extLst xmlns:a="http://schemas.openxmlformats.org/drawingml/2006/main">
              <a:ext uri="{FF2B5EF4-FFF2-40B4-BE49-F238E27FC236}">
                <a16:creationId xmlns:a16="http://schemas.microsoft.com/office/drawing/2014/main" id="{D60D6E24-573E-4F06-A4EC-D120F7FC5463}"/>
              </a:ext>
            </a:extLst>
          </p:cNvPr>
          <p:cNvSpPr>
            <a:spLocks xmlns:a="http://schemas.openxmlformats.org/drawingml/2006/main" noGrp="1"/>
          </p:cNvSpPr>
          <p:nvPr/>
        </p:nvSpPr>
        <p:spPr>
          <a:xfrm xmlns:a="http://schemas.openxmlformats.org/drawingml/2006/main">
            <a:off x="6048375" y="2095500"/>
            <a:ext cx="19050" cy="33337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67">
            <a:extLst xmlns:a="http://schemas.openxmlformats.org/drawingml/2006/main">
              <a:ext uri="{FF2B5EF4-FFF2-40B4-BE49-F238E27FC236}">
                <a16:creationId xmlns:a16="http://schemas.microsoft.com/office/drawing/2014/main" id="{63B6CB59-4CA6-47E7-A1B6-342D99283130}"/>
              </a:ext>
            </a:extLst>
          </p:cNvPr>
          <p:cNvSpPr>
            <a:spLocks xmlns:a="http://schemas.openxmlformats.org/drawingml/2006/main" noGrp="1"/>
          </p:cNvSpPr>
          <p:nvPr/>
        </p:nvSpPr>
        <p:spPr>
          <a:xfrm xmlns:a="http://schemas.openxmlformats.org/drawingml/2006/main">
            <a:off x="762000" y="3762375"/>
            <a:ext cx="10572750" cy="19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68">
            <a:extLst xmlns:a="http://schemas.openxmlformats.org/drawingml/2006/main">
              <a:ext uri="{FF2B5EF4-FFF2-40B4-BE49-F238E27FC236}">
                <a16:creationId xmlns:a16="http://schemas.microsoft.com/office/drawing/2014/main" id="{4D240CFD-1101-4C25-82D2-71A75C7A6346}"/>
              </a:ext>
            </a:extLst>
          </p:cNvPr>
          <p:cNvSpPr>
            <a:spLocks xmlns:a="http://schemas.openxmlformats.org/drawingml/2006/main" noGrp="1"/>
          </p:cNvSpPr>
          <p:nvPr/>
        </p:nvSpPr>
        <p:spPr>
          <a:xfrm xmlns:a="http://schemas.openxmlformats.org/drawingml/2006/main">
            <a:off x="1000125" y="2333625"/>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50"/>
                </a:solidFill>
                <a:latin typeface="Tahoma"/>
                <a:ea typeface="Tahoma"/>
                <a:cs typeface="Tahoma"/>
              </a:defRPr>
            </a:pPr>
            <a:r>
              <a:rPr sz="2025" b="1">
                <a:solidFill>
                  <a:srgbClr val="102D50"/>
                </a:solidFill>
                <a:latin typeface="Tahoma"/>
                <a:ea typeface="Tahoma"/>
                <a:cs typeface="Tahoma"/>
              </a:rPr>
              <a:t>Current repeated step</a:t>
            </a:r>
          </a:p>
        </p:txBody>
      </p:sp>
      <p:sp>
        <p:nvSpPr>
          <p:cNvPr id="7" name="diagram-69">
            <a:extLst xmlns:a="http://schemas.openxmlformats.org/drawingml/2006/main">
              <a:ext uri="{FF2B5EF4-FFF2-40B4-BE49-F238E27FC236}">
                <a16:creationId xmlns:a16="http://schemas.microsoft.com/office/drawing/2014/main" id="{6280AD5E-F3CD-47F4-AFB5-A28038DC67B3}"/>
              </a:ext>
            </a:extLst>
          </p:cNvPr>
          <p:cNvSpPr>
            <a:spLocks xmlns:a="http://schemas.openxmlformats.org/drawingml/2006/main" noGrp="1"/>
          </p:cNvSpPr>
          <p:nvPr/>
        </p:nvSpPr>
        <p:spPr>
          <a:xfrm xmlns:a="http://schemas.openxmlformats.org/drawingml/2006/main">
            <a:off x="6286500" y="2333625"/>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4FBA"/>
                </a:solidFill>
                <a:latin typeface="Tahoma"/>
                <a:ea typeface="Tahoma"/>
                <a:cs typeface="Tahoma"/>
              </a:defRPr>
            </a:pPr>
            <a:r>
              <a:rPr sz="2025" b="1">
                <a:solidFill>
                  <a:srgbClr val="174FBA"/>
                </a:solidFill>
                <a:latin typeface="Tahoma"/>
                <a:ea typeface="Tahoma"/>
                <a:cs typeface="Tahoma"/>
              </a:rPr>
              <a:t>System could support</a:t>
            </a:r>
          </a:p>
        </p:txBody>
      </p:sp>
      <p:sp>
        <p:nvSpPr>
          <p:cNvPr id="8" name="diagram-70">
            <a:extLst xmlns:a="http://schemas.openxmlformats.org/drawingml/2006/main">
              <a:ext uri="{FF2B5EF4-FFF2-40B4-BE49-F238E27FC236}">
                <a16:creationId xmlns:a16="http://schemas.microsoft.com/office/drawing/2014/main" id="{47C2A701-BF4A-4313-A686-2065D78683D2}"/>
              </a:ext>
            </a:extLst>
          </p:cNvPr>
          <p:cNvSpPr>
            <a:spLocks xmlns:a="http://schemas.openxmlformats.org/drawingml/2006/main" noGrp="1"/>
          </p:cNvSpPr>
          <p:nvPr/>
        </p:nvSpPr>
        <p:spPr>
          <a:xfrm xmlns:a="http://schemas.openxmlformats.org/drawingml/2006/main">
            <a:off x="1000125" y="4000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50"/>
                </a:solidFill>
                <a:latin typeface="Tahoma"/>
                <a:ea typeface="Tahoma"/>
                <a:cs typeface="Tahoma"/>
              </a:defRPr>
            </a:pPr>
            <a:r>
              <a:rPr sz="2025" b="1">
                <a:solidFill>
                  <a:srgbClr val="102D50"/>
                </a:solidFill>
                <a:latin typeface="Tahoma"/>
                <a:ea typeface="Tahoma"/>
                <a:cs typeface="Tahoma"/>
              </a:rPr>
              <a:t>Human decision</a:t>
            </a:r>
          </a:p>
        </p:txBody>
      </p:sp>
      <p:sp>
        <p:nvSpPr>
          <p:cNvPr id="9" name="diagram-71">
            <a:extLst xmlns:a="http://schemas.openxmlformats.org/drawingml/2006/main">
              <a:ext uri="{FF2B5EF4-FFF2-40B4-BE49-F238E27FC236}">
                <a16:creationId xmlns:a16="http://schemas.microsoft.com/office/drawing/2014/main" id="{D203E549-24A5-4737-A36B-AC71EFD981A3}"/>
              </a:ext>
            </a:extLst>
          </p:cNvPr>
          <p:cNvSpPr>
            <a:spLocks xmlns:a="http://schemas.openxmlformats.org/drawingml/2006/main" noGrp="1"/>
          </p:cNvSpPr>
          <p:nvPr/>
        </p:nvSpPr>
        <p:spPr>
          <a:xfrm xmlns:a="http://schemas.openxmlformats.org/drawingml/2006/main">
            <a:off x="6286500" y="4000500"/>
            <a:ext cx="4619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B76D13"/>
                </a:solidFill>
                <a:latin typeface="Tahoma"/>
                <a:ea typeface="Tahoma"/>
                <a:cs typeface="Tahoma"/>
              </a:defRPr>
            </a:pPr>
            <a:r>
              <a:rPr sz="2025" b="1">
                <a:solidFill>
                  <a:srgbClr val="B76D13"/>
                </a:solidFill>
                <a:latin typeface="Tahoma"/>
                <a:ea typeface="Tahoma"/>
                <a:cs typeface="Tahoma"/>
              </a:rPr>
              <a:t>Check before trial</a:t>
            </a:r>
          </a:p>
        </p:txBody>
      </p:sp>
      <p:sp>
        <p:nvSpPr>
          <p:cNvPr id="10" name="diagram-72">
            <a:extLst xmlns:a="http://schemas.openxmlformats.org/drawingml/2006/main">
              <a:ext uri="{FF2B5EF4-FFF2-40B4-BE49-F238E27FC236}">
                <a16:creationId xmlns:a16="http://schemas.microsoft.com/office/drawing/2014/main" id="{C71B4571-0FAB-444B-BD2C-065847C9C60C}"/>
              </a:ext>
            </a:extLst>
          </p:cNvPr>
          <p:cNvSpPr>
            <a:spLocks xmlns:a="http://schemas.openxmlformats.org/drawingml/2006/main" noGrp="1"/>
          </p:cNvSpPr>
          <p:nvPr/>
        </p:nvSpPr>
        <p:spPr>
          <a:xfrm xmlns:a="http://schemas.openxmlformats.org/drawingml/2006/main">
            <a:off x="1000125" y="5619750"/>
            <a:ext cx="990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B80"/>
                </a:solidFill>
                <a:latin typeface="Tahoma"/>
                <a:ea typeface="Tahoma"/>
                <a:cs typeface="Tahoma"/>
              </a:defRPr>
            </a:pPr>
            <a:r>
              <a:rPr sz="1875" b="0">
                <a:solidFill>
                  <a:srgbClr val="536B80"/>
                </a:solidFill>
                <a:latin typeface="Tahoma"/>
                <a:ea typeface="Tahoma"/>
                <a:cs typeface="Tahoma"/>
              </a:rPr>
              <a:t>Expected benefit: ____________________________________</a:t>
            </a:r>
          </a:p>
        </p:txBody>
      </p:sp>
    </p:spTree>
    <p:extLst>
      <p:ext uri="{BB962C8B-B14F-4D97-AF65-F5344CB8AC3E}">
        <p14:creationId xmlns:p14="http://schemas.microsoft.com/office/powerpoint/2010/main" val="1167354202"/>
      </p:ext>
    </p:extLst>
  </p:cSld>
</p:sld>
</file>

<file path=ppt/slides/slide1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diagram-73">
            <a:extLst xmlns:a="http://schemas.openxmlformats.org/drawingml/2006/main">
              <a:ext uri="{FF2B5EF4-FFF2-40B4-BE49-F238E27FC236}">
                <a16:creationId xmlns:a16="http://schemas.microsoft.com/office/drawing/2014/main" id="{C2D17970-9C5F-4D22-8BD5-617EEB2D50B8}"/>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1 · PRACTICE 2</a:t>
            </a:r>
          </a:p>
        </p:txBody>
      </p:sp>
      <p:sp>
        <p:nvSpPr>
          <p:cNvPr id="2" name="diagram-74">
            <a:extLst xmlns:a="http://schemas.openxmlformats.org/drawingml/2006/main">
              <a:ext uri="{FF2B5EF4-FFF2-40B4-BE49-F238E27FC236}">
                <a16:creationId xmlns:a16="http://schemas.microsoft.com/office/drawing/2014/main" id="{A3ABF75E-C7BC-4C1B-B995-BDE19EBBD9FE}"/>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Scenario prompts A–C</a:t>
            </a:r>
          </a:p>
        </p:txBody>
      </p:sp>
      <p:sp>
        <p:nvSpPr>
          <p:cNvPr id="3" name="diagram-75">
            <a:extLst xmlns:a="http://schemas.openxmlformats.org/drawingml/2006/main">
              <a:ext uri="{FF2B5EF4-FFF2-40B4-BE49-F238E27FC236}">
                <a16:creationId xmlns:a16="http://schemas.microsoft.com/office/drawing/2014/main" id="{EB3A299A-C0FA-4EDA-A343-BEE3685C40E6}"/>
              </a:ext>
            </a:extLst>
          </p:cNvPr>
          <p:cNvSpPr>
            <a:spLocks xmlns:a="http://schemas.openxmlformats.org/drawingml/2006/main" noGrp="1"/>
          </p:cNvSpPr>
          <p:nvPr/>
        </p:nvSpPr>
        <p:spPr>
          <a:xfrm xmlns:a="http://schemas.openxmlformats.org/drawingml/2006/main">
            <a:off x="809625" y="190500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A</a:t>
            </a:r>
          </a:p>
        </p:txBody>
      </p:sp>
      <p:sp>
        <p:nvSpPr>
          <p:cNvPr id="4" name="diagram-76">
            <a:extLst xmlns:a="http://schemas.openxmlformats.org/drawingml/2006/main">
              <a:ext uri="{FF2B5EF4-FFF2-40B4-BE49-F238E27FC236}">
                <a16:creationId xmlns:a16="http://schemas.microsoft.com/office/drawing/2014/main" id="{2EC10BCF-4180-46FD-A904-E943E53ED1C6}"/>
              </a:ext>
            </a:extLst>
          </p:cNvPr>
          <p:cNvSpPr>
            <a:spLocks xmlns:a="http://schemas.openxmlformats.org/drawingml/2006/main" noGrp="1"/>
          </p:cNvSpPr>
          <p:nvPr/>
        </p:nvSpPr>
        <p:spPr>
          <a:xfrm xmlns:a="http://schemas.openxmlformats.org/drawingml/2006/main">
            <a:off x="1571625" y="190500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50"/>
                </a:solidFill>
                <a:latin typeface="Tahoma"/>
                <a:ea typeface="Tahoma"/>
                <a:cs typeface="Tahoma"/>
              </a:defRPr>
            </a:pPr>
            <a:r>
              <a:rPr sz="1875" b="0">
                <a:solidFill>
                  <a:srgbClr val="102D50"/>
                </a:solidFill>
                <a:latin typeface="Tahoma"/>
                <a:ea typeface="Tahoma"/>
                <a:cs typeface="Tahoma"/>
              </a:rPr>
              <a:t>A request arrives in the approved mailbox. Notify the coordinator.</a:t>
            </a:r>
          </a:p>
        </p:txBody>
      </p:sp>
      <p:sp>
        <p:nvSpPr>
          <p:cNvPr id="5" name="diagram-77">
            <a:extLst xmlns:a="http://schemas.openxmlformats.org/drawingml/2006/main">
              <a:ext uri="{FF2B5EF4-FFF2-40B4-BE49-F238E27FC236}">
                <a16:creationId xmlns:a16="http://schemas.microsoft.com/office/drawing/2014/main" id="{391C5E76-06EB-476B-B678-CE9E42AB006A}"/>
              </a:ext>
            </a:extLst>
          </p:cNvPr>
          <p:cNvSpPr>
            <a:spLocks xmlns:a="http://schemas.openxmlformats.org/drawingml/2006/main" noGrp="1"/>
          </p:cNvSpPr>
          <p:nvPr/>
        </p:nvSpPr>
        <p:spPr>
          <a:xfrm xmlns:a="http://schemas.openxmlformats.org/drawingml/2006/main">
            <a:off x="1571625" y="2705100"/>
            <a:ext cx="9525000" cy="19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78">
            <a:extLst xmlns:a="http://schemas.openxmlformats.org/drawingml/2006/main">
              <a:ext uri="{FF2B5EF4-FFF2-40B4-BE49-F238E27FC236}">
                <a16:creationId xmlns:a16="http://schemas.microsoft.com/office/drawing/2014/main" id="{0170AD04-5371-46D9-A16D-D312F8072512}"/>
              </a:ext>
            </a:extLst>
          </p:cNvPr>
          <p:cNvSpPr>
            <a:spLocks xmlns:a="http://schemas.openxmlformats.org/drawingml/2006/main" noGrp="1"/>
          </p:cNvSpPr>
          <p:nvPr/>
        </p:nvSpPr>
        <p:spPr>
          <a:xfrm xmlns:a="http://schemas.openxmlformats.org/drawingml/2006/main">
            <a:off x="809625" y="29051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B</a:t>
            </a:r>
          </a:p>
        </p:txBody>
      </p:sp>
      <p:sp>
        <p:nvSpPr>
          <p:cNvPr id="7" name="diagram-79">
            <a:extLst xmlns:a="http://schemas.openxmlformats.org/drawingml/2006/main">
              <a:ext uri="{FF2B5EF4-FFF2-40B4-BE49-F238E27FC236}">
                <a16:creationId xmlns:a16="http://schemas.microsoft.com/office/drawing/2014/main" id="{FFEDE023-BEF5-4F17-9C65-5BAB65DA6DCD}"/>
              </a:ext>
            </a:extLst>
          </p:cNvPr>
          <p:cNvSpPr>
            <a:spLocks xmlns:a="http://schemas.openxmlformats.org/drawingml/2006/main" noGrp="1"/>
          </p:cNvSpPr>
          <p:nvPr/>
        </p:nvSpPr>
        <p:spPr>
          <a:xfrm xmlns:a="http://schemas.openxmlformats.org/drawingml/2006/main">
            <a:off x="1571625" y="2905125"/>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50"/>
                </a:solidFill>
                <a:latin typeface="Tahoma"/>
                <a:ea typeface="Tahoma"/>
                <a:cs typeface="Tahoma"/>
              </a:defRPr>
            </a:pPr>
            <a:r>
              <a:rPr sz="1875" b="0">
                <a:solidFill>
                  <a:srgbClr val="102D50"/>
                </a:solidFill>
                <a:latin typeface="Tahoma"/>
                <a:ea typeface="Tahoma"/>
                <a:cs typeface="Tahoma"/>
              </a:rPr>
              <a:t>A request does not match an agreed rule. A manager must decide whether it is suitable.</a:t>
            </a:r>
          </a:p>
        </p:txBody>
      </p:sp>
      <p:sp>
        <p:nvSpPr>
          <p:cNvPr id="8" name="diagram-80">
            <a:extLst xmlns:a="http://schemas.openxmlformats.org/drawingml/2006/main">
              <a:ext uri="{FF2B5EF4-FFF2-40B4-BE49-F238E27FC236}">
                <a16:creationId xmlns:a16="http://schemas.microsoft.com/office/drawing/2014/main" id="{6BD1D1CA-EF3A-42F0-8985-7192557F0FAD}"/>
              </a:ext>
            </a:extLst>
          </p:cNvPr>
          <p:cNvSpPr>
            <a:spLocks xmlns:a="http://schemas.openxmlformats.org/drawingml/2006/main" noGrp="1"/>
          </p:cNvSpPr>
          <p:nvPr/>
        </p:nvSpPr>
        <p:spPr>
          <a:xfrm xmlns:a="http://schemas.openxmlformats.org/drawingml/2006/main">
            <a:off x="1571625" y="3705225"/>
            <a:ext cx="9525000" cy="19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81">
            <a:extLst xmlns:a="http://schemas.openxmlformats.org/drawingml/2006/main">
              <a:ext uri="{FF2B5EF4-FFF2-40B4-BE49-F238E27FC236}">
                <a16:creationId xmlns:a16="http://schemas.microsoft.com/office/drawing/2014/main" id="{81AF6AFA-9E91-4403-9048-94E3EC8A0E40}"/>
              </a:ext>
            </a:extLst>
          </p:cNvPr>
          <p:cNvSpPr>
            <a:spLocks xmlns:a="http://schemas.openxmlformats.org/drawingml/2006/main" noGrp="1"/>
          </p:cNvSpPr>
          <p:nvPr/>
        </p:nvSpPr>
        <p:spPr>
          <a:xfrm xmlns:a="http://schemas.openxmlformats.org/drawingml/2006/main">
            <a:off x="809625" y="390525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C</a:t>
            </a:r>
          </a:p>
        </p:txBody>
      </p:sp>
      <p:sp>
        <p:nvSpPr>
          <p:cNvPr id="10" name="diagram-82">
            <a:extLst xmlns:a="http://schemas.openxmlformats.org/drawingml/2006/main">
              <a:ext uri="{FF2B5EF4-FFF2-40B4-BE49-F238E27FC236}">
                <a16:creationId xmlns:a16="http://schemas.microsoft.com/office/drawing/2014/main" id="{1B8ACE0D-CDBE-4052-9AF4-27385543E279}"/>
              </a:ext>
            </a:extLst>
          </p:cNvPr>
          <p:cNvSpPr>
            <a:spLocks xmlns:a="http://schemas.openxmlformats.org/drawingml/2006/main" noGrp="1"/>
          </p:cNvSpPr>
          <p:nvPr/>
        </p:nvSpPr>
        <p:spPr>
          <a:xfrm xmlns:a="http://schemas.openxmlformats.org/drawingml/2006/main">
            <a:off x="1571625" y="39052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50"/>
                </a:solidFill>
                <a:latin typeface="Tahoma"/>
                <a:ea typeface="Tahoma"/>
                <a:cs typeface="Tahoma"/>
              </a:defRPr>
            </a:pPr>
            <a:r>
              <a:rPr sz="1875" b="0">
                <a:solidFill>
                  <a:srgbClr val="102D50"/>
                </a:solidFill>
                <a:latin typeface="Tahoma"/>
                <a:ea typeface="Tahoma"/>
                <a:cs typeface="Tahoma"/>
              </a:rPr>
              <a:t>The date is blank. The agreed rule says to ask the requester for it.</a:t>
            </a:r>
          </a:p>
        </p:txBody>
      </p:sp>
      <p:sp>
        <p:nvSpPr>
          <p:cNvPr id="11" name="diagram-83">
            <a:extLst xmlns:a="http://schemas.openxmlformats.org/drawingml/2006/main">
              <a:ext uri="{FF2B5EF4-FFF2-40B4-BE49-F238E27FC236}">
                <a16:creationId xmlns:a16="http://schemas.microsoft.com/office/drawing/2014/main" id="{1BB5F021-318E-4E8D-8DA3-7D3E9B5234EE}"/>
              </a:ext>
            </a:extLst>
          </p:cNvPr>
          <p:cNvSpPr>
            <a:spLocks xmlns:a="http://schemas.openxmlformats.org/drawingml/2006/main" noGrp="1"/>
          </p:cNvSpPr>
          <p:nvPr/>
        </p:nvSpPr>
        <p:spPr>
          <a:xfrm xmlns:a="http://schemas.openxmlformats.org/drawingml/2006/main">
            <a:off x="762000" y="5000625"/>
            <a:ext cx="10572750" cy="1000125"/>
          </a:xfrm>
          <a:prstGeom xmlns:a="http://schemas.openxmlformats.org/drawingml/2006/main" prst="rect">
            <a:avLst/>
          </a:prstGeom>
          <a:solidFill xmlns:a="http://schemas.openxmlformats.org/drawingml/2006/main">
            <a:srgbClr val="FFF0D9"/>
          </a:solidFill>
          <a:ln xmlns:a="http://schemas.openxmlformats.org/drawingml/2006/main" w="19050">
            <a:solidFill>
              <a:srgbClr val="B76D13"/>
            </a:solidFill>
          </a:ln>
        </p:spPr>
      </p:sp>
      <p:sp>
        <p:nvSpPr>
          <p:cNvPr id="12" name="diagram-84">
            <a:extLst xmlns:a="http://schemas.openxmlformats.org/drawingml/2006/main">
              <a:ext uri="{FF2B5EF4-FFF2-40B4-BE49-F238E27FC236}">
                <a16:creationId xmlns:a16="http://schemas.microsoft.com/office/drawing/2014/main" id="{65C666DF-1EC2-4B58-B187-5619A088F914}"/>
              </a:ext>
            </a:extLst>
          </p:cNvPr>
          <p:cNvSpPr>
            <a:spLocks xmlns:a="http://schemas.openxmlformats.org/drawingml/2006/main" noGrp="1"/>
          </p:cNvSpPr>
          <p:nvPr/>
        </p:nvSpPr>
        <p:spPr>
          <a:xfrm xmlns:a="http://schemas.openxmlformats.org/drawingml/2006/main">
            <a:off x="1000125" y="5143500"/>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02D50"/>
                </a:solidFill>
                <a:latin typeface="Tahoma"/>
                <a:ea typeface="Tahoma"/>
                <a:cs typeface="Tahoma"/>
              </a:defRPr>
            </a:pPr>
            <a:r>
              <a:rPr sz="1575" b="1">
                <a:solidFill>
                  <a:srgbClr val="102D50"/>
                </a:solidFill>
                <a:latin typeface="Tahoma"/>
                <a:ea typeface="Tahoma"/>
                <a:cs typeface="Tahoma"/>
              </a:rPr>
              <a:t>Unknown rule, access, or owner: More information needed</a:t>
            </a:r>
          </a:p>
          <a:p xmlns:a="http://schemas.openxmlformats.org/drawingml/2006/main">
            <a:pPr>
              <a:defRPr sz="1575" b="1">
                <a:solidFill>
                  <a:srgbClr val="102D50"/>
                </a:solidFill>
                <a:latin typeface="Tahoma"/>
                <a:ea typeface="Tahoma"/>
                <a:cs typeface="Tahoma"/>
              </a:defRPr>
            </a:pPr>
            <a:r>
              <a:rPr sz="1575" b="1">
                <a:solidFill>
                  <a:srgbClr val="102D50"/>
                </a:solidFill>
                <a:latin typeface="Tahoma"/>
                <a:ea typeface="Tahoma"/>
                <a:cs typeface="Tahoma"/>
              </a:rPr>
              <a:t>Judgement or approval: Human decision needed</a:t>
            </a:r>
          </a:p>
          <a:p xmlns:a="http://schemas.openxmlformats.org/drawingml/2006/main">
            <a:pPr>
              <a:defRPr sz="1575" b="1">
                <a:solidFill>
                  <a:srgbClr val="102D50"/>
                </a:solidFill>
                <a:latin typeface="Tahoma"/>
                <a:ea typeface="Tahoma"/>
                <a:cs typeface="Tahoma"/>
              </a:defRPr>
            </a:pPr>
            <a:r>
              <a:rPr sz="1575" b="1">
                <a:solidFill>
                  <a:srgbClr val="102D50"/>
                </a:solidFill>
                <a:latin typeface="Tahoma"/>
                <a:ea typeface="Tahoma"/>
                <a:cs typeface="Tahoma"/>
              </a:rPr>
              <a:t>Clear rule and access: System can help</a:t>
            </a:r>
          </a:p>
        </p:txBody>
      </p:sp>
    </p:spTree>
    <p:extLst>
      <p:ext uri="{BB962C8B-B14F-4D97-AF65-F5344CB8AC3E}">
        <p14:creationId xmlns:p14="http://schemas.microsoft.com/office/powerpoint/2010/main" val="2048260202"/>
      </p:ext>
    </p:extLst>
  </p:cSld>
</p:sld>
</file>

<file path=ppt/slides/slide1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diagram-85">
            <a:extLst xmlns:a="http://schemas.openxmlformats.org/drawingml/2006/main">
              <a:ext uri="{FF2B5EF4-FFF2-40B4-BE49-F238E27FC236}">
                <a16:creationId xmlns:a16="http://schemas.microsoft.com/office/drawing/2014/main" id="{137F8D61-9251-42BC-B9F9-D99BBFC30507}"/>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1 · PRACTICE 2</a:t>
            </a:r>
          </a:p>
        </p:txBody>
      </p:sp>
      <p:sp>
        <p:nvSpPr>
          <p:cNvPr id="2" name="diagram-86">
            <a:extLst xmlns:a="http://schemas.openxmlformats.org/drawingml/2006/main">
              <a:ext uri="{FF2B5EF4-FFF2-40B4-BE49-F238E27FC236}">
                <a16:creationId xmlns:a16="http://schemas.microsoft.com/office/drawing/2014/main" id="{3D22D02B-5A34-4499-A74F-28D14478D51E}"/>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Scenario prompts D–F</a:t>
            </a:r>
          </a:p>
        </p:txBody>
      </p:sp>
      <p:sp>
        <p:nvSpPr>
          <p:cNvPr id="3" name="diagram-87">
            <a:extLst xmlns:a="http://schemas.openxmlformats.org/drawingml/2006/main">
              <a:ext uri="{FF2B5EF4-FFF2-40B4-BE49-F238E27FC236}">
                <a16:creationId xmlns:a16="http://schemas.microsoft.com/office/drawing/2014/main" id="{CC438434-F29C-4638-83CF-71377A2ECB30}"/>
              </a:ext>
            </a:extLst>
          </p:cNvPr>
          <p:cNvSpPr>
            <a:spLocks xmlns:a="http://schemas.openxmlformats.org/drawingml/2006/main" noGrp="1"/>
          </p:cNvSpPr>
          <p:nvPr/>
        </p:nvSpPr>
        <p:spPr>
          <a:xfrm xmlns:a="http://schemas.openxmlformats.org/drawingml/2006/main">
            <a:off x="809625" y="190500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D</a:t>
            </a:r>
          </a:p>
        </p:txBody>
      </p:sp>
      <p:sp>
        <p:nvSpPr>
          <p:cNvPr id="4" name="diagram-88">
            <a:extLst xmlns:a="http://schemas.openxmlformats.org/drawingml/2006/main">
              <a:ext uri="{FF2B5EF4-FFF2-40B4-BE49-F238E27FC236}">
                <a16:creationId xmlns:a16="http://schemas.microsoft.com/office/drawing/2014/main" id="{088028B2-537D-4172-8D75-EDE731E158C5}"/>
              </a:ext>
            </a:extLst>
          </p:cNvPr>
          <p:cNvSpPr>
            <a:spLocks xmlns:a="http://schemas.openxmlformats.org/drawingml/2006/main" noGrp="1"/>
          </p:cNvSpPr>
          <p:nvPr/>
        </p:nvSpPr>
        <p:spPr>
          <a:xfrm xmlns:a="http://schemas.openxmlformats.org/drawingml/2006/main">
            <a:off x="1571625" y="190500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50"/>
                </a:solidFill>
                <a:latin typeface="Tahoma"/>
                <a:ea typeface="Tahoma"/>
                <a:cs typeface="Tahoma"/>
              </a:defRPr>
            </a:pPr>
            <a:r>
              <a:rPr sz="1875" b="0">
                <a:solidFill>
                  <a:srgbClr val="102D50"/>
                </a:solidFill>
                <a:latin typeface="Tahoma"/>
                <a:ea typeface="Tahoma"/>
                <a:cs typeface="Tahoma"/>
              </a:rPr>
              <a:t>Copy data from another system. Access has not been confirmed.</a:t>
            </a:r>
          </a:p>
        </p:txBody>
      </p:sp>
      <p:sp>
        <p:nvSpPr>
          <p:cNvPr id="5" name="diagram-89">
            <a:extLst xmlns:a="http://schemas.openxmlformats.org/drawingml/2006/main">
              <a:ext uri="{FF2B5EF4-FFF2-40B4-BE49-F238E27FC236}">
                <a16:creationId xmlns:a16="http://schemas.microsoft.com/office/drawing/2014/main" id="{91064DB8-5691-4B1A-9A65-A7429EE526AF}"/>
              </a:ext>
            </a:extLst>
          </p:cNvPr>
          <p:cNvSpPr>
            <a:spLocks xmlns:a="http://schemas.openxmlformats.org/drawingml/2006/main" noGrp="1"/>
          </p:cNvSpPr>
          <p:nvPr/>
        </p:nvSpPr>
        <p:spPr>
          <a:xfrm xmlns:a="http://schemas.openxmlformats.org/drawingml/2006/main">
            <a:off x="1571625" y="2705100"/>
            <a:ext cx="9525000" cy="19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90">
            <a:extLst xmlns:a="http://schemas.openxmlformats.org/drawingml/2006/main">
              <a:ext uri="{FF2B5EF4-FFF2-40B4-BE49-F238E27FC236}">
                <a16:creationId xmlns:a16="http://schemas.microsoft.com/office/drawing/2014/main" id="{643A15AE-A222-4B92-B634-D8DC3A4C4A31}"/>
              </a:ext>
            </a:extLst>
          </p:cNvPr>
          <p:cNvSpPr>
            <a:spLocks xmlns:a="http://schemas.openxmlformats.org/drawingml/2006/main" noGrp="1"/>
          </p:cNvSpPr>
          <p:nvPr/>
        </p:nvSpPr>
        <p:spPr>
          <a:xfrm xmlns:a="http://schemas.openxmlformats.org/drawingml/2006/main">
            <a:off x="809625" y="2905125"/>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E</a:t>
            </a:r>
          </a:p>
        </p:txBody>
      </p:sp>
      <p:sp>
        <p:nvSpPr>
          <p:cNvPr id="7" name="diagram-91">
            <a:extLst xmlns:a="http://schemas.openxmlformats.org/drawingml/2006/main">
              <a:ext uri="{FF2B5EF4-FFF2-40B4-BE49-F238E27FC236}">
                <a16:creationId xmlns:a16="http://schemas.microsoft.com/office/drawing/2014/main" id="{04E83A2C-9E03-45F8-95A2-9DFC03E8011C}"/>
              </a:ext>
            </a:extLst>
          </p:cNvPr>
          <p:cNvSpPr>
            <a:spLocks xmlns:a="http://schemas.openxmlformats.org/drawingml/2006/main" noGrp="1"/>
          </p:cNvSpPr>
          <p:nvPr/>
        </p:nvSpPr>
        <p:spPr>
          <a:xfrm xmlns:a="http://schemas.openxmlformats.org/drawingml/2006/main">
            <a:off x="1571625" y="2905125"/>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50"/>
                </a:solidFill>
                <a:latin typeface="Tahoma"/>
                <a:ea typeface="Tahoma"/>
                <a:cs typeface="Tahoma"/>
              </a:defRPr>
            </a:pPr>
            <a:r>
              <a:rPr sz="1875" b="0">
                <a:solidFill>
                  <a:srgbClr val="102D50"/>
                </a:solidFill>
                <a:latin typeface="Tahoma"/>
                <a:ea typeface="Tahoma"/>
                <a:cs typeface="Tahoma"/>
              </a:rPr>
              <a:t>At the agreed time, remind the agreed person about a waiting request.</a:t>
            </a:r>
          </a:p>
        </p:txBody>
      </p:sp>
      <p:sp>
        <p:nvSpPr>
          <p:cNvPr id="8" name="diagram-92">
            <a:extLst xmlns:a="http://schemas.openxmlformats.org/drawingml/2006/main">
              <a:ext uri="{FF2B5EF4-FFF2-40B4-BE49-F238E27FC236}">
                <a16:creationId xmlns:a16="http://schemas.microsoft.com/office/drawing/2014/main" id="{1121910D-8DE9-4514-89C9-489C06E39663}"/>
              </a:ext>
            </a:extLst>
          </p:cNvPr>
          <p:cNvSpPr>
            <a:spLocks xmlns:a="http://schemas.openxmlformats.org/drawingml/2006/main" noGrp="1"/>
          </p:cNvSpPr>
          <p:nvPr/>
        </p:nvSpPr>
        <p:spPr>
          <a:xfrm xmlns:a="http://schemas.openxmlformats.org/drawingml/2006/main">
            <a:off x="1571625" y="3705225"/>
            <a:ext cx="9525000" cy="19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93">
            <a:extLst xmlns:a="http://schemas.openxmlformats.org/drawingml/2006/main">
              <a:ext uri="{FF2B5EF4-FFF2-40B4-BE49-F238E27FC236}">
                <a16:creationId xmlns:a16="http://schemas.microsoft.com/office/drawing/2014/main" id="{B0E4DECE-1737-457B-9BCE-1CFBABE78AFF}"/>
              </a:ext>
            </a:extLst>
          </p:cNvPr>
          <p:cNvSpPr>
            <a:spLocks xmlns:a="http://schemas.openxmlformats.org/drawingml/2006/main" noGrp="1"/>
          </p:cNvSpPr>
          <p:nvPr/>
        </p:nvSpPr>
        <p:spPr>
          <a:xfrm xmlns:a="http://schemas.openxmlformats.org/drawingml/2006/main">
            <a:off x="809625" y="3905250"/>
            <a:ext cx="619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F</a:t>
            </a:r>
          </a:p>
        </p:txBody>
      </p:sp>
      <p:sp>
        <p:nvSpPr>
          <p:cNvPr id="10" name="diagram-94">
            <a:extLst xmlns:a="http://schemas.openxmlformats.org/drawingml/2006/main">
              <a:ext uri="{FF2B5EF4-FFF2-40B4-BE49-F238E27FC236}">
                <a16:creationId xmlns:a16="http://schemas.microsoft.com/office/drawing/2014/main" id="{3E7CC26A-BF84-42B5-9B4E-44A9176029FE}"/>
              </a:ext>
            </a:extLst>
          </p:cNvPr>
          <p:cNvSpPr>
            <a:spLocks xmlns:a="http://schemas.openxmlformats.org/drawingml/2006/main" noGrp="1"/>
          </p:cNvSpPr>
          <p:nvPr/>
        </p:nvSpPr>
        <p:spPr>
          <a:xfrm xmlns:a="http://schemas.openxmlformats.org/drawingml/2006/main">
            <a:off x="1571625" y="39052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50"/>
                </a:solidFill>
                <a:latin typeface="Tahoma"/>
                <a:ea typeface="Tahoma"/>
                <a:cs typeface="Tahoma"/>
              </a:defRPr>
            </a:pPr>
            <a:r>
              <a:rPr sz="1875" b="0">
                <a:solidFill>
                  <a:srgbClr val="102D50"/>
                </a:solidFill>
                <a:latin typeface="Tahoma"/>
                <a:ea typeface="Tahoma"/>
                <a:cs typeface="Tahoma"/>
              </a:rPr>
              <a:t>The manager has not decided. Tell the requester it is approved.</a:t>
            </a:r>
          </a:p>
        </p:txBody>
      </p:sp>
      <p:sp>
        <p:nvSpPr>
          <p:cNvPr id="11" name="diagram-95">
            <a:extLst xmlns:a="http://schemas.openxmlformats.org/drawingml/2006/main">
              <a:ext uri="{FF2B5EF4-FFF2-40B4-BE49-F238E27FC236}">
                <a16:creationId xmlns:a16="http://schemas.microsoft.com/office/drawing/2014/main" id="{F00020FB-3C6E-4ADD-ADB2-DE8446A6E2BD}"/>
              </a:ext>
            </a:extLst>
          </p:cNvPr>
          <p:cNvSpPr>
            <a:spLocks xmlns:a="http://schemas.openxmlformats.org/drawingml/2006/main" noGrp="1"/>
          </p:cNvSpPr>
          <p:nvPr/>
        </p:nvSpPr>
        <p:spPr>
          <a:xfrm xmlns:a="http://schemas.openxmlformats.org/drawingml/2006/main">
            <a:off x="762000" y="5000625"/>
            <a:ext cx="10572750" cy="1000125"/>
          </a:xfrm>
          <a:prstGeom xmlns:a="http://schemas.openxmlformats.org/drawingml/2006/main" prst="rect">
            <a:avLst/>
          </a:prstGeom>
          <a:solidFill xmlns:a="http://schemas.openxmlformats.org/drawingml/2006/main">
            <a:srgbClr val="FFF0D9"/>
          </a:solidFill>
          <a:ln xmlns:a="http://schemas.openxmlformats.org/drawingml/2006/main" w="19050">
            <a:solidFill>
              <a:srgbClr val="B76D13"/>
            </a:solidFill>
          </a:ln>
        </p:spPr>
      </p:sp>
      <p:sp>
        <p:nvSpPr>
          <p:cNvPr id="12" name="diagram-96">
            <a:extLst xmlns:a="http://schemas.openxmlformats.org/drawingml/2006/main">
              <a:ext uri="{FF2B5EF4-FFF2-40B4-BE49-F238E27FC236}">
                <a16:creationId xmlns:a16="http://schemas.microsoft.com/office/drawing/2014/main" id="{3262D33F-2260-4AC5-8E55-FB027702A8C5}"/>
              </a:ext>
            </a:extLst>
          </p:cNvPr>
          <p:cNvSpPr>
            <a:spLocks xmlns:a="http://schemas.openxmlformats.org/drawingml/2006/main" noGrp="1"/>
          </p:cNvSpPr>
          <p:nvPr/>
        </p:nvSpPr>
        <p:spPr>
          <a:xfrm xmlns:a="http://schemas.openxmlformats.org/drawingml/2006/main">
            <a:off x="1000125" y="5143500"/>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02D50"/>
                </a:solidFill>
                <a:latin typeface="Tahoma"/>
                <a:ea typeface="Tahoma"/>
                <a:cs typeface="Tahoma"/>
              </a:defRPr>
            </a:pPr>
            <a:r>
              <a:rPr sz="1575" b="1">
                <a:solidFill>
                  <a:srgbClr val="102D50"/>
                </a:solidFill>
                <a:latin typeface="Tahoma"/>
                <a:ea typeface="Tahoma"/>
                <a:cs typeface="Tahoma"/>
              </a:rPr>
              <a:t>Unknown rule, access, or owner: More information needed</a:t>
            </a:r>
          </a:p>
          <a:p xmlns:a="http://schemas.openxmlformats.org/drawingml/2006/main">
            <a:pPr>
              <a:defRPr sz="1575" b="1">
                <a:solidFill>
                  <a:srgbClr val="102D50"/>
                </a:solidFill>
                <a:latin typeface="Tahoma"/>
                <a:ea typeface="Tahoma"/>
                <a:cs typeface="Tahoma"/>
              </a:defRPr>
            </a:pPr>
            <a:r>
              <a:rPr sz="1575" b="1">
                <a:solidFill>
                  <a:srgbClr val="102D50"/>
                </a:solidFill>
                <a:latin typeface="Tahoma"/>
                <a:ea typeface="Tahoma"/>
                <a:cs typeface="Tahoma"/>
              </a:rPr>
              <a:t>Judgement or approval: Human decision needed</a:t>
            </a:r>
          </a:p>
          <a:p xmlns:a="http://schemas.openxmlformats.org/drawingml/2006/main">
            <a:pPr>
              <a:defRPr sz="1575" b="1">
                <a:solidFill>
                  <a:srgbClr val="102D50"/>
                </a:solidFill>
                <a:latin typeface="Tahoma"/>
                <a:ea typeface="Tahoma"/>
                <a:cs typeface="Tahoma"/>
              </a:defRPr>
            </a:pPr>
            <a:r>
              <a:rPr sz="1575" b="1">
                <a:solidFill>
                  <a:srgbClr val="102D50"/>
                </a:solidFill>
                <a:latin typeface="Tahoma"/>
                <a:ea typeface="Tahoma"/>
                <a:cs typeface="Tahoma"/>
              </a:rPr>
              <a:t>Clear rule and access: System can help</a:t>
            </a:r>
          </a:p>
        </p:txBody>
      </p:sp>
    </p:spTree>
    <p:extLst>
      <p:ext uri="{BB962C8B-B14F-4D97-AF65-F5344CB8AC3E}">
        <p14:creationId xmlns:p14="http://schemas.microsoft.com/office/powerpoint/2010/main" val="587345464"/>
      </p:ext>
    </p:extLst>
  </p:cSld>
</p:sld>
</file>

<file path=ppt/slides/slide1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8" name="diagram-97">
            <a:extLst xmlns:a="http://schemas.openxmlformats.org/drawingml/2006/main">
              <a:ext uri="{FF2B5EF4-FFF2-40B4-BE49-F238E27FC236}">
                <a16:creationId xmlns:a16="http://schemas.microsoft.com/office/drawing/2014/main" id="{CF7D3849-2258-4CCD-A5A2-0B88EFE8EE47}"/>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Questions from the groups</a:t>
            </a:r>
          </a:p>
        </p:txBody>
      </p:sp>
      <p:sp>
        <p:nvSpPr>
          <p:cNvPr id="2" name="diagram-98">
            <a:extLst xmlns:a="http://schemas.openxmlformats.org/drawingml/2006/main">
              <a:ext uri="{FF2B5EF4-FFF2-40B4-BE49-F238E27FC236}">
                <a16:creationId xmlns:a16="http://schemas.microsoft.com/office/drawing/2014/main" id="{E5925B12-CB00-40D0-B339-C941F6944197}"/>
              </a:ext>
            </a:extLst>
          </p:cNvPr>
          <p:cNvSpPr>
            <a:spLocks xmlns:a="http://schemas.openxmlformats.org/drawingml/2006/main" noGrp="1"/>
          </p:cNvSpPr>
          <p:nvPr/>
        </p:nvSpPr>
        <p:spPr>
          <a:xfrm xmlns:a="http://schemas.openxmlformats.org/drawingml/2006/main">
            <a:off x="762000" y="23812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4FBA"/>
                </a:solidFill>
                <a:latin typeface="Tahoma"/>
                <a:ea typeface="Tahoma"/>
                <a:cs typeface="Tahoma"/>
              </a:defRPr>
            </a:pPr>
            <a:r>
              <a:rPr sz="3000" b="1">
                <a:solidFill>
                  <a:srgbClr val="174FBA"/>
                </a:solidFill>
                <a:latin typeface="Tahoma"/>
                <a:ea typeface="Tahoma"/>
                <a:cs typeface="Tahoma"/>
              </a:rPr>
              <a:t>01</a:t>
            </a:r>
          </a:p>
        </p:txBody>
      </p:sp>
      <p:sp>
        <p:nvSpPr>
          <p:cNvPr id="3" name="diagram-99">
            <a:extLst xmlns:a="http://schemas.openxmlformats.org/drawingml/2006/main">
              <a:ext uri="{FF2B5EF4-FFF2-40B4-BE49-F238E27FC236}">
                <a16:creationId xmlns:a16="http://schemas.microsoft.com/office/drawing/2014/main" id="{EA98C65F-2286-4CE4-88CF-EA3C70DEF46C}"/>
              </a:ext>
            </a:extLst>
          </p:cNvPr>
          <p:cNvSpPr>
            <a:spLocks xmlns:a="http://schemas.openxmlformats.org/drawingml/2006/main" noGrp="1"/>
          </p:cNvSpPr>
          <p:nvPr/>
        </p:nvSpPr>
        <p:spPr>
          <a:xfrm xmlns:a="http://schemas.openxmlformats.org/drawingml/2006/main">
            <a:off x="1905000" y="2419350"/>
            <a:ext cx="919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24B"/>
                </a:solidFill>
                <a:latin typeface="Tahoma"/>
                <a:ea typeface="Tahoma"/>
                <a:cs typeface="Tahoma"/>
              </a:defRPr>
            </a:pPr>
            <a:r>
              <a:rPr sz="2325" b="0">
                <a:solidFill>
                  <a:srgbClr val="18324B"/>
                </a:solidFill>
                <a:latin typeface="Tahoma"/>
                <a:ea typeface="Tahoma"/>
                <a:cs typeface="Tahoma"/>
              </a:rPr>
              <a:t>What could the system support?</a:t>
            </a:r>
          </a:p>
        </p:txBody>
      </p:sp>
      <p:sp>
        <p:nvSpPr>
          <p:cNvPr id="4" name="diagram-100">
            <a:extLst xmlns:a="http://schemas.openxmlformats.org/drawingml/2006/main">
              <a:ext uri="{FF2B5EF4-FFF2-40B4-BE49-F238E27FC236}">
                <a16:creationId xmlns:a16="http://schemas.microsoft.com/office/drawing/2014/main" id="{06A25E91-B7F1-4BBC-8B93-599BBFB1340E}"/>
              </a:ext>
            </a:extLst>
          </p:cNvPr>
          <p:cNvSpPr>
            <a:spLocks xmlns:a="http://schemas.openxmlformats.org/drawingml/2006/main" noGrp="1"/>
          </p:cNvSpPr>
          <p:nvPr/>
        </p:nvSpPr>
        <p:spPr>
          <a:xfrm xmlns:a="http://schemas.openxmlformats.org/drawingml/2006/main">
            <a:off x="762000" y="34290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4FBA"/>
                </a:solidFill>
                <a:latin typeface="Tahoma"/>
                <a:ea typeface="Tahoma"/>
                <a:cs typeface="Tahoma"/>
              </a:defRPr>
            </a:pPr>
            <a:r>
              <a:rPr sz="3000" b="1">
                <a:solidFill>
                  <a:srgbClr val="174FBA"/>
                </a:solidFill>
                <a:latin typeface="Tahoma"/>
                <a:ea typeface="Tahoma"/>
                <a:cs typeface="Tahoma"/>
              </a:rPr>
              <a:t>02</a:t>
            </a:r>
          </a:p>
        </p:txBody>
      </p:sp>
      <p:sp>
        <p:nvSpPr>
          <p:cNvPr id="5" name="diagram-101">
            <a:extLst xmlns:a="http://schemas.openxmlformats.org/drawingml/2006/main">
              <a:ext uri="{FF2B5EF4-FFF2-40B4-BE49-F238E27FC236}">
                <a16:creationId xmlns:a16="http://schemas.microsoft.com/office/drawing/2014/main" id="{949570F9-DBB9-4722-8089-CD810597210E}"/>
              </a:ext>
            </a:extLst>
          </p:cNvPr>
          <p:cNvSpPr>
            <a:spLocks xmlns:a="http://schemas.openxmlformats.org/drawingml/2006/main" noGrp="1"/>
          </p:cNvSpPr>
          <p:nvPr/>
        </p:nvSpPr>
        <p:spPr>
          <a:xfrm xmlns:a="http://schemas.openxmlformats.org/drawingml/2006/main">
            <a:off x="1905000" y="3467100"/>
            <a:ext cx="919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24B"/>
                </a:solidFill>
                <a:latin typeface="Tahoma"/>
                <a:ea typeface="Tahoma"/>
                <a:cs typeface="Tahoma"/>
              </a:defRPr>
            </a:pPr>
            <a:r>
              <a:rPr sz="2325" b="0">
                <a:solidFill>
                  <a:srgbClr val="18324B"/>
                </a:solidFill>
                <a:latin typeface="Tahoma"/>
                <a:ea typeface="Tahoma"/>
                <a:cs typeface="Tahoma"/>
              </a:rPr>
              <a:t>Which rule or detail remains unclear?</a:t>
            </a:r>
          </a:p>
        </p:txBody>
      </p:sp>
      <p:sp>
        <p:nvSpPr>
          <p:cNvPr id="6" name="diagram-102">
            <a:extLst xmlns:a="http://schemas.openxmlformats.org/drawingml/2006/main">
              <a:ext uri="{FF2B5EF4-FFF2-40B4-BE49-F238E27FC236}">
                <a16:creationId xmlns:a16="http://schemas.microsoft.com/office/drawing/2014/main" id="{0BED5758-E143-4AC0-8349-E14E9BF28549}"/>
              </a:ext>
            </a:extLst>
          </p:cNvPr>
          <p:cNvSpPr>
            <a:spLocks xmlns:a="http://schemas.openxmlformats.org/drawingml/2006/main" noGrp="1"/>
          </p:cNvSpPr>
          <p:nvPr/>
        </p:nvSpPr>
        <p:spPr>
          <a:xfrm xmlns:a="http://schemas.openxmlformats.org/drawingml/2006/main">
            <a:off x="762000" y="44767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4FBA"/>
                </a:solidFill>
                <a:latin typeface="Tahoma"/>
                <a:ea typeface="Tahoma"/>
                <a:cs typeface="Tahoma"/>
              </a:defRPr>
            </a:pPr>
            <a:r>
              <a:rPr sz="3000" b="1">
                <a:solidFill>
                  <a:srgbClr val="174FBA"/>
                </a:solidFill>
                <a:latin typeface="Tahoma"/>
                <a:ea typeface="Tahoma"/>
                <a:cs typeface="Tahoma"/>
              </a:rPr>
              <a:t>03</a:t>
            </a:r>
          </a:p>
        </p:txBody>
      </p:sp>
      <p:sp>
        <p:nvSpPr>
          <p:cNvPr id="7" name="diagram-103">
            <a:extLst xmlns:a="http://schemas.openxmlformats.org/drawingml/2006/main">
              <a:ext uri="{FF2B5EF4-FFF2-40B4-BE49-F238E27FC236}">
                <a16:creationId xmlns:a16="http://schemas.microsoft.com/office/drawing/2014/main" id="{A750FD7E-D24D-4654-BB1E-BCD30EB6D419}"/>
              </a:ext>
            </a:extLst>
          </p:cNvPr>
          <p:cNvSpPr>
            <a:spLocks xmlns:a="http://schemas.openxmlformats.org/drawingml/2006/main" noGrp="1"/>
          </p:cNvSpPr>
          <p:nvPr/>
        </p:nvSpPr>
        <p:spPr>
          <a:xfrm xmlns:a="http://schemas.openxmlformats.org/drawingml/2006/main">
            <a:off x="1905000" y="4514850"/>
            <a:ext cx="919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24B"/>
                </a:solidFill>
                <a:latin typeface="Tahoma"/>
                <a:ea typeface="Tahoma"/>
                <a:cs typeface="Tahoma"/>
              </a:defRPr>
            </a:pPr>
            <a:r>
              <a:rPr sz="2325" b="0">
                <a:solidFill>
                  <a:srgbClr val="18324B"/>
                </a:solidFill>
                <a:latin typeface="Tahoma"/>
                <a:ea typeface="Tahoma"/>
                <a:cs typeface="Tahoma"/>
              </a:rPr>
              <a:t>What must the process owner or IT confirm?</a:t>
            </a:r>
          </a:p>
        </p:txBody>
      </p:sp>
    </p:spTree>
    <p:extLst>
      <p:ext uri="{BB962C8B-B14F-4D97-AF65-F5344CB8AC3E}">
        <p14:creationId xmlns:p14="http://schemas.microsoft.com/office/powerpoint/2010/main" val="1673403764"/>
      </p:ext>
    </p:extLst>
  </p:cSld>
</p:sld>
</file>

<file path=ppt/slides/slide13.xml><?xml version="1.0" encoding="utf-8"?>
<p:sld xmlns:p="http://schemas.openxmlformats.org/presentationml/2006/main">
  <p:cSld>
    <p:bg>
      <p:bgPr>
        <a:solidFill xmlns:a="http://schemas.openxmlformats.org/drawingml/2006/main">
          <a:srgbClr val="102D50"/>
        </a:solidFill>
      </p:bgPr>
    </p:bg>
    <p:spTree>
      <p:nvGrpSpPr>
        <p:cNvPr id="1" name=""/>
        <p:cNvGrpSpPr/>
        <p:nvPr/>
      </p:nvGrpSpPr>
      <p:grpSpPr>
        <a:xfrm xmlns:a="http://schemas.openxmlformats.org/drawingml/2006/main"/>
      </p:grpSpPr>
      <p:sp>
        <p:nvSpPr>
          <p:cNvPr id="5" name="diagram-104">
            <a:extLst xmlns:a="http://schemas.openxmlformats.org/drawingml/2006/main">
              <a:ext uri="{FF2B5EF4-FFF2-40B4-BE49-F238E27FC236}">
                <a16:creationId xmlns:a16="http://schemas.microsoft.com/office/drawing/2014/main" id="{8E15B80B-30AD-4537-B837-5B29EDFAAD47}"/>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Tahoma"/>
                <a:ea typeface="Tahoma"/>
                <a:cs typeface="Tahoma"/>
              </a:defRPr>
            </a:pPr>
            <a:r>
              <a:rPr sz="3225" b="1">
                <a:solidFill>
                  <a:srgbClr val="FFFFFF"/>
                </a:solidFill>
                <a:latin typeface="Tahoma"/>
                <a:ea typeface="Tahoma"/>
                <a:cs typeface="Tahoma"/>
              </a:rPr>
              <a:t>Block 1 checkpoint</a:t>
            </a:r>
          </a:p>
        </p:txBody>
      </p:sp>
      <p:sp>
        <p:nvSpPr>
          <p:cNvPr id="2" name="diagram-105">
            <a:extLst xmlns:a="http://schemas.openxmlformats.org/drawingml/2006/main">
              <a:ext uri="{FF2B5EF4-FFF2-40B4-BE49-F238E27FC236}">
                <a16:creationId xmlns:a16="http://schemas.microsoft.com/office/drawing/2014/main" id="{32610936-C386-4A61-9778-BE2ED801EFEC}"/>
              </a:ext>
            </a:extLst>
          </p:cNvPr>
          <p:cNvSpPr>
            <a:spLocks xmlns:a="http://schemas.openxmlformats.org/drawingml/2006/main" noGrp="1"/>
          </p:cNvSpPr>
          <p:nvPr/>
        </p:nvSpPr>
        <p:spPr>
          <a:xfrm xmlns:a="http://schemas.openxmlformats.org/drawingml/2006/main">
            <a:off x="762000" y="2428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Tahoma"/>
                <a:ea typeface="Tahoma"/>
                <a:cs typeface="Tahoma"/>
              </a:defRPr>
            </a:pPr>
            <a:r>
              <a:rPr sz="3150" b="1">
                <a:solidFill>
                  <a:srgbClr val="FFFFFF"/>
                </a:solidFill>
                <a:latin typeface="Tahoma"/>
                <a:ea typeface="Tahoma"/>
                <a:cs typeface="Tahoma"/>
              </a:rPr>
              <a:t>Systems support repeatable rules</a:t>
            </a:r>
          </a:p>
        </p:txBody>
      </p:sp>
      <p:sp>
        <p:nvSpPr>
          <p:cNvPr id="3" name="diagram-106">
            <a:extLst xmlns:a="http://schemas.openxmlformats.org/drawingml/2006/main">
              <a:ext uri="{FF2B5EF4-FFF2-40B4-BE49-F238E27FC236}">
                <a16:creationId xmlns:a16="http://schemas.microsoft.com/office/drawing/2014/main" id="{8EA5EF9B-A432-4A79-A37F-71061B9634FB}"/>
              </a:ext>
            </a:extLst>
          </p:cNvPr>
          <p:cNvSpPr>
            <a:spLocks xmlns:a="http://schemas.openxmlformats.org/drawingml/2006/main" noGrp="1"/>
          </p:cNvSpPr>
          <p:nvPr/>
        </p:nvSpPr>
        <p:spPr>
          <a:xfrm xmlns:a="http://schemas.openxmlformats.org/drawingml/2006/main">
            <a:off x="762000" y="3667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Tahoma"/>
                <a:ea typeface="Tahoma"/>
                <a:cs typeface="Tahoma"/>
              </a:defRPr>
            </a:pPr>
            <a:r>
              <a:rPr sz="2550" b="0">
                <a:solidFill>
                  <a:srgbClr val="FFFFFF"/>
                </a:solidFill>
                <a:latin typeface="Tahoma"/>
                <a:ea typeface="Tahoma"/>
                <a:cs typeface="Tahoma"/>
              </a:rPr>
              <a:t>People retain accountability</a:t>
            </a:r>
          </a:p>
        </p:txBody>
      </p:sp>
      <p:sp>
        <p:nvSpPr>
          <p:cNvPr id="4" name="diagram-107">
            <a:extLst xmlns:a="http://schemas.openxmlformats.org/drawingml/2006/main">
              <a:ext uri="{FF2B5EF4-FFF2-40B4-BE49-F238E27FC236}">
                <a16:creationId xmlns:a16="http://schemas.microsoft.com/office/drawing/2014/main" id="{5D672FD8-6EF5-4860-8542-F040CFFEA6F1}"/>
              </a:ext>
            </a:extLst>
          </p:cNvPr>
          <p:cNvSpPr>
            <a:spLocks xmlns:a="http://schemas.openxmlformats.org/drawingml/2006/main" noGrp="1"/>
          </p:cNvSpPr>
          <p:nvPr/>
        </p:nvSpPr>
        <p:spPr>
          <a:xfrm xmlns:a="http://schemas.openxmlformats.org/drawingml/2006/main">
            <a:off x="762000" y="51911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BCAE8"/>
                </a:solidFill>
                <a:latin typeface="Tahoma"/>
                <a:ea typeface="Tahoma"/>
                <a:cs typeface="Tahoma"/>
              </a:defRPr>
            </a:pPr>
            <a:r>
              <a:rPr sz="2175" b="0">
                <a:solidFill>
                  <a:srgbClr val="ABCAE8"/>
                </a:solidFill>
                <a:latin typeface="Tahoma"/>
                <a:ea typeface="Tahoma"/>
                <a:cs typeface="Tahoma"/>
              </a:rPr>
              <a:t>After the break: test your understanding</a:t>
            </a:r>
          </a:p>
        </p:txBody>
      </p:sp>
    </p:spTree>
    <p:extLst>
      <p:ext uri="{BB962C8B-B14F-4D97-AF65-F5344CB8AC3E}">
        <p14:creationId xmlns:p14="http://schemas.microsoft.com/office/powerpoint/2010/main" val="2107020665"/>
      </p:ext>
    </p:extLst>
  </p:cSld>
</p:sld>
</file>

<file path=ppt/slides/slide1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diagram-108">
            <a:extLst xmlns:a="http://schemas.openxmlformats.org/drawingml/2006/main">
              <a:ext uri="{FF2B5EF4-FFF2-40B4-BE49-F238E27FC236}">
                <a16:creationId xmlns:a16="http://schemas.microsoft.com/office/drawing/2014/main" id="{320EF2FB-9AEA-4535-BB87-894169D7F068}"/>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1 · PRACTICE 3</a:t>
            </a:r>
          </a:p>
        </p:txBody>
      </p:sp>
      <p:sp>
        <p:nvSpPr>
          <p:cNvPr id="2" name="diagram-109">
            <a:extLst xmlns:a="http://schemas.openxmlformats.org/drawingml/2006/main">
              <a:ext uri="{FF2B5EF4-FFF2-40B4-BE49-F238E27FC236}">
                <a16:creationId xmlns:a16="http://schemas.microsoft.com/office/drawing/2014/main" id="{484859D2-EFE9-4399-B5AF-10E90D5E5382}"/>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Knowledge check</a:t>
            </a:r>
          </a:p>
        </p:txBody>
      </p:sp>
      <p:sp>
        <p:nvSpPr>
          <p:cNvPr id="3" name="diagram-110">
            <a:extLst xmlns:a="http://schemas.openxmlformats.org/drawingml/2006/main">
              <a:ext uri="{FF2B5EF4-FFF2-40B4-BE49-F238E27FC236}">
                <a16:creationId xmlns:a16="http://schemas.microsoft.com/office/drawing/2014/main" id="{D331A68E-15D8-482D-817D-C067C37C6441}"/>
              </a:ext>
            </a:extLst>
          </p:cNvPr>
          <p:cNvSpPr>
            <a:spLocks xmlns:a="http://schemas.openxmlformats.org/drawingml/2006/main" noGrp="1"/>
          </p:cNvSpPr>
          <p:nvPr/>
        </p:nvSpPr>
        <p:spPr>
          <a:xfrm xmlns:a="http://schemas.openxmlformats.org/drawingml/2006/main">
            <a:off x="762000" y="23812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4FBA"/>
                </a:solidFill>
                <a:latin typeface="Tahoma"/>
                <a:ea typeface="Tahoma"/>
                <a:cs typeface="Tahoma"/>
              </a:defRPr>
            </a:pPr>
            <a:r>
              <a:rPr sz="3000" b="1">
                <a:solidFill>
                  <a:srgbClr val="174FBA"/>
                </a:solidFill>
                <a:latin typeface="Tahoma"/>
                <a:ea typeface="Tahoma"/>
                <a:cs typeface="Tahoma"/>
              </a:rPr>
              <a:t>01</a:t>
            </a:r>
          </a:p>
        </p:txBody>
      </p:sp>
      <p:sp>
        <p:nvSpPr>
          <p:cNvPr id="4" name="diagram-111">
            <a:extLst xmlns:a="http://schemas.openxmlformats.org/drawingml/2006/main">
              <a:ext uri="{FF2B5EF4-FFF2-40B4-BE49-F238E27FC236}">
                <a16:creationId xmlns:a16="http://schemas.microsoft.com/office/drawing/2014/main" id="{BEEAA2F9-9BDA-4D13-AA93-39CEEF908395}"/>
              </a:ext>
            </a:extLst>
          </p:cNvPr>
          <p:cNvSpPr>
            <a:spLocks xmlns:a="http://schemas.openxmlformats.org/drawingml/2006/main" noGrp="1"/>
          </p:cNvSpPr>
          <p:nvPr/>
        </p:nvSpPr>
        <p:spPr>
          <a:xfrm xmlns:a="http://schemas.openxmlformats.org/drawingml/2006/main">
            <a:off x="1905000" y="2419350"/>
            <a:ext cx="919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24B"/>
                </a:solidFill>
                <a:latin typeface="Tahoma"/>
                <a:ea typeface="Tahoma"/>
                <a:cs typeface="Tahoma"/>
              </a:defRPr>
            </a:pPr>
            <a:r>
              <a:rPr sz="2325" b="0">
                <a:solidFill>
                  <a:srgbClr val="18324B"/>
                </a:solidFill>
                <a:latin typeface="Tahoma"/>
                <a:ea typeface="Tahoma"/>
                <a:cs typeface="Tahoma"/>
              </a:rPr>
              <a:t>Routine copying or undefined exceptions?</a:t>
            </a:r>
          </a:p>
        </p:txBody>
      </p:sp>
      <p:sp>
        <p:nvSpPr>
          <p:cNvPr id="5" name="diagram-112">
            <a:extLst xmlns:a="http://schemas.openxmlformats.org/drawingml/2006/main">
              <a:ext uri="{FF2B5EF4-FFF2-40B4-BE49-F238E27FC236}">
                <a16:creationId xmlns:a16="http://schemas.microsoft.com/office/drawing/2014/main" id="{FAFEC865-F9CC-4E82-B250-17B5603B1721}"/>
              </a:ext>
            </a:extLst>
          </p:cNvPr>
          <p:cNvSpPr>
            <a:spLocks xmlns:a="http://schemas.openxmlformats.org/drawingml/2006/main" noGrp="1"/>
          </p:cNvSpPr>
          <p:nvPr/>
        </p:nvSpPr>
        <p:spPr>
          <a:xfrm xmlns:a="http://schemas.openxmlformats.org/drawingml/2006/main">
            <a:off x="762000" y="342900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4FBA"/>
                </a:solidFill>
                <a:latin typeface="Tahoma"/>
                <a:ea typeface="Tahoma"/>
                <a:cs typeface="Tahoma"/>
              </a:defRPr>
            </a:pPr>
            <a:r>
              <a:rPr sz="3000" b="1">
                <a:solidFill>
                  <a:srgbClr val="174FBA"/>
                </a:solidFill>
                <a:latin typeface="Tahoma"/>
                <a:ea typeface="Tahoma"/>
                <a:cs typeface="Tahoma"/>
              </a:rPr>
              <a:t>02</a:t>
            </a:r>
          </a:p>
        </p:txBody>
      </p:sp>
      <p:sp>
        <p:nvSpPr>
          <p:cNvPr id="6" name="diagram-113">
            <a:extLst xmlns:a="http://schemas.openxmlformats.org/drawingml/2006/main">
              <a:ext uri="{FF2B5EF4-FFF2-40B4-BE49-F238E27FC236}">
                <a16:creationId xmlns:a16="http://schemas.microsoft.com/office/drawing/2014/main" id="{6234A30A-CCCD-4A60-BD34-F46C76267B94}"/>
              </a:ext>
            </a:extLst>
          </p:cNvPr>
          <p:cNvSpPr>
            <a:spLocks xmlns:a="http://schemas.openxmlformats.org/drawingml/2006/main" noGrp="1"/>
          </p:cNvSpPr>
          <p:nvPr/>
        </p:nvSpPr>
        <p:spPr>
          <a:xfrm xmlns:a="http://schemas.openxmlformats.org/drawingml/2006/main">
            <a:off x="1905000" y="3467100"/>
            <a:ext cx="919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24B"/>
                </a:solidFill>
                <a:latin typeface="Tahoma"/>
                <a:ea typeface="Tahoma"/>
                <a:cs typeface="Tahoma"/>
              </a:defRPr>
            </a:pPr>
            <a:r>
              <a:rPr sz="2325" b="0">
                <a:solidFill>
                  <a:srgbClr val="18324B"/>
                </a:solidFill>
                <a:latin typeface="Tahoma"/>
                <a:ea typeface="Tahoma"/>
                <a:cs typeface="Tahoma"/>
              </a:rPr>
              <a:t>Do reminders alone remove a delay?</a:t>
            </a:r>
          </a:p>
        </p:txBody>
      </p:sp>
      <p:sp>
        <p:nvSpPr>
          <p:cNvPr id="7" name="diagram-114">
            <a:extLst xmlns:a="http://schemas.openxmlformats.org/drawingml/2006/main">
              <a:ext uri="{FF2B5EF4-FFF2-40B4-BE49-F238E27FC236}">
                <a16:creationId xmlns:a16="http://schemas.microsoft.com/office/drawing/2014/main" id="{94B48192-3B7A-4B67-B020-795348559DF2}"/>
              </a:ext>
            </a:extLst>
          </p:cNvPr>
          <p:cNvSpPr>
            <a:spLocks xmlns:a="http://schemas.openxmlformats.org/drawingml/2006/main" noGrp="1"/>
          </p:cNvSpPr>
          <p:nvPr/>
        </p:nvSpPr>
        <p:spPr>
          <a:xfrm xmlns:a="http://schemas.openxmlformats.org/drawingml/2006/main">
            <a:off x="762000" y="4476750"/>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4FBA"/>
                </a:solidFill>
                <a:latin typeface="Tahoma"/>
                <a:ea typeface="Tahoma"/>
                <a:cs typeface="Tahoma"/>
              </a:defRPr>
            </a:pPr>
            <a:r>
              <a:rPr sz="3000" b="1">
                <a:solidFill>
                  <a:srgbClr val="174FBA"/>
                </a:solidFill>
                <a:latin typeface="Tahoma"/>
                <a:ea typeface="Tahoma"/>
                <a:cs typeface="Tahoma"/>
              </a:rPr>
              <a:t>03</a:t>
            </a:r>
          </a:p>
        </p:txBody>
      </p:sp>
      <p:sp>
        <p:nvSpPr>
          <p:cNvPr id="8" name="diagram-115">
            <a:extLst xmlns:a="http://schemas.openxmlformats.org/drawingml/2006/main">
              <a:ext uri="{FF2B5EF4-FFF2-40B4-BE49-F238E27FC236}">
                <a16:creationId xmlns:a16="http://schemas.microsoft.com/office/drawing/2014/main" id="{27CEAF1C-19A5-4252-B041-BB94B47D586C}"/>
              </a:ext>
            </a:extLst>
          </p:cNvPr>
          <p:cNvSpPr>
            <a:spLocks xmlns:a="http://schemas.openxmlformats.org/drawingml/2006/main" noGrp="1"/>
          </p:cNvSpPr>
          <p:nvPr/>
        </p:nvSpPr>
        <p:spPr>
          <a:xfrm xmlns:a="http://schemas.openxmlformats.org/drawingml/2006/main">
            <a:off x="1905000" y="4514850"/>
            <a:ext cx="9191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8324B"/>
                </a:solidFill>
                <a:latin typeface="Tahoma"/>
                <a:ea typeface="Tahoma"/>
                <a:cs typeface="Tahoma"/>
              </a:defRPr>
            </a:pPr>
            <a:r>
              <a:rPr sz="2325" b="0">
                <a:solidFill>
                  <a:srgbClr val="18324B"/>
                </a:solidFill>
                <a:latin typeface="Tahoma"/>
                <a:ea typeface="Tahoma"/>
                <a:cs typeface="Tahoma"/>
              </a:rPr>
              <a:t>What must be checked before connecting a system?</a:t>
            </a:r>
          </a:p>
        </p:txBody>
      </p:sp>
    </p:spTree>
    <p:extLst>
      <p:ext uri="{BB962C8B-B14F-4D97-AF65-F5344CB8AC3E}">
        <p14:creationId xmlns:p14="http://schemas.microsoft.com/office/powerpoint/2010/main" val="629560695"/>
      </p:ext>
    </p:extLst>
  </p:cSld>
</p:sld>
</file>

<file path=ppt/slides/slide1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diagram-116">
            <a:extLst xmlns:a="http://schemas.openxmlformats.org/drawingml/2006/main">
              <a:ext uri="{FF2B5EF4-FFF2-40B4-BE49-F238E27FC236}">
                <a16:creationId xmlns:a16="http://schemas.microsoft.com/office/drawing/2014/main" id="{AAF00339-9EE4-42A3-B3A3-A69C5CA93B31}"/>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Known facts and open questions</a:t>
            </a:r>
          </a:p>
        </p:txBody>
      </p:sp>
      <p:sp>
        <p:nvSpPr>
          <p:cNvPr id="2" name="diagram-117">
            <a:extLst xmlns:a="http://schemas.openxmlformats.org/drawingml/2006/main">
              <a:ext uri="{FF2B5EF4-FFF2-40B4-BE49-F238E27FC236}">
                <a16:creationId xmlns:a16="http://schemas.microsoft.com/office/drawing/2014/main" id="{8291000B-6263-4400-AF45-8B434862569B}"/>
              </a:ext>
            </a:extLst>
          </p:cNvPr>
          <p:cNvSpPr>
            <a:spLocks xmlns:a="http://schemas.openxmlformats.org/drawingml/2006/main" noGrp="1"/>
          </p:cNvSpPr>
          <p:nvPr/>
        </p:nvSpPr>
        <p:spPr>
          <a:xfrm xmlns:a="http://schemas.openxmlformats.org/drawingml/2006/main">
            <a:off x="762000" y="2095500"/>
            <a:ext cx="10572750" cy="3143250"/>
          </a:xfrm>
          <a:prstGeom xmlns:a="http://schemas.openxmlformats.org/drawingml/2006/main" prst="rect">
            <a:avLst/>
          </a:prstGeom>
          <a:solidFill xmlns:a="http://schemas.openxmlformats.org/drawingml/2006/main">
            <a:srgbClr val="FFFFFF"/>
          </a:solidFill>
          <a:ln xmlns:a="http://schemas.openxmlformats.org/drawingml/2006/main" w="19050">
            <a:solidFill>
              <a:srgbClr val="174FBA"/>
            </a:solidFill>
          </a:ln>
        </p:spPr>
      </p:sp>
      <p:sp>
        <p:nvSpPr>
          <p:cNvPr id="3" name="diagram-118">
            <a:extLst xmlns:a="http://schemas.openxmlformats.org/drawingml/2006/main">
              <a:ext uri="{FF2B5EF4-FFF2-40B4-BE49-F238E27FC236}">
                <a16:creationId xmlns:a16="http://schemas.microsoft.com/office/drawing/2014/main" id="{A326622C-C668-46E4-B19E-D0D2AC1E43D2}"/>
              </a:ext>
            </a:extLst>
          </p:cNvPr>
          <p:cNvSpPr>
            <a:spLocks xmlns:a="http://schemas.openxmlformats.org/drawingml/2006/main" noGrp="1"/>
          </p:cNvSpPr>
          <p:nvPr/>
        </p:nvSpPr>
        <p:spPr>
          <a:xfrm xmlns:a="http://schemas.openxmlformats.org/drawingml/2006/main">
            <a:off x="4238625" y="2095500"/>
            <a:ext cx="19050" cy="3143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119">
            <a:extLst xmlns:a="http://schemas.openxmlformats.org/drawingml/2006/main">
              <a:ext uri="{FF2B5EF4-FFF2-40B4-BE49-F238E27FC236}">
                <a16:creationId xmlns:a16="http://schemas.microsoft.com/office/drawing/2014/main" id="{D619CBEF-D449-4AB8-8C89-CC44D09A0DC5}"/>
              </a:ext>
            </a:extLst>
          </p:cNvPr>
          <p:cNvSpPr>
            <a:spLocks xmlns:a="http://schemas.openxmlformats.org/drawingml/2006/main" noGrp="1"/>
          </p:cNvSpPr>
          <p:nvPr/>
        </p:nvSpPr>
        <p:spPr>
          <a:xfrm xmlns:a="http://schemas.openxmlformats.org/drawingml/2006/main">
            <a:off x="7810500" y="2095500"/>
            <a:ext cx="19050" cy="3143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120">
            <a:extLst xmlns:a="http://schemas.openxmlformats.org/drawingml/2006/main">
              <a:ext uri="{FF2B5EF4-FFF2-40B4-BE49-F238E27FC236}">
                <a16:creationId xmlns:a16="http://schemas.microsoft.com/office/drawing/2014/main" id="{0ED6E75B-53A5-4C29-B1AC-091D641D6C16}"/>
              </a:ext>
            </a:extLst>
          </p:cNvPr>
          <p:cNvSpPr>
            <a:spLocks xmlns:a="http://schemas.openxmlformats.org/drawingml/2006/main" noGrp="1"/>
          </p:cNvSpPr>
          <p:nvPr/>
        </p:nvSpPr>
        <p:spPr>
          <a:xfrm xmlns:a="http://schemas.openxmlformats.org/drawingml/2006/main">
            <a:off x="1000125" y="2381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4FBA"/>
                </a:solidFill>
                <a:latin typeface="Tahoma"/>
                <a:ea typeface="Tahoma"/>
                <a:cs typeface="Tahoma"/>
              </a:defRPr>
            </a:pPr>
            <a:r>
              <a:rPr sz="2325" b="1">
                <a:solidFill>
                  <a:srgbClr val="174FBA"/>
                </a:solidFill>
                <a:latin typeface="Tahoma"/>
                <a:ea typeface="Tahoma"/>
                <a:cs typeface="Tahoma"/>
              </a:rPr>
              <a:t>Known fact</a:t>
            </a:r>
          </a:p>
        </p:txBody>
      </p:sp>
      <p:sp>
        <p:nvSpPr>
          <p:cNvPr id="6" name="diagram-121">
            <a:extLst xmlns:a="http://schemas.openxmlformats.org/drawingml/2006/main">
              <a:ext uri="{FF2B5EF4-FFF2-40B4-BE49-F238E27FC236}">
                <a16:creationId xmlns:a16="http://schemas.microsoft.com/office/drawing/2014/main" id="{BC3D8FB5-1AA4-4F63-A41B-1EB675864C4D}"/>
              </a:ext>
            </a:extLst>
          </p:cNvPr>
          <p:cNvSpPr>
            <a:spLocks xmlns:a="http://schemas.openxmlformats.org/drawingml/2006/main" noGrp="1"/>
          </p:cNvSpPr>
          <p:nvPr/>
        </p:nvSpPr>
        <p:spPr>
          <a:xfrm xmlns:a="http://schemas.openxmlformats.org/drawingml/2006/main">
            <a:off x="4524375" y="23812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D50"/>
                </a:solidFill>
                <a:latin typeface="Tahoma"/>
                <a:ea typeface="Tahoma"/>
                <a:cs typeface="Tahoma"/>
              </a:defRPr>
            </a:pPr>
            <a:r>
              <a:rPr sz="2325" b="1">
                <a:solidFill>
                  <a:srgbClr val="102D50"/>
                </a:solidFill>
                <a:latin typeface="Tahoma"/>
                <a:ea typeface="Tahoma"/>
                <a:cs typeface="Tahoma"/>
              </a:rPr>
              <a:t>Open question</a:t>
            </a:r>
          </a:p>
        </p:txBody>
      </p:sp>
      <p:sp>
        <p:nvSpPr>
          <p:cNvPr id="7" name="diagram-122">
            <a:extLst xmlns:a="http://schemas.openxmlformats.org/drawingml/2006/main">
              <a:ext uri="{FF2B5EF4-FFF2-40B4-BE49-F238E27FC236}">
                <a16:creationId xmlns:a16="http://schemas.microsoft.com/office/drawing/2014/main" id="{ADBBC367-75F3-4FBD-AEC4-41B5E4598A54}"/>
              </a:ext>
            </a:extLst>
          </p:cNvPr>
          <p:cNvSpPr>
            <a:spLocks xmlns:a="http://schemas.openxmlformats.org/drawingml/2006/main" noGrp="1"/>
          </p:cNvSpPr>
          <p:nvPr/>
        </p:nvSpPr>
        <p:spPr>
          <a:xfrm xmlns:a="http://schemas.openxmlformats.org/drawingml/2006/main">
            <a:off x="8096250" y="2381250"/>
            <a:ext cx="295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B76D13"/>
                </a:solidFill>
                <a:latin typeface="Tahoma"/>
                <a:ea typeface="Tahoma"/>
                <a:cs typeface="Tahoma"/>
              </a:defRPr>
            </a:pPr>
            <a:r>
              <a:rPr sz="2325" b="1">
                <a:solidFill>
                  <a:srgbClr val="B76D13"/>
                </a:solidFill>
                <a:latin typeface="Tahoma"/>
                <a:ea typeface="Tahoma"/>
                <a:cs typeface="Tahoma"/>
              </a:rPr>
              <a:t>Verification owner</a:t>
            </a:r>
          </a:p>
        </p:txBody>
      </p:sp>
      <p:sp>
        <p:nvSpPr>
          <p:cNvPr id="8" name="diagram-123">
            <a:extLst xmlns:a="http://schemas.openxmlformats.org/drawingml/2006/main">
              <a:ext uri="{FF2B5EF4-FFF2-40B4-BE49-F238E27FC236}">
                <a16:creationId xmlns:a16="http://schemas.microsoft.com/office/drawing/2014/main" id="{C75C97D3-2C52-4F09-954C-F2B5BFE96FC0}"/>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Use the A4 sheet. Agree one supported fact and one owned question.</a:t>
            </a:r>
          </a:p>
        </p:txBody>
      </p:sp>
    </p:spTree>
    <p:extLst>
      <p:ext uri="{BB962C8B-B14F-4D97-AF65-F5344CB8AC3E}">
        <p14:creationId xmlns:p14="http://schemas.microsoft.com/office/powerpoint/2010/main" val="188789158"/>
      </p:ext>
    </p:extLst>
  </p:cSld>
</p:sld>
</file>

<file path=ppt/slides/slide16.xml><?xml version="1.0" encoding="utf-8"?>
<p:sld xmlns:p="http://schemas.openxmlformats.org/presentationml/2006/main">
  <p:cSld>
    <p:bg>
      <p:bgPr>
        <a:solidFill xmlns:a="http://schemas.openxmlformats.org/drawingml/2006/main">
          <a:srgbClr val="102D50"/>
        </a:solidFill>
      </p:bgPr>
    </p:bg>
    <p:spTree>
      <p:nvGrpSpPr>
        <p:cNvPr id="1" name=""/>
        <p:cNvGrpSpPr/>
        <p:nvPr/>
      </p:nvGrpSpPr>
      <p:grpSpPr>
        <a:xfrm xmlns:a="http://schemas.openxmlformats.org/drawingml/2006/main"/>
      </p:grpSpPr>
      <p:pic>
        <p:nvPicPr>
          <p:cNvPr id="5" name="Operational handover bottleneck" descr="2D editorial illustration of work accumulating at a handover between office teams."/>
          <p:cNvPicPr>
            <a:picLocks xmlns:a="http://schemas.openxmlformats.org/drawingml/2006/main" noChangeAspect="1"/>
          </p:cNvPicPr>
          <p:nvPr/>
        </p:nvPicPr>
        <p:blipFill>
          <a:blip xmlns:r="http://schemas.openxmlformats.org/officeDocument/2006/relationships" xmlns:a="http://schemas.openxmlformats.org/drawingml/2006/main" r:embed="R9121fea46c4e408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iagram-124">
            <a:extLst xmlns:a="http://schemas.openxmlformats.org/drawingml/2006/main">
              <a:ext uri="{FF2B5EF4-FFF2-40B4-BE49-F238E27FC236}">
                <a16:creationId xmlns:a16="http://schemas.microsoft.com/office/drawing/2014/main" id="{30EA57DD-C19B-4222-9928-B6E682B74738}"/>
              </a:ext>
            </a:extLst>
          </p:cNvPr>
          <p:cNvSpPr>
            <a:spLocks xmlns:a="http://schemas.openxmlformats.org/drawingml/2006/main" noGrp="1"/>
          </p:cNvSpPr>
          <p:nvPr/>
        </p:nvSpPr>
        <p:spPr>
          <a:xfrm xmlns:a="http://schemas.openxmlformats.org/drawingml/2006/main">
            <a:off x="619125" y="10477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ABCAE8"/>
                </a:solidFill>
                <a:latin typeface="Tahoma"/>
                <a:ea typeface="Tahoma"/>
                <a:cs typeface="Tahoma"/>
              </a:defRPr>
            </a:pPr>
            <a:r>
              <a:rPr sz="1500" b="1">
                <a:solidFill>
                  <a:srgbClr val="ABCAE8"/>
                </a:solidFill>
                <a:latin typeface="Tahoma"/>
                <a:ea typeface="Tahoma"/>
                <a:cs typeface="Tahoma"/>
              </a:rPr>
              <a:t>MODULE 2</a:t>
            </a:r>
          </a:p>
        </p:txBody>
      </p:sp>
      <p:sp>
        <p:nvSpPr>
          <p:cNvPr id="3" name="diagram-125">
            <a:extLst xmlns:a="http://schemas.openxmlformats.org/drawingml/2006/main">
              <a:ext uri="{FF2B5EF4-FFF2-40B4-BE49-F238E27FC236}">
                <a16:creationId xmlns:a16="http://schemas.microsoft.com/office/drawing/2014/main" id="{6B790038-15BF-4F4E-BCB9-546178C38B9B}"/>
              </a:ext>
            </a:extLst>
          </p:cNvPr>
          <p:cNvSpPr>
            <a:spLocks xmlns:a="http://schemas.openxmlformats.org/drawingml/2006/main" noGrp="1"/>
          </p:cNvSpPr>
          <p:nvPr/>
        </p:nvSpPr>
        <p:spPr>
          <a:xfrm xmlns:a="http://schemas.openxmlformats.org/drawingml/2006/main">
            <a:off x="619125" y="1666875"/>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Tahoma"/>
                <a:ea typeface="Tahoma"/>
                <a:cs typeface="Tahoma"/>
              </a:defRPr>
            </a:pPr>
            <a:r>
              <a:rPr sz="3900" b="1">
                <a:solidFill>
                  <a:srgbClr val="FFFFFF"/>
                </a:solidFill>
                <a:latin typeface="Tahoma"/>
                <a:ea typeface="Tahoma"/>
                <a:cs typeface="Tahoma"/>
              </a:rPr>
              <a:t>Unlocking</a:t>
            </a:r>
          </a:p>
          <a:p xmlns:a="http://schemas.openxmlformats.org/drawingml/2006/main">
            <a:pPr>
              <a:defRPr sz="3900" b="1">
                <a:solidFill>
                  <a:srgbClr val="FFFFFF"/>
                </a:solidFill>
                <a:latin typeface="Tahoma"/>
                <a:ea typeface="Tahoma"/>
                <a:cs typeface="Tahoma"/>
              </a:defRPr>
            </a:pPr>
            <a:r>
              <a:rPr sz="3900" b="1">
                <a:solidFill>
                  <a:srgbClr val="FFFFFF"/>
                </a:solidFill>
                <a:latin typeface="Tahoma"/>
                <a:ea typeface="Tahoma"/>
                <a:cs typeface="Tahoma"/>
              </a:rPr>
              <a:t>Operational</a:t>
            </a:r>
          </a:p>
          <a:p xmlns:a="http://schemas.openxmlformats.org/drawingml/2006/main">
            <a:pPr>
              <a:defRPr sz="3900" b="1">
                <a:solidFill>
                  <a:srgbClr val="FFFFFF"/>
                </a:solidFill>
                <a:latin typeface="Tahoma"/>
                <a:ea typeface="Tahoma"/>
                <a:cs typeface="Tahoma"/>
              </a:defRPr>
            </a:pPr>
            <a:r>
              <a:rPr sz="3900" b="1">
                <a:solidFill>
                  <a:srgbClr val="FFFFFF"/>
                </a:solidFill>
                <a:latin typeface="Tahoma"/>
                <a:ea typeface="Tahoma"/>
                <a:cs typeface="Tahoma"/>
              </a:rPr>
              <a:t>Bottlenecks</a:t>
            </a:r>
          </a:p>
        </p:txBody>
      </p:sp>
      <p:sp>
        <p:nvSpPr>
          <p:cNvPr id="4" name="diagram-126">
            <a:extLst xmlns:a="http://schemas.openxmlformats.org/drawingml/2006/main">
              <a:ext uri="{FF2B5EF4-FFF2-40B4-BE49-F238E27FC236}">
                <a16:creationId xmlns:a16="http://schemas.microsoft.com/office/drawing/2014/main" id="{826168CB-24EA-4FE1-83F6-0A58E616EFC4}"/>
              </a:ext>
            </a:extLst>
          </p:cNvPr>
          <p:cNvSpPr>
            <a:spLocks xmlns:a="http://schemas.openxmlformats.org/drawingml/2006/main" noGrp="1"/>
          </p:cNvSpPr>
          <p:nvPr/>
        </p:nvSpPr>
        <p:spPr>
          <a:xfrm xmlns:a="http://schemas.openxmlformats.org/drawingml/2006/main">
            <a:off x="666750" y="4953000"/>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7E7F5"/>
                </a:solidFill>
                <a:latin typeface="Tahoma"/>
                <a:ea typeface="Tahoma"/>
                <a:cs typeface="Tahoma"/>
              </a:defRPr>
            </a:pPr>
            <a:r>
              <a:rPr sz="1950" b="0">
                <a:solidFill>
                  <a:srgbClr val="D7E7F5"/>
                </a:solidFill>
                <a:latin typeface="Tahoma"/>
                <a:ea typeface="Tahoma"/>
                <a:cs typeface="Tahoma"/>
              </a:rPr>
              <a:t>Map the work before choosing a change</a:t>
            </a:r>
          </a:p>
        </p:txBody>
      </p:sp>
    </p:spTree>
    <p:extLst>
      <p:ext uri="{BB962C8B-B14F-4D97-AF65-F5344CB8AC3E}">
        <p14:creationId xmlns:p14="http://schemas.microsoft.com/office/powerpoint/2010/main" val="179882540"/>
      </p:ext>
    </p:extLst>
  </p:cSld>
</p:sld>
</file>

<file path=ppt/slides/slide1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9" name="diagram-127">
            <a:extLst xmlns:a="http://schemas.openxmlformats.org/drawingml/2006/main">
              <a:ext uri="{FF2B5EF4-FFF2-40B4-BE49-F238E27FC236}">
                <a16:creationId xmlns:a16="http://schemas.microsoft.com/office/drawing/2014/main" id="{B11D8879-E41A-4A57-A2E6-3624FFA9957B}"/>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Where requests wait</a:t>
            </a:r>
          </a:p>
        </p:txBody>
      </p:sp>
      <p:sp>
        <p:nvSpPr>
          <p:cNvPr id="2" name="diagram-128">
            <a:extLst xmlns:a="http://schemas.openxmlformats.org/drawingml/2006/main">
              <a:ext uri="{FF2B5EF4-FFF2-40B4-BE49-F238E27FC236}">
                <a16:creationId xmlns:a16="http://schemas.microsoft.com/office/drawing/2014/main" id="{16E3F7A7-01F3-4BCE-B8A7-A20E11FB3E49}"/>
              </a:ext>
            </a:extLst>
          </p:cNvPr>
          <p:cNvSpPr>
            <a:spLocks xmlns:a="http://schemas.openxmlformats.org/drawingml/2006/main" noGrp="1"/>
          </p:cNvSpPr>
          <p:nvPr/>
        </p:nvSpPr>
        <p:spPr>
          <a:xfrm xmlns:a="http://schemas.openxmlformats.org/drawingml/2006/main">
            <a:off x="762000" y="2762250"/>
            <a:ext cx="180594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129">
            <a:extLst xmlns:a="http://schemas.openxmlformats.org/drawingml/2006/main">
              <a:ext uri="{FF2B5EF4-FFF2-40B4-BE49-F238E27FC236}">
                <a16:creationId xmlns:a16="http://schemas.microsoft.com/office/drawing/2014/main" id="{AB00739E-A453-4B39-96FB-AE797EF602D8}"/>
              </a:ext>
            </a:extLst>
          </p:cNvPr>
          <p:cNvSpPr>
            <a:spLocks xmlns:a="http://schemas.openxmlformats.org/drawingml/2006/main" noGrp="1"/>
          </p:cNvSpPr>
          <p:nvPr/>
        </p:nvSpPr>
        <p:spPr>
          <a:xfrm xmlns:a="http://schemas.openxmlformats.org/drawingml/2006/main">
            <a:off x="933450" y="2905125"/>
            <a:ext cx="14630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Receive request</a:t>
            </a:r>
          </a:p>
        </p:txBody>
      </p:sp>
      <p:sp>
        <p:nvSpPr>
          <p:cNvPr id="4" name="diagram-130">
            <a:extLst xmlns:a="http://schemas.openxmlformats.org/drawingml/2006/main">
              <a:ext uri="{FF2B5EF4-FFF2-40B4-BE49-F238E27FC236}">
                <a16:creationId xmlns:a16="http://schemas.microsoft.com/office/drawing/2014/main" id="{D8C7C8F6-FEDD-4F65-9305-36F762A10BB9}"/>
              </a:ext>
            </a:extLst>
          </p:cNvPr>
          <p:cNvSpPr>
            <a:spLocks xmlns:a="http://schemas.openxmlformats.org/drawingml/2006/main" noGrp="1"/>
          </p:cNvSpPr>
          <p:nvPr/>
        </p:nvSpPr>
        <p:spPr>
          <a:xfrm xmlns:a="http://schemas.openxmlformats.org/drawingml/2006/main">
            <a:off x="2929890" y="2762250"/>
            <a:ext cx="180594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131">
            <a:extLst xmlns:a="http://schemas.openxmlformats.org/drawingml/2006/main">
              <a:ext uri="{FF2B5EF4-FFF2-40B4-BE49-F238E27FC236}">
                <a16:creationId xmlns:a16="http://schemas.microsoft.com/office/drawing/2014/main" id="{9F4292ED-5F9C-44B2-AB8B-A1BD00249C39}"/>
              </a:ext>
            </a:extLst>
          </p:cNvPr>
          <p:cNvSpPr>
            <a:spLocks xmlns:a="http://schemas.openxmlformats.org/drawingml/2006/main" noGrp="1"/>
          </p:cNvSpPr>
          <p:nvPr/>
        </p:nvSpPr>
        <p:spPr>
          <a:xfrm xmlns:a="http://schemas.openxmlformats.org/drawingml/2006/main">
            <a:off x="3101340" y="2905125"/>
            <a:ext cx="14630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Check details</a:t>
            </a:r>
          </a:p>
        </p:txBody>
      </p:sp>
      <p:cxnSp>
        <p:nvCxnSpPr>
          <p:cNvPr id="24" name=""/>
          <p:cNvCxnSpPr>
            <a:stCxn xmlns:a="http://schemas.openxmlformats.org/drawingml/2006/main" id="2" idx="3"/>
            <a:endCxn xmlns:a="http://schemas.openxmlformats.org/drawingml/2006/main" id="4" idx="1"/>
          </p:cNvCxnSpPr>
          <p:nvPr/>
        </p:nvCxnSpPr>
        <p:spPr>
          <a:xfrm xmlns:a="http://schemas.openxmlformats.org/drawingml/2006/main">
            <a:off x="2567940" y="32385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7" name="diagram-132">
            <a:extLst xmlns:a="http://schemas.openxmlformats.org/drawingml/2006/main">
              <a:ext uri="{FF2B5EF4-FFF2-40B4-BE49-F238E27FC236}">
                <a16:creationId xmlns:a16="http://schemas.microsoft.com/office/drawing/2014/main" id="{BAB8EA91-EB10-4DC1-97F4-BAEC07F1F627}"/>
              </a:ext>
            </a:extLst>
          </p:cNvPr>
          <p:cNvSpPr>
            <a:spLocks xmlns:a="http://schemas.openxmlformats.org/drawingml/2006/main" noGrp="1"/>
          </p:cNvSpPr>
          <p:nvPr/>
        </p:nvSpPr>
        <p:spPr>
          <a:xfrm xmlns:a="http://schemas.openxmlformats.org/drawingml/2006/main">
            <a:off x="5097780" y="2762250"/>
            <a:ext cx="180594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8" name="diagram-133">
            <a:extLst xmlns:a="http://schemas.openxmlformats.org/drawingml/2006/main">
              <a:ext uri="{FF2B5EF4-FFF2-40B4-BE49-F238E27FC236}">
                <a16:creationId xmlns:a16="http://schemas.microsoft.com/office/drawing/2014/main" id="{40F97E3F-439E-4B3F-8884-822CAD77103F}"/>
              </a:ext>
            </a:extLst>
          </p:cNvPr>
          <p:cNvSpPr>
            <a:spLocks xmlns:a="http://schemas.openxmlformats.org/drawingml/2006/main" noGrp="1"/>
          </p:cNvSpPr>
          <p:nvPr/>
        </p:nvSpPr>
        <p:spPr>
          <a:xfrm xmlns:a="http://schemas.openxmlformats.org/drawingml/2006/main">
            <a:off x="5269230" y="2905125"/>
            <a:ext cx="14630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Register</a:t>
            </a:r>
          </a:p>
        </p:txBody>
      </p:sp>
      <p:cxnSp>
        <p:nvCxnSpPr>
          <p:cNvPr id="27" name=""/>
          <p:cNvCxnSpPr>
            <a:stCxn xmlns:a="http://schemas.openxmlformats.org/drawingml/2006/main" id="4" idx="3"/>
            <a:endCxn xmlns:a="http://schemas.openxmlformats.org/drawingml/2006/main" id="7" idx="1"/>
          </p:cNvCxnSpPr>
          <p:nvPr/>
        </p:nvCxnSpPr>
        <p:spPr>
          <a:xfrm xmlns:a="http://schemas.openxmlformats.org/drawingml/2006/main">
            <a:off x="4735830" y="32385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0" name="diagram-134">
            <a:extLst xmlns:a="http://schemas.openxmlformats.org/drawingml/2006/main">
              <a:ext uri="{FF2B5EF4-FFF2-40B4-BE49-F238E27FC236}">
                <a16:creationId xmlns:a16="http://schemas.microsoft.com/office/drawing/2014/main" id="{139D2E8B-4C1B-4768-8522-05AB64473DB8}"/>
              </a:ext>
            </a:extLst>
          </p:cNvPr>
          <p:cNvSpPr>
            <a:spLocks xmlns:a="http://schemas.openxmlformats.org/drawingml/2006/main" noGrp="1"/>
          </p:cNvSpPr>
          <p:nvPr/>
        </p:nvSpPr>
        <p:spPr>
          <a:xfrm xmlns:a="http://schemas.openxmlformats.org/drawingml/2006/main">
            <a:off x="7265670" y="2762250"/>
            <a:ext cx="180594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1" name="diagram-135">
            <a:extLst xmlns:a="http://schemas.openxmlformats.org/drawingml/2006/main">
              <a:ext uri="{FF2B5EF4-FFF2-40B4-BE49-F238E27FC236}">
                <a16:creationId xmlns:a16="http://schemas.microsoft.com/office/drawing/2014/main" id="{B553D5CE-82F3-4C0E-AA4B-CCFD8D507953}"/>
              </a:ext>
            </a:extLst>
          </p:cNvPr>
          <p:cNvSpPr>
            <a:spLocks xmlns:a="http://schemas.openxmlformats.org/drawingml/2006/main" noGrp="1"/>
          </p:cNvSpPr>
          <p:nvPr/>
        </p:nvSpPr>
        <p:spPr>
          <a:xfrm xmlns:a="http://schemas.openxmlformats.org/drawingml/2006/main">
            <a:off x="7437120" y="2905125"/>
            <a:ext cx="14630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Await review</a:t>
            </a:r>
          </a:p>
        </p:txBody>
      </p:sp>
      <p:cxnSp>
        <p:nvCxnSpPr>
          <p:cNvPr id="30" name=""/>
          <p:cNvCxnSpPr>
            <a:stCxn xmlns:a="http://schemas.openxmlformats.org/drawingml/2006/main" id="7" idx="3"/>
            <a:endCxn xmlns:a="http://schemas.openxmlformats.org/drawingml/2006/main" id="10" idx="1"/>
          </p:cNvCxnSpPr>
          <p:nvPr/>
        </p:nvCxnSpPr>
        <p:spPr>
          <a:xfrm xmlns:a="http://schemas.openxmlformats.org/drawingml/2006/main">
            <a:off x="6903720" y="32385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3" name="diagram-136">
            <a:extLst xmlns:a="http://schemas.openxmlformats.org/drawingml/2006/main">
              <a:ext uri="{FF2B5EF4-FFF2-40B4-BE49-F238E27FC236}">
                <a16:creationId xmlns:a16="http://schemas.microsoft.com/office/drawing/2014/main" id="{9BF1660B-DAB7-4186-A897-DC27DB33A87D}"/>
              </a:ext>
            </a:extLst>
          </p:cNvPr>
          <p:cNvSpPr>
            <a:spLocks xmlns:a="http://schemas.openxmlformats.org/drawingml/2006/main" noGrp="1"/>
          </p:cNvSpPr>
          <p:nvPr/>
        </p:nvSpPr>
        <p:spPr>
          <a:xfrm xmlns:a="http://schemas.openxmlformats.org/drawingml/2006/main">
            <a:off x="9433560" y="2762250"/>
            <a:ext cx="180594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4" name="diagram-137">
            <a:extLst xmlns:a="http://schemas.openxmlformats.org/drawingml/2006/main">
              <a:ext uri="{FF2B5EF4-FFF2-40B4-BE49-F238E27FC236}">
                <a16:creationId xmlns:a16="http://schemas.microsoft.com/office/drawing/2014/main" id="{8166A6A7-D939-4124-A120-C5DDA22EE832}"/>
              </a:ext>
            </a:extLst>
          </p:cNvPr>
          <p:cNvSpPr>
            <a:spLocks xmlns:a="http://schemas.openxmlformats.org/drawingml/2006/main" noGrp="1"/>
          </p:cNvSpPr>
          <p:nvPr/>
        </p:nvSpPr>
        <p:spPr>
          <a:xfrm xmlns:a="http://schemas.openxmlformats.org/drawingml/2006/main">
            <a:off x="9605010" y="2905125"/>
            <a:ext cx="146304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Notify outcome</a:t>
            </a:r>
          </a:p>
        </p:txBody>
      </p:sp>
      <p:cxnSp>
        <p:nvCxnSpPr>
          <p:cNvPr id="33" name=""/>
          <p:cNvCxnSpPr>
            <a:stCxn xmlns:a="http://schemas.openxmlformats.org/drawingml/2006/main" id="10" idx="3"/>
            <a:endCxn xmlns:a="http://schemas.openxmlformats.org/drawingml/2006/main" id="13" idx="1"/>
          </p:cNvCxnSpPr>
          <p:nvPr/>
        </p:nvCxnSpPr>
        <p:spPr>
          <a:xfrm xmlns:a="http://schemas.openxmlformats.org/drawingml/2006/main">
            <a:off x="9071610" y="32385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6" name="diagram-138">
            <a:extLst xmlns:a="http://schemas.openxmlformats.org/drawingml/2006/main">
              <a:ext uri="{FF2B5EF4-FFF2-40B4-BE49-F238E27FC236}">
                <a16:creationId xmlns:a16="http://schemas.microsoft.com/office/drawing/2014/main" id="{470ECF6C-E80F-41E8-85D7-4C9352AAC604}"/>
              </a:ext>
            </a:extLst>
          </p:cNvPr>
          <p:cNvSpPr>
            <a:spLocks xmlns:a="http://schemas.openxmlformats.org/drawingml/2006/main" noGrp="1"/>
          </p:cNvSpPr>
          <p:nvPr/>
        </p:nvSpPr>
        <p:spPr>
          <a:xfrm xmlns:a="http://schemas.openxmlformats.org/drawingml/2006/main">
            <a:off x="2876550" y="4143375"/>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6D13"/>
                </a:solidFill>
                <a:latin typeface="Tahoma"/>
                <a:ea typeface="Tahoma"/>
                <a:cs typeface="Tahoma"/>
              </a:defRPr>
            </a:pPr>
            <a:r>
              <a:rPr sz="2400" b="1">
                <a:solidFill>
                  <a:srgbClr val="B76D13"/>
                </a:solidFill>
                <a:latin typeface="Tahoma"/>
                <a:ea typeface="Tahoma"/>
                <a:cs typeface="Tahoma"/>
              </a:rPr>
              <a:t>Missing details</a:t>
            </a:r>
          </a:p>
        </p:txBody>
      </p:sp>
      <p:sp>
        <p:nvSpPr>
          <p:cNvPr id="17" name="diagram-139">
            <a:extLst xmlns:a="http://schemas.openxmlformats.org/drawingml/2006/main">
              <a:ext uri="{FF2B5EF4-FFF2-40B4-BE49-F238E27FC236}">
                <a16:creationId xmlns:a16="http://schemas.microsoft.com/office/drawing/2014/main" id="{1462B266-9DE2-49FF-B22B-49F8F4D8D0F4}"/>
              </a:ext>
            </a:extLst>
          </p:cNvPr>
          <p:cNvSpPr>
            <a:spLocks xmlns:a="http://schemas.openxmlformats.org/drawingml/2006/main" noGrp="1"/>
          </p:cNvSpPr>
          <p:nvPr/>
        </p:nvSpPr>
        <p:spPr>
          <a:xfrm xmlns:a="http://schemas.openxmlformats.org/drawingml/2006/main">
            <a:off x="7239000" y="4143375"/>
            <a:ext cx="3238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B76D13"/>
                </a:solidFill>
                <a:latin typeface="Tahoma"/>
                <a:ea typeface="Tahoma"/>
                <a:cs typeface="Tahoma"/>
              </a:defRPr>
            </a:pPr>
            <a:r>
              <a:rPr sz="2400" b="1">
                <a:solidFill>
                  <a:srgbClr val="B76D13"/>
                </a:solidFill>
                <a:latin typeface="Tahoma"/>
                <a:ea typeface="Tahoma"/>
                <a:cs typeface="Tahoma"/>
              </a:rPr>
              <a:t>Awaiting a decision</a:t>
            </a:r>
          </a:p>
        </p:txBody>
      </p:sp>
      <p:sp>
        <p:nvSpPr>
          <p:cNvPr id="18" name="diagram-140">
            <a:extLst xmlns:a="http://schemas.openxmlformats.org/drawingml/2006/main">
              <a:ext uri="{FF2B5EF4-FFF2-40B4-BE49-F238E27FC236}">
                <a16:creationId xmlns:a16="http://schemas.microsoft.com/office/drawing/2014/main" id="{74DE6A22-32BF-4A20-AA24-84B9E09AC497}"/>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Evidence locates the problem before we choose a solution</a:t>
            </a:r>
          </a:p>
        </p:txBody>
      </p:sp>
    </p:spTree>
    <p:extLst>
      <p:ext uri="{BB962C8B-B14F-4D97-AF65-F5344CB8AC3E}">
        <p14:creationId xmlns:p14="http://schemas.microsoft.com/office/powerpoint/2010/main" val="1074596168"/>
      </p:ext>
    </p:extLst>
  </p:cSld>
</p:sld>
</file>

<file path=ppt/slides/slide1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7" name="diagram-141">
            <a:extLst xmlns:a="http://schemas.openxmlformats.org/drawingml/2006/main">
              <a:ext uri="{FF2B5EF4-FFF2-40B4-BE49-F238E27FC236}">
                <a16:creationId xmlns:a16="http://schemas.microsoft.com/office/drawing/2014/main" id="{C79D9EC3-2DA4-4DB8-ACB8-BCBB60F17207}"/>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2 · PRACTICE 1</a:t>
            </a:r>
          </a:p>
        </p:txBody>
      </p:sp>
      <p:sp>
        <p:nvSpPr>
          <p:cNvPr id="2" name="diagram-142">
            <a:extLst xmlns:a="http://schemas.openxmlformats.org/drawingml/2006/main">
              <a:ext uri="{FF2B5EF4-FFF2-40B4-BE49-F238E27FC236}">
                <a16:creationId xmlns:a16="http://schemas.microsoft.com/office/drawing/2014/main" id="{2FAB27C2-8090-42B7-A617-C49C8937481E}"/>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Current-process map</a:t>
            </a:r>
          </a:p>
        </p:txBody>
      </p:sp>
      <p:sp>
        <p:nvSpPr>
          <p:cNvPr id="3" name="diagram-143">
            <a:extLst xmlns:a="http://schemas.openxmlformats.org/drawingml/2006/main">
              <a:ext uri="{FF2B5EF4-FFF2-40B4-BE49-F238E27FC236}">
                <a16:creationId xmlns:a16="http://schemas.microsoft.com/office/drawing/2014/main" id="{31369FBA-3A34-4B5F-91F6-0249923DE2D7}"/>
              </a:ext>
            </a:extLst>
          </p:cNvPr>
          <p:cNvSpPr>
            <a:spLocks xmlns:a="http://schemas.openxmlformats.org/drawingml/2006/main" noGrp="1"/>
          </p:cNvSpPr>
          <p:nvPr/>
        </p:nvSpPr>
        <p:spPr>
          <a:xfrm xmlns:a="http://schemas.openxmlformats.org/drawingml/2006/main">
            <a:off x="762000" y="2333625"/>
            <a:ext cx="2238375" cy="8763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144">
            <a:extLst xmlns:a="http://schemas.openxmlformats.org/drawingml/2006/main">
              <a:ext uri="{FF2B5EF4-FFF2-40B4-BE49-F238E27FC236}">
                <a16:creationId xmlns:a16="http://schemas.microsoft.com/office/drawing/2014/main" id="{87828409-0C58-4CF7-ABBC-205E307746B6}"/>
              </a:ext>
            </a:extLst>
          </p:cNvPr>
          <p:cNvSpPr>
            <a:spLocks xmlns:a="http://schemas.openxmlformats.org/drawingml/2006/main" noGrp="1"/>
          </p:cNvSpPr>
          <p:nvPr/>
        </p:nvSpPr>
        <p:spPr>
          <a:xfrm xmlns:a="http://schemas.openxmlformats.org/drawingml/2006/main">
            <a:off x="933450" y="2476500"/>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1  Start</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5" name="diagram-145">
            <a:extLst xmlns:a="http://schemas.openxmlformats.org/drawingml/2006/main">
              <a:ext uri="{FF2B5EF4-FFF2-40B4-BE49-F238E27FC236}">
                <a16:creationId xmlns:a16="http://schemas.microsoft.com/office/drawing/2014/main" id="{395B3D89-E2A9-43DB-BFC3-A8FF216D88CF}"/>
              </a:ext>
            </a:extLst>
          </p:cNvPr>
          <p:cNvSpPr>
            <a:spLocks xmlns:a="http://schemas.openxmlformats.org/drawingml/2006/main" noGrp="1"/>
          </p:cNvSpPr>
          <p:nvPr/>
        </p:nvSpPr>
        <p:spPr>
          <a:xfrm xmlns:a="http://schemas.openxmlformats.org/drawingml/2006/main">
            <a:off x="3429000" y="2333625"/>
            <a:ext cx="2238375" cy="8763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146">
            <a:extLst xmlns:a="http://schemas.openxmlformats.org/drawingml/2006/main">
              <a:ext uri="{FF2B5EF4-FFF2-40B4-BE49-F238E27FC236}">
                <a16:creationId xmlns:a16="http://schemas.microsoft.com/office/drawing/2014/main" id="{D9941D59-CD96-4B1E-B343-79E884595D1F}"/>
              </a:ext>
            </a:extLst>
          </p:cNvPr>
          <p:cNvSpPr>
            <a:spLocks xmlns:a="http://schemas.openxmlformats.org/drawingml/2006/main" noGrp="1"/>
          </p:cNvSpPr>
          <p:nvPr/>
        </p:nvSpPr>
        <p:spPr>
          <a:xfrm xmlns:a="http://schemas.openxmlformats.org/drawingml/2006/main">
            <a:off x="3600450" y="2476500"/>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2</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7" name="diagram-147">
            <a:extLst xmlns:a="http://schemas.openxmlformats.org/drawingml/2006/main">
              <a:ext uri="{FF2B5EF4-FFF2-40B4-BE49-F238E27FC236}">
                <a16:creationId xmlns:a16="http://schemas.microsoft.com/office/drawing/2014/main" id="{7D55AF56-309B-431D-8656-07AC71AAD0C6}"/>
              </a:ext>
            </a:extLst>
          </p:cNvPr>
          <p:cNvSpPr>
            <a:spLocks xmlns:a="http://schemas.openxmlformats.org/drawingml/2006/main" noGrp="1"/>
          </p:cNvSpPr>
          <p:nvPr/>
        </p:nvSpPr>
        <p:spPr>
          <a:xfrm xmlns:a="http://schemas.openxmlformats.org/drawingml/2006/main">
            <a:off x="6096000" y="2333625"/>
            <a:ext cx="2238375" cy="8763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8" name="diagram-148">
            <a:extLst xmlns:a="http://schemas.openxmlformats.org/drawingml/2006/main">
              <a:ext uri="{FF2B5EF4-FFF2-40B4-BE49-F238E27FC236}">
                <a16:creationId xmlns:a16="http://schemas.microsoft.com/office/drawing/2014/main" id="{C310B4DE-946E-445F-8EDC-2C97580C2C82}"/>
              </a:ext>
            </a:extLst>
          </p:cNvPr>
          <p:cNvSpPr>
            <a:spLocks xmlns:a="http://schemas.openxmlformats.org/drawingml/2006/main" noGrp="1"/>
          </p:cNvSpPr>
          <p:nvPr/>
        </p:nvSpPr>
        <p:spPr>
          <a:xfrm xmlns:a="http://schemas.openxmlformats.org/drawingml/2006/main">
            <a:off x="6267450" y="2476500"/>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3</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9" name="diagram-149">
            <a:extLst xmlns:a="http://schemas.openxmlformats.org/drawingml/2006/main">
              <a:ext uri="{FF2B5EF4-FFF2-40B4-BE49-F238E27FC236}">
                <a16:creationId xmlns:a16="http://schemas.microsoft.com/office/drawing/2014/main" id="{2364482C-EA06-4805-9313-BC7C070BB6F7}"/>
              </a:ext>
            </a:extLst>
          </p:cNvPr>
          <p:cNvSpPr>
            <a:spLocks xmlns:a="http://schemas.openxmlformats.org/drawingml/2006/main" noGrp="1"/>
          </p:cNvSpPr>
          <p:nvPr/>
        </p:nvSpPr>
        <p:spPr>
          <a:xfrm xmlns:a="http://schemas.openxmlformats.org/drawingml/2006/main">
            <a:off x="8763000" y="2333625"/>
            <a:ext cx="2238375" cy="8763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0" name="diagram-150">
            <a:extLst xmlns:a="http://schemas.openxmlformats.org/drawingml/2006/main">
              <a:ext uri="{FF2B5EF4-FFF2-40B4-BE49-F238E27FC236}">
                <a16:creationId xmlns:a16="http://schemas.microsoft.com/office/drawing/2014/main" id="{7BE906F1-D1A1-416F-9627-85AD5A175587}"/>
              </a:ext>
            </a:extLst>
          </p:cNvPr>
          <p:cNvSpPr>
            <a:spLocks xmlns:a="http://schemas.openxmlformats.org/drawingml/2006/main" noGrp="1"/>
          </p:cNvSpPr>
          <p:nvPr/>
        </p:nvSpPr>
        <p:spPr>
          <a:xfrm xmlns:a="http://schemas.openxmlformats.org/drawingml/2006/main">
            <a:off x="8934450" y="2476500"/>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4</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11" name="diagram-151">
            <a:extLst xmlns:a="http://schemas.openxmlformats.org/drawingml/2006/main">
              <a:ext uri="{FF2B5EF4-FFF2-40B4-BE49-F238E27FC236}">
                <a16:creationId xmlns:a16="http://schemas.microsoft.com/office/drawing/2014/main" id="{31AE0482-4C5B-4FFC-A6CF-EC9EAD94465C}"/>
              </a:ext>
            </a:extLst>
          </p:cNvPr>
          <p:cNvSpPr>
            <a:spLocks xmlns:a="http://schemas.openxmlformats.org/drawingml/2006/main" noGrp="1"/>
          </p:cNvSpPr>
          <p:nvPr/>
        </p:nvSpPr>
        <p:spPr>
          <a:xfrm xmlns:a="http://schemas.openxmlformats.org/drawingml/2006/main">
            <a:off x="8763000" y="4095750"/>
            <a:ext cx="2238375" cy="8763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diagram-152">
            <a:extLst xmlns:a="http://schemas.openxmlformats.org/drawingml/2006/main">
              <a:ext uri="{FF2B5EF4-FFF2-40B4-BE49-F238E27FC236}">
                <a16:creationId xmlns:a16="http://schemas.microsoft.com/office/drawing/2014/main" id="{BA6EACA8-C3C3-4E1E-8D05-BCC6768D2209}"/>
              </a:ext>
            </a:extLst>
          </p:cNvPr>
          <p:cNvSpPr>
            <a:spLocks xmlns:a="http://schemas.openxmlformats.org/drawingml/2006/main" noGrp="1"/>
          </p:cNvSpPr>
          <p:nvPr/>
        </p:nvSpPr>
        <p:spPr>
          <a:xfrm xmlns:a="http://schemas.openxmlformats.org/drawingml/2006/main">
            <a:off x="8934450" y="4238625"/>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5</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13" name="diagram-153">
            <a:extLst xmlns:a="http://schemas.openxmlformats.org/drawingml/2006/main">
              <a:ext uri="{FF2B5EF4-FFF2-40B4-BE49-F238E27FC236}">
                <a16:creationId xmlns:a16="http://schemas.microsoft.com/office/drawing/2014/main" id="{A8070DF0-0C72-4985-A0F9-A3117A004E45}"/>
              </a:ext>
            </a:extLst>
          </p:cNvPr>
          <p:cNvSpPr>
            <a:spLocks xmlns:a="http://schemas.openxmlformats.org/drawingml/2006/main" noGrp="1"/>
          </p:cNvSpPr>
          <p:nvPr/>
        </p:nvSpPr>
        <p:spPr>
          <a:xfrm xmlns:a="http://schemas.openxmlformats.org/drawingml/2006/main">
            <a:off x="6096000" y="4095750"/>
            <a:ext cx="2238375" cy="8763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4" name="diagram-154">
            <a:extLst xmlns:a="http://schemas.openxmlformats.org/drawingml/2006/main">
              <a:ext uri="{FF2B5EF4-FFF2-40B4-BE49-F238E27FC236}">
                <a16:creationId xmlns:a16="http://schemas.microsoft.com/office/drawing/2014/main" id="{A8A41447-2FF8-4848-A94C-0BEE2ACE3A1B}"/>
              </a:ext>
            </a:extLst>
          </p:cNvPr>
          <p:cNvSpPr>
            <a:spLocks xmlns:a="http://schemas.openxmlformats.org/drawingml/2006/main" noGrp="1"/>
          </p:cNvSpPr>
          <p:nvPr/>
        </p:nvSpPr>
        <p:spPr>
          <a:xfrm xmlns:a="http://schemas.openxmlformats.org/drawingml/2006/main">
            <a:off x="6267450" y="4238625"/>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6</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15" name="diagram-155">
            <a:extLst xmlns:a="http://schemas.openxmlformats.org/drawingml/2006/main">
              <a:ext uri="{FF2B5EF4-FFF2-40B4-BE49-F238E27FC236}">
                <a16:creationId xmlns:a16="http://schemas.microsoft.com/office/drawing/2014/main" id="{6E58F1F8-F368-403D-96D9-1CE13F7A3896}"/>
              </a:ext>
            </a:extLst>
          </p:cNvPr>
          <p:cNvSpPr>
            <a:spLocks xmlns:a="http://schemas.openxmlformats.org/drawingml/2006/main" noGrp="1"/>
          </p:cNvSpPr>
          <p:nvPr/>
        </p:nvSpPr>
        <p:spPr>
          <a:xfrm xmlns:a="http://schemas.openxmlformats.org/drawingml/2006/main">
            <a:off x="3429000" y="4095750"/>
            <a:ext cx="2238375" cy="8763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6" name="diagram-156">
            <a:extLst xmlns:a="http://schemas.openxmlformats.org/drawingml/2006/main">
              <a:ext uri="{FF2B5EF4-FFF2-40B4-BE49-F238E27FC236}">
                <a16:creationId xmlns:a16="http://schemas.microsoft.com/office/drawing/2014/main" id="{00ECC1CA-24DB-4164-B829-84EAE489B0B5}"/>
              </a:ext>
            </a:extLst>
          </p:cNvPr>
          <p:cNvSpPr>
            <a:spLocks xmlns:a="http://schemas.openxmlformats.org/drawingml/2006/main" noGrp="1"/>
          </p:cNvSpPr>
          <p:nvPr/>
        </p:nvSpPr>
        <p:spPr>
          <a:xfrm xmlns:a="http://schemas.openxmlformats.org/drawingml/2006/main">
            <a:off x="3600450" y="4238625"/>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7</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sp>
        <p:nvSpPr>
          <p:cNvPr id="17" name="diagram-157">
            <a:extLst xmlns:a="http://schemas.openxmlformats.org/drawingml/2006/main">
              <a:ext uri="{FF2B5EF4-FFF2-40B4-BE49-F238E27FC236}">
                <a16:creationId xmlns:a16="http://schemas.microsoft.com/office/drawing/2014/main" id="{0BA6F8F6-0B43-457A-914E-A65559DC32C5}"/>
              </a:ext>
            </a:extLst>
          </p:cNvPr>
          <p:cNvSpPr>
            <a:spLocks xmlns:a="http://schemas.openxmlformats.org/drawingml/2006/main" noGrp="1"/>
          </p:cNvSpPr>
          <p:nvPr/>
        </p:nvSpPr>
        <p:spPr>
          <a:xfrm xmlns:a="http://schemas.openxmlformats.org/drawingml/2006/main">
            <a:off x="762000" y="4095750"/>
            <a:ext cx="2238375" cy="8763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8" name="diagram-158">
            <a:extLst xmlns:a="http://schemas.openxmlformats.org/drawingml/2006/main">
              <a:ext uri="{FF2B5EF4-FFF2-40B4-BE49-F238E27FC236}">
                <a16:creationId xmlns:a16="http://schemas.microsoft.com/office/drawing/2014/main" id="{A4347E0E-5C38-4699-B9BD-40C383129942}"/>
              </a:ext>
            </a:extLst>
          </p:cNvPr>
          <p:cNvSpPr>
            <a:spLocks xmlns:a="http://schemas.openxmlformats.org/drawingml/2006/main" noGrp="1"/>
          </p:cNvSpPr>
          <p:nvPr/>
        </p:nvSpPr>
        <p:spPr>
          <a:xfrm xmlns:a="http://schemas.openxmlformats.org/drawingml/2006/main">
            <a:off x="933450" y="4238625"/>
            <a:ext cx="18954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8  End</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Role · info/status</a:t>
            </a:r>
          </a:p>
        </p:txBody>
      </p:sp>
      <p:cxnSp>
        <p:nvCxnSpPr>
          <p:cNvPr id="45" name=""/>
          <p:cNvCxnSpPr>
            <a:stCxn xmlns:a="http://schemas.openxmlformats.org/drawingml/2006/main" id="3" idx="3"/>
            <a:endCxn xmlns:a="http://schemas.openxmlformats.org/drawingml/2006/main" id="5" idx="1"/>
          </p:cNvCxnSpPr>
          <p:nvPr/>
        </p:nvCxnSpPr>
        <p:spPr>
          <a:xfrm xmlns:a="http://schemas.openxmlformats.org/drawingml/2006/main">
            <a:off x="3000375" y="2771775"/>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6" name=""/>
          <p:cNvCxnSpPr>
            <a:stCxn xmlns:a="http://schemas.openxmlformats.org/drawingml/2006/main" id="5" idx="3"/>
            <a:endCxn xmlns:a="http://schemas.openxmlformats.org/drawingml/2006/main" id="7" idx="1"/>
          </p:cNvCxnSpPr>
          <p:nvPr/>
        </p:nvCxnSpPr>
        <p:spPr>
          <a:xfrm xmlns:a="http://schemas.openxmlformats.org/drawingml/2006/main">
            <a:off x="5667375" y="2771775"/>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7" name=""/>
          <p:cNvCxnSpPr>
            <a:stCxn xmlns:a="http://schemas.openxmlformats.org/drawingml/2006/main" id="7" idx="3"/>
            <a:endCxn xmlns:a="http://schemas.openxmlformats.org/drawingml/2006/main" id="9" idx="1"/>
          </p:cNvCxnSpPr>
          <p:nvPr/>
        </p:nvCxnSpPr>
        <p:spPr>
          <a:xfrm xmlns:a="http://schemas.openxmlformats.org/drawingml/2006/main">
            <a:off x="8334375" y="2771775"/>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8" name=""/>
          <p:cNvCxnSpPr>
            <a:stCxn xmlns:a="http://schemas.openxmlformats.org/drawingml/2006/main" id="9" idx="2"/>
            <a:endCxn xmlns:a="http://schemas.openxmlformats.org/drawingml/2006/main" id="11" idx="0"/>
          </p:cNvCxnSpPr>
          <p:nvPr/>
        </p:nvCxnSpPr>
        <p:spPr>
          <a:xfrm xmlns:a="http://schemas.openxmlformats.org/drawingml/2006/main">
            <a:off x="9882188" y="3209925"/>
            <a:ext cx="0" cy="885825"/>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9" name=""/>
          <p:cNvCxnSpPr>
            <a:stCxn xmlns:a="http://schemas.openxmlformats.org/drawingml/2006/main" id="11" idx="1"/>
            <a:endCxn xmlns:a="http://schemas.openxmlformats.org/drawingml/2006/main" id="13" idx="3"/>
          </p:cNvCxnSpPr>
          <p:nvPr/>
        </p:nvCxnSpPr>
        <p:spPr>
          <a:xfrm xmlns:a="http://schemas.openxmlformats.org/drawingml/2006/main" flipH="1">
            <a:off x="8334375" y="453390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50" name=""/>
          <p:cNvCxnSpPr>
            <a:stCxn xmlns:a="http://schemas.openxmlformats.org/drawingml/2006/main" id="13" idx="1"/>
            <a:endCxn xmlns:a="http://schemas.openxmlformats.org/drawingml/2006/main" id="15" idx="3"/>
          </p:cNvCxnSpPr>
          <p:nvPr/>
        </p:nvCxnSpPr>
        <p:spPr>
          <a:xfrm xmlns:a="http://schemas.openxmlformats.org/drawingml/2006/main" flipH="1">
            <a:off x="5667375" y="453390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51" name=""/>
          <p:cNvCxnSpPr>
            <a:stCxn xmlns:a="http://schemas.openxmlformats.org/drawingml/2006/main" id="15" idx="1"/>
            <a:endCxn xmlns:a="http://schemas.openxmlformats.org/drawingml/2006/main" id="17" idx="3"/>
          </p:cNvCxnSpPr>
          <p:nvPr/>
        </p:nvCxnSpPr>
        <p:spPr>
          <a:xfrm xmlns:a="http://schemas.openxmlformats.org/drawingml/2006/main" flipH="1">
            <a:off x="3000375" y="453390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26" name="diagram-159">
            <a:extLst xmlns:a="http://schemas.openxmlformats.org/drawingml/2006/main">
              <a:ext uri="{FF2B5EF4-FFF2-40B4-BE49-F238E27FC236}">
                <a16:creationId xmlns:a16="http://schemas.microsoft.com/office/drawing/2014/main" id="{9FF09062-853B-470B-9D5D-FBA3B5DCD083}"/>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Map 5–8 steps. Show the role and information or status at every handover.</a:t>
            </a:r>
          </a:p>
        </p:txBody>
      </p:sp>
    </p:spTree>
    <p:extLst>
      <p:ext uri="{BB962C8B-B14F-4D97-AF65-F5344CB8AC3E}">
        <p14:creationId xmlns:p14="http://schemas.microsoft.com/office/powerpoint/2010/main" val="2076326753"/>
      </p:ext>
    </p:extLst>
  </p:cSld>
</p:sld>
</file>

<file path=ppt/slides/slide1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diagram-160">
            <a:extLst xmlns:a="http://schemas.openxmlformats.org/drawingml/2006/main">
              <a:ext uri="{FF2B5EF4-FFF2-40B4-BE49-F238E27FC236}">
                <a16:creationId xmlns:a16="http://schemas.microsoft.com/office/drawing/2014/main" id="{AC1C59D8-E78B-4E14-8B68-299F69AA918E}"/>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2 · PRACTICE 2</a:t>
            </a:r>
          </a:p>
        </p:txBody>
      </p:sp>
      <p:sp>
        <p:nvSpPr>
          <p:cNvPr id="2" name="diagram-161">
            <a:extLst xmlns:a="http://schemas.openxmlformats.org/drawingml/2006/main">
              <a:ext uri="{FF2B5EF4-FFF2-40B4-BE49-F238E27FC236}">
                <a16:creationId xmlns:a16="http://schemas.microsoft.com/office/drawing/2014/main" id="{D206F472-1585-4B69-8790-BFE5D5648615}"/>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Four types of friction</a:t>
            </a:r>
          </a:p>
        </p:txBody>
      </p:sp>
      <p:sp>
        <p:nvSpPr>
          <p:cNvPr id="3" name="diagram-162">
            <a:extLst xmlns:a="http://schemas.openxmlformats.org/drawingml/2006/main">
              <a:ext uri="{FF2B5EF4-FFF2-40B4-BE49-F238E27FC236}">
                <a16:creationId xmlns:a16="http://schemas.microsoft.com/office/drawing/2014/main" id="{634F6B67-E4A2-436A-BC9E-ED44E6DA9E44}"/>
              </a:ext>
            </a:extLst>
          </p:cNvPr>
          <p:cNvSpPr>
            <a:spLocks xmlns:a="http://schemas.openxmlformats.org/drawingml/2006/main" noGrp="1"/>
          </p:cNvSpPr>
          <p:nvPr/>
        </p:nvSpPr>
        <p:spPr>
          <a:xfrm xmlns:a="http://schemas.openxmlformats.org/drawingml/2006/main">
            <a:off x="762000" y="223837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76D13"/>
                </a:solidFill>
                <a:latin typeface="Tahoma"/>
                <a:ea typeface="Tahoma"/>
                <a:cs typeface="Tahoma"/>
              </a:defRPr>
            </a:pPr>
            <a:r>
              <a:rPr sz="2925" b="1">
                <a:solidFill>
                  <a:srgbClr val="B76D13"/>
                </a:solidFill>
                <a:latin typeface="Tahoma"/>
                <a:ea typeface="Tahoma"/>
                <a:cs typeface="Tahoma"/>
              </a:rPr>
              <a:t>Repeated work</a:t>
            </a:r>
          </a:p>
        </p:txBody>
      </p:sp>
      <p:sp>
        <p:nvSpPr>
          <p:cNvPr id="4" name="diagram-163">
            <a:extLst xmlns:a="http://schemas.openxmlformats.org/drawingml/2006/main">
              <a:ext uri="{FF2B5EF4-FFF2-40B4-BE49-F238E27FC236}">
                <a16:creationId xmlns:a16="http://schemas.microsoft.com/office/drawing/2014/main" id="{80960FB6-4E31-4229-827D-EE215BA40422}"/>
              </a:ext>
            </a:extLst>
          </p:cNvPr>
          <p:cNvSpPr>
            <a:spLocks xmlns:a="http://schemas.openxmlformats.org/drawingml/2006/main" noGrp="1"/>
          </p:cNvSpPr>
          <p:nvPr/>
        </p:nvSpPr>
        <p:spPr>
          <a:xfrm xmlns:a="http://schemas.openxmlformats.org/drawingml/2006/main">
            <a:off x="762000" y="29051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B"/>
                </a:solidFill>
                <a:latin typeface="Tahoma"/>
                <a:ea typeface="Tahoma"/>
                <a:cs typeface="Tahoma"/>
              </a:defRPr>
            </a:pPr>
            <a:r>
              <a:rPr sz="2100" b="0">
                <a:solidFill>
                  <a:srgbClr val="18324B"/>
                </a:solidFill>
                <a:latin typeface="Tahoma"/>
                <a:ea typeface="Tahoma"/>
                <a:cs typeface="Tahoma"/>
              </a:rPr>
              <a:t>Enter the same information again</a:t>
            </a:r>
          </a:p>
        </p:txBody>
      </p:sp>
      <p:sp>
        <p:nvSpPr>
          <p:cNvPr id="5" name="diagram-164">
            <a:extLst xmlns:a="http://schemas.openxmlformats.org/drawingml/2006/main">
              <a:ext uri="{FF2B5EF4-FFF2-40B4-BE49-F238E27FC236}">
                <a16:creationId xmlns:a16="http://schemas.microsoft.com/office/drawing/2014/main" id="{7D6B4CC4-93EF-48AA-83D8-BD8ADB0688C9}"/>
              </a:ext>
            </a:extLst>
          </p:cNvPr>
          <p:cNvSpPr>
            <a:spLocks xmlns:a="http://schemas.openxmlformats.org/drawingml/2006/main" noGrp="1"/>
          </p:cNvSpPr>
          <p:nvPr/>
        </p:nvSpPr>
        <p:spPr>
          <a:xfrm xmlns:a="http://schemas.openxmlformats.org/drawingml/2006/main">
            <a:off x="6286500" y="223837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76D13"/>
                </a:solidFill>
                <a:latin typeface="Tahoma"/>
                <a:ea typeface="Tahoma"/>
                <a:cs typeface="Tahoma"/>
              </a:defRPr>
            </a:pPr>
            <a:r>
              <a:rPr sz="2925" b="1">
                <a:solidFill>
                  <a:srgbClr val="B76D13"/>
                </a:solidFill>
                <a:latin typeface="Tahoma"/>
                <a:ea typeface="Tahoma"/>
                <a:cs typeface="Tahoma"/>
              </a:rPr>
              <a:t>Waiting</a:t>
            </a:r>
          </a:p>
        </p:txBody>
      </p:sp>
      <p:sp>
        <p:nvSpPr>
          <p:cNvPr id="6" name="diagram-165">
            <a:extLst xmlns:a="http://schemas.openxmlformats.org/drawingml/2006/main">
              <a:ext uri="{FF2B5EF4-FFF2-40B4-BE49-F238E27FC236}">
                <a16:creationId xmlns:a16="http://schemas.microsoft.com/office/drawing/2014/main" id="{DF8FCA6C-F74E-408C-A49D-ACEB8A7E0FD2}"/>
              </a:ext>
            </a:extLst>
          </p:cNvPr>
          <p:cNvSpPr>
            <a:spLocks xmlns:a="http://schemas.openxmlformats.org/drawingml/2006/main" noGrp="1"/>
          </p:cNvSpPr>
          <p:nvPr/>
        </p:nvSpPr>
        <p:spPr>
          <a:xfrm xmlns:a="http://schemas.openxmlformats.org/drawingml/2006/main">
            <a:off x="6286500" y="290512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B"/>
                </a:solidFill>
                <a:latin typeface="Tahoma"/>
                <a:ea typeface="Tahoma"/>
                <a:cs typeface="Tahoma"/>
              </a:defRPr>
            </a:pPr>
            <a:r>
              <a:rPr sz="2100" b="0">
                <a:solidFill>
                  <a:srgbClr val="18324B"/>
                </a:solidFill>
                <a:latin typeface="Tahoma"/>
                <a:ea typeface="Tahoma"/>
                <a:cs typeface="Tahoma"/>
              </a:rPr>
              <a:t>Work pauses during a handover</a:t>
            </a:r>
          </a:p>
        </p:txBody>
      </p:sp>
      <p:sp>
        <p:nvSpPr>
          <p:cNvPr id="7" name="diagram-166">
            <a:extLst xmlns:a="http://schemas.openxmlformats.org/drawingml/2006/main">
              <a:ext uri="{FF2B5EF4-FFF2-40B4-BE49-F238E27FC236}">
                <a16:creationId xmlns:a16="http://schemas.microsoft.com/office/drawing/2014/main" id="{C4095F0D-3DBB-424D-AEE0-660DB46F22A9}"/>
              </a:ext>
            </a:extLst>
          </p:cNvPr>
          <p:cNvSpPr>
            <a:spLocks xmlns:a="http://schemas.openxmlformats.org/drawingml/2006/main" noGrp="1"/>
          </p:cNvSpPr>
          <p:nvPr/>
        </p:nvSpPr>
        <p:spPr>
          <a:xfrm xmlns:a="http://schemas.openxmlformats.org/drawingml/2006/main">
            <a:off x="762000" y="38576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76D13"/>
                </a:solidFill>
                <a:latin typeface="Tahoma"/>
                <a:ea typeface="Tahoma"/>
                <a:cs typeface="Tahoma"/>
              </a:defRPr>
            </a:pPr>
            <a:r>
              <a:rPr sz="2925" b="1">
                <a:solidFill>
                  <a:srgbClr val="B76D13"/>
                </a:solidFill>
                <a:latin typeface="Tahoma"/>
                <a:ea typeface="Tahoma"/>
                <a:cs typeface="Tahoma"/>
              </a:rPr>
              <a:t>Missing details</a:t>
            </a:r>
          </a:p>
        </p:txBody>
      </p:sp>
      <p:sp>
        <p:nvSpPr>
          <p:cNvPr id="8" name="diagram-167">
            <a:extLst xmlns:a="http://schemas.openxmlformats.org/drawingml/2006/main">
              <a:ext uri="{FF2B5EF4-FFF2-40B4-BE49-F238E27FC236}">
                <a16:creationId xmlns:a16="http://schemas.microsoft.com/office/drawing/2014/main" id="{368BF95E-D4AC-40A2-BF4F-E3B52DBC0A92}"/>
              </a:ext>
            </a:extLst>
          </p:cNvPr>
          <p:cNvSpPr>
            <a:spLocks xmlns:a="http://schemas.openxmlformats.org/drawingml/2006/main" noGrp="1"/>
          </p:cNvSpPr>
          <p:nvPr/>
        </p:nvSpPr>
        <p:spPr>
          <a:xfrm xmlns:a="http://schemas.openxmlformats.org/drawingml/2006/main">
            <a:off x="762000" y="452437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B"/>
                </a:solidFill>
                <a:latin typeface="Tahoma"/>
                <a:ea typeface="Tahoma"/>
                <a:cs typeface="Tahoma"/>
              </a:defRPr>
            </a:pPr>
            <a:r>
              <a:rPr sz="2100" b="0">
                <a:solidFill>
                  <a:srgbClr val="18324B"/>
                </a:solidFill>
                <a:latin typeface="Tahoma"/>
                <a:ea typeface="Tahoma"/>
                <a:cs typeface="Tahoma"/>
              </a:rPr>
              <a:t>The next step cannot start</a:t>
            </a:r>
          </a:p>
        </p:txBody>
      </p:sp>
      <p:sp>
        <p:nvSpPr>
          <p:cNvPr id="9" name="diagram-168">
            <a:extLst xmlns:a="http://schemas.openxmlformats.org/drawingml/2006/main">
              <a:ext uri="{FF2B5EF4-FFF2-40B4-BE49-F238E27FC236}">
                <a16:creationId xmlns:a16="http://schemas.microsoft.com/office/drawing/2014/main" id="{0BF32619-B8D4-409B-99CD-1442C98C16C8}"/>
              </a:ext>
            </a:extLst>
          </p:cNvPr>
          <p:cNvSpPr>
            <a:spLocks xmlns:a="http://schemas.openxmlformats.org/drawingml/2006/main" noGrp="1"/>
          </p:cNvSpPr>
          <p:nvPr/>
        </p:nvSpPr>
        <p:spPr>
          <a:xfrm xmlns:a="http://schemas.openxmlformats.org/drawingml/2006/main">
            <a:off x="6286500" y="3857625"/>
            <a:ext cx="5000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B76D13"/>
                </a:solidFill>
                <a:latin typeface="Tahoma"/>
                <a:ea typeface="Tahoma"/>
                <a:cs typeface="Tahoma"/>
              </a:defRPr>
            </a:pPr>
            <a:r>
              <a:rPr sz="2925" b="1">
                <a:solidFill>
                  <a:srgbClr val="B76D13"/>
                </a:solidFill>
                <a:latin typeface="Tahoma"/>
                <a:ea typeface="Tahoma"/>
                <a:cs typeface="Tahoma"/>
              </a:rPr>
              <a:t>Unclear owner</a:t>
            </a:r>
          </a:p>
        </p:txBody>
      </p:sp>
      <p:sp>
        <p:nvSpPr>
          <p:cNvPr id="10" name="diagram-169">
            <a:extLst xmlns:a="http://schemas.openxmlformats.org/drawingml/2006/main">
              <a:ext uri="{FF2B5EF4-FFF2-40B4-BE49-F238E27FC236}">
                <a16:creationId xmlns:a16="http://schemas.microsoft.com/office/drawing/2014/main" id="{AC167A4E-68C9-48A4-9213-151A37A386D8}"/>
              </a:ext>
            </a:extLst>
          </p:cNvPr>
          <p:cNvSpPr>
            <a:spLocks xmlns:a="http://schemas.openxmlformats.org/drawingml/2006/main" noGrp="1"/>
          </p:cNvSpPr>
          <p:nvPr/>
        </p:nvSpPr>
        <p:spPr>
          <a:xfrm xmlns:a="http://schemas.openxmlformats.org/drawingml/2006/main">
            <a:off x="6286500" y="4524375"/>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8324B"/>
                </a:solidFill>
                <a:latin typeface="Tahoma"/>
                <a:ea typeface="Tahoma"/>
                <a:cs typeface="Tahoma"/>
              </a:defRPr>
            </a:pPr>
            <a:r>
              <a:rPr sz="2100" b="0">
                <a:solidFill>
                  <a:srgbClr val="18324B"/>
                </a:solidFill>
                <a:latin typeface="Tahoma"/>
                <a:ea typeface="Tahoma"/>
                <a:cs typeface="Tahoma"/>
              </a:rPr>
              <a:t>Nobody takes responsibility</a:t>
            </a:r>
          </a:p>
        </p:txBody>
      </p:sp>
    </p:spTree>
    <p:extLst>
      <p:ext uri="{BB962C8B-B14F-4D97-AF65-F5344CB8AC3E}">
        <p14:creationId xmlns:p14="http://schemas.microsoft.com/office/powerpoint/2010/main" val="1299501548"/>
      </p:ext>
    </p:extLst>
  </p:cSld>
</p:sld>
</file>

<file path=ppt/slides/slide2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diagram-170">
            <a:extLst xmlns:a="http://schemas.openxmlformats.org/drawingml/2006/main">
              <a:ext uri="{FF2B5EF4-FFF2-40B4-BE49-F238E27FC236}">
                <a16:creationId xmlns:a16="http://schemas.microsoft.com/office/drawing/2014/main" id="{68116A0B-41D5-462C-968E-45F904FA1575}"/>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2 · PRACTICE 3</a:t>
            </a:r>
          </a:p>
        </p:txBody>
      </p:sp>
      <p:sp>
        <p:nvSpPr>
          <p:cNvPr id="2" name="diagram-171">
            <a:extLst xmlns:a="http://schemas.openxmlformats.org/drawingml/2006/main">
              <a:ext uri="{FF2B5EF4-FFF2-40B4-BE49-F238E27FC236}">
                <a16:creationId xmlns:a16="http://schemas.microsoft.com/office/drawing/2014/main" id="{A9D89B48-E846-430D-8982-DAC023F3F6F0}"/>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Three pain points to compare</a:t>
            </a:r>
          </a:p>
        </p:txBody>
      </p:sp>
      <p:sp>
        <p:nvSpPr>
          <p:cNvPr id="3" name="diagram-172">
            <a:extLst xmlns:a="http://schemas.openxmlformats.org/drawingml/2006/main">
              <a:ext uri="{FF2B5EF4-FFF2-40B4-BE49-F238E27FC236}">
                <a16:creationId xmlns:a16="http://schemas.microsoft.com/office/drawing/2014/main" id="{BA9E35A2-299E-4345-8A8B-24BC88C94E43}"/>
              </a:ext>
            </a:extLst>
          </p:cNvPr>
          <p:cNvSpPr>
            <a:spLocks xmlns:a="http://schemas.openxmlformats.org/drawingml/2006/main" noGrp="1"/>
          </p:cNvSpPr>
          <p:nvPr/>
        </p:nvSpPr>
        <p:spPr>
          <a:xfrm xmlns:a="http://schemas.openxmlformats.org/drawingml/2006/main">
            <a:off x="3714750" y="2238375"/>
            <a:ext cx="4667250" cy="80962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173">
            <a:extLst xmlns:a="http://schemas.openxmlformats.org/drawingml/2006/main">
              <a:ext uri="{FF2B5EF4-FFF2-40B4-BE49-F238E27FC236}">
                <a16:creationId xmlns:a16="http://schemas.microsoft.com/office/drawing/2014/main" id="{19DED6A9-9D21-4AF7-B3C3-3BF29A4664A6}"/>
              </a:ext>
            </a:extLst>
          </p:cNvPr>
          <p:cNvSpPr>
            <a:spLocks xmlns:a="http://schemas.openxmlformats.org/drawingml/2006/main" noGrp="1"/>
          </p:cNvSpPr>
          <p:nvPr/>
        </p:nvSpPr>
        <p:spPr>
          <a:xfrm xmlns:a="http://schemas.openxmlformats.org/drawingml/2006/main">
            <a:off x="3886200" y="2381250"/>
            <a:ext cx="4324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Process map and evidence</a:t>
            </a:r>
          </a:p>
        </p:txBody>
      </p:sp>
      <p:sp>
        <p:nvSpPr>
          <p:cNvPr id="5" name="diagram-174">
            <a:extLst xmlns:a="http://schemas.openxmlformats.org/drawingml/2006/main">
              <a:ext uri="{FF2B5EF4-FFF2-40B4-BE49-F238E27FC236}">
                <a16:creationId xmlns:a16="http://schemas.microsoft.com/office/drawing/2014/main" id="{C3525668-8540-43CA-A217-EE9F91D78B61}"/>
              </a:ext>
            </a:extLst>
          </p:cNvPr>
          <p:cNvSpPr>
            <a:spLocks xmlns:a="http://schemas.openxmlformats.org/drawingml/2006/main" noGrp="1"/>
          </p:cNvSpPr>
          <p:nvPr/>
        </p:nvSpPr>
        <p:spPr>
          <a:xfrm xmlns:a="http://schemas.openxmlformats.org/drawingml/2006/main">
            <a:off x="762000" y="3952875"/>
            <a:ext cx="3333750" cy="80962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175">
            <a:extLst xmlns:a="http://schemas.openxmlformats.org/drawingml/2006/main">
              <a:ext uri="{FF2B5EF4-FFF2-40B4-BE49-F238E27FC236}">
                <a16:creationId xmlns:a16="http://schemas.microsoft.com/office/drawing/2014/main" id="{FB11099E-7F3D-46E6-AB83-A4FBC6B843EE}"/>
              </a:ext>
            </a:extLst>
          </p:cNvPr>
          <p:cNvSpPr>
            <a:spLocks xmlns:a="http://schemas.openxmlformats.org/drawingml/2006/main" noGrp="1"/>
          </p:cNvSpPr>
          <p:nvPr/>
        </p:nvSpPr>
        <p:spPr>
          <a:xfrm xmlns:a="http://schemas.openxmlformats.org/drawingml/2006/main">
            <a:off x="933450" y="4095750"/>
            <a:ext cx="2990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Pain point A</a:t>
            </a:r>
          </a:p>
        </p:txBody>
      </p:sp>
      <p:cxnSp>
        <p:nvCxnSpPr>
          <p:cNvPr id="21" name=""/>
          <p:cNvCxnSpPr>
            <a:stCxn xmlns:a="http://schemas.openxmlformats.org/drawingml/2006/main" id="3" idx="2"/>
            <a:endCxn xmlns:a="http://schemas.openxmlformats.org/drawingml/2006/main" id="5" idx="0"/>
          </p:cNvCxnSpPr>
          <p:nvPr/>
        </p:nvCxnSpPr>
        <p:spPr>
          <a:xfrm xmlns:a="http://schemas.openxmlformats.org/drawingml/2006/main" flipH="1">
            <a:off x="2428875" y="3048000"/>
            <a:ext cx="3619500" cy="904875"/>
          </a:xfrm>
          <a:prstGeom xmlns:a="http://schemas.openxmlformats.org/drawingml/2006/main" prst="bentConnector4">
            <a:avLst>
              <a:gd name="adj1" fmla="val 0"/>
              <a:gd name="adj2" fmla="val 50000"/>
            </a:avLst>
          </a:prstGeom>
          <a:ln xmlns:a="http://schemas.openxmlformats.org/drawingml/2006/main" w="28575">
            <a:solidFill>
              <a:srgbClr val="174FBA"/>
            </a:solidFill>
            <a:tailEnd type="triangle" w="med" len="med"/>
          </a:ln>
        </p:spPr>
      </p:cxnSp>
      <p:sp>
        <p:nvSpPr>
          <p:cNvPr id="8" name="diagram-176">
            <a:extLst xmlns:a="http://schemas.openxmlformats.org/drawingml/2006/main">
              <a:ext uri="{FF2B5EF4-FFF2-40B4-BE49-F238E27FC236}">
                <a16:creationId xmlns:a16="http://schemas.microsoft.com/office/drawing/2014/main" id="{BD8950A7-8D87-4961-8598-1A3489F07FEF}"/>
              </a:ext>
            </a:extLst>
          </p:cNvPr>
          <p:cNvSpPr>
            <a:spLocks xmlns:a="http://schemas.openxmlformats.org/drawingml/2006/main" noGrp="1"/>
          </p:cNvSpPr>
          <p:nvPr/>
        </p:nvSpPr>
        <p:spPr>
          <a:xfrm xmlns:a="http://schemas.openxmlformats.org/drawingml/2006/main">
            <a:off x="4381500" y="3952875"/>
            <a:ext cx="3333750" cy="80962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177">
            <a:extLst xmlns:a="http://schemas.openxmlformats.org/drawingml/2006/main">
              <a:ext uri="{FF2B5EF4-FFF2-40B4-BE49-F238E27FC236}">
                <a16:creationId xmlns:a16="http://schemas.microsoft.com/office/drawing/2014/main" id="{6EF15548-31CF-49A1-8667-3980083BEEBD}"/>
              </a:ext>
            </a:extLst>
          </p:cNvPr>
          <p:cNvSpPr>
            <a:spLocks xmlns:a="http://schemas.openxmlformats.org/drawingml/2006/main" noGrp="1"/>
          </p:cNvSpPr>
          <p:nvPr/>
        </p:nvSpPr>
        <p:spPr>
          <a:xfrm xmlns:a="http://schemas.openxmlformats.org/drawingml/2006/main">
            <a:off x="4552950" y="4095750"/>
            <a:ext cx="2990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Pain point B</a:t>
            </a:r>
          </a:p>
        </p:txBody>
      </p:sp>
      <p:cxnSp>
        <p:nvCxnSpPr>
          <p:cNvPr id="24" name=""/>
          <p:cNvCxnSpPr>
            <a:stCxn xmlns:a="http://schemas.openxmlformats.org/drawingml/2006/main" id="3" idx="2"/>
            <a:endCxn xmlns:a="http://schemas.openxmlformats.org/drawingml/2006/main" id="8" idx="0"/>
          </p:cNvCxnSpPr>
          <p:nvPr/>
        </p:nvCxnSpPr>
        <p:spPr>
          <a:xfrm xmlns:a="http://schemas.openxmlformats.org/drawingml/2006/main">
            <a:off x="6048375" y="3048000"/>
            <a:ext cx="0" cy="904875"/>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1" name="diagram-178">
            <a:extLst xmlns:a="http://schemas.openxmlformats.org/drawingml/2006/main">
              <a:ext uri="{FF2B5EF4-FFF2-40B4-BE49-F238E27FC236}">
                <a16:creationId xmlns:a16="http://schemas.microsoft.com/office/drawing/2014/main" id="{A3FB0D00-7CC1-4957-B16D-18BD11FD8B74}"/>
              </a:ext>
            </a:extLst>
          </p:cNvPr>
          <p:cNvSpPr>
            <a:spLocks xmlns:a="http://schemas.openxmlformats.org/drawingml/2006/main" noGrp="1"/>
          </p:cNvSpPr>
          <p:nvPr/>
        </p:nvSpPr>
        <p:spPr>
          <a:xfrm xmlns:a="http://schemas.openxmlformats.org/drawingml/2006/main">
            <a:off x="8001000" y="3952875"/>
            <a:ext cx="3333750" cy="80962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2" name="diagram-179">
            <a:extLst xmlns:a="http://schemas.openxmlformats.org/drawingml/2006/main">
              <a:ext uri="{FF2B5EF4-FFF2-40B4-BE49-F238E27FC236}">
                <a16:creationId xmlns:a16="http://schemas.microsoft.com/office/drawing/2014/main" id="{AB6DF9E2-370E-49EB-BA4E-5CE6F6A80715}"/>
              </a:ext>
            </a:extLst>
          </p:cNvPr>
          <p:cNvSpPr>
            <a:spLocks xmlns:a="http://schemas.openxmlformats.org/drawingml/2006/main" noGrp="1"/>
          </p:cNvSpPr>
          <p:nvPr/>
        </p:nvSpPr>
        <p:spPr>
          <a:xfrm xmlns:a="http://schemas.openxmlformats.org/drawingml/2006/main">
            <a:off x="8172450" y="4095750"/>
            <a:ext cx="2990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Pain point C</a:t>
            </a:r>
          </a:p>
        </p:txBody>
      </p:sp>
      <p:cxnSp>
        <p:nvCxnSpPr>
          <p:cNvPr id="27" name=""/>
          <p:cNvCxnSpPr>
            <a:stCxn xmlns:a="http://schemas.openxmlformats.org/drawingml/2006/main" id="3" idx="2"/>
            <a:endCxn xmlns:a="http://schemas.openxmlformats.org/drawingml/2006/main" id="11" idx="0"/>
          </p:cNvCxnSpPr>
          <p:nvPr/>
        </p:nvCxnSpPr>
        <p:spPr>
          <a:xfrm xmlns:a="http://schemas.openxmlformats.org/drawingml/2006/main">
            <a:off x="6048375" y="3048000"/>
            <a:ext cx="3619500" cy="904875"/>
          </a:xfrm>
          <a:prstGeom xmlns:a="http://schemas.openxmlformats.org/drawingml/2006/main" prst="bentConnector4">
            <a:avLst>
              <a:gd name="adj1" fmla="val 0"/>
              <a:gd name="adj2" fmla="val 50000"/>
            </a:avLst>
          </a:prstGeom>
          <a:ln xmlns:a="http://schemas.openxmlformats.org/drawingml/2006/main" w="28575">
            <a:solidFill>
              <a:srgbClr val="174FBA"/>
            </a:solidFill>
            <a:tailEnd type="triangle" w="med" len="med"/>
          </a:ln>
        </p:spPr>
      </p:cxnSp>
      <p:sp>
        <p:nvSpPr>
          <p:cNvPr id="14" name="diagram-180">
            <a:extLst xmlns:a="http://schemas.openxmlformats.org/drawingml/2006/main">
              <a:ext uri="{FF2B5EF4-FFF2-40B4-BE49-F238E27FC236}">
                <a16:creationId xmlns:a16="http://schemas.microsoft.com/office/drawing/2014/main" id="{472653C6-3EF4-4EF0-A063-6531573FBCAA}"/>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Each pain point must link to a place on the map</a:t>
            </a:r>
          </a:p>
        </p:txBody>
      </p:sp>
    </p:spTree>
    <p:extLst>
      <p:ext uri="{BB962C8B-B14F-4D97-AF65-F5344CB8AC3E}">
        <p14:creationId xmlns:p14="http://schemas.microsoft.com/office/powerpoint/2010/main" val="89217383"/>
      </p:ext>
    </p:extLst>
  </p:cSld>
</p:sld>
</file>

<file path=ppt/slides/slide21.xml><?xml version="1.0" encoding="utf-8"?>
<p:sld xmlns:p="http://schemas.openxmlformats.org/presentationml/2006/main">
  <p:cSld>
    <p:bg>
      <p:bgPr>
        <a:solidFill xmlns:a="http://schemas.openxmlformats.org/drawingml/2006/main">
          <a:srgbClr val="102D50"/>
        </a:solidFill>
      </p:bgPr>
    </p:bg>
    <p:spTree>
      <p:nvGrpSpPr>
        <p:cNvPr id="1" name=""/>
        <p:cNvGrpSpPr/>
        <p:nvPr/>
      </p:nvGrpSpPr>
      <p:grpSpPr>
        <a:xfrm xmlns:a="http://schemas.openxmlformats.org/drawingml/2006/main"/>
      </p:grpSpPr>
      <p:sp>
        <p:nvSpPr>
          <p:cNvPr id="5" name="diagram-181">
            <a:extLst xmlns:a="http://schemas.openxmlformats.org/drawingml/2006/main">
              <a:ext uri="{FF2B5EF4-FFF2-40B4-BE49-F238E27FC236}">
                <a16:creationId xmlns:a16="http://schemas.microsoft.com/office/drawing/2014/main" id="{E02CAAD8-8627-4093-B920-CF6341C5B5DA}"/>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Tahoma"/>
                <a:ea typeface="Tahoma"/>
                <a:cs typeface="Tahoma"/>
              </a:defRPr>
            </a:pPr>
            <a:r>
              <a:rPr sz="3225" b="1">
                <a:solidFill>
                  <a:srgbClr val="FFFFFF"/>
                </a:solidFill>
                <a:latin typeface="Tahoma"/>
                <a:ea typeface="Tahoma"/>
                <a:cs typeface="Tahoma"/>
              </a:rPr>
              <a:t>Block 2 checkpoint</a:t>
            </a:r>
          </a:p>
        </p:txBody>
      </p:sp>
      <p:sp>
        <p:nvSpPr>
          <p:cNvPr id="2" name="diagram-182">
            <a:extLst xmlns:a="http://schemas.openxmlformats.org/drawingml/2006/main">
              <a:ext uri="{FF2B5EF4-FFF2-40B4-BE49-F238E27FC236}">
                <a16:creationId xmlns:a16="http://schemas.microsoft.com/office/drawing/2014/main" id="{51FB2D50-3C82-4CD1-A2FC-4D1109CEF1E6}"/>
              </a:ext>
            </a:extLst>
          </p:cNvPr>
          <p:cNvSpPr>
            <a:spLocks xmlns:a="http://schemas.openxmlformats.org/drawingml/2006/main" noGrp="1"/>
          </p:cNvSpPr>
          <p:nvPr/>
        </p:nvSpPr>
        <p:spPr>
          <a:xfrm xmlns:a="http://schemas.openxmlformats.org/drawingml/2006/main">
            <a:off x="762000" y="2428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Tahoma"/>
                <a:ea typeface="Tahoma"/>
                <a:cs typeface="Tahoma"/>
              </a:defRPr>
            </a:pPr>
            <a:r>
              <a:rPr sz="3150" b="1">
                <a:solidFill>
                  <a:srgbClr val="FFFFFF"/>
                </a:solidFill>
                <a:latin typeface="Tahoma"/>
                <a:ea typeface="Tahoma"/>
                <a:cs typeface="Tahoma"/>
              </a:rPr>
              <a:t>One current-process map</a:t>
            </a:r>
          </a:p>
        </p:txBody>
      </p:sp>
      <p:sp>
        <p:nvSpPr>
          <p:cNvPr id="3" name="diagram-183">
            <a:extLst xmlns:a="http://schemas.openxmlformats.org/drawingml/2006/main">
              <a:ext uri="{FF2B5EF4-FFF2-40B4-BE49-F238E27FC236}">
                <a16:creationId xmlns:a16="http://schemas.microsoft.com/office/drawing/2014/main" id="{D0D63A9D-8DA6-4607-884C-111C5DA7ED61}"/>
              </a:ext>
            </a:extLst>
          </p:cNvPr>
          <p:cNvSpPr>
            <a:spLocks xmlns:a="http://schemas.openxmlformats.org/drawingml/2006/main" noGrp="1"/>
          </p:cNvSpPr>
          <p:nvPr/>
        </p:nvSpPr>
        <p:spPr>
          <a:xfrm xmlns:a="http://schemas.openxmlformats.org/drawingml/2006/main">
            <a:off x="762000" y="3667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Tahoma"/>
                <a:ea typeface="Tahoma"/>
                <a:cs typeface="Tahoma"/>
              </a:defRPr>
            </a:pPr>
            <a:r>
              <a:rPr sz="2550" b="0">
                <a:solidFill>
                  <a:srgbClr val="FFFFFF"/>
                </a:solidFill>
                <a:latin typeface="Tahoma"/>
                <a:ea typeface="Tahoma"/>
                <a:cs typeface="Tahoma"/>
              </a:rPr>
              <a:t>Three evidence-linked pain points</a:t>
            </a:r>
          </a:p>
        </p:txBody>
      </p:sp>
      <p:sp>
        <p:nvSpPr>
          <p:cNvPr id="4" name="diagram-184">
            <a:extLst xmlns:a="http://schemas.openxmlformats.org/drawingml/2006/main">
              <a:ext uri="{FF2B5EF4-FFF2-40B4-BE49-F238E27FC236}">
                <a16:creationId xmlns:a16="http://schemas.microsoft.com/office/drawing/2014/main" id="{856AAD96-8194-44CD-8650-8FEE2A1382AB}"/>
              </a:ext>
            </a:extLst>
          </p:cNvPr>
          <p:cNvSpPr>
            <a:spLocks xmlns:a="http://schemas.openxmlformats.org/drawingml/2006/main" noGrp="1"/>
          </p:cNvSpPr>
          <p:nvPr/>
        </p:nvSpPr>
        <p:spPr>
          <a:xfrm xmlns:a="http://schemas.openxmlformats.org/drawingml/2006/main">
            <a:off x="762000" y="51911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BCAE8"/>
                </a:solidFill>
                <a:latin typeface="Tahoma"/>
                <a:ea typeface="Tahoma"/>
                <a:cs typeface="Tahoma"/>
              </a:defRPr>
            </a:pPr>
            <a:r>
              <a:rPr sz="2175" b="0">
                <a:solidFill>
                  <a:srgbClr val="ABCAE8"/>
                </a:solidFill>
                <a:latin typeface="Tahoma"/>
                <a:ea typeface="Tahoma"/>
                <a:cs typeface="Tahoma"/>
              </a:rPr>
              <a:t>After lunch: select one opportunity</a:t>
            </a:r>
          </a:p>
        </p:txBody>
      </p:sp>
    </p:spTree>
    <p:extLst>
      <p:ext uri="{BB962C8B-B14F-4D97-AF65-F5344CB8AC3E}">
        <p14:creationId xmlns:p14="http://schemas.microsoft.com/office/powerpoint/2010/main" val="2054535011"/>
      </p:ext>
    </p:extLst>
  </p:cSld>
</p:sld>
</file>

<file path=ppt/slides/slide22.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diagram-185">
            <a:extLst xmlns:a="http://schemas.openxmlformats.org/drawingml/2006/main">
              <a:ext uri="{FF2B5EF4-FFF2-40B4-BE49-F238E27FC236}">
                <a16:creationId xmlns:a16="http://schemas.microsoft.com/office/drawing/2014/main" id="{03C4D806-6743-4596-B3BF-B178E78A8407}"/>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Opportunity readiness gate</a:t>
            </a:r>
          </a:p>
        </p:txBody>
      </p:sp>
      <p:sp>
        <p:nvSpPr>
          <p:cNvPr id="2" name="diagram-186">
            <a:extLst xmlns:a="http://schemas.openxmlformats.org/drawingml/2006/main">
              <a:ext uri="{FF2B5EF4-FFF2-40B4-BE49-F238E27FC236}">
                <a16:creationId xmlns:a16="http://schemas.microsoft.com/office/drawing/2014/main" id="{9A7A756E-C68B-4FA4-A008-C4B866DB3C12}"/>
              </a:ext>
            </a:extLst>
          </p:cNvPr>
          <p:cNvSpPr>
            <a:spLocks xmlns:a="http://schemas.openxmlformats.org/drawingml/2006/main" noGrp="1"/>
          </p:cNvSpPr>
          <p:nvPr/>
        </p:nvSpPr>
        <p:spPr>
          <a:xfrm xmlns:a="http://schemas.openxmlformats.org/drawingml/2006/main">
            <a:off x="762000" y="2333625"/>
            <a:ext cx="3333750" cy="195262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187">
            <a:extLst xmlns:a="http://schemas.openxmlformats.org/drawingml/2006/main">
              <a:ext uri="{FF2B5EF4-FFF2-40B4-BE49-F238E27FC236}">
                <a16:creationId xmlns:a16="http://schemas.microsoft.com/office/drawing/2014/main" id="{51813560-DA58-48C4-9BE3-4505CF9085E5}"/>
              </a:ext>
            </a:extLst>
          </p:cNvPr>
          <p:cNvSpPr>
            <a:spLocks xmlns:a="http://schemas.openxmlformats.org/drawingml/2006/main" noGrp="1"/>
          </p:cNvSpPr>
          <p:nvPr/>
        </p:nvSpPr>
        <p:spPr>
          <a:xfrm xmlns:a="http://schemas.openxmlformats.org/drawingml/2006/main">
            <a:off x="952500" y="257175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50"/>
                </a:solidFill>
                <a:latin typeface="Tahoma"/>
                <a:ea typeface="Tahoma"/>
                <a:cs typeface="Tahoma"/>
              </a:defRPr>
            </a:pPr>
            <a:r>
              <a:rPr sz="2025" b="1">
                <a:solidFill>
                  <a:srgbClr val="102D50"/>
                </a:solidFill>
                <a:latin typeface="Tahoma"/>
                <a:ea typeface="Tahoma"/>
                <a:cs typeface="Tahoma"/>
              </a:rPr>
              <a:t>Proceed to compare</a:t>
            </a:r>
          </a:p>
        </p:txBody>
      </p:sp>
      <p:sp>
        <p:nvSpPr>
          <p:cNvPr id="4" name="diagram-188">
            <a:extLst xmlns:a="http://schemas.openxmlformats.org/drawingml/2006/main">
              <a:ext uri="{FF2B5EF4-FFF2-40B4-BE49-F238E27FC236}">
                <a16:creationId xmlns:a16="http://schemas.microsoft.com/office/drawing/2014/main" id="{54F807EA-B8DB-4A58-BA63-059EF3F4F2AE}"/>
              </a:ext>
            </a:extLst>
          </p:cNvPr>
          <p:cNvSpPr>
            <a:spLocks xmlns:a="http://schemas.openxmlformats.org/drawingml/2006/main" noGrp="1"/>
          </p:cNvSpPr>
          <p:nvPr/>
        </p:nvSpPr>
        <p:spPr>
          <a:xfrm xmlns:a="http://schemas.openxmlformats.org/drawingml/2006/main">
            <a:off x="952500" y="34290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No stop condition identified</a:t>
            </a:r>
          </a:p>
        </p:txBody>
      </p:sp>
      <p:sp>
        <p:nvSpPr>
          <p:cNvPr id="5" name="diagram-189">
            <a:extLst xmlns:a="http://schemas.openxmlformats.org/drawingml/2006/main">
              <a:ext uri="{FF2B5EF4-FFF2-40B4-BE49-F238E27FC236}">
                <a16:creationId xmlns:a16="http://schemas.microsoft.com/office/drawing/2014/main" id="{E2D9E41D-2E5C-4395-B074-923478E5EBEB}"/>
              </a:ext>
            </a:extLst>
          </p:cNvPr>
          <p:cNvSpPr>
            <a:spLocks xmlns:a="http://schemas.openxmlformats.org/drawingml/2006/main" noGrp="1"/>
          </p:cNvSpPr>
          <p:nvPr/>
        </p:nvSpPr>
        <p:spPr>
          <a:xfrm xmlns:a="http://schemas.openxmlformats.org/drawingml/2006/main">
            <a:off x="4381500" y="2333625"/>
            <a:ext cx="3333750" cy="19526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6" name="diagram-190">
            <a:extLst xmlns:a="http://schemas.openxmlformats.org/drawingml/2006/main">
              <a:ext uri="{FF2B5EF4-FFF2-40B4-BE49-F238E27FC236}">
                <a16:creationId xmlns:a16="http://schemas.microsoft.com/office/drawing/2014/main" id="{8964E1CC-6C65-44C9-B69C-B453706A2FAE}"/>
              </a:ext>
            </a:extLst>
          </p:cNvPr>
          <p:cNvSpPr>
            <a:spLocks xmlns:a="http://schemas.openxmlformats.org/drawingml/2006/main" noGrp="1"/>
          </p:cNvSpPr>
          <p:nvPr/>
        </p:nvSpPr>
        <p:spPr>
          <a:xfrm xmlns:a="http://schemas.openxmlformats.org/drawingml/2006/main">
            <a:off x="4572000" y="257175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50"/>
                </a:solidFill>
                <a:latin typeface="Tahoma"/>
                <a:ea typeface="Tahoma"/>
                <a:cs typeface="Tahoma"/>
              </a:defRPr>
            </a:pPr>
            <a:r>
              <a:rPr sz="2025" b="1">
                <a:solidFill>
                  <a:srgbClr val="102D50"/>
                </a:solidFill>
                <a:latin typeface="Tahoma"/>
                <a:ea typeface="Tahoma"/>
                <a:cs typeface="Tahoma"/>
              </a:rPr>
              <a:t>Explore after validation</a:t>
            </a:r>
          </a:p>
        </p:txBody>
      </p:sp>
      <p:sp>
        <p:nvSpPr>
          <p:cNvPr id="7" name="diagram-191">
            <a:extLst xmlns:a="http://schemas.openxmlformats.org/drawingml/2006/main">
              <a:ext uri="{FF2B5EF4-FFF2-40B4-BE49-F238E27FC236}">
                <a16:creationId xmlns:a16="http://schemas.microsoft.com/office/drawing/2014/main" id="{24B42673-7488-4632-8A6E-DF049E857FED}"/>
              </a:ext>
            </a:extLst>
          </p:cNvPr>
          <p:cNvSpPr>
            <a:spLocks xmlns:a="http://schemas.openxmlformats.org/drawingml/2006/main" noGrp="1"/>
          </p:cNvSpPr>
          <p:nvPr/>
        </p:nvSpPr>
        <p:spPr>
          <a:xfrm xmlns:a="http://schemas.openxmlformats.org/drawingml/2006/main">
            <a:off x="4572000" y="34290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A responsible role must validate a gap</a:t>
            </a:r>
          </a:p>
        </p:txBody>
      </p:sp>
      <p:sp>
        <p:nvSpPr>
          <p:cNvPr id="8" name="diagram-192">
            <a:extLst xmlns:a="http://schemas.openxmlformats.org/drawingml/2006/main">
              <a:ext uri="{FF2B5EF4-FFF2-40B4-BE49-F238E27FC236}">
                <a16:creationId xmlns:a16="http://schemas.microsoft.com/office/drawing/2014/main" id="{FA2AE212-D6B7-4406-A824-C80F864E5918}"/>
              </a:ext>
            </a:extLst>
          </p:cNvPr>
          <p:cNvSpPr>
            <a:spLocks xmlns:a="http://schemas.openxmlformats.org/drawingml/2006/main" noGrp="1"/>
          </p:cNvSpPr>
          <p:nvPr/>
        </p:nvSpPr>
        <p:spPr>
          <a:xfrm xmlns:a="http://schemas.openxmlformats.org/drawingml/2006/main">
            <a:off x="8001000" y="2333625"/>
            <a:ext cx="3333750" cy="1952625"/>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9" name="diagram-193">
            <a:extLst xmlns:a="http://schemas.openxmlformats.org/drawingml/2006/main">
              <a:ext uri="{FF2B5EF4-FFF2-40B4-BE49-F238E27FC236}">
                <a16:creationId xmlns:a16="http://schemas.microsoft.com/office/drawing/2014/main" id="{9CF7CBD6-76F1-4863-9A44-7E6D1FEF5EC1}"/>
              </a:ext>
            </a:extLst>
          </p:cNvPr>
          <p:cNvSpPr>
            <a:spLocks xmlns:a="http://schemas.openxmlformats.org/drawingml/2006/main" noGrp="1"/>
          </p:cNvSpPr>
          <p:nvPr/>
        </p:nvSpPr>
        <p:spPr>
          <a:xfrm xmlns:a="http://schemas.openxmlformats.org/drawingml/2006/main">
            <a:off x="8191500" y="2571750"/>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50"/>
                </a:solidFill>
                <a:latin typeface="Tahoma"/>
                <a:ea typeface="Tahoma"/>
                <a:cs typeface="Tahoma"/>
              </a:defRPr>
            </a:pPr>
            <a:r>
              <a:rPr sz="2025" b="1">
                <a:solidFill>
                  <a:srgbClr val="102D50"/>
                </a:solidFill>
                <a:latin typeface="Tahoma"/>
                <a:ea typeface="Tahoma"/>
                <a:cs typeface="Tahoma"/>
              </a:rPr>
              <a:t>Do not progress in this workshop</a:t>
            </a:r>
          </a:p>
        </p:txBody>
      </p:sp>
      <p:sp>
        <p:nvSpPr>
          <p:cNvPr id="10" name="diagram-194">
            <a:extLst xmlns:a="http://schemas.openxmlformats.org/drawingml/2006/main">
              <a:ext uri="{FF2B5EF4-FFF2-40B4-BE49-F238E27FC236}">
                <a16:creationId xmlns:a16="http://schemas.microsoft.com/office/drawing/2014/main" id="{BA91BB3E-E30E-4FD0-A662-0E5A88531158}"/>
              </a:ext>
            </a:extLst>
          </p:cNvPr>
          <p:cNvSpPr>
            <a:spLocks xmlns:a="http://schemas.openxmlformats.org/drawingml/2006/main" noGrp="1"/>
          </p:cNvSpPr>
          <p:nvPr/>
        </p:nvSpPr>
        <p:spPr>
          <a:xfrm xmlns:a="http://schemas.openxmlformats.org/drawingml/2006/main">
            <a:off x="8191500" y="3429000"/>
            <a:ext cx="295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Stop condition remains</a:t>
            </a:r>
          </a:p>
        </p:txBody>
      </p:sp>
      <p:sp>
        <p:nvSpPr>
          <p:cNvPr id="11" name="diagram-195">
            <a:extLst xmlns:a="http://schemas.openxmlformats.org/drawingml/2006/main">
              <a:ext uri="{FF2B5EF4-FFF2-40B4-BE49-F238E27FC236}">
                <a16:creationId xmlns:a16="http://schemas.microsoft.com/office/drawing/2014/main" id="{C970FD1E-0994-4C20-BC1F-F4740FBF6B18}"/>
              </a:ext>
            </a:extLst>
          </p:cNvPr>
          <p:cNvSpPr>
            <a:spLocks xmlns:a="http://schemas.openxmlformats.org/drawingml/2006/main" noGrp="1"/>
          </p:cNvSpPr>
          <p:nvPr/>
        </p:nvSpPr>
        <p:spPr>
          <a:xfrm xmlns:a="http://schemas.openxmlformats.org/drawingml/2006/main">
            <a:off x="762000" y="476250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76D13"/>
                </a:solidFill>
                <a:latin typeface="Tahoma"/>
                <a:ea typeface="Tahoma"/>
                <a:cs typeface="Tahoma"/>
              </a:defRPr>
            </a:pPr>
            <a:r>
              <a:rPr sz="1875" b="1">
                <a:solidFill>
                  <a:srgbClr val="B76D13"/>
                </a:solidFill>
                <a:latin typeface="Tahoma"/>
                <a:ea typeface="Tahoma"/>
                <a:cs typeface="Tahoma"/>
              </a:rPr>
              <a:t>Stop: sensitive data · material harm · unstable rules · frequent unowned exceptions · missing owner</a:t>
            </a:r>
          </a:p>
        </p:txBody>
      </p:sp>
    </p:spTree>
    <p:extLst>
      <p:ext uri="{BB962C8B-B14F-4D97-AF65-F5344CB8AC3E}">
        <p14:creationId xmlns:p14="http://schemas.microsoft.com/office/powerpoint/2010/main" val="319690712"/>
      </p:ext>
    </p:extLst>
  </p:cSld>
</p:sld>
</file>

<file path=ppt/slides/slide2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30" name="diagram-196">
            <a:extLst xmlns:a="http://schemas.openxmlformats.org/drawingml/2006/main">
              <a:ext uri="{FF2B5EF4-FFF2-40B4-BE49-F238E27FC236}">
                <a16:creationId xmlns:a16="http://schemas.microsoft.com/office/drawing/2014/main" id="{5E34192A-577F-4BB4-AEC8-D3D621E59DE2}"/>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3 · PRACTICES 1–2</a:t>
            </a:r>
          </a:p>
        </p:txBody>
      </p:sp>
      <p:sp>
        <p:nvSpPr>
          <p:cNvPr id="2" name="diagram-197">
            <a:extLst xmlns:a="http://schemas.openxmlformats.org/drawingml/2006/main">
              <a:ext uri="{FF2B5EF4-FFF2-40B4-BE49-F238E27FC236}">
                <a16:creationId xmlns:a16="http://schemas.microsoft.com/office/drawing/2014/main" id="{547792E2-C5E6-415F-8C12-5D2F5A87015F}"/>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Compare eligible opportunities</a:t>
            </a:r>
          </a:p>
        </p:txBody>
      </p:sp>
      <p:sp>
        <p:nvSpPr>
          <p:cNvPr id="3" name="diagram-198">
            <a:extLst xmlns:a="http://schemas.openxmlformats.org/drawingml/2006/main">
              <a:ext uri="{FF2B5EF4-FFF2-40B4-BE49-F238E27FC236}">
                <a16:creationId xmlns:a16="http://schemas.microsoft.com/office/drawing/2014/main" id="{C3B362E0-6F84-4806-9374-D3AAB33518E3}"/>
              </a:ext>
            </a:extLst>
          </p:cNvPr>
          <p:cNvSpPr>
            <a:spLocks xmlns:a="http://schemas.openxmlformats.org/drawingml/2006/main" noGrp="1"/>
          </p:cNvSpPr>
          <p:nvPr/>
        </p:nvSpPr>
        <p:spPr>
          <a:xfrm xmlns:a="http://schemas.openxmlformats.org/drawingml/2006/main">
            <a:off x="762000" y="212407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50"/>
                </a:solidFill>
                <a:latin typeface="Tahoma"/>
                <a:ea typeface="Tahoma"/>
                <a:cs typeface="Tahoma"/>
              </a:defRPr>
            </a:pPr>
            <a:r>
              <a:rPr sz="2175" b="1">
                <a:solidFill>
                  <a:srgbClr val="102D50"/>
                </a:solidFill>
                <a:latin typeface="Tahoma"/>
                <a:ea typeface="Tahoma"/>
                <a:cs typeface="Tahoma"/>
              </a:rPr>
              <a:t>Impact</a:t>
            </a:r>
          </a:p>
        </p:txBody>
      </p:sp>
      <p:sp>
        <p:nvSpPr>
          <p:cNvPr id="4" name="diagram-199">
            <a:extLst xmlns:a="http://schemas.openxmlformats.org/drawingml/2006/main">
              <a:ext uri="{FF2B5EF4-FFF2-40B4-BE49-F238E27FC236}">
                <a16:creationId xmlns:a16="http://schemas.microsoft.com/office/drawing/2014/main" id="{E541C75C-2D46-4716-8FBD-03326DC566C9}"/>
              </a:ext>
            </a:extLst>
          </p:cNvPr>
          <p:cNvSpPr>
            <a:spLocks xmlns:a="http://schemas.openxmlformats.org/drawingml/2006/main" noGrp="1"/>
          </p:cNvSpPr>
          <p:nvPr/>
        </p:nvSpPr>
        <p:spPr>
          <a:xfrm xmlns:a="http://schemas.openxmlformats.org/drawingml/2006/main">
            <a:off x="3333750" y="20478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200">
            <a:extLst xmlns:a="http://schemas.openxmlformats.org/drawingml/2006/main">
              <a:ext uri="{FF2B5EF4-FFF2-40B4-BE49-F238E27FC236}">
                <a16:creationId xmlns:a16="http://schemas.microsoft.com/office/drawing/2014/main" id="{5D4B0FCE-68C5-44EB-9630-164A89C7FADE}"/>
              </a:ext>
            </a:extLst>
          </p:cNvPr>
          <p:cNvSpPr>
            <a:spLocks xmlns:a="http://schemas.openxmlformats.org/drawingml/2006/main" noGrp="1"/>
          </p:cNvSpPr>
          <p:nvPr/>
        </p:nvSpPr>
        <p:spPr>
          <a:xfrm xmlns:a="http://schemas.openxmlformats.org/drawingml/2006/main">
            <a:off x="3505200" y="21907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1</a:t>
            </a:r>
          </a:p>
        </p:txBody>
      </p:sp>
      <p:sp>
        <p:nvSpPr>
          <p:cNvPr id="6" name="diagram-201">
            <a:extLst xmlns:a="http://schemas.openxmlformats.org/drawingml/2006/main">
              <a:ext uri="{FF2B5EF4-FFF2-40B4-BE49-F238E27FC236}">
                <a16:creationId xmlns:a16="http://schemas.microsoft.com/office/drawing/2014/main" id="{048BF882-4A35-4290-9D3C-4B1C28F64B65}"/>
              </a:ext>
            </a:extLst>
          </p:cNvPr>
          <p:cNvSpPr>
            <a:spLocks xmlns:a="http://schemas.openxmlformats.org/drawingml/2006/main" noGrp="1"/>
          </p:cNvSpPr>
          <p:nvPr/>
        </p:nvSpPr>
        <p:spPr>
          <a:xfrm xmlns:a="http://schemas.openxmlformats.org/drawingml/2006/main">
            <a:off x="4429125" y="20478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7" name="diagram-202">
            <a:extLst xmlns:a="http://schemas.openxmlformats.org/drawingml/2006/main">
              <a:ext uri="{FF2B5EF4-FFF2-40B4-BE49-F238E27FC236}">
                <a16:creationId xmlns:a16="http://schemas.microsoft.com/office/drawing/2014/main" id="{2920E916-9618-41E0-83E1-680CB90A1CFA}"/>
              </a:ext>
            </a:extLst>
          </p:cNvPr>
          <p:cNvSpPr>
            <a:spLocks xmlns:a="http://schemas.openxmlformats.org/drawingml/2006/main" noGrp="1"/>
          </p:cNvSpPr>
          <p:nvPr/>
        </p:nvSpPr>
        <p:spPr>
          <a:xfrm xmlns:a="http://schemas.openxmlformats.org/drawingml/2006/main">
            <a:off x="4600575" y="21907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2</a:t>
            </a:r>
          </a:p>
        </p:txBody>
      </p:sp>
      <p:sp>
        <p:nvSpPr>
          <p:cNvPr id="8" name="diagram-203">
            <a:extLst xmlns:a="http://schemas.openxmlformats.org/drawingml/2006/main">
              <a:ext uri="{FF2B5EF4-FFF2-40B4-BE49-F238E27FC236}">
                <a16:creationId xmlns:a16="http://schemas.microsoft.com/office/drawing/2014/main" id="{AE1764F7-0652-48F0-8970-10B3A23899D5}"/>
              </a:ext>
            </a:extLst>
          </p:cNvPr>
          <p:cNvSpPr>
            <a:spLocks xmlns:a="http://schemas.openxmlformats.org/drawingml/2006/main" noGrp="1"/>
          </p:cNvSpPr>
          <p:nvPr/>
        </p:nvSpPr>
        <p:spPr>
          <a:xfrm xmlns:a="http://schemas.openxmlformats.org/drawingml/2006/main">
            <a:off x="5524500" y="20478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204">
            <a:extLst xmlns:a="http://schemas.openxmlformats.org/drawingml/2006/main">
              <a:ext uri="{FF2B5EF4-FFF2-40B4-BE49-F238E27FC236}">
                <a16:creationId xmlns:a16="http://schemas.microsoft.com/office/drawing/2014/main" id="{4A99177C-A387-481E-AAB0-7DCF5E4E0B8E}"/>
              </a:ext>
            </a:extLst>
          </p:cNvPr>
          <p:cNvSpPr>
            <a:spLocks xmlns:a="http://schemas.openxmlformats.org/drawingml/2006/main" noGrp="1"/>
          </p:cNvSpPr>
          <p:nvPr/>
        </p:nvSpPr>
        <p:spPr>
          <a:xfrm xmlns:a="http://schemas.openxmlformats.org/drawingml/2006/main">
            <a:off x="5695950" y="21907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3</a:t>
            </a:r>
          </a:p>
        </p:txBody>
      </p:sp>
      <p:sp>
        <p:nvSpPr>
          <p:cNvPr id="10" name="diagram-205">
            <a:extLst xmlns:a="http://schemas.openxmlformats.org/drawingml/2006/main">
              <a:ext uri="{FF2B5EF4-FFF2-40B4-BE49-F238E27FC236}">
                <a16:creationId xmlns:a16="http://schemas.microsoft.com/office/drawing/2014/main" id="{EB1760C1-98AD-46CD-B5EA-D40D64628E99}"/>
              </a:ext>
            </a:extLst>
          </p:cNvPr>
          <p:cNvSpPr>
            <a:spLocks xmlns:a="http://schemas.openxmlformats.org/drawingml/2006/main" noGrp="1"/>
          </p:cNvSpPr>
          <p:nvPr/>
        </p:nvSpPr>
        <p:spPr>
          <a:xfrm xmlns:a="http://schemas.openxmlformats.org/drawingml/2006/main">
            <a:off x="7239000" y="21240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Which outcome is affected?</a:t>
            </a:r>
          </a:p>
        </p:txBody>
      </p:sp>
      <p:sp>
        <p:nvSpPr>
          <p:cNvPr id="11" name="diagram-206">
            <a:extLst xmlns:a="http://schemas.openxmlformats.org/drawingml/2006/main">
              <a:ext uri="{FF2B5EF4-FFF2-40B4-BE49-F238E27FC236}">
                <a16:creationId xmlns:a16="http://schemas.microsoft.com/office/drawing/2014/main" id="{9B8B5CD0-7411-40C0-8B4D-0D7A6495619C}"/>
              </a:ext>
            </a:extLst>
          </p:cNvPr>
          <p:cNvSpPr>
            <a:spLocks xmlns:a="http://schemas.openxmlformats.org/drawingml/2006/main" noGrp="1"/>
          </p:cNvSpPr>
          <p:nvPr/>
        </p:nvSpPr>
        <p:spPr>
          <a:xfrm xmlns:a="http://schemas.openxmlformats.org/drawingml/2006/main">
            <a:off x="762000" y="300037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50"/>
                </a:solidFill>
                <a:latin typeface="Tahoma"/>
                <a:ea typeface="Tahoma"/>
                <a:cs typeface="Tahoma"/>
              </a:defRPr>
            </a:pPr>
            <a:r>
              <a:rPr sz="2175" b="1">
                <a:solidFill>
                  <a:srgbClr val="102D50"/>
                </a:solidFill>
                <a:latin typeface="Tahoma"/>
                <a:ea typeface="Tahoma"/>
                <a:cs typeface="Tahoma"/>
              </a:rPr>
              <a:t>Frequency</a:t>
            </a:r>
          </a:p>
        </p:txBody>
      </p:sp>
      <p:sp>
        <p:nvSpPr>
          <p:cNvPr id="12" name="diagram-207">
            <a:extLst xmlns:a="http://schemas.openxmlformats.org/drawingml/2006/main">
              <a:ext uri="{FF2B5EF4-FFF2-40B4-BE49-F238E27FC236}">
                <a16:creationId xmlns:a16="http://schemas.microsoft.com/office/drawing/2014/main" id="{11BF1828-E748-4A57-8490-3D0F45F56760}"/>
              </a:ext>
            </a:extLst>
          </p:cNvPr>
          <p:cNvSpPr>
            <a:spLocks xmlns:a="http://schemas.openxmlformats.org/drawingml/2006/main" noGrp="1"/>
          </p:cNvSpPr>
          <p:nvPr/>
        </p:nvSpPr>
        <p:spPr>
          <a:xfrm xmlns:a="http://schemas.openxmlformats.org/drawingml/2006/main">
            <a:off x="3333750" y="29241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3" name="diagram-208">
            <a:extLst xmlns:a="http://schemas.openxmlformats.org/drawingml/2006/main">
              <a:ext uri="{FF2B5EF4-FFF2-40B4-BE49-F238E27FC236}">
                <a16:creationId xmlns:a16="http://schemas.microsoft.com/office/drawing/2014/main" id="{C91E4611-F7FE-47C8-96D4-2480D6793275}"/>
              </a:ext>
            </a:extLst>
          </p:cNvPr>
          <p:cNvSpPr>
            <a:spLocks xmlns:a="http://schemas.openxmlformats.org/drawingml/2006/main" noGrp="1"/>
          </p:cNvSpPr>
          <p:nvPr/>
        </p:nvSpPr>
        <p:spPr>
          <a:xfrm xmlns:a="http://schemas.openxmlformats.org/drawingml/2006/main">
            <a:off x="3505200" y="30670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1</a:t>
            </a:r>
          </a:p>
        </p:txBody>
      </p:sp>
      <p:sp>
        <p:nvSpPr>
          <p:cNvPr id="14" name="diagram-209">
            <a:extLst xmlns:a="http://schemas.openxmlformats.org/drawingml/2006/main">
              <a:ext uri="{FF2B5EF4-FFF2-40B4-BE49-F238E27FC236}">
                <a16:creationId xmlns:a16="http://schemas.microsoft.com/office/drawing/2014/main" id="{749CB27B-6AB6-4EFD-B404-D9FF2BF024D0}"/>
              </a:ext>
            </a:extLst>
          </p:cNvPr>
          <p:cNvSpPr>
            <a:spLocks xmlns:a="http://schemas.openxmlformats.org/drawingml/2006/main" noGrp="1"/>
          </p:cNvSpPr>
          <p:nvPr/>
        </p:nvSpPr>
        <p:spPr>
          <a:xfrm xmlns:a="http://schemas.openxmlformats.org/drawingml/2006/main">
            <a:off x="4429125" y="29241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5" name="diagram-210">
            <a:extLst xmlns:a="http://schemas.openxmlformats.org/drawingml/2006/main">
              <a:ext uri="{FF2B5EF4-FFF2-40B4-BE49-F238E27FC236}">
                <a16:creationId xmlns:a16="http://schemas.microsoft.com/office/drawing/2014/main" id="{B881514A-E104-432E-BFF2-546F7B36D19C}"/>
              </a:ext>
            </a:extLst>
          </p:cNvPr>
          <p:cNvSpPr>
            <a:spLocks xmlns:a="http://schemas.openxmlformats.org/drawingml/2006/main" noGrp="1"/>
          </p:cNvSpPr>
          <p:nvPr/>
        </p:nvSpPr>
        <p:spPr>
          <a:xfrm xmlns:a="http://schemas.openxmlformats.org/drawingml/2006/main">
            <a:off x="4600575" y="30670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2</a:t>
            </a:r>
          </a:p>
        </p:txBody>
      </p:sp>
      <p:sp>
        <p:nvSpPr>
          <p:cNvPr id="16" name="diagram-211">
            <a:extLst xmlns:a="http://schemas.openxmlformats.org/drawingml/2006/main">
              <a:ext uri="{FF2B5EF4-FFF2-40B4-BE49-F238E27FC236}">
                <a16:creationId xmlns:a16="http://schemas.microsoft.com/office/drawing/2014/main" id="{FFB6BB8A-866B-489D-AC4B-AE1C1131812A}"/>
              </a:ext>
            </a:extLst>
          </p:cNvPr>
          <p:cNvSpPr>
            <a:spLocks xmlns:a="http://schemas.openxmlformats.org/drawingml/2006/main" noGrp="1"/>
          </p:cNvSpPr>
          <p:nvPr/>
        </p:nvSpPr>
        <p:spPr>
          <a:xfrm xmlns:a="http://schemas.openxmlformats.org/drawingml/2006/main">
            <a:off x="5524500" y="29241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7" name="diagram-212">
            <a:extLst xmlns:a="http://schemas.openxmlformats.org/drawingml/2006/main">
              <a:ext uri="{FF2B5EF4-FFF2-40B4-BE49-F238E27FC236}">
                <a16:creationId xmlns:a16="http://schemas.microsoft.com/office/drawing/2014/main" id="{1D0F886E-CCF6-46B1-B12A-FFC8A4F8C0E2}"/>
              </a:ext>
            </a:extLst>
          </p:cNvPr>
          <p:cNvSpPr>
            <a:spLocks xmlns:a="http://schemas.openxmlformats.org/drawingml/2006/main" noGrp="1"/>
          </p:cNvSpPr>
          <p:nvPr/>
        </p:nvSpPr>
        <p:spPr>
          <a:xfrm xmlns:a="http://schemas.openxmlformats.org/drawingml/2006/main">
            <a:off x="5695950" y="30670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3</a:t>
            </a:r>
          </a:p>
        </p:txBody>
      </p:sp>
      <p:sp>
        <p:nvSpPr>
          <p:cNvPr id="18" name="diagram-213">
            <a:extLst xmlns:a="http://schemas.openxmlformats.org/drawingml/2006/main">
              <a:ext uri="{FF2B5EF4-FFF2-40B4-BE49-F238E27FC236}">
                <a16:creationId xmlns:a16="http://schemas.microsoft.com/office/drawing/2014/main" id="{E6AC330F-22AA-457B-BCD4-5F9D327BF912}"/>
              </a:ext>
            </a:extLst>
          </p:cNvPr>
          <p:cNvSpPr>
            <a:spLocks xmlns:a="http://schemas.openxmlformats.org/drawingml/2006/main" noGrp="1"/>
          </p:cNvSpPr>
          <p:nvPr/>
        </p:nvSpPr>
        <p:spPr>
          <a:xfrm xmlns:a="http://schemas.openxmlformats.org/drawingml/2006/main">
            <a:off x="7239000" y="30003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How often does it happen?</a:t>
            </a:r>
          </a:p>
        </p:txBody>
      </p:sp>
      <p:sp>
        <p:nvSpPr>
          <p:cNvPr id="19" name="diagram-214">
            <a:extLst xmlns:a="http://schemas.openxmlformats.org/drawingml/2006/main">
              <a:ext uri="{FF2B5EF4-FFF2-40B4-BE49-F238E27FC236}">
                <a16:creationId xmlns:a16="http://schemas.microsoft.com/office/drawing/2014/main" id="{C68C0A10-C4C3-4763-838F-DEC800484433}"/>
              </a:ext>
            </a:extLst>
          </p:cNvPr>
          <p:cNvSpPr>
            <a:spLocks xmlns:a="http://schemas.openxmlformats.org/drawingml/2006/main" noGrp="1"/>
          </p:cNvSpPr>
          <p:nvPr/>
        </p:nvSpPr>
        <p:spPr>
          <a:xfrm xmlns:a="http://schemas.openxmlformats.org/drawingml/2006/main">
            <a:off x="762000" y="387667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50"/>
                </a:solidFill>
                <a:latin typeface="Tahoma"/>
                <a:ea typeface="Tahoma"/>
                <a:cs typeface="Tahoma"/>
              </a:defRPr>
            </a:pPr>
            <a:r>
              <a:rPr sz="2175" b="1">
                <a:solidFill>
                  <a:srgbClr val="102D50"/>
                </a:solidFill>
                <a:latin typeface="Tahoma"/>
                <a:ea typeface="Tahoma"/>
                <a:cs typeface="Tahoma"/>
              </a:rPr>
              <a:t>Readiness</a:t>
            </a:r>
          </a:p>
        </p:txBody>
      </p:sp>
      <p:sp>
        <p:nvSpPr>
          <p:cNvPr id="20" name="diagram-215">
            <a:extLst xmlns:a="http://schemas.openxmlformats.org/drawingml/2006/main">
              <a:ext uri="{FF2B5EF4-FFF2-40B4-BE49-F238E27FC236}">
                <a16:creationId xmlns:a16="http://schemas.microsoft.com/office/drawing/2014/main" id="{D935FA3D-C054-41FE-8203-81224126BFCA}"/>
              </a:ext>
            </a:extLst>
          </p:cNvPr>
          <p:cNvSpPr>
            <a:spLocks xmlns:a="http://schemas.openxmlformats.org/drawingml/2006/main" noGrp="1"/>
          </p:cNvSpPr>
          <p:nvPr/>
        </p:nvSpPr>
        <p:spPr>
          <a:xfrm xmlns:a="http://schemas.openxmlformats.org/drawingml/2006/main">
            <a:off x="3333750" y="38004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21" name="diagram-216">
            <a:extLst xmlns:a="http://schemas.openxmlformats.org/drawingml/2006/main">
              <a:ext uri="{FF2B5EF4-FFF2-40B4-BE49-F238E27FC236}">
                <a16:creationId xmlns:a16="http://schemas.microsoft.com/office/drawing/2014/main" id="{ED61C74C-8DEF-4479-99CF-799F39F1FD6C}"/>
              </a:ext>
            </a:extLst>
          </p:cNvPr>
          <p:cNvSpPr>
            <a:spLocks xmlns:a="http://schemas.openxmlformats.org/drawingml/2006/main" noGrp="1"/>
          </p:cNvSpPr>
          <p:nvPr/>
        </p:nvSpPr>
        <p:spPr>
          <a:xfrm xmlns:a="http://schemas.openxmlformats.org/drawingml/2006/main">
            <a:off x="3505200" y="39433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1</a:t>
            </a:r>
          </a:p>
        </p:txBody>
      </p:sp>
      <p:sp>
        <p:nvSpPr>
          <p:cNvPr id="22" name="diagram-217">
            <a:extLst xmlns:a="http://schemas.openxmlformats.org/drawingml/2006/main">
              <a:ext uri="{FF2B5EF4-FFF2-40B4-BE49-F238E27FC236}">
                <a16:creationId xmlns:a16="http://schemas.microsoft.com/office/drawing/2014/main" id="{8126A1A2-1CBF-4254-BDCD-4B91B7FCA6BA}"/>
              </a:ext>
            </a:extLst>
          </p:cNvPr>
          <p:cNvSpPr>
            <a:spLocks xmlns:a="http://schemas.openxmlformats.org/drawingml/2006/main" noGrp="1"/>
          </p:cNvSpPr>
          <p:nvPr/>
        </p:nvSpPr>
        <p:spPr>
          <a:xfrm xmlns:a="http://schemas.openxmlformats.org/drawingml/2006/main">
            <a:off x="4429125" y="38004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23" name="diagram-218">
            <a:extLst xmlns:a="http://schemas.openxmlformats.org/drawingml/2006/main">
              <a:ext uri="{FF2B5EF4-FFF2-40B4-BE49-F238E27FC236}">
                <a16:creationId xmlns:a16="http://schemas.microsoft.com/office/drawing/2014/main" id="{A6D6903B-88F1-4C9E-BFDE-30DEA13B6F11}"/>
              </a:ext>
            </a:extLst>
          </p:cNvPr>
          <p:cNvSpPr>
            <a:spLocks xmlns:a="http://schemas.openxmlformats.org/drawingml/2006/main" noGrp="1"/>
          </p:cNvSpPr>
          <p:nvPr/>
        </p:nvSpPr>
        <p:spPr>
          <a:xfrm xmlns:a="http://schemas.openxmlformats.org/drawingml/2006/main">
            <a:off x="4600575" y="39433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2</a:t>
            </a:r>
          </a:p>
        </p:txBody>
      </p:sp>
      <p:sp>
        <p:nvSpPr>
          <p:cNvPr id="24" name="diagram-219">
            <a:extLst xmlns:a="http://schemas.openxmlformats.org/drawingml/2006/main">
              <a:ext uri="{FF2B5EF4-FFF2-40B4-BE49-F238E27FC236}">
                <a16:creationId xmlns:a16="http://schemas.microsoft.com/office/drawing/2014/main" id="{AE6116EC-5F15-4DF0-8ACC-9BE38EB2ACD3}"/>
              </a:ext>
            </a:extLst>
          </p:cNvPr>
          <p:cNvSpPr>
            <a:spLocks xmlns:a="http://schemas.openxmlformats.org/drawingml/2006/main" noGrp="1"/>
          </p:cNvSpPr>
          <p:nvPr/>
        </p:nvSpPr>
        <p:spPr>
          <a:xfrm xmlns:a="http://schemas.openxmlformats.org/drawingml/2006/main">
            <a:off x="5524500" y="3800475"/>
            <a:ext cx="762000" cy="6000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25" name="diagram-220">
            <a:extLst xmlns:a="http://schemas.openxmlformats.org/drawingml/2006/main">
              <a:ext uri="{FF2B5EF4-FFF2-40B4-BE49-F238E27FC236}">
                <a16:creationId xmlns:a16="http://schemas.microsoft.com/office/drawing/2014/main" id="{AFCF3978-701E-48EC-88B7-20355AD04E3E}"/>
              </a:ext>
            </a:extLst>
          </p:cNvPr>
          <p:cNvSpPr>
            <a:spLocks xmlns:a="http://schemas.openxmlformats.org/drawingml/2006/main" noGrp="1"/>
          </p:cNvSpPr>
          <p:nvPr/>
        </p:nvSpPr>
        <p:spPr>
          <a:xfrm xmlns:a="http://schemas.openxmlformats.org/drawingml/2006/main">
            <a:off x="5695950" y="3943350"/>
            <a:ext cx="419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3</a:t>
            </a:r>
          </a:p>
        </p:txBody>
      </p:sp>
      <p:sp>
        <p:nvSpPr>
          <p:cNvPr id="26" name="diagram-221">
            <a:extLst xmlns:a="http://schemas.openxmlformats.org/drawingml/2006/main">
              <a:ext uri="{FF2B5EF4-FFF2-40B4-BE49-F238E27FC236}">
                <a16:creationId xmlns:a16="http://schemas.microsoft.com/office/drawing/2014/main" id="{F63AA8F0-67F6-43F4-AE2C-D2ECA62D0046}"/>
              </a:ext>
            </a:extLst>
          </p:cNvPr>
          <p:cNvSpPr>
            <a:spLocks xmlns:a="http://schemas.openxmlformats.org/drawingml/2006/main" noGrp="1"/>
          </p:cNvSpPr>
          <p:nvPr/>
        </p:nvSpPr>
        <p:spPr>
          <a:xfrm xmlns:a="http://schemas.openxmlformats.org/drawingml/2006/main">
            <a:off x="7239000" y="38766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Are scope, rules, information, and owner clear?</a:t>
            </a:r>
          </a:p>
        </p:txBody>
      </p:sp>
      <p:sp>
        <p:nvSpPr>
          <p:cNvPr id="27" name="diagram-222">
            <a:extLst xmlns:a="http://schemas.openxmlformats.org/drawingml/2006/main">
              <a:ext uri="{FF2B5EF4-FFF2-40B4-BE49-F238E27FC236}">
                <a16:creationId xmlns:a16="http://schemas.microsoft.com/office/drawing/2014/main" id="{AF83021E-D480-40AC-8BCF-4D2A62B77A08}"/>
              </a:ext>
            </a:extLst>
          </p:cNvPr>
          <p:cNvSpPr>
            <a:spLocks xmlns:a="http://schemas.openxmlformats.org/drawingml/2006/main" noGrp="1"/>
          </p:cNvSpPr>
          <p:nvPr/>
        </p:nvSpPr>
        <p:spPr>
          <a:xfrm xmlns:a="http://schemas.openxmlformats.org/drawingml/2006/main">
            <a:off x="762000" y="4752975"/>
            <a:ext cx="228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50"/>
                </a:solidFill>
                <a:latin typeface="Tahoma"/>
                <a:ea typeface="Tahoma"/>
                <a:cs typeface="Tahoma"/>
              </a:defRPr>
            </a:pPr>
            <a:r>
              <a:rPr sz="2175" b="1">
                <a:solidFill>
                  <a:srgbClr val="102D50"/>
                </a:solidFill>
                <a:latin typeface="Tahoma"/>
                <a:ea typeface="Tahoma"/>
                <a:cs typeface="Tahoma"/>
              </a:rPr>
              <a:t>Effort</a:t>
            </a:r>
          </a:p>
        </p:txBody>
      </p:sp>
      <p:sp>
        <p:nvSpPr>
          <p:cNvPr id="28" name="diagram-223">
            <a:extLst xmlns:a="http://schemas.openxmlformats.org/drawingml/2006/main">
              <a:ext uri="{FF2B5EF4-FFF2-40B4-BE49-F238E27FC236}">
                <a16:creationId xmlns:a16="http://schemas.microsoft.com/office/drawing/2014/main" id="{80B8649B-C3F6-4C2F-BA6F-EDFA5AEB9E46}"/>
              </a:ext>
            </a:extLst>
          </p:cNvPr>
          <p:cNvSpPr>
            <a:spLocks xmlns:a="http://schemas.openxmlformats.org/drawingml/2006/main" noGrp="1"/>
          </p:cNvSpPr>
          <p:nvPr/>
        </p:nvSpPr>
        <p:spPr>
          <a:xfrm xmlns:a="http://schemas.openxmlformats.org/drawingml/2006/main">
            <a:off x="3333750" y="479107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Low     Medium     High</a:t>
            </a:r>
          </a:p>
        </p:txBody>
      </p:sp>
      <p:sp>
        <p:nvSpPr>
          <p:cNvPr id="29" name="diagram-224">
            <a:extLst xmlns:a="http://schemas.openxmlformats.org/drawingml/2006/main">
              <a:ext uri="{FF2B5EF4-FFF2-40B4-BE49-F238E27FC236}">
                <a16:creationId xmlns:a16="http://schemas.microsoft.com/office/drawing/2014/main" id="{CC395B34-2C53-43FD-92BA-0C0FC48911EA}"/>
              </a:ext>
            </a:extLst>
          </p:cNvPr>
          <p:cNvSpPr>
            <a:spLocks xmlns:a="http://schemas.openxmlformats.org/drawingml/2006/main" noGrp="1"/>
          </p:cNvSpPr>
          <p:nvPr/>
        </p:nvSpPr>
        <p:spPr>
          <a:xfrm xmlns:a="http://schemas.openxmlformats.org/drawingml/2006/main">
            <a:off x="7239000" y="4752975"/>
            <a:ext cx="4095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B80"/>
                </a:solidFill>
                <a:latin typeface="Tahoma"/>
                <a:ea typeface="Tahoma"/>
                <a:cs typeface="Tahoma"/>
              </a:defRPr>
            </a:pPr>
            <a:r>
              <a:rPr sz="1725" b="0">
                <a:solidFill>
                  <a:srgbClr val="536B80"/>
                </a:solidFill>
                <a:latin typeface="Tahoma"/>
                <a:ea typeface="Tahoma"/>
                <a:cs typeface="Tahoma"/>
              </a:rPr>
              <a:t>Low / Medium / High</a:t>
            </a:r>
          </a:p>
        </p:txBody>
      </p:sp>
    </p:spTree>
    <p:extLst>
      <p:ext uri="{BB962C8B-B14F-4D97-AF65-F5344CB8AC3E}">
        <p14:creationId xmlns:p14="http://schemas.microsoft.com/office/powerpoint/2010/main" val="2091756074"/>
      </p:ext>
    </p:extLst>
  </p:cSld>
</p:sld>
</file>

<file path=ppt/slides/slide2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5" name="diagram-225">
            <a:extLst xmlns:a="http://schemas.openxmlformats.org/drawingml/2006/main">
              <a:ext uri="{FF2B5EF4-FFF2-40B4-BE49-F238E27FC236}">
                <a16:creationId xmlns:a16="http://schemas.microsoft.com/office/drawing/2014/main" id="{577023BC-05DE-40D3-961C-4D7952CADE60}"/>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3 · PRACTICE 2</a:t>
            </a:r>
          </a:p>
        </p:txBody>
      </p:sp>
      <p:sp>
        <p:nvSpPr>
          <p:cNvPr id="2" name="diagram-226">
            <a:extLst xmlns:a="http://schemas.openxmlformats.org/drawingml/2006/main">
              <a:ext uri="{FF2B5EF4-FFF2-40B4-BE49-F238E27FC236}">
                <a16:creationId xmlns:a16="http://schemas.microsoft.com/office/drawing/2014/main" id="{5B8185E3-5659-4F8D-8FA9-A80BF7C7504F}"/>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A manageable boundary</a:t>
            </a:r>
          </a:p>
        </p:txBody>
      </p:sp>
      <p:sp>
        <p:nvSpPr>
          <p:cNvPr id="3" name="diagram-227">
            <a:extLst xmlns:a="http://schemas.openxmlformats.org/drawingml/2006/main">
              <a:ext uri="{FF2B5EF4-FFF2-40B4-BE49-F238E27FC236}">
                <a16:creationId xmlns:a16="http://schemas.microsoft.com/office/drawing/2014/main" id="{D339434F-158F-4A0E-812A-ACBEB9765398}"/>
              </a:ext>
            </a:extLst>
          </p:cNvPr>
          <p:cNvSpPr>
            <a:spLocks xmlns:a="http://schemas.openxmlformats.org/drawingml/2006/main" noGrp="1"/>
          </p:cNvSpPr>
          <p:nvPr/>
        </p:nvSpPr>
        <p:spPr>
          <a:xfrm xmlns:a="http://schemas.openxmlformats.org/drawingml/2006/main">
            <a:off x="762000" y="2286000"/>
            <a:ext cx="10572750" cy="2619375"/>
          </a:xfrm>
          <a:prstGeom xmlns:a="http://schemas.openxmlformats.org/drawingml/2006/main" prst="rect">
            <a:avLst/>
          </a:prstGeom>
          <a:noFill xmlns:a="http://schemas.openxmlformats.org/drawingml/2006/main"/>
          <a:ln xmlns:a="http://schemas.openxmlformats.org/drawingml/2006/main" w="19050">
            <a:solidFill>
              <a:srgbClr val="174FBA"/>
            </a:solidFill>
          </a:ln>
        </p:spPr>
      </p:sp>
      <p:sp>
        <p:nvSpPr>
          <p:cNvPr id="4" name="diagram-228">
            <a:extLst xmlns:a="http://schemas.openxmlformats.org/drawingml/2006/main">
              <a:ext uri="{FF2B5EF4-FFF2-40B4-BE49-F238E27FC236}">
                <a16:creationId xmlns:a16="http://schemas.microsoft.com/office/drawing/2014/main" id="{B9148E1F-7DC5-4BD7-98C7-E9D9A1DBDD66}"/>
              </a:ext>
            </a:extLst>
          </p:cNvPr>
          <p:cNvSpPr>
            <a:spLocks xmlns:a="http://schemas.openxmlformats.org/drawingml/2006/main" noGrp="1"/>
          </p:cNvSpPr>
          <p:nvPr/>
        </p:nvSpPr>
        <p:spPr>
          <a:xfrm xmlns:a="http://schemas.openxmlformats.org/drawingml/2006/main">
            <a:off x="1047750" y="2428875"/>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4FBA"/>
                </a:solidFill>
                <a:latin typeface="Tahoma"/>
                <a:ea typeface="Tahoma"/>
                <a:cs typeface="Tahoma"/>
              </a:defRPr>
            </a:pPr>
            <a:r>
              <a:rPr sz="2100" b="1">
                <a:solidFill>
                  <a:srgbClr val="174FBA"/>
                </a:solidFill>
                <a:latin typeface="Tahoma"/>
                <a:ea typeface="Tahoma"/>
                <a:cs typeface="Tahoma"/>
              </a:rPr>
              <a:t>Selected boundary</a:t>
            </a:r>
          </a:p>
        </p:txBody>
      </p:sp>
      <p:sp>
        <p:nvSpPr>
          <p:cNvPr id="5" name="diagram-229">
            <a:extLst xmlns:a="http://schemas.openxmlformats.org/drawingml/2006/main">
              <a:ext uri="{FF2B5EF4-FFF2-40B4-BE49-F238E27FC236}">
                <a16:creationId xmlns:a16="http://schemas.microsoft.com/office/drawing/2014/main" id="{BA250173-983E-44FA-97FE-BC8E0AB5A449}"/>
              </a:ext>
            </a:extLst>
          </p:cNvPr>
          <p:cNvSpPr>
            <a:spLocks xmlns:a="http://schemas.openxmlformats.org/drawingml/2006/main" noGrp="1"/>
          </p:cNvSpPr>
          <p:nvPr/>
        </p:nvSpPr>
        <p:spPr>
          <a:xfrm xmlns:a="http://schemas.openxmlformats.org/drawingml/2006/main">
            <a:off x="762000" y="3190875"/>
            <a:ext cx="325120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230">
            <a:extLst xmlns:a="http://schemas.openxmlformats.org/drawingml/2006/main">
              <a:ext uri="{FF2B5EF4-FFF2-40B4-BE49-F238E27FC236}">
                <a16:creationId xmlns:a16="http://schemas.microsoft.com/office/drawing/2014/main" id="{096BF38E-4D2F-40EE-85E9-5749EC1EF3D2}"/>
              </a:ext>
            </a:extLst>
          </p:cNvPr>
          <p:cNvSpPr>
            <a:spLocks xmlns:a="http://schemas.openxmlformats.org/drawingml/2006/main" noGrp="1"/>
          </p:cNvSpPr>
          <p:nvPr/>
        </p:nvSpPr>
        <p:spPr>
          <a:xfrm xmlns:a="http://schemas.openxmlformats.org/drawingml/2006/main">
            <a:off x="933450" y="3333750"/>
            <a:ext cx="2908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Starts when…</a:t>
            </a:r>
          </a:p>
        </p:txBody>
      </p:sp>
      <p:sp>
        <p:nvSpPr>
          <p:cNvPr id="7" name="diagram-231">
            <a:extLst xmlns:a="http://schemas.openxmlformats.org/drawingml/2006/main">
              <a:ext uri="{FF2B5EF4-FFF2-40B4-BE49-F238E27FC236}">
                <a16:creationId xmlns:a16="http://schemas.microsoft.com/office/drawing/2014/main" id="{750D14C8-8896-448A-B215-77BDB89D84E9}"/>
              </a:ext>
            </a:extLst>
          </p:cNvPr>
          <p:cNvSpPr>
            <a:spLocks xmlns:a="http://schemas.openxmlformats.org/drawingml/2006/main" noGrp="1"/>
          </p:cNvSpPr>
          <p:nvPr/>
        </p:nvSpPr>
        <p:spPr>
          <a:xfrm xmlns:a="http://schemas.openxmlformats.org/drawingml/2006/main">
            <a:off x="4375150" y="3190875"/>
            <a:ext cx="325120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8" name="diagram-232">
            <a:extLst xmlns:a="http://schemas.openxmlformats.org/drawingml/2006/main">
              <a:ext uri="{FF2B5EF4-FFF2-40B4-BE49-F238E27FC236}">
                <a16:creationId xmlns:a16="http://schemas.microsoft.com/office/drawing/2014/main" id="{F8E030D6-E0F2-4525-99D5-23173C029FA8}"/>
              </a:ext>
            </a:extLst>
          </p:cNvPr>
          <p:cNvSpPr>
            <a:spLocks xmlns:a="http://schemas.openxmlformats.org/drawingml/2006/main" noGrp="1"/>
          </p:cNvSpPr>
          <p:nvPr/>
        </p:nvSpPr>
        <p:spPr>
          <a:xfrm xmlns:a="http://schemas.openxmlformats.org/drawingml/2006/main">
            <a:off x="4546600" y="3333750"/>
            <a:ext cx="2908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Work to change</a:t>
            </a:r>
          </a:p>
        </p:txBody>
      </p:sp>
      <p:cxnSp>
        <p:nvCxnSpPr>
          <p:cNvPr id="23" name=""/>
          <p:cNvCxnSpPr>
            <a:stCxn xmlns:a="http://schemas.openxmlformats.org/drawingml/2006/main" id="5" idx="3"/>
            <a:endCxn xmlns:a="http://schemas.openxmlformats.org/drawingml/2006/main" id="7" idx="1"/>
          </p:cNvCxnSpPr>
          <p:nvPr/>
        </p:nvCxnSpPr>
        <p:spPr>
          <a:xfrm xmlns:a="http://schemas.openxmlformats.org/drawingml/2006/main">
            <a:off x="4013200" y="3667125"/>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0" name="diagram-233">
            <a:extLst xmlns:a="http://schemas.openxmlformats.org/drawingml/2006/main">
              <a:ext uri="{FF2B5EF4-FFF2-40B4-BE49-F238E27FC236}">
                <a16:creationId xmlns:a16="http://schemas.microsoft.com/office/drawing/2014/main" id="{31948280-E1CE-44EE-A740-77976C646EC0}"/>
              </a:ext>
            </a:extLst>
          </p:cNvPr>
          <p:cNvSpPr>
            <a:spLocks xmlns:a="http://schemas.openxmlformats.org/drawingml/2006/main" noGrp="1"/>
          </p:cNvSpPr>
          <p:nvPr/>
        </p:nvSpPr>
        <p:spPr>
          <a:xfrm xmlns:a="http://schemas.openxmlformats.org/drawingml/2006/main">
            <a:off x="7988300" y="3190875"/>
            <a:ext cx="3251200"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1" name="diagram-234">
            <a:extLst xmlns:a="http://schemas.openxmlformats.org/drawingml/2006/main">
              <a:ext uri="{FF2B5EF4-FFF2-40B4-BE49-F238E27FC236}">
                <a16:creationId xmlns:a16="http://schemas.microsoft.com/office/drawing/2014/main" id="{27A59D6F-93FC-4A54-8EF1-09ABC687826D}"/>
              </a:ext>
            </a:extLst>
          </p:cNvPr>
          <p:cNvSpPr>
            <a:spLocks xmlns:a="http://schemas.openxmlformats.org/drawingml/2006/main" noGrp="1"/>
          </p:cNvSpPr>
          <p:nvPr/>
        </p:nvSpPr>
        <p:spPr>
          <a:xfrm xmlns:a="http://schemas.openxmlformats.org/drawingml/2006/main">
            <a:off x="8159750" y="3333750"/>
            <a:ext cx="29083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Ends when…</a:t>
            </a:r>
          </a:p>
        </p:txBody>
      </p:sp>
      <p:cxnSp>
        <p:nvCxnSpPr>
          <p:cNvPr id="26" name=""/>
          <p:cNvCxnSpPr>
            <a:stCxn xmlns:a="http://schemas.openxmlformats.org/drawingml/2006/main" id="7" idx="3"/>
            <a:endCxn xmlns:a="http://schemas.openxmlformats.org/drawingml/2006/main" id="10" idx="1"/>
          </p:cNvCxnSpPr>
          <p:nvPr/>
        </p:nvCxnSpPr>
        <p:spPr>
          <a:xfrm xmlns:a="http://schemas.openxmlformats.org/drawingml/2006/main">
            <a:off x="7626350" y="3667125"/>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3" name="diagram-235">
            <a:extLst xmlns:a="http://schemas.openxmlformats.org/drawingml/2006/main">
              <a:ext uri="{FF2B5EF4-FFF2-40B4-BE49-F238E27FC236}">
                <a16:creationId xmlns:a16="http://schemas.microsoft.com/office/drawing/2014/main" id="{5B7F8BE1-0B22-4B03-92D5-0D72ECC43CF0}"/>
              </a:ext>
            </a:extLst>
          </p:cNvPr>
          <p:cNvSpPr>
            <a:spLocks xmlns:a="http://schemas.openxmlformats.org/drawingml/2006/main" noGrp="1"/>
          </p:cNvSpPr>
          <p:nvPr/>
        </p:nvSpPr>
        <p:spPr>
          <a:xfrm xmlns:a="http://schemas.openxmlformats.org/drawingml/2006/main">
            <a:off x="952500" y="5191125"/>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24B"/>
                </a:solidFill>
                <a:latin typeface="Tahoma"/>
                <a:ea typeface="Tahoma"/>
                <a:cs typeface="Tahoma"/>
              </a:defRPr>
            </a:pPr>
            <a:r>
              <a:rPr sz="2250" b="0">
                <a:solidFill>
                  <a:srgbClr val="18324B"/>
                </a:solidFill>
                <a:latin typeface="Tahoma"/>
                <a:ea typeface="Tahoma"/>
                <a:cs typeface="Tahoma"/>
              </a:rPr>
              <a:t>Owner: who is responsible?</a:t>
            </a:r>
          </a:p>
        </p:txBody>
      </p:sp>
      <p:sp>
        <p:nvSpPr>
          <p:cNvPr id="14" name="diagram-236">
            <a:extLst xmlns:a="http://schemas.openxmlformats.org/drawingml/2006/main">
              <a:ext uri="{FF2B5EF4-FFF2-40B4-BE49-F238E27FC236}">
                <a16:creationId xmlns:a16="http://schemas.microsoft.com/office/drawing/2014/main" id="{436EC0A3-0645-473C-8242-909EB7B4CE6B}"/>
              </a:ext>
            </a:extLst>
          </p:cNvPr>
          <p:cNvSpPr>
            <a:spLocks xmlns:a="http://schemas.openxmlformats.org/drawingml/2006/main" noGrp="1"/>
          </p:cNvSpPr>
          <p:nvPr/>
        </p:nvSpPr>
        <p:spPr>
          <a:xfrm xmlns:a="http://schemas.openxmlformats.org/drawingml/2006/main">
            <a:off x="6286500" y="5191125"/>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B76D13"/>
                </a:solidFill>
                <a:latin typeface="Tahoma"/>
                <a:ea typeface="Tahoma"/>
                <a:cs typeface="Tahoma"/>
              </a:defRPr>
            </a:pPr>
            <a:r>
              <a:rPr sz="2250" b="0">
                <a:solidFill>
                  <a:srgbClr val="B76D13"/>
                </a:solidFill>
                <a:latin typeface="Tahoma"/>
                <a:ea typeface="Tahoma"/>
                <a:cs typeface="Tahoma"/>
              </a:rPr>
              <a:t>Outside scope: what is excluded?</a:t>
            </a:r>
          </a:p>
        </p:txBody>
      </p:sp>
    </p:spTree>
    <p:extLst>
      <p:ext uri="{BB962C8B-B14F-4D97-AF65-F5344CB8AC3E}">
        <p14:creationId xmlns:p14="http://schemas.microsoft.com/office/powerpoint/2010/main" val="1303218243"/>
      </p:ext>
    </p:extLst>
  </p:cSld>
</p:sld>
</file>

<file path=ppt/slides/slide2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9" name="diagram-237">
            <a:extLst xmlns:a="http://schemas.openxmlformats.org/drawingml/2006/main">
              <a:ext uri="{FF2B5EF4-FFF2-40B4-BE49-F238E27FC236}">
                <a16:creationId xmlns:a16="http://schemas.microsoft.com/office/drawing/2014/main" id="{FED299B7-8C00-430F-BCC8-D215D21F12CC}"/>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3 · PRACTICE 3</a:t>
            </a:r>
          </a:p>
        </p:txBody>
      </p:sp>
      <p:sp>
        <p:nvSpPr>
          <p:cNvPr id="2" name="diagram-238">
            <a:extLst xmlns:a="http://schemas.openxmlformats.org/drawingml/2006/main">
              <a:ext uri="{FF2B5EF4-FFF2-40B4-BE49-F238E27FC236}">
                <a16:creationId xmlns:a16="http://schemas.microsoft.com/office/drawing/2014/main" id="{9BA81A63-C537-4F0F-ACB7-7C92830E221C}"/>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Peer scope review</a:t>
            </a:r>
          </a:p>
        </p:txBody>
      </p:sp>
      <p:sp>
        <p:nvSpPr>
          <p:cNvPr id="3" name="diagram-239">
            <a:extLst xmlns:a="http://schemas.openxmlformats.org/drawingml/2006/main">
              <a:ext uri="{FF2B5EF4-FFF2-40B4-BE49-F238E27FC236}">
                <a16:creationId xmlns:a16="http://schemas.microsoft.com/office/drawing/2014/main" id="{DC4417C0-8179-4E9A-88E3-5BC1913D61E6}"/>
              </a:ext>
            </a:extLst>
          </p:cNvPr>
          <p:cNvSpPr>
            <a:spLocks xmlns:a="http://schemas.openxmlformats.org/drawingml/2006/main" noGrp="1"/>
          </p:cNvSpPr>
          <p:nvPr/>
        </p:nvSpPr>
        <p:spPr>
          <a:xfrm xmlns:a="http://schemas.openxmlformats.org/drawingml/2006/main">
            <a:off x="952500" y="2762250"/>
            <a:ext cx="4095750" cy="14287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240">
            <a:extLst xmlns:a="http://schemas.openxmlformats.org/drawingml/2006/main">
              <a:ext uri="{FF2B5EF4-FFF2-40B4-BE49-F238E27FC236}">
                <a16:creationId xmlns:a16="http://schemas.microsoft.com/office/drawing/2014/main" id="{FCCE8386-D403-41CF-8A11-DDB248EB5E14}"/>
              </a:ext>
            </a:extLst>
          </p:cNvPr>
          <p:cNvSpPr>
            <a:spLocks xmlns:a="http://schemas.openxmlformats.org/drawingml/2006/main" noGrp="1"/>
          </p:cNvSpPr>
          <p:nvPr/>
        </p:nvSpPr>
        <p:spPr>
          <a:xfrm xmlns:a="http://schemas.openxmlformats.org/drawingml/2006/main">
            <a:off x="1123950" y="2905125"/>
            <a:ext cx="37528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Presenting group</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Opportunity and evidence</a:t>
            </a:r>
          </a:p>
        </p:txBody>
      </p:sp>
      <p:sp>
        <p:nvSpPr>
          <p:cNvPr id="5" name="diagram-241">
            <a:extLst xmlns:a="http://schemas.openxmlformats.org/drawingml/2006/main">
              <a:ext uri="{FF2B5EF4-FFF2-40B4-BE49-F238E27FC236}">
                <a16:creationId xmlns:a16="http://schemas.microsoft.com/office/drawing/2014/main" id="{066E30C6-6F81-4929-8103-43658F906F1A}"/>
              </a:ext>
            </a:extLst>
          </p:cNvPr>
          <p:cNvSpPr>
            <a:spLocks xmlns:a="http://schemas.openxmlformats.org/drawingml/2006/main" noGrp="1"/>
          </p:cNvSpPr>
          <p:nvPr/>
        </p:nvSpPr>
        <p:spPr>
          <a:xfrm xmlns:a="http://schemas.openxmlformats.org/drawingml/2006/main">
            <a:off x="7143750" y="2762250"/>
            <a:ext cx="4095750" cy="14287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242">
            <a:extLst xmlns:a="http://schemas.openxmlformats.org/drawingml/2006/main">
              <a:ext uri="{FF2B5EF4-FFF2-40B4-BE49-F238E27FC236}">
                <a16:creationId xmlns:a16="http://schemas.microsoft.com/office/drawing/2014/main" id="{C63BE358-1590-4190-A31B-1912B38E4DA3}"/>
              </a:ext>
            </a:extLst>
          </p:cNvPr>
          <p:cNvSpPr>
            <a:spLocks xmlns:a="http://schemas.openxmlformats.org/drawingml/2006/main" noGrp="1"/>
          </p:cNvSpPr>
          <p:nvPr/>
        </p:nvSpPr>
        <p:spPr>
          <a:xfrm xmlns:a="http://schemas.openxmlformats.org/drawingml/2006/main">
            <a:off x="7315200" y="2905125"/>
            <a:ext cx="37528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Peer group</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Scope and open questions</a:t>
            </a:r>
          </a:p>
        </p:txBody>
      </p:sp>
      <p:cxnSp>
        <p:nvCxnSpPr>
          <p:cNvPr id="15" name=""/>
          <p:cNvCxnSpPr>
            <a:stCxn xmlns:a="http://schemas.openxmlformats.org/drawingml/2006/main" id="3" idx="3"/>
            <a:endCxn xmlns:a="http://schemas.openxmlformats.org/drawingml/2006/main" id="5" idx="1"/>
          </p:cNvCxnSpPr>
          <p:nvPr/>
        </p:nvCxnSpPr>
        <p:spPr>
          <a:xfrm xmlns:a="http://schemas.openxmlformats.org/drawingml/2006/main">
            <a:off x="5048250" y="3476625"/>
            <a:ext cx="209550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8" name="diagram-243">
            <a:extLst xmlns:a="http://schemas.openxmlformats.org/drawingml/2006/main">
              <a:ext uri="{FF2B5EF4-FFF2-40B4-BE49-F238E27FC236}">
                <a16:creationId xmlns:a16="http://schemas.microsoft.com/office/drawing/2014/main" id="{8AC89B0F-669D-4690-8316-626C4DB242F4}"/>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Explain for 2 minutes, discuss for 2 minutes, then swap</a:t>
            </a:r>
          </a:p>
        </p:txBody>
      </p:sp>
    </p:spTree>
    <p:extLst>
      <p:ext uri="{BB962C8B-B14F-4D97-AF65-F5344CB8AC3E}">
        <p14:creationId xmlns:p14="http://schemas.microsoft.com/office/powerpoint/2010/main" val="2017699985"/>
      </p:ext>
    </p:extLst>
  </p:cSld>
</p:sld>
</file>

<file path=ppt/slides/slide2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6" name="diagram-244">
            <a:extLst xmlns:a="http://schemas.openxmlformats.org/drawingml/2006/main">
              <a:ext uri="{FF2B5EF4-FFF2-40B4-BE49-F238E27FC236}">
                <a16:creationId xmlns:a16="http://schemas.microsoft.com/office/drawing/2014/main" id="{126931E5-EFF4-4B05-9446-DB1100FFA220}"/>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The selected bottleneck</a:t>
            </a:r>
          </a:p>
        </p:txBody>
      </p:sp>
      <p:sp>
        <p:nvSpPr>
          <p:cNvPr id="2" name="diagram-245">
            <a:extLst xmlns:a="http://schemas.openxmlformats.org/drawingml/2006/main">
              <a:ext uri="{FF2B5EF4-FFF2-40B4-BE49-F238E27FC236}">
                <a16:creationId xmlns:a16="http://schemas.microsoft.com/office/drawing/2014/main" id="{4EE0E9B7-2396-4BA7-849D-AB1A7E5446B6}"/>
              </a:ext>
            </a:extLst>
          </p:cNvPr>
          <p:cNvSpPr>
            <a:spLocks xmlns:a="http://schemas.openxmlformats.org/drawingml/2006/main" noGrp="1"/>
          </p:cNvSpPr>
          <p:nvPr/>
        </p:nvSpPr>
        <p:spPr>
          <a:xfrm xmlns:a="http://schemas.openxmlformats.org/drawingml/2006/main">
            <a:off x="762000" y="24765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174FBA"/>
                </a:solidFill>
                <a:latin typeface="Tahoma"/>
                <a:ea typeface="Tahoma"/>
                <a:cs typeface="Tahoma"/>
              </a:defRPr>
            </a:pPr>
            <a:r>
              <a:rPr sz="4350" b="1">
                <a:solidFill>
                  <a:srgbClr val="174FBA"/>
                </a:solidFill>
                <a:latin typeface="Tahoma"/>
                <a:ea typeface="Tahoma"/>
                <a:cs typeface="Tahoma"/>
              </a:rPr>
              <a:t>One selected opportunity</a:t>
            </a:r>
          </a:p>
        </p:txBody>
      </p:sp>
      <p:sp>
        <p:nvSpPr>
          <p:cNvPr id="3" name="diagram-246">
            <a:extLst xmlns:a="http://schemas.openxmlformats.org/drawingml/2006/main">
              <a:ext uri="{FF2B5EF4-FFF2-40B4-BE49-F238E27FC236}">
                <a16:creationId xmlns:a16="http://schemas.microsoft.com/office/drawing/2014/main" id="{8C7DDA91-67FC-4A5D-A3D2-CF2D93C9551D}"/>
              </a:ext>
            </a:extLst>
          </p:cNvPr>
          <p:cNvSpPr>
            <a:spLocks xmlns:a="http://schemas.openxmlformats.org/drawingml/2006/main" noGrp="1"/>
          </p:cNvSpPr>
          <p:nvPr/>
        </p:nvSpPr>
        <p:spPr>
          <a:xfrm xmlns:a="http://schemas.openxmlformats.org/drawingml/2006/main">
            <a:off x="809625" y="3857625"/>
            <a:ext cx="4953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24B"/>
                </a:solidFill>
                <a:latin typeface="Tahoma"/>
                <a:ea typeface="Tahoma"/>
                <a:cs typeface="Tahoma"/>
              </a:defRPr>
            </a:pPr>
            <a:r>
              <a:rPr sz="2400" b="0">
                <a:solidFill>
                  <a:srgbClr val="18324B"/>
                </a:solidFill>
                <a:latin typeface="Tahoma"/>
                <a:ea typeface="Tahoma"/>
                <a:cs typeface="Tahoma"/>
              </a:rPr>
              <a:t>Evidence-based reason</a:t>
            </a:r>
          </a:p>
        </p:txBody>
      </p:sp>
      <p:sp>
        <p:nvSpPr>
          <p:cNvPr id="4" name="diagram-247">
            <a:extLst xmlns:a="http://schemas.openxmlformats.org/drawingml/2006/main">
              <a:ext uri="{FF2B5EF4-FFF2-40B4-BE49-F238E27FC236}">
                <a16:creationId xmlns:a16="http://schemas.microsoft.com/office/drawing/2014/main" id="{90FE0C93-CBAC-4081-92C3-8CF4797B1B9D}"/>
              </a:ext>
            </a:extLst>
          </p:cNvPr>
          <p:cNvSpPr>
            <a:spLocks xmlns:a="http://schemas.openxmlformats.org/drawingml/2006/main" noGrp="1"/>
          </p:cNvSpPr>
          <p:nvPr/>
        </p:nvSpPr>
        <p:spPr>
          <a:xfrm xmlns:a="http://schemas.openxmlformats.org/drawingml/2006/main">
            <a:off x="6572250" y="38576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8324B"/>
                </a:solidFill>
                <a:latin typeface="Tahoma"/>
                <a:ea typeface="Tahoma"/>
                <a:cs typeface="Tahoma"/>
              </a:defRPr>
            </a:pPr>
            <a:r>
              <a:rPr sz="2400" b="0">
                <a:solidFill>
                  <a:srgbClr val="18324B"/>
                </a:solidFill>
                <a:latin typeface="Tahoma"/>
                <a:ea typeface="Tahoma"/>
                <a:cs typeface="Tahoma"/>
              </a:rPr>
              <a:t>Boundary and owner</a:t>
            </a:r>
          </a:p>
        </p:txBody>
      </p:sp>
      <p:sp>
        <p:nvSpPr>
          <p:cNvPr id="5" name="diagram-248">
            <a:extLst xmlns:a="http://schemas.openxmlformats.org/drawingml/2006/main">
              <a:ext uri="{FF2B5EF4-FFF2-40B4-BE49-F238E27FC236}">
                <a16:creationId xmlns:a16="http://schemas.microsoft.com/office/drawing/2014/main" id="{1A7F1D69-6CC8-4499-98A6-2E9BC6A8610C}"/>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Use the same opportunity to design the Blueprint</a:t>
            </a:r>
          </a:p>
        </p:txBody>
      </p:sp>
    </p:spTree>
    <p:extLst>
      <p:ext uri="{BB962C8B-B14F-4D97-AF65-F5344CB8AC3E}">
        <p14:creationId xmlns:p14="http://schemas.microsoft.com/office/powerpoint/2010/main" val="1517482206"/>
      </p:ext>
    </p:extLst>
  </p:cSld>
</p:sld>
</file>

<file path=ppt/slides/slide2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pic>
        <p:nvPicPr>
          <p:cNvPr id="5" name="Leadership workflow blueprint" descr="2D top-down illustration of a leadership team arranging workflow cards with a branch and exception route."/>
          <p:cNvPicPr>
            <a:picLocks xmlns:a="http://schemas.openxmlformats.org/drawingml/2006/main" noChangeAspect="1"/>
          </p:cNvPicPr>
          <p:nvPr/>
        </p:nvPicPr>
        <p:blipFill>
          <a:blip xmlns:r="http://schemas.openxmlformats.org/officeDocument/2006/relationships" xmlns:a="http://schemas.openxmlformats.org/drawingml/2006/main" r:embed="R14e049531225465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diagram-249">
            <a:extLst xmlns:a="http://schemas.openxmlformats.org/drawingml/2006/main">
              <a:ext uri="{FF2B5EF4-FFF2-40B4-BE49-F238E27FC236}">
                <a16:creationId xmlns:a16="http://schemas.microsoft.com/office/drawing/2014/main" id="{CCEC97EE-E397-40CE-865E-E5FB9944E868}"/>
              </a:ext>
            </a:extLst>
          </p:cNvPr>
          <p:cNvSpPr>
            <a:spLocks xmlns:a="http://schemas.openxmlformats.org/drawingml/2006/main" noGrp="1"/>
          </p:cNvSpPr>
          <p:nvPr/>
        </p:nvSpPr>
        <p:spPr>
          <a:xfrm xmlns:a="http://schemas.openxmlformats.org/drawingml/2006/main">
            <a:off x="619125" y="1047750"/>
            <a:ext cx="3619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ABCAE8"/>
                </a:solidFill>
                <a:latin typeface="Tahoma"/>
                <a:ea typeface="Tahoma"/>
                <a:cs typeface="Tahoma"/>
              </a:defRPr>
            </a:pPr>
            <a:r>
              <a:rPr sz="1500" b="1">
                <a:solidFill>
                  <a:srgbClr val="ABCAE8"/>
                </a:solidFill>
                <a:latin typeface="Tahoma"/>
                <a:ea typeface="Tahoma"/>
                <a:cs typeface="Tahoma"/>
              </a:rPr>
              <a:t>MODULE 3</a:t>
            </a:r>
          </a:p>
        </p:txBody>
      </p:sp>
      <p:sp>
        <p:nvSpPr>
          <p:cNvPr id="3" name="diagram-250">
            <a:extLst xmlns:a="http://schemas.openxmlformats.org/drawingml/2006/main">
              <a:ext uri="{FF2B5EF4-FFF2-40B4-BE49-F238E27FC236}">
                <a16:creationId xmlns:a16="http://schemas.microsoft.com/office/drawing/2014/main" id="{D4EF8095-E291-4436-9FA9-6846BD00E45C}"/>
              </a:ext>
            </a:extLst>
          </p:cNvPr>
          <p:cNvSpPr>
            <a:spLocks xmlns:a="http://schemas.openxmlformats.org/drawingml/2006/main" noGrp="1"/>
          </p:cNvSpPr>
          <p:nvPr/>
        </p:nvSpPr>
        <p:spPr>
          <a:xfrm xmlns:a="http://schemas.openxmlformats.org/drawingml/2006/main">
            <a:off x="619125" y="1666875"/>
            <a:ext cx="476250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Tahoma"/>
                <a:ea typeface="Tahoma"/>
                <a:cs typeface="Tahoma"/>
              </a:defRPr>
            </a:pPr>
            <a:r>
              <a:rPr sz="3900" b="1">
                <a:solidFill>
                  <a:srgbClr val="FFFFFF"/>
                </a:solidFill>
                <a:latin typeface="Tahoma"/>
                <a:ea typeface="Tahoma"/>
                <a:cs typeface="Tahoma"/>
              </a:rPr>
              <a:t>Strategic</a:t>
            </a:r>
          </a:p>
          <a:p xmlns:a="http://schemas.openxmlformats.org/drawingml/2006/main">
            <a:pPr>
              <a:defRPr sz="3900" b="1">
                <a:solidFill>
                  <a:srgbClr val="FFFFFF"/>
                </a:solidFill>
                <a:latin typeface="Tahoma"/>
                <a:ea typeface="Tahoma"/>
                <a:cs typeface="Tahoma"/>
              </a:defRPr>
            </a:pPr>
            <a:r>
              <a:rPr sz="3900" b="1">
                <a:solidFill>
                  <a:srgbClr val="FFFFFF"/>
                </a:solidFill>
                <a:latin typeface="Tahoma"/>
                <a:ea typeface="Tahoma"/>
                <a:cs typeface="Tahoma"/>
              </a:rPr>
              <a:t>Workflow</a:t>
            </a:r>
          </a:p>
          <a:p xmlns:a="http://schemas.openxmlformats.org/drawingml/2006/main">
            <a:pPr>
              <a:defRPr sz="3900" b="1">
                <a:solidFill>
                  <a:srgbClr val="FFFFFF"/>
                </a:solidFill>
                <a:latin typeface="Tahoma"/>
                <a:ea typeface="Tahoma"/>
                <a:cs typeface="Tahoma"/>
              </a:defRPr>
            </a:pPr>
            <a:r>
              <a:rPr sz="3900" b="1">
                <a:solidFill>
                  <a:srgbClr val="FFFFFF"/>
                </a:solidFill>
                <a:latin typeface="Tahoma"/>
                <a:ea typeface="Tahoma"/>
                <a:cs typeface="Tahoma"/>
              </a:rPr>
              <a:t>Blueprinting</a:t>
            </a:r>
          </a:p>
        </p:txBody>
      </p:sp>
      <p:sp>
        <p:nvSpPr>
          <p:cNvPr id="4" name="diagram-251">
            <a:extLst xmlns:a="http://schemas.openxmlformats.org/drawingml/2006/main">
              <a:ext uri="{FF2B5EF4-FFF2-40B4-BE49-F238E27FC236}">
                <a16:creationId xmlns:a16="http://schemas.microsoft.com/office/drawing/2014/main" id="{C74E498F-50E7-4197-933C-C03594857F02}"/>
              </a:ext>
            </a:extLst>
          </p:cNvPr>
          <p:cNvSpPr>
            <a:spLocks xmlns:a="http://schemas.openxmlformats.org/drawingml/2006/main" noGrp="1"/>
          </p:cNvSpPr>
          <p:nvPr/>
        </p:nvSpPr>
        <p:spPr>
          <a:xfrm xmlns:a="http://schemas.openxmlformats.org/drawingml/2006/main">
            <a:off x="666750" y="4953000"/>
            <a:ext cx="447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D7E7F5"/>
                </a:solidFill>
                <a:latin typeface="Tahoma"/>
                <a:ea typeface="Tahoma"/>
                <a:cs typeface="Tahoma"/>
              </a:defRPr>
            </a:pPr>
            <a:r>
              <a:rPr sz="1950" b="0">
                <a:solidFill>
                  <a:srgbClr val="D7E7F5"/>
                </a:solidFill>
                <a:latin typeface="Tahoma"/>
                <a:ea typeface="Tahoma"/>
                <a:cs typeface="Tahoma"/>
              </a:rPr>
              <a:t>Steps, decisions, and exceptions</a:t>
            </a:r>
          </a:p>
        </p:txBody>
      </p:sp>
    </p:spTree>
    <p:extLst>
      <p:ext uri="{BB962C8B-B14F-4D97-AF65-F5344CB8AC3E}">
        <p14:creationId xmlns:p14="http://schemas.microsoft.com/office/powerpoint/2010/main" val="966991670"/>
      </p:ext>
    </p:extLst>
  </p:cSld>
</p:sld>
</file>

<file path=ppt/slides/slide2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2" name="diagram-252">
            <a:extLst xmlns:a="http://schemas.openxmlformats.org/drawingml/2006/main">
              <a:ext uri="{FF2B5EF4-FFF2-40B4-BE49-F238E27FC236}">
                <a16:creationId xmlns:a16="http://schemas.microsoft.com/office/drawing/2014/main" id="{D80558E3-5EC8-4C10-B210-66769F40905B}"/>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Triggers, Actions, and connectors</a:t>
            </a:r>
          </a:p>
        </p:txBody>
      </p:sp>
      <p:sp>
        <p:nvSpPr>
          <p:cNvPr id="2" name="diagram-253">
            <a:extLst xmlns:a="http://schemas.openxmlformats.org/drawingml/2006/main">
              <a:ext uri="{FF2B5EF4-FFF2-40B4-BE49-F238E27FC236}">
                <a16:creationId xmlns:a16="http://schemas.microsoft.com/office/drawing/2014/main" id="{FFFF6609-A3BA-4F17-949D-86A41B135E18}"/>
              </a:ext>
            </a:extLst>
          </p:cNvPr>
          <p:cNvSpPr>
            <a:spLocks xmlns:a="http://schemas.openxmlformats.org/drawingml/2006/main" noGrp="1"/>
          </p:cNvSpPr>
          <p:nvPr/>
        </p:nvSpPr>
        <p:spPr>
          <a:xfrm xmlns:a="http://schemas.openxmlformats.org/drawingml/2006/main">
            <a:off x="666750" y="2762250"/>
            <a:ext cx="2476500" cy="1238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254">
            <a:extLst xmlns:a="http://schemas.openxmlformats.org/drawingml/2006/main">
              <a:ext uri="{FF2B5EF4-FFF2-40B4-BE49-F238E27FC236}">
                <a16:creationId xmlns:a16="http://schemas.microsoft.com/office/drawing/2014/main" id="{C6FB7594-0E23-4070-9DB2-1E19C6F6CE0C}"/>
              </a:ext>
            </a:extLst>
          </p:cNvPr>
          <p:cNvSpPr>
            <a:spLocks xmlns:a="http://schemas.openxmlformats.org/drawingml/2006/main" noGrp="1"/>
          </p:cNvSpPr>
          <p:nvPr/>
        </p:nvSpPr>
        <p:spPr>
          <a:xfrm xmlns:a="http://schemas.openxmlformats.org/drawingml/2006/main">
            <a:off x="838200" y="2905125"/>
            <a:ext cx="2133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Trigger</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Request received</a:t>
            </a:r>
          </a:p>
        </p:txBody>
      </p:sp>
      <p:sp>
        <p:nvSpPr>
          <p:cNvPr id="4" name="diagram-255">
            <a:extLst xmlns:a="http://schemas.openxmlformats.org/drawingml/2006/main">
              <a:ext uri="{FF2B5EF4-FFF2-40B4-BE49-F238E27FC236}">
                <a16:creationId xmlns:a16="http://schemas.microsoft.com/office/drawing/2014/main" id="{BC774797-A5C1-4BB1-B5B8-DD593FD40071}"/>
              </a:ext>
            </a:extLst>
          </p:cNvPr>
          <p:cNvSpPr>
            <a:spLocks xmlns:a="http://schemas.openxmlformats.org/drawingml/2006/main" noGrp="1"/>
          </p:cNvSpPr>
          <p:nvPr/>
        </p:nvSpPr>
        <p:spPr>
          <a:xfrm xmlns:a="http://schemas.openxmlformats.org/drawingml/2006/main">
            <a:off x="4857750" y="2762250"/>
            <a:ext cx="2476500" cy="1238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256">
            <a:extLst xmlns:a="http://schemas.openxmlformats.org/drawingml/2006/main">
              <a:ext uri="{FF2B5EF4-FFF2-40B4-BE49-F238E27FC236}">
                <a16:creationId xmlns:a16="http://schemas.microsoft.com/office/drawing/2014/main" id="{5EB72023-B12E-4177-956F-435F444665E7}"/>
              </a:ext>
            </a:extLst>
          </p:cNvPr>
          <p:cNvSpPr>
            <a:spLocks xmlns:a="http://schemas.openxmlformats.org/drawingml/2006/main" noGrp="1"/>
          </p:cNvSpPr>
          <p:nvPr/>
        </p:nvSpPr>
        <p:spPr>
          <a:xfrm xmlns:a="http://schemas.openxmlformats.org/drawingml/2006/main">
            <a:off x="5029200" y="2905125"/>
            <a:ext cx="2133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Action</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Send a message</a:t>
            </a:r>
          </a:p>
        </p:txBody>
      </p:sp>
      <p:sp>
        <p:nvSpPr>
          <p:cNvPr id="6" name="diagram-257">
            <a:extLst xmlns:a="http://schemas.openxmlformats.org/drawingml/2006/main">
              <a:ext uri="{FF2B5EF4-FFF2-40B4-BE49-F238E27FC236}">
                <a16:creationId xmlns:a16="http://schemas.microsoft.com/office/drawing/2014/main" id="{00690195-0D69-464D-87E0-6C3CCBD88DAE}"/>
              </a:ext>
            </a:extLst>
          </p:cNvPr>
          <p:cNvSpPr>
            <a:spLocks xmlns:a="http://schemas.openxmlformats.org/drawingml/2006/main" noGrp="1"/>
          </p:cNvSpPr>
          <p:nvPr/>
        </p:nvSpPr>
        <p:spPr>
          <a:xfrm xmlns:a="http://schemas.openxmlformats.org/drawingml/2006/main">
            <a:off x="9048750" y="2762250"/>
            <a:ext cx="2476500" cy="1238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7" name="diagram-258">
            <a:extLst xmlns:a="http://schemas.openxmlformats.org/drawingml/2006/main">
              <a:ext uri="{FF2B5EF4-FFF2-40B4-BE49-F238E27FC236}">
                <a16:creationId xmlns:a16="http://schemas.microsoft.com/office/drawing/2014/main" id="{080F2A1A-4061-460A-84FF-C0869A28B75D}"/>
              </a:ext>
            </a:extLst>
          </p:cNvPr>
          <p:cNvSpPr>
            <a:spLocks xmlns:a="http://schemas.openxmlformats.org/drawingml/2006/main" noGrp="1"/>
          </p:cNvSpPr>
          <p:nvPr/>
        </p:nvSpPr>
        <p:spPr>
          <a:xfrm xmlns:a="http://schemas.openxmlformats.org/drawingml/2006/main">
            <a:off x="9220200" y="2905125"/>
            <a:ext cx="2133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Supported service</a:t>
            </a:r>
          </a:p>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For example, Outlook</a:t>
            </a:r>
          </a:p>
        </p:txBody>
      </p:sp>
      <p:cxnSp>
        <p:nvCxnSpPr>
          <p:cNvPr id="19" name=""/>
          <p:cNvCxnSpPr>
            <a:stCxn xmlns:a="http://schemas.openxmlformats.org/drawingml/2006/main" id="2" idx="3"/>
            <a:endCxn xmlns:a="http://schemas.openxmlformats.org/drawingml/2006/main" id="4" idx="1"/>
          </p:cNvCxnSpPr>
          <p:nvPr/>
        </p:nvCxnSpPr>
        <p:spPr>
          <a:xfrm xmlns:a="http://schemas.openxmlformats.org/drawingml/2006/main">
            <a:off x="3143250" y="3381375"/>
            <a:ext cx="1714500"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20" name=""/>
          <p:cNvCxnSpPr>
            <a:stCxn xmlns:a="http://schemas.openxmlformats.org/drawingml/2006/main" id="4" idx="3"/>
            <a:endCxn xmlns:a="http://schemas.openxmlformats.org/drawingml/2006/main" id="6" idx="1"/>
          </p:cNvCxnSpPr>
          <p:nvPr/>
        </p:nvCxnSpPr>
        <p:spPr>
          <a:xfrm xmlns:a="http://schemas.openxmlformats.org/drawingml/2006/main">
            <a:off x="7334250" y="3381375"/>
            <a:ext cx="171450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0" name="diagram-259">
            <a:extLst xmlns:a="http://schemas.openxmlformats.org/drawingml/2006/main">
              <a:ext uri="{FF2B5EF4-FFF2-40B4-BE49-F238E27FC236}">
                <a16:creationId xmlns:a16="http://schemas.microsoft.com/office/drawing/2014/main" id="{3F0D1C35-1493-45F8-9EF9-6E724810124A}"/>
              </a:ext>
            </a:extLst>
          </p:cNvPr>
          <p:cNvSpPr>
            <a:spLocks xmlns:a="http://schemas.openxmlformats.org/drawingml/2006/main" noGrp="1"/>
          </p:cNvSpPr>
          <p:nvPr/>
        </p:nvSpPr>
        <p:spPr>
          <a:xfrm xmlns:a="http://schemas.openxmlformats.org/drawingml/2006/main">
            <a:off x="4095750" y="423862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74FBA"/>
                </a:solidFill>
                <a:latin typeface="Tahoma"/>
                <a:ea typeface="Tahoma"/>
                <a:cs typeface="Tahoma"/>
              </a:defRPr>
            </a:pPr>
            <a:r>
              <a:rPr sz="2025" b="1">
                <a:solidFill>
                  <a:srgbClr val="174FBA"/>
                </a:solidFill>
                <a:latin typeface="Tahoma"/>
                <a:ea typeface="Tahoma"/>
                <a:cs typeface="Tahoma"/>
              </a:rPr>
              <a:t>Connector exposes service operations</a:t>
            </a:r>
          </a:p>
        </p:txBody>
      </p:sp>
      <p:sp>
        <p:nvSpPr>
          <p:cNvPr id="11" name="diagram-260">
            <a:extLst xmlns:a="http://schemas.openxmlformats.org/drawingml/2006/main">
              <a:ext uri="{FF2B5EF4-FFF2-40B4-BE49-F238E27FC236}">
                <a16:creationId xmlns:a16="http://schemas.microsoft.com/office/drawing/2014/main" id="{4258D918-8E51-4DC2-BABA-4C02519B5A65}"/>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Verify connections, permissions, information, and supported behaviour before real use.</a:t>
            </a:r>
          </a:p>
        </p:txBody>
      </p:sp>
    </p:spTree>
    <p:extLst>
      <p:ext uri="{BB962C8B-B14F-4D97-AF65-F5344CB8AC3E}">
        <p14:creationId xmlns:p14="http://schemas.microsoft.com/office/powerpoint/2010/main" val="246899418"/>
      </p:ext>
    </p:extLst>
  </p:cSld>
</p:sld>
</file>

<file path=ppt/slides/slide2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4" name="diagram-261">
            <a:extLst xmlns:a="http://schemas.openxmlformats.org/drawingml/2006/main">
              <a:ext uri="{FF2B5EF4-FFF2-40B4-BE49-F238E27FC236}">
                <a16:creationId xmlns:a16="http://schemas.microsoft.com/office/drawing/2014/main" id="{099114F3-7051-4C5F-9227-BDA76F9190FC}"/>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Conditions and human decisions</a:t>
            </a:r>
          </a:p>
        </p:txBody>
      </p:sp>
      <p:sp>
        <p:nvSpPr>
          <p:cNvPr id="2" name="diagram-262">
            <a:extLst xmlns:a="http://schemas.openxmlformats.org/drawingml/2006/main">
              <a:ext uri="{FF2B5EF4-FFF2-40B4-BE49-F238E27FC236}">
                <a16:creationId xmlns:a16="http://schemas.microsoft.com/office/drawing/2014/main" id="{72530EA4-DFB5-44D7-A467-629838AB6583}"/>
              </a:ext>
            </a:extLst>
          </p:cNvPr>
          <p:cNvSpPr>
            <a:spLocks xmlns:a="http://schemas.openxmlformats.org/drawingml/2006/main" noGrp="1"/>
          </p:cNvSpPr>
          <p:nvPr/>
        </p:nvSpPr>
        <p:spPr>
          <a:xfrm xmlns:a="http://schemas.openxmlformats.org/drawingml/2006/main">
            <a:off x="619125" y="2714625"/>
            <a:ext cx="1571625" cy="781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263">
            <a:extLst xmlns:a="http://schemas.openxmlformats.org/drawingml/2006/main">
              <a:ext uri="{FF2B5EF4-FFF2-40B4-BE49-F238E27FC236}">
                <a16:creationId xmlns:a16="http://schemas.microsoft.com/office/drawing/2014/main" id="{6558A8D6-91B0-4869-AAC4-7C683B3526A5}"/>
              </a:ext>
            </a:extLst>
          </p:cNvPr>
          <p:cNvSpPr>
            <a:spLocks xmlns:a="http://schemas.openxmlformats.org/drawingml/2006/main" noGrp="1"/>
          </p:cNvSpPr>
          <p:nvPr/>
        </p:nvSpPr>
        <p:spPr>
          <a:xfrm xmlns:a="http://schemas.openxmlformats.org/drawingml/2006/main">
            <a:off x="790575" y="2857500"/>
            <a:ext cx="1228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Receive request</a:t>
            </a:r>
          </a:p>
        </p:txBody>
      </p:sp>
      <p:sp>
        <p:nvSpPr>
          <p:cNvPr id="4" name="diagram-264">
            <a:extLst xmlns:a="http://schemas.openxmlformats.org/drawingml/2006/main">
              <a:ext uri="{FF2B5EF4-FFF2-40B4-BE49-F238E27FC236}">
                <a16:creationId xmlns:a16="http://schemas.microsoft.com/office/drawing/2014/main" id="{78233886-03A4-4F94-B1B1-48CCFC0E89C2}"/>
              </a:ext>
            </a:extLst>
          </p:cNvPr>
          <p:cNvSpPr>
            <a:spLocks xmlns:a="http://schemas.openxmlformats.org/drawingml/2006/main" noGrp="1"/>
          </p:cNvSpPr>
          <p:nvPr/>
        </p:nvSpPr>
        <p:spPr>
          <a:xfrm xmlns:a="http://schemas.openxmlformats.org/drawingml/2006/main">
            <a:off x="2619375" y="2714625"/>
            <a:ext cx="1809750" cy="781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265">
            <a:extLst xmlns:a="http://schemas.openxmlformats.org/drawingml/2006/main">
              <a:ext uri="{FF2B5EF4-FFF2-40B4-BE49-F238E27FC236}">
                <a16:creationId xmlns:a16="http://schemas.microsoft.com/office/drawing/2014/main" id="{0B9F61D8-782A-4E83-8858-DEDE814DDE66}"/>
              </a:ext>
            </a:extLst>
          </p:cNvPr>
          <p:cNvSpPr>
            <a:spLocks xmlns:a="http://schemas.openxmlformats.org/drawingml/2006/main" noGrp="1"/>
          </p:cNvSpPr>
          <p:nvPr/>
        </p:nvSpPr>
        <p:spPr>
          <a:xfrm xmlns:a="http://schemas.openxmlformats.org/drawingml/2006/main">
            <a:off x="2790825" y="2857500"/>
            <a:ext cx="146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Details complete?</a:t>
            </a:r>
          </a:p>
        </p:txBody>
      </p:sp>
      <p:sp>
        <p:nvSpPr>
          <p:cNvPr id="6" name="diagram-266">
            <a:extLst xmlns:a="http://schemas.openxmlformats.org/drawingml/2006/main">
              <a:ext uri="{FF2B5EF4-FFF2-40B4-BE49-F238E27FC236}">
                <a16:creationId xmlns:a16="http://schemas.microsoft.com/office/drawing/2014/main" id="{34C7F9A1-2487-4F65-B69A-9DB255197551}"/>
              </a:ext>
            </a:extLst>
          </p:cNvPr>
          <p:cNvSpPr>
            <a:spLocks xmlns:a="http://schemas.openxmlformats.org/drawingml/2006/main" noGrp="1"/>
          </p:cNvSpPr>
          <p:nvPr/>
        </p:nvSpPr>
        <p:spPr>
          <a:xfrm xmlns:a="http://schemas.openxmlformats.org/drawingml/2006/main">
            <a:off x="4857750" y="2714625"/>
            <a:ext cx="2000250" cy="781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7" name="diagram-267">
            <a:extLst xmlns:a="http://schemas.openxmlformats.org/drawingml/2006/main">
              <a:ext uri="{FF2B5EF4-FFF2-40B4-BE49-F238E27FC236}">
                <a16:creationId xmlns:a16="http://schemas.microsoft.com/office/drawing/2014/main" id="{C5EA5AF4-6645-4879-B816-6D90B727C011}"/>
              </a:ext>
            </a:extLst>
          </p:cNvPr>
          <p:cNvSpPr>
            <a:spLocks xmlns:a="http://schemas.openxmlformats.org/drawingml/2006/main" noGrp="1"/>
          </p:cNvSpPr>
          <p:nvPr/>
        </p:nvSpPr>
        <p:spPr>
          <a:xfrm xmlns:a="http://schemas.openxmlformats.org/drawingml/2006/main">
            <a:off x="5029200" y="2857500"/>
            <a:ext cx="165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24B"/>
                </a:solidFill>
                <a:latin typeface="Tahoma"/>
                <a:ea typeface="Tahoma"/>
                <a:cs typeface="Tahoma"/>
              </a:defRPr>
            </a:pPr>
            <a:r>
              <a:rPr sz="1800" b="1">
                <a:solidFill>
                  <a:srgbClr val="18324B"/>
                </a:solidFill>
                <a:latin typeface="Tahoma"/>
                <a:ea typeface="Tahoma"/>
                <a:cs typeface="Tahoma"/>
              </a:rPr>
              <a:t>Human approval</a:t>
            </a:r>
          </a:p>
          <a:p xmlns:a="http://schemas.openxmlformats.org/drawingml/2006/main">
            <a:pPr>
              <a:defRPr sz="1800" b="1">
                <a:solidFill>
                  <a:srgbClr val="18324B"/>
                </a:solidFill>
                <a:latin typeface="Tahoma"/>
                <a:ea typeface="Tahoma"/>
                <a:cs typeface="Tahoma"/>
              </a:defRPr>
            </a:pPr>
            <a:r>
              <a:rPr sz="1800" b="1">
                <a:solidFill>
                  <a:srgbClr val="18324B"/>
                </a:solidFill>
                <a:latin typeface="Tahoma"/>
                <a:ea typeface="Tahoma"/>
                <a:cs typeface="Tahoma"/>
              </a:rPr>
              <a:t>decision</a:t>
            </a:r>
          </a:p>
        </p:txBody>
      </p:sp>
      <p:sp>
        <p:nvSpPr>
          <p:cNvPr id="8" name="diagram-268">
            <a:extLst xmlns:a="http://schemas.openxmlformats.org/drawingml/2006/main">
              <a:ext uri="{FF2B5EF4-FFF2-40B4-BE49-F238E27FC236}">
                <a16:creationId xmlns:a16="http://schemas.microsoft.com/office/drawing/2014/main" id="{3FBD49CC-F402-429E-B1F6-1F1A1DFC9256}"/>
              </a:ext>
            </a:extLst>
          </p:cNvPr>
          <p:cNvSpPr>
            <a:spLocks xmlns:a="http://schemas.openxmlformats.org/drawingml/2006/main" noGrp="1"/>
          </p:cNvSpPr>
          <p:nvPr/>
        </p:nvSpPr>
        <p:spPr>
          <a:xfrm xmlns:a="http://schemas.openxmlformats.org/drawingml/2006/main">
            <a:off x="7524750" y="2095500"/>
            <a:ext cx="2428875" cy="8763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269">
            <a:extLst xmlns:a="http://schemas.openxmlformats.org/drawingml/2006/main">
              <a:ext uri="{FF2B5EF4-FFF2-40B4-BE49-F238E27FC236}">
                <a16:creationId xmlns:a16="http://schemas.microsoft.com/office/drawing/2014/main" id="{F31B4EE7-A5A9-49A2-A401-167441702636}"/>
              </a:ext>
            </a:extLst>
          </p:cNvPr>
          <p:cNvSpPr>
            <a:spLocks xmlns:a="http://schemas.openxmlformats.org/drawingml/2006/main" noGrp="1"/>
          </p:cNvSpPr>
          <p:nvPr/>
        </p:nvSpPr>
        <p:spPr>
          <a:xfrm xmlns:a="http://schemas.openxmlformats.org/drawingml/2006/main">
            <a:off x="7696200" y="2238375"/>
            <a:ext cx="2085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Approved</a:t>
            </a:r>
          </a:p>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Notify requester</a:t>
            </a:r>
          </a:p>
        </p:txBody>
      </p:sp>
      <p:sp>
        <p:nvSpPr>
          <p:cNvPr id="10" name="diagram-270">
            <a:extLst xmlns:a="http://schemas.openxmlformats.org/drawingml/2006/main">
              <a:ext uri="{FF2B5EF4-FFF2-40B4-BE49-F238E27FC236}">
                <a16:creationId xmlns:a16="http://schemas.microsoft.com/office/drawing/2014/main" id="{D8C50B46-C1DA-414F-BC1D-6381330D78ED}"/>
              </a:ext>
            </a:extLst>
          </p:cNvPr>
          <p:cNvSpPr>
            <a:spLocks xmlns:a="http://schemas.openxmlformats.org/drawingml/2006/main" noGrp="1"/>
          </p:cNvSpPr>
          <p:nvPr/>
        </p:nvSpPr>
        <p:spPr>
          <a:xfrm xmlns:a="http://schemas.openxmlformats.org/drawingml/2006/main">
            <a:off x="7524750" y="3476625"/>
            <a:ext cx="2428875" cy="876300"/>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11" name="diagram-271">
            <a:extLst xmlns:a="http://schemas.openxmlformats.org/drawingml/2006/main">
              <a:ext uri="{FF2B5EF4-FFF2-40B4-BE49-F238E27FC236}">
                <a16:creationId xmlns:a16="http://schemas.microsoft.com/office/drawing/2014/main" id="{F21C05E3-01D1-4809-9F43-3AEC2AD5C38D}"/>
              </a:ext>
            </a:extLst>
          </p:cNvPr>
          <p:cNvSpPr>
            <a:spLocks xmlns:a="http://schemas.openxmlformats.org/drawingml/2006/main" noGrp="1"/>
          </p:cNvSpPr>
          <p:nvPr/>
        </p:nvSpPr>
        <p:spPr>
          <a:xfrm xmlns:a="http://schemas.openxmlformats.org/drawingml/2006/main">
            <a:off x="7696200" y="3619500"/>
            <a:ext cx="2085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Rejected</a:t>
            </a:r>
          </a:p>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Notify requester</a:t>
            </a:r>
          </a:p>
        </p:txBody>
      </p:sp>
      <p:sp>
        <p:nvSpPr>
          <p:cNvPr id="12" name="diagram-272">
            <a:extLst xmlns:a="http://schemas.openxmlformats.org/drawingml/2006/main">
              <a:ext uri="{FF2B5EF4-FFF2-40B4-BE49-F238E27FC236}">
                <a16:creationId xmlns:a16="http://schemas.microsoft.com/office/drawing/2014/main" id="{7436F90F-B3A8-4151-904F-5D152E9B4922}"/>
              </a:ext>
            </a:extLst>
          </p:cNvPr>
          <p:cNvSpPr>
            <a:spLocks xmlns:a="http://schemas.openxmlformats.org/drawingml/2006/main" noGrp="1"/>
          </p:cNvSpPr>
          <p:nvPr/>
        </p:nvSpPr>
        <p:spPr>
          <a:xfrm xmlns:a="http://schemas.openxmlformats.org/drawingml/2006/main">
            <a:off x="2619375" y="4457700"/>
            <a:ext cx="2667000" cy="838200"/>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13" name="diagram-273">
            <a:extLst xmlns:a="http://schemas.openxmlformats.org/drawingml/2006/main">
              <a:ext uri="{FF2B5EF4-FFF2-40B4-BE49-F238E27FC236}">
                <a16:creationId xmlns:a16="http://schemas.microsoft.com/office/drawing/2014/main" id="{3F6A2769-B80D-416F-AD1A-548CF3CBE264}"/>
              </a:ext>
            </a:extLst>
          </p:cNvPr>
          <p:cNvSpPr>
            <a:spLocks xmlns:a="http://schemas.openxmlformats.org/drawingml/2006/main" noGrp="1"/>
          </p:cNvSpPr>
          <p:nvPr/>
        </p:nvSpPr>
        <p:spPr>
          <a:xfrm xmlns:a="http://schemas.openxmlformats.org/drawingml/2006/main">
            <a:off x="2790825" y="4600575"/>
            <a:ext cx="2324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Request details</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Owner: coordinator</a:t>
            </a:r>
          </a:p>
        </p:txBody>
      </p:sp>
      <p:cxnSp>
        <p:nvCxnSpPr>
          <p:cNvPr id="37" name=""/>
          <p:cNvCxnSpPr>
            <a:stCxn xmlns:a="http://schemas.openxmlformats.org/drawingml/2006/main" id="2" idx="3"/>
            <a:endCxn xmlns:a="http://schemas.openxmlformats.org/drawingml/2006/main" id="4" idx="1"/>
          </p:cNvCxnSpPr>
          <p:nvPr/>
        </p:nvCxnSpPr>
        <p:spPr>
          <a:xfrm xmlns:a="http://schemas.openxmlformats.org/drawingml/2006/main">
            <a:off x="2190750" y="31051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38" name=""/>
          <p:cNvCxnSpPr>
            <a:stCxn xmlns:a="http://schemas.openxmlformats.org/drawingml/2006/main" id="4" idx="3"/>
            <a:endCxn xmlns:a="http://schemas.openxmlformats.org/drawingml/2006/main" id="6" idx="1"/>
          </p:cNvCxnSpPr>
          <p:nvPr/>
        </p:nvCxnSpPr>
        <p:spPr>
          <a:xfrm xmlns:a="http://schemas.openxmlformats.org/drawingml/2006/main">
            <a:off x="4429125" y="31051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39" name=""/>
          <p:cNvCxnSpPr>
            <a:stCxn xmlns:a="http://schemas.openxmlformats.org/drawingml/2006/main" id="6" idx="3"/>
            <a:endCxn xmlns:a="http://schemas.openxmlformats.org/drawingml/2006/main" id="8" idx="1"/>
          </p:cNvCxnSpPr>
          <p:nvPr/>
        </p:nvCxnSpPr>
        <p:spPr>
          <a:xfrm xmlns:a="http://schemas.openxmlformats.org/drawingml/2006/main" flipV="1">
            <a:off x="6858000" y="2533650"/>
            <a:ext cx="666750" cy="57150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0" name=""/>
          <p:cNvCxnSpPr>
            <a:stCxn xmlns:a="http://schemas.openxmlformats.org/drawingml/2006/main" id="6" idx="3"/>
            <a:endCxn xmlns:a="http://schemas.openxmlformats.org/drawingml/2006/main" id="10" idx="1"/>
          </p:cNvCxnSpPr>
          <p:nvPr/>
        </p:nvCxnSpPr>
        <p:spPr>
          <a:xfrm xmlns:a="http://schemas.openxmlformats.org/drawingml/2006/main">
            <a:off x="6858000" y="3105150"/>
            <a:ext cx="666750" cy="809625"/>
          </a:xfrm>
          <a:prstGeom xmlns:a="http://schemas.openxmlformats.org/drawingml/2006/main" prst="straightConnector1">
            <a:avLst/>
          </a:prstGeom>
          <a:ln xmlns:a="http://schemas.openxmlformats.org/drawingml/2006/main" w="28575">
            <a:solidFill>
              <a:srgbClr val="B76D13"/>
            </a:solidFill>
            <a:tailEnd type="triangle" w="med" len="med"/>
          </a:ln>
        </p:spPr>
      </p:cxnSp>
      <p:cxnSp>
        <p:nvCxnSpPr>
          <p:cNvPr id="41" name=""/>
          <p:cNvCxnSpPr>
            <a:stCxn xmlns:a="http://schemas.openxmlformats.org/drawingml/2006/main" id="4" idx="2"/>
            <a:endCxn xmlns:a="http://schemas.openxmlformats.org/drawingml/2006/main" id="12" idx="0"/>
          </p:cNvCxnSpPr>
          <p:nvPr/>
        </p:nvCxnSpPr>
        <p:spPr>
          <a:xfrm xmlns:a="http://schemas.openxmlformats.org/drawingml/2006/main">
            <a:off x="3524250" y="3495675"/>
            <a:ext cx="428625" cy="962025"/>
          </a:xfrm>
          <a:prstGeom xmlns:a="http://schemas.openxmlformats.org/drawingml/2006/main" prst="bentConnector4">
            <a:avLst>
              <a:gd name="adj1" fmla="val 0"/>
              <a:gd name="adj2" fmla="val 23762"/>
            </a:avLst>
          </a:prstGeom>
          <a:ln xmlns:a="http://schemas.openxmlformats.org/drawingml/2006/main" w="28575">
            <a:solidFill>
              <a:srgbClr val="B76D13"/>
            </a:solidFill>
            <a:tailEnd type="triangle" w="med" len="med"/>
          </a:ln>
        </p:spPr>
      </p:cxnSp>
      <p:sp>
        <p:nvSpPr>
          <p:cNvPr id="19" name="diagram-274">
            <a:extLst xmlns:a="http://schemas.openxmlformats.org/drawingml/2006/main">
              <a:ext uri="{FF2B5EF4-FFF2-40B4-BE49-F238E27FC236}">
                <a16:creationId xmlns:a16="http://schemas.microsoft.com/office/drawing/2014/main" id="{B1DAB065-2058-417C-BE2C-D292DE01E837}"/>
              </a:ext>
            </a:extLst>
          </p:cNvPr>
          <p:cNvSpPr>
            <a:spLocks xmlns:a="http://schemas.openxmlformats.org/drawingml/2006/main" noGrp="1"/>
          </p:cNvSpPr>
          <p:nvPr/>
        </p:nvSpPr>
        <p:spPr>
          <a:xfrm xmlns:a="http://schemas.openxmlformats.org/drawingml/2006/main">
            <a:off x="4286250" y="23812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4FBA"/>
                </a:solidFill>
                <a:latin typeface="Tahoma"/>
                <a:ea typeface="Tahoma"/>
                <a:cs typeface="Tahoma"/>
              </a:defRPr>
            </a:pPr>
            <a:r>
              <a:rPr sz="1350" b="1">
                <a:solidFill>
                  <a:srgbClr val="174FBA"/>
                </a:solidFill>
                <a:latin typeface="Tahoma"/>
                <a:ea typeface="Tahoma"/>
                <a:cs typeface="Tahoma"/>
              </a:rPr>
              <a:t>Complete</a:t>
            </a:r>
          </a:p>
        </p:txBody>
      </p:sp>
      <p:sp>
        <p:nvSpPr>
          <p:cNvPr id="20" name="diagram-275">
            <a:extLst xmlns:a="http://schemas.openxmlformats.org/drawingml/2006/main">
              <a:ext uri="{FF2B5EF4-FFF2-40B4-BE49-F238E27FC236}">
                <a16:creationId xmlns:a16="http://schemas.microsoft.com/office/drawing/2014/main" id="{C10925B0-6C0B-4829-9859-55D620D7E369}"/>
              </a:ext>
            </a:extLst>
          </p:cNvPr>
          <p:cNvSpPr>
            <a:spLocks xmlns:a="http://schemas.openxmlformats.org/drawingml/2006/main" noGrp="1"/>
          </p:cNvSpPr>
          <p:nvPr/>
        </p:nvSpPr>
        <p:spPr>
          <a:xfrm xmlns:a="http://schemas.openxmlformats.org/drawingml/2006/main">
            <a:off x="1952625" y="4010025"/>
            <a:ext cx="1476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Incomplete</a:t>
            </a:r>
          </a:p>
        </p:txBody>
      </p:sp>
      <p:sp>
        <p:nvSpPr>
          <p:cNvPr id="21" name="diagram-276">
            <a:extLst xmlns:a="http://schemas.openxmlformats.org/drawingml/2006/main">
              <a:ext uri="{FF2B5EF4-FFF2-40B4-BE49-F238E27FC236}">
                <a16:creationId xmlns:a16="http://schemas.microsoft.com/office/drawing/2014/main" id="{03FF4B1B-CA13-4747-BD65-A1FDBF358CA1}"/>
              </a:ext>
            </a:extLst>
          </p:cNvPr>
          <p:cNvSpPr>
            <a:spLocks xmlns:a="http://schemas.openxmlformats.org/drawingml/2006/main" noGrp="1"/>
          </p:cNvSpPr>
          <p:nvPr/>
        </p:nvSpPr>
        <p:spPr>
          <a:xfrm xmlns:a="http://schemas.openxmlformats.org/drawingml/2006/main">
            <a:off x="6572250" y="2143125"/>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4FBA"/>
                </a:solidFill>
                <a:latin typeface="Tahoma"/>
                <a:ea typeface="Tahoma"/>
                <a:cs typeface="Tahoma"/>
              </a:defRPr>
            </a:pPr>
            <a:r>
              <a:rPr sz="1350" b="1">
                <a:solidFill>
                  <a:srgbClr val="174FBA"/>
                </a:solidFill>
                <a:latin typeface="Tahoma"/>
                <a:ea typeface="Tahoma"/>
                <a:cs typeface="Tahoma"/>
              </a:rPr>
              <a:t>Approve</a:t>
            </a:r>
          </a:p>
        </p:txBody>
      </p:sp>
      <p:sp>
        <p:nvSpPr>
          <p:cNvPr id="22" name="diagram-277">
            <a:extLst xmlns:a="http://schemas.openxmlformats.org/drawingml/2006/main">
              <a:ext uri="{FF2B5EF4-FFF2-40B4-BE49-F238E27FC236}">
                <a16:creationId xmlns:a16="http://schemas.microsoft.com/office/drawing/2014/main" id="{80264EB8-816D-4A39-B5F9-831CC5324A8B}"/>
              </a:ext>
            </a:extLst>
          </p:cNvPr>
          <p:cNvSpPr>
            <a:spLocks xmlns:a="http://schemas.openxmlformats.org/drawingml/2006/main" noGrp="1"/>
          </p:cNvSpPr>
          <p:nvPr/>
        </p:nvSpPr>
        <p:spPr>
          <a:xfrm xmlns:a="http://schemas.openxmlformats.org/drawingml/2006/main">
            <a:off x="6572250" y="371475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Reject</a:t>
            </a:r>
          </a:p>
        </p:txBody>
      </p:sp>
      <p:sp>
        <p:nvSpPr>
          <p:cNvPr id="23" name="diagram-278">
            <a:extLst xmlns:a="http://schemas.openxmlformats.org/drawingml/2006/main">
              <a:ext uri="{FF2B5EF4-FFF2-40B4-BE49-F238E27FC236}">
                <a16:creationId xmlns:a16="http://schemas.microsoft.com/office/drawing/2014/main" id="{6A405BA5-7AC8-4A2D-ACB5-B564D3675F75}"/>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A person approves or rejects; both outcomes continue to notification or owned follow-up.</a:t>
            </a:r>
          </a:p>
        </p:txBody>
      </p:sp>
    </p:spTree>
    <p:extLst>
      <p:ext uri="{BB962C8B-B14F-4D97-AF65-F5344CB8AC3E}">
        <p14:creationId xmlns:p14="http://schemas.microsoft.com/office/powerpoint/2010/main" val="1981684097"/>
      </p:ext>
    </p:extLst>
  </p:cSld>
</p:sld>
</file>

<file path=ppt/slides/slide30.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8" name="diagram-279">
            <a:extLst xmlns:a="http://schemas.openxmlformats.org/drawingml/2006/main">
              <a:ext uri="{FF2B5EF4-FFF2-40B4-BE49-F238E27FC236}">
                <a16:creationId xmlns:a16="http://schemas.microsoft.com/office/drawing/2014/main" id="{280A9F4F-F7DA-4840-BC10-55CB8E84AA1A}"/>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Workflow Blueprint anatomy</a:t>
            </a:r>
          </a:p>
        </p:txBody>
      </p:sp>
      <p:sp>
        <p:nvSpPr>
          <p:cNvPr id="2" name="diagram-280">
            <a:extLst xmlns:a="http://schemas.openxmlformats.org/drawingml/2006/main">
              <a:ext uri="{FF2B5EF4-FFF2-40B4-BE49-F238E27FC236}">
                <a16:creationId xmlns:a16="http://schemas.microsoft.com/office/drawing/2014/main" id="{CAFB31DD-F5B5-44C6-B8EA-EAB5C4D85A95}"/>
              </a:ext>
            </a:extLst>
          </p:cNvPr>
          <p:cNvSpPr>
            <a:spLocks xmlns:a="http://schemas.openxmlformats.org/drawingml/2006/main" noGrp="1"/>
          </p:cNvSpPr>
          <p:nvPr/>
        </p:nvSpPr>
        <p:spPr>
          <a:xfrm xmlns:a="http://schemas.openxmlformats.org/drawingml/2006/main">
            <a:off x="619125" y="2714625"/>
            <a:ext cx="1571625" cy="781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3" name="diagram-281">
            <a:extLst xmlns:a="http://schemas.openxmlformats.org/drawingml/2006/main">
              <a:ext uri="{FF2B5EF4-FFF2-40B4-BE49-F238E27FC236}">
                <a16:creationId xmlns:a16="http://schemas.microsoft.com/office/drawing/2014/main" id="{93AA8764-2B31-4993-8450-A3152557E4CC}"/>
              </a:ext>
            </a:extLst>
          </p:cNvPr>
          <p:cNvSpPr>
            <a:spLocks xmlns:a="http://schemas.openxmlformats.org/drawingml/2006/main" noGrp="1"/>
          </p:cNvSpPr>
          <p:nvPr/>
        </p:nvSpPr>
        <p:spPr>
          <a:xfrm xmlns:a="http://schemas.openxmlformats.org/drawingml/2006/main">
            <a:off x="790575" y="2857500"/>
            <a:ext cx="12287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Receive request</a:t>
            </a:r>
          </a:p>
        </p:txBody>
      </p:sp>
      <p:sp>
        <p:nvSpPr>
          <p:cNvPr id="4" name="diagram-282">
            <a:extLst xmlns:a="http://schemas.openxmlformats.org/drawingml/2006/main">
              <a:ext uri="{FF2B5EF4-FFF2-40B4-BE49-F238E27FC236}">
                <a16:creationId xmlns:a16="http://schemas.microsoft.com/office/drawing/2014/main" id="{0D6B365B-0768-4B3F-BB96-4CF322FDBDDF}"/>
              </a:ext>
            </a:extLst>
          </p:cNvPr>
          <p:cNvSpPr>
            <a:spLocks xmlns:a="http://schemas.openxmlformats.org/drawingml/2006/main" noGrp="1"/>
          </p:cNvSpPr>
          <p:nvPr/>
        </p:nvSpPr>
        <p:spPr>
          <a:xfrm xmlns:a="http://schemas.openxmlformats.org/drawingml/2006/main">
            <a:off x="2619375" y="2714625"/>
            <a:ext cx="1809750" cy="781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283">
            <a:extLst xmlns:a="http://schemas.openxmlformats.org/drawingml/2006/main">
              <a:ext uri="{FF2B5EF4-FFF2-40B4-BE49-F238E27FC236}">
                <a16:creationId xmlns:a16="http://schemas.microsoft.com/office/drawing/2014/main" id="{9A5D34CE-3370-4A77-A5C4-76C62E67728D}"/>
              </a:ext>
            </a:extLst>
          </p:cNvPr>
          <p:cNvSpPr>
            <a:spLocks xmlns:a="http://schemas.openxmlformats.org/drawingml/2006/main" noGrp="1"/>
          </p:cNvSpPr>
          <p:nvPr/>
        </p:nvSpPr>
        <p:spPr>
          <a:xfrm xmlns:a="http://schemas.openxmlformats.org/drawingml/2006/main">
            <a:off x="2790825" y="2857500"/>
            <a:ext cx="14668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Details complete?</a:t>
            </a:r>
          </a:p>
        </p:txBody>
      </p:sp>
      <p:sp>
        <p:nvSpPr>
          <p:cNvPr id="6" name="diagram-284">
            <a:extLst xmlns:a="http://schemas.openxmlformats.org/drawingml/2006/main">
              <a:ext uri="{FF2B5EF4-FFF2-40B4-BE49-F238E27FC236}">
                <a16:creationId xmlns:a16="http://schemas.microsoft.com/office/drawing/2014/main" id="{71A38F57-0018-455D-AB2A-1FEE474423EE}"/>
              </a:ext>
            </a:extLst>
          </p:cNvPr>
          <p:cNvSpPr>
            <a:spLocks xmlns:a="http://schemas.openxmlformats.org/drawingml/2006/main" noGrp="1"/>
          </p:cNvSpPr>
          <p:nvPr/>
        </p:nvSpPr>
        <p:spPr>
          <a:xfrm xmlns:a="http://schemas.openxmlformats.org/drawingml/2006/main">
            <a:off x="4857750" y="2714625"/>
            <a:ext cx="2000250" cy="7810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7" name="diagram-285">
            <a:extLst xmlns:a="http://schemas.openxmlformats.org/drawingml/2006/main">
              <a:ext uri="{FF2B5EF4-FFF2-40B4-BE49-F238E27FC236}">
                <a16:creationId xmlns:a16="http://schemas.microsoft.com/office/drawing/2014/main" id="{788BB815-49D8-442B-B553-72F67DEA76F6}"/>
              </a:ext>
            </a:extLst>
          </p:cNvPr>
          <p:cNvSpPr>
            <a:spLocks xmlns:a="http://schemas.openxmlformats.org/drawingml/2006/main" noGrp="1"/>
          </p:cNvSpPr>
          <p:nvPr/>
        </p:nvSpPr>
        <p:spPr>
          <a:xfrm xmlns:a="http://schemas.openxmlformats.org/drawingml/2006/main">
            <a:off x="5029200" y="2857500"/>
            <a:ext cx="1657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24B"/>
                </a:solidFill>
                <a:latin typeface="Tahoma"/>
                <a:ea typeface="Tahoma"/>
                <a:cs typeface="Tahoma"/>
              </a:defRPr>
            </a:pPr>
            <a:r>
              <a:rPr sz="1800" b="1">
                <a:solidFill>
                  <a:srgbClr val="18324B"/>
                </a:solidFill>
                <a:latin typeface="Tahoma"/>
                <a:ea typeface="Tahoma"/>
                <a:cs typeface="Tahoma"/>
              </a:rPr>
              <a:t>Human approval</a:t>
            </a:r>
          </a:p>
          <a:p xmlns:a="http://schemas.openxmlformats.org/drawingml/2006/main">
            <a:pPr>
              <a:defRPr sz="1800" b="1">
                <a:solidFill>
                  <a:srgbClr val="18324B"/>
                </a:solidFill>
                <a:latin typeface="Tahoma"/>
                <a:ea typeface="Tahoma"/>
                <a:cs typeface="Tahoma"/>
              </a:defRPr>
            </a:pPr>
            <a:r>
              <a:rPr sz="1800" b="1">
                <a:solidFill>
                  <a:srgbClr val="18324B"/>
                </a:solidFill>
                <a:latin typeface="Tahoma"/>
                <a:ea typeface="Tahoma"/>
                <a:cs typeface="Tahoma"/>
              </a:rPr>
              <a:t>decision</a:t>
            </a:r>
          </a:p>
        </p:txBody>
      </p:sp>
      <p:sp>
        <p:nvSpPr>
          <p:cNvPr id="8" name="diagram-286">
            <a:extLst xmlns:a="http://schemas.openxmlformats.org/drawingml/2006/main">
              <a:ext uri="{FF2B5EF4-FFF2-40B4-BE49-F238E27FC236}">
                <a16:creationId xmlns:a16="http://schemas.microsoft.com/office/drawing/2014/main" id="{B68D200A-3061-4C7E-B21E-D94AC2E66266}"/>
              </a:ext>
            </a:extLst>
          </p:cNvPr>
          <p:cNvSpPr>
            <a:spLocks xmlns:a="http://schemas.openxmlformats.org/drawingml/2006/main" noGrp="1"/>
          </p:cNvSpPr>
          <p:nvPr/>
        </p:nvSpPr>
        <p:spPr>
          <a:xfrm xmlns:a="http://schemas.openxmlformats.org/drawingml/2006/main">
            <a:off x="7524750" y="2095500"/>
            <a:ext cx="2428875" cy="8763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287">
            <a:extLst xmlns:a="http://schemas.openxmlformats.org/drawingml/2006/main">
              <a:ext uri="{FF2B5EF4-FFF2-40B4-BE49-F238E27FC236}">
                <a16:creationId xmlns:a16="http://schemas.microsoft.com/office/drawing/2014/main" id="{DB471478-0940-4855-A0CC-1078500F3F72}"/>
              </a:ext>
            </a:extLst>
          </p:cNvPr>
          <p:cNvSpPr>
            <a:spLocks xmlns:a="http://schemas.openxmlformats.org/drawingml/2006/main" noGrp="1"/>
          </p:cNvSpPr>
          <p:nvPr/>
        </p:nvSpPr>
        <p:spPr>
          <a:xfrm xmlns:a="http://schemas.openxmlformats.org/drawingml/2006/main">
            <a:off x="7696200" y="2238375"/>
            <a:ext cx="2085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Approved</a:t>
            </a:r>
          </a:p>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Notify requester</a:t>
            </a:r>
          </a:p>
        </p:txBody>
      </p:sp>
      <p:sp>
        <p:nvSpPr>
          <p:cNvPr id="10" name="diagram-288">
            <a:extLst xmlns:a="http://schemas.openxmlformats.org/drawingml/2006/main">
              <a:ext uri="{FF2B5EF4-FFF2-40B4-BE49-F238E27FC236}">
                <a16:creationId xmlns:a16="http://schemas.microsoft.com/office/drawing/2014/main" id="{35489A45-75DC-4766-87B8-5EBF8E2B4F05}"/>
              </a:ext>
            </a:extLst>
          </p:cNvPr>
          <p:cNvSpPr>
            <a:spLocks xmlns:a="http://schemas.openxmlformats.org/drawingml/2006/main" noGrp="1"/>
          </p:cNvSpPr>
          <p:nvPr/>
        </p:nvSpPr>
        <p:spPr>
          <a:xfrm xmlns:a="http://schemas.openxmlformats.org/drawingml/2006/main">
            <a:off x="7524750" y="3476625"/>
            <a:ext cx="2428875" cy="876300"/>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11" name="diagram-289">
            <a:extLst xmlns:a="http://schemas.openxmlformats.org/drawingml/2006/main">
              <a:ext uri="{FF2B5EF4-FFF2-40B4-BE49-F238E27FC236}">
                <a16:creationId xmlns:a16="http://schemas.microsoft.com/office/drawing/2014/main" id="{47B9423B-5DA6-437C-B81C-A445EE553CF2}"/>
              </a:ext>
            </a:extLst>
          </p:cNvPr>
          <p:cNvSpPr>
            <a:spLocks xmlns:a="http://schemas.openxmlformats.org/drawingml/2006/main" noGrp="1"/>
          </p:cNvSpPr>
          <p:nvPr/>
        </p:nvSpPr>
        <p:spPr>
          <a:xfrm xmlns:a="http://schemas.openxmlformats.org/drawingml/2006/main">
            <a:off x="7696200" y="3619500"/>
            <a:ext cx="20859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Rejected</a:t>
            </a:r>
          </a:p>
          <a:p xmlns:a="http://schemas.openxmlformats.org/drawingml/2006/main">
            <a:pPr>
              <a:defRPr sz="1725" b="1">
                <a:solidFill>
                  <a:srgbClr val="18324B"/>
                </a:solidFill>
                <a:latin typeface="Tahoma"/>
                <a:ea typeface="Tahoma"/>
                <a:cs typeface="Tahoma"/>
              </a:defRPr>
            </a:pPr>
            <a:r>
              <a:rPr sz="1725" b="1">
                <a:solidFill>
                  <a:srgbClr val="18324B"/>
                </a:solidFill>
                <a:latin typeface="Tahoma"/>
                <a:ea typeface="Tahoma"/>
                <a:cs typeface="Tahoma"/>
              </a:rPr>
              <a:t>Notify requester</a:t>
            </a:r>
          </a:p>
        </p:txBody>
      </p:sp>
      <p:sp>
        <p:nvSpPr>
          <p:cNvPr id="12" name="diagram-290">
            <a:extLst xmlns:a="http://schemas.openxmlformats.org/drawingml/2006/main">
              <a:ext uri="{FF2B5EF4-FFF2-40B4-BE49-F238E27FC236}">
                <a16:creationId xmlns:a16="http://schemas.microsoft.com/office/drawing/2014/main" id="{3657C871-8656-4D8B-8878-71390A222154}"/>
              </a:ext>
            </a:extLst>
          </p:cNvPr>
          <p:cNvSpPr>
            <a:spLocks xmlns:a="http://schemas.openxmlformats.org/drawingml/2006/main" noGrp="1"/>
          </p:cNvSpPr>
          <p:nvPr/>
        </p:nvSpPr>
        <p:spPr>
          <a:xfrm xmlns:a="http://schemas.openxmlformats.org/drawingml/2006/main">
            <a:off x="2619375" y="4457700"/>
            <a:ext cx="2667000" cy="838200"/>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13" name="diagram-291">
            <a:extLst xmlns:a="http://schemas.openxmlformats.org/drawingml/2006/main">
              <a:ext uri="{FF2B5EF4-FFF2-40B4-BE49-F238E27FC236}">
                <a16:creationId xmlns:a16="http://schemas.microsoft.com/office/drawing/2014/main" id="{93E68A1C-EC11-49C9-A03A-6DACC94AEEC1}"/>
              </a:ext>
            </a:extLst>
          </p:cNvPr>
          <p:cNvSpPr>
            <a:spLocks xmlns:a="http://schemas.openxmlformats.org/drawingml/2006/main" noGrp="1"/>
          </p:cNvSpPr>
          <p:nvPr/>
        </p:nvSpPr>
        <p:spPr>
          <a:xfrm xmlns:a="http://schemas.openxmlformats.org/drawingml/2006/main">
            <a:off x="2790825" y="4600575"/>
            <a:ext cx="2324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Request details</a:t>
            </a:r>
          </a:p>
          <a:p xmlns:a="http://schemas.openxmlformats.org/drawingml/2006/main">
            <a:pPr>
              <a:defRPr sz="1500" b="1">
                <a:solidFill>
                  <a:srgbClr val="18324B"/>
                </a:solidFill>
                <a:latin typeface="Tahoma"/>
                <a:ea typeface="Tahoma"/>
                <a:cs typeface="Tahoma"/>
              </a:defRPr>
            </a:pPr>
            <a:r>
              <a:rPr sz="1500" b="1">
                <a:solidFill>
                  <a:srgbClr val="18324B"/>
                </a:solidFill>
                <a:latin typeface="Tahoma"/>
                <a:ea typeface="Tahoma"/>
                <a:cs typeface="Tahoma"/>
              </a:rPr>
              <a:t>Owner: coordinator</a:t>
            </a:r>
          </a:p>
        </p:txBody>
      </p:sp>
      <p:cxnSp>
        <p:nvCxnSpPr>
          <p:cNvPr id="41" name=""/>
          <p:cNvCxnSpPr>
            <a:stCxn xmlns:a="http://schemas.openxmlformats.org/drawingml/2006/main" id="2" idx="3"/>
            <a:endCxn xmlns:a="http://schemas.openxmlformats.org/drawingml/2006/main" id="4" idx="1"/>
          </p:cNvCxnSpPr>
          <p:nvPr/>
        </p:nvCxnSpPr>
        <p:spPr>
          <a:xfrm xmlns:a="http://schemas.openxmlformats.org/drawingml/2006/main">
            <a:off x="2190750" y="31051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2" name=""/>
          <p:cNvCxnSpPr>
            <a:stCxn xmlns:a="http://schemas.openxmlformats.org/drawingml/2006/main" id="4" idx="3"/>
            <a:endCxn xmlns:a="http://schemas.openxmlformats.org/drawingml/2006/main" id="6" idx="1"/>
          </p:cNvCxnSpPr>
          <p:nvPr/>
        </p:nvCxnSpPr>
        <p:spPr>
          <a:xfrm xmlns:a="http://schemas.openxmlformats.org/drawingml/2006/main">
            <a:off x="4429125" y="3105150"/>
            <a:ext cx="4286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3" name=""/>
          <p:cNvCxnSpPr>
            <a:stCxn xmlns:a="http://schemas.openxmlformats.org/drawingml/2006/main" id="6" idx="3"/>
            <a:endCxn xmlns:a="http://schemas.openxmlformats.org/drawingml/2006/main" id="8" idx="1"/>
          </p:cNvCxnSpPr>
          <p:nvPr/>
        </p:nvCxnSpPr>
        <p:spPr>
          <a:xfrm xmlns:a="http://schemas.openxmlformats.org/drawingml/2006/main" flipV="1">
            <a:off x="6858000" y="2533650"/>
            <a:ext cx="666750" cy="57150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44" name=""/>
          <p:cNvCxnSpPr>
            <a:stCxn xmlns:a="http://schemas.openxmlformats.org/drawingml/2006/main" id="6" idx="3"/>
            <a:endCxn xmlns:a="http://schemas.openxmlformats.org/drawingml/2006/main" id="10" idx="1"/>
          </p:cNvCxnSpPr>
          <p:nvPr/>
        </p:nvCxnSpPr>
        <p:spPr>
          <a:xfrm xmlns:a="http://schemas.openxmlformats.org/drawingml/2006/main">
            <a:off x="6858000" y="3105150"/>
            <a:ext cx="666750" cy="809625"/>
          </a:xfrm>
          <a:prstGeom xmlns:a="http://schemas.openxmlformats.org/drawingml/2006/main" prst="straightConnector1">
            <a:avLst/>
          </a:prstGeom>
          <a:ln xmlns:a="http://schemas.openxmlformats.org/drawingml/2006/main" w="28575">
            <a:solidFill>
              <a:srgbClr val="B76D13"/>
            </a:solidFill>
            <a:tailEnd type="triangle" w="med" len="med"/>
          </a:ln>
        </p:spPr>
      </p:cxnSp>
      <p:cxnSp>
        <p:nvCxnSpPr>
          <p:cNvPr id="45" name=""/>
          <p:cNvCxnSpPr>
            <a:stCxn xmlns:a="http://schemas.openxmlformats.org/drawingml/2006/main" id="4" idx="2"/>
            <a:endCxn xmlns:a="http://schemas.openxmlformats.org/drawingml/2006/main" id="12" idx="0"/>
          </p:cNvCxnSpPr>
          <p:nvPr/>
        </p:nvCxnSpPr>
        <p:spPr>
          <a:xfrm xmlns:a="http://schemas.openxmlformats.org/drawingml/2006/main">
            <a:off x="3524250" y="3495675"/>
            <a:ext cx="428625" cy="962025"/>
          </a:xfrm>
          <a:prstGeom xmlns:a="http://schemas.openxmlformats.org/drawingml/2006/main" prst="bentConnector4">
            <a:avLst>
              <a:gd name="adj1" fmla="val 0"/>
              <a:gd name="adj2" fmla="val 23762"/>
            </a:avLst>
          </a:prstGeom>
          <a:ln xmlns:a="http://schemas.openxmlformats.org/drawingml/2006/main" w="28575">
            <a:solidFill>
              <a:srgbClr val="B76D13"/>
            </a:solidFill>
            <a:tailEnd type="triangle" w="med" len="med"/>
          </a:ln>
        </p:spPr>
      </p:cxnSp>
      <p:sp>
        <p:nvSpPr>
          <p:cNvPr id="19" name="diagram-292">
            <a:extLst xmlns:a="http://schemas.openxmlformats.org/drawingml/2006/main">
              <a:ext uri="{FF2B5EF4-FFF2-40B4-BE49-F238E27FC236}">
                <a16:creationId xmlns:a16="http://schemas.microsoft.com/office/drawing/2014/main" id="{229B9458-79AE-40C2-B3E9-96E0792D77A2}"/>
              </a:ext>
            </a:extLst>
          </p:cNvPr>
          <p:cNvSpPr>
            <a:spLocks xmlns:a="http://schemas.openxmlformats.org/drawingml/2006/main" noGrp="1"/>
          </p:cNvSpPr>
          <p:nvPr/>
        </p:nvSpPr>
        <p:spPr>
          <a:xfrm xmlns:a="http://schemas.openxmlformats.org/drawingml/2006/main">
            <a:off x="4286250" y="238125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4FBA"/>
                </a:solidFill>
                <a:latin typeface="Tahoma"/>
                <a:ea typeface="Tahoma"/>
                <a:cs typeface="Tahoma"/>
              </a:defRPr>
            </a:pPr>
            <a:r>
              <a:rPr sz="1350" b="1">
                <a:solidFill>
                  <a:srgbClr val="174FBA"/>
                </a:solidFill>
                <a:latin typeface="Tahoma"/>
                <a:ea typeface="Tahoma"/>
                <a:cs typeface="Tahoma"/>
              </a:rPr>
              <a:t>Complete</a:t>
            </a:r>
          </a:p>
        </p:txBody>
      </p:sp>
      <p:sp>
        <p:nvSpPr>
          <p:cNvPr id="20" name="diagram-293">
            <a:extLst xmlns:a="http://schemas.openxmlformats.org/drawingml/2006/main">
              <a:ext uri="{FF2B5EF4-FFF2-40B4-BE49-F238E27FC236}">
                <a16:creationId xmlns:a16="http://schemas.microsoft.com/office/drawing/2014/main" id="{22A60AF5-AB75-4E43-ABC0-345EA89C9B8C}"/>
              </a:ext>
            </a:extLst>
          </p:cNvPr>
          <p:cNvSpPr>
            <a:spLocks xmlns:a="http://schemas.openxmlformats.org/drawingml/2006/main" noGrp="1"/>
          </p:cNvSpPr>
          <p:nvPr/>
        </p:nvSpPr>
        <p:spPr>
          <a:xfrm xmlns:a="http://schemas.openxmlformats.org/drawingml/2006/main">
            <a:off x="1952625" y="4010025"/>
            <a:ext cx="1476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Incomplete</a:t>
            </a:r>
          </a:p>
        </p:txBody>
      </p:sp>
      <p:sp>
        <p:nvSpPr>
          <p:cNvPr id="21" name="diagram-294">
            <a:extLst xmlns:a="http://schemas.openxmlformats.org/drawingml/2006/main">
              <a:ext uri="{FF2B5EF4-FFF2-40B4-BE49-F238E27FC236}">
                <a16:creationId xmlns:a16="http://schemas.microsoft.com/office/drawing/2014/main" id="{E661B3BD-11C5-48BC-8BEC-C095977E6DD1}"/>
              </a:ext>
            </a:extLst>
          </p:cNvPr>
          <p:cNvSpPr>
            <a:spLocks xmlns:a="http://schemas.openxmlformats.org/drawingml/2006/main" noGrp="1"/>
          </p:cNvSpPr>
          <p:nvPr/>
        </p:nvSpPr>
        <p:spPr>
          <a:xfrm xmlns:a="http://schemas.openxmlformats.org/drawingml/2006/main">
            <a:off x="6572250" y="2143125"/>
            <a:ext cx="1143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4FBA"/>
                </a:solidFill>
                <a:latin typeface="Tahoma"/>
                <a:ea typeface="Tahoma"/>
                <a:cs typeface="Tahoma"/>
              </a:defRPr>
            </a:pPr>
            <a:r>
              <a:rPr sz="1350" b="1">
                <a:solidFill>
                  <a:srgbClr val="174FBA"/>
                </a:solidFill>
                <a:latin typeface="Tahoma"/>
                <a:ea typeface="Tahoma"/>
                <a:cs typeface="Tahoma"/>
              </a:rPr>
              <a:t>Approve</a:t>
            </a:r>
          </a:p>
        </p:txBody>
      </p:sp>
      <p:sp>
        <p:nvSpPr>
          <p:cNvPr id="22" name="diagram-295">
            <a:extLst xmlns:a="http://schemas.openxmlformats.org/drawingml/2006/main">
              <a:ext uri="{FF2B5EF4-FFF2-40B4-BE49-F238E27FC236}">
                <a16:creationId xmlns:a16="http://schemas.microsoft.com/office/drawing/2014/main" id="{397F38E2-162C-48EF-B215-7A4F9DE16181}"/>
              </a:ext>
            </a:extLst>
          </p:cNvPr>
          <p:cNvSpPr>
            <a:spLocks xmlns:a="http://schemas.openxmlformats.org/drawingml/2006/main" noGrp="1"/>
          </p:cNvSpPr>
          <p:nvPr/>
        </p:nvSpPr>
        <p:spPr>
          <a:xfrm xmlns:a="http://schemas.openxmlformats.org/drawingml/2006/main">
            <a:off x="6572250" y="3714750"/>
            <a:ext cx="1047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Reject</a:t>
            </a:r>
          </a:p>
        </p:txBody>
      </p:sp>
      <p:sp>
        <p:nvSpPr>
          <p:cNvPr id="23" name="diagram-296">
            <a:extLst xmlns:a="http://schemas.openxmlformats.org/drawingml/2006/main">
              <a:ext uri="{FF2B5EF4-FFF2-40B4-BE49-F238E27FC236}">
                <a16:creationId xmlns:a16="http://schemas.microsoft.com/office/drawing/2014/main" id="{C424C1CE-9F93-4196-BEBE-B7118EECE4F1}"/>
              </a:ext>
            </a:extLst>
          </p:cNvPr>
          <p:cNvSpPr>
            <a:spLocks xmlns:a="http://schemas.openxmlformats.org/drawingml/2006/main" noGrp="1"/>
          </p:cNvSpPr>
          <p:nvPr/>
        </p:nvSpPr>
        <p:spPr>
          <a:xfrm xmlns:a="http://schemas.openxmlformats.org/drawingml/2006/main">
            <a:off x="619125" y="2238375"/>
            <a:ext cx="1571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Trigger</a:t>
            </a:r>
          </a:p>
        </p:txBody>
      </p:sp>
      <p:sp>
        <p:nvSpPr>
          <p:cNvPr id="24" name="diagram-297">
            <a:extLst xmlns:a="http://schemas.openxmlformats.org/drawingml/2006/main">
              <a:ext uri="{FF2B5EF4-FFF2-40B4-BE49-F238E27FC236}">
                <a16:creationId xmlns:a16="http://schemas.microsoft.com/office/drawing/2014/main" id="{8259C695-A8FC-4077-A323-5D7AA781AED1}"/>
              </a:ext>
            </a:extLst>
          </p:cNvPr>
          <p:cNvSpPr>
            <a:spLocks xmlns:a="http://schemas.openxmlformats.org/drawingml/2006/main" noGrp="1"/>
          </p:cNvSpPr>
          <p:nvPr/>
        </p:nvSpPr>
        <p:spPr>
          <a:xfrm xmlns:a="http://schemas.openxmlformats.org/drawingml/2006/main">
            <a:off x="2619375" y="223837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Condition</a:t>
            </a:r>
          </a:p>
        </p:txBody>
      </p:sp>
      <p:sp>
        <p:nvSpPr>
          <p:cNvPr id="25" name="diagram-298">
            <a:extLst xmlns:a="http://schemas.openxmlformats.org/drawingml/2006/main">
              <a:ext uri="{FF2B5EF4-FFF2-40B4-BE49-F238E27FC236}">
                <a16:creationId xmlns:a16="http://schemas.microsoft.com/office/drawing/2014/main" id="{41D213C4-3CA9-4739-8651-9DC2C3CB6BC6}"/>
              </a:ext>
            </a:extLst>
          </p:cNvPr>
          <p:cNvSpPr>
            <a:spLocks xmlns:a="http://schemas.openxmlformats.org/drawingml/2006/main" noGrp="1"/>
          </p:cNvSpPr>
          <p:nvPr/>
        </p:nvSpPr>
        <p:spPr>
          <a:xfrm xmlns:a="http://schemas.openxmlformats.org/drawingml/2006/main">
            <a:off x="4857750" y="2238375"/>
            <a:ext cx="2000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Human decision</a:t>
            </a:r>
          </a:p>
        </p:txBody>
      </p:sp>
      <p:sp>
        <p:nvSpPr>
          <p:cNvPr id="26" name="diagram-299">
            <a:extLst xmlns:a="http://schemas.openxmlformats.org/drawingml/2006/main">
              <a:ext uri="{FF2B5EF4-FFF2-40B4-BE49-F238E27FC236}">
                <a16:creationId xmlns:a16="http://schemas.microsoft.com/office/drawing/2014/main" id="{3DB12A49-A538-4428-9A6E-01DB96F56FC2}"/>
              </a:ext>
            </a:extLst>
          </p:cNvPr>
          <p:cNvSpPr>
            <a:spLocks xmlns:a="http://schemas.openxmlformats.org/drawingml/2006/main" noGrp="1"/>
          </p:cNvSpPr>
          <p:nvPr/>
        </p:nvSpPr>
        <p:spPr>
          <a:xfrm xmlns:a="http://schemas.openxmlformats.org/drawingml/2006/main">
            <a:off x="7524750" y="1619250"/>
            <a:ext cx="2428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4FBA"/>
                </a:solidFill>
                <a:latin typeface="Tahoma"/>
                <a:ea typeface="Tahoma"/>
                <a:cs typeface="Tahoma"/>
              </a:defRPr>
            </a:pPr>
            <a:r>
              <a:rPr sz="1500" b="1">
                <a:solidFill>
                  <a:srgbClr val="174FBA"/>
                </a:solidFill>
                <a:latin typeface="Tahoma"/>
                <a:ea typeface="Tahoma"/>
                <a:cs typeface="Tahoma"/>
              </a:rPr>
              <a:t>Actions</a:t>
            </a:r>
          </a:p>
        </p:txBody>
      </p:sp>
      <p:sp>
        <p:nvSpPr>
          <p:cNvPr id="27" name="diagram-300">
            <a:extLst xmlns:a="http://schemas.openxmlformats.org/drawingml/2006/main">
              <a:ext uri="{FF2B5EF4-FFF2-40B4-BE49-F238E27FC236}">
                <a16:creationId xmlns:a16="http://schemas.microsoft.com/office/drawing/2014/main" id="{E5F043EE-88B8-4DF2-AA07-DE19204CCDFF}"/>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Both decisions reach an explicit outcome; every exception route has an owner.</a:t>
            </a:r>
          </a:p>
        </p:txBody>
      </p:sp>
    </p:spTree>
    <p:extLst>
      <p:ext uri="{BB962C8B-B14F-4D97-AF65-F5344CB8AC3E}">
        <p14:creationId xmlns:p14="http://schemas.microsoft.com/office/powerpoint/2010/main" val="1323164524"/>
      </p:ext>
    </p:extLst>
  </p:cSld>
</p:sld>
</file>

<file path=ppt/slides/slide31.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7" name="diagram-301">
            <a:extLst xmlns:a="http://schemas.openxmlformats.org/drawingml/2006/main">
              <a:ext uri="{FF2B5EF4-FFF2-40B4-BE49-F238E27FC236}">
                <a16:creationId xmlns:a16="http://schemas.microsoft.com/office/drawing/2014/main" id="{A18EE750-C895-454F-8442-7A623E7F9392}"/>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4 · PRACTICES 1–2</a:t>
            </a:r>
          </a:p>
        </p:txBody>
      </p:sp>
      <p:sp>
        <p:nvSpPr>
          <p:cNvPr id="2" name="diagram-302">
            <a:extLst xmlns:a="http://schemas.openxmlformats.org/drawingml/2006/main">
              <a:ext uri="{FF2B5EF4-FFF2-40B4-BE49-F238E27FC236}">
                <a16:creationId xmlns:a16="http://schemas.microsoft.com/office/drawing/2014/main" id="{C51A059E-B40B-4FAF-ABCE-04ED10D60963}"/>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Flow cards: the physical draft</a:t>
            </a:r>
          </a:p>
        </p:txBody>
      </p:sp>
      <p:sp>
        <p:nvSpPr>
          <p:cNvPr id="3" name="diagram-303">
            <a:extLst xmlns:a="http://schemas.openxmlformats.org/drawingml/2006/main">
              <a:ext uri="{FF2B5EF4-FFF2-40B4-BE49-F238E27FC236}">
                <a16:creationId xmlns:a16="http://schemas.microsoft.com/office/drawing/2014/main" id="{B1DA6874-06AA-44A6-AF09-F94A7AC76ED8}"/>
              </a:ext>
            </a:extLst>
          </p:cNvPr>
          <p:cNvSpPr>
            <a:spLocks xmlns:a="http://schemas.openxmlformats.org/drawingml/2006/main" noGrp="1"/>
          </p:cNvSpPr>
          <p:nvPr/>
        </p:nvSpPr>
        <p:spPr>
          <a:xfrm xmlns:a="http://schemas.openxmlformats.org/drawingml/2006/main">
            <a:off x="762000" y="25717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304">
            <a:extLst xmlns:a="http://schemas.openxmlformats.org/drawingml/2006/main">
              <a:ext uri="{FF2B5EF4-FFF2-40B4-BE49-F238E27FC236}">
                <a16:creationId xmlns:a16="http://schemas.microsoft.com/office/drawing/2014/main" id="{29DA86F7-5481-4A19-AF58-8BEEB8BE6085}"/>
              </a:ext>
            </a:extLst>
          </p:cNvPr>
          <p:cNvSpPr>
            <a:spLocks xmlns:a="http://schemas.openxmlformats.org/drawingml/2006/main" noGrp="1"/>
          </p:cNvSpPr>
          <p:nvPr/>
        </p:nvSpPr>
        <p:spPr>
          <a:xfrm xmlns:a="http://schemas.openxmlformats.org/drawingml/2006/main">
            <a:off x="933450" y="27146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Trigger</a:t>
            </a:r>
          </a:p>
        </p:txBody>
      </p:sp>
      <p:sp>
        <p:nvSpPr>
          <p:cNvPr id="5" name="diagram-305">
            <a:extLst xmlns:a="http://schemas.openxmlformats.org/drawingml/2006/main">
              <a:ext uri="{FF2B5EF4-FFF2-40B4-BE49-F238E27FC236}">
                <a16:creationId xmlns:a16="http://schemas.microsoft.com/office/drawing/2014/main" id="{5E9B8A43-2AFE-462A-BEC8-BE6012548A45}"/>
              </a:ext>
            </a:extLst>
          </p:cNvPr>
          <p:cNvSpPr>
            <a:spLocks xmlns:a="http://schemas.openxmlformats.org/drawingml/2006/main" noGrp="1"/>
          </p:cNvSpPr>
          <p:nvPr/>
        </p:nvSpPr>
        <p:spPr>
          <a:xfrm xmlns:a="http://schemas.openxmlformats.org/drawingml/2006/main">
            <a:off x="3471863" y="25717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306">
            <a:extLst xmlns:a="http://schemas.openxmlformats.org/drawingml/2006/main">
              <a:ext uri="{FF2B5EF4-FFF2-40B4-BE49-F238E27FC236}">
                <a16:creationId xmlns:a16="http://schemas.microsoft.com/office/drawing/2014/main" id="{17F9C77A-4C22-4E8E-A21B-C2F3CE492640}"/>
              </a:ext>
            </a:extLst>
          </p:cNvPr>
          <p:cNvSpPr>
            <a:spLocks xmlns:a="http://schemas.openxmlformats.org/drawingml/2006/main" noGrp="1"/>
          </p:cNvSpPr>
          <p:nvPr/>
        </p:nvSpPr>
        <p:spPr>
          <a:xfrm xmlns:a="http://schemas.openxmlformats.org/drawingml/2006/main">
            <a:off x="3643313" y="27146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Action</a:t>
            </a:r>
          </a:p>
        </p:txBody>
      </p:sp>
      <p:cxnSp>
        <p:nvCxnSpPr>
          <p:cNvPr id="23" name=""/>
          <p:cNvCxnSpPr>
            <a:stCxn xmlns:a="http://schemas.openxmlformats.org/drawingml/2006/main" id="3" idx="3"/>
            <a:endCxn xmlns:a="http://schemas.openxmlformats.org/drawingml/2006/main" id="5" idx="1"/>
          </p:cNvCxnSpPr>
          <p:nvPr/>
        </p:nvCxnSpPr>
        <p:spPr>
          <a:xfrm xmlns:a="http://schemas.openxmlformats.org/drawingml/2006/main">
            <a:off x="3109913" y="30480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8" name="diagram-307">
            <a:extLst xmlns:a="http://schemas.openxmlformats.org/drawingml/2006/main">
              <a:ext uri="{FF2B5EF4-FFF2-40B4-BE49-F238E27FC236}">
                <a16:creationId xmlns:a16="http://schemas.microsoft.com/office/drawing/2014/main" id="{BB7BEF9A-760C-4A01-84D0-7D12673487DC}"/>
              </a:ext>
            </a:extLst>
          </p:cNvPr>
          <p:cNvSpPr>
            <a:spLocks xmlns:a="http://schemas.openxmlformats.org/drawingml/2006/main" noGrp="1"/>
          </p:cNvSpPr>
          <p:nvPr/>
        </p:nvSpPr>
        <p:spPr>
          <a:xfrm xmlns:a="http://schemas.openxmlformats.org/drawingml/2006/main">
            <a:off x="6181725" y="25717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9" name="diagram-308">
            <a:extLst xmlns:a="http://schemas.openxmlformats.org/drawingml/2006/main">
              <a:ext uri="{FF2B5EF4-FFF2-40B4-BE49-F238E27FC236}">
                <a16:creationId xmlns:a16="http://schemas.microsoft.com/office/drawing/2014/main" id="{7B86A874-13BC-4745-B24B-5DB4CBFC18D5}"/>
              </a:ext>
            </a:extLst>
          </p:cNvPr>
          <p:cNvSpPr>
            <a:spLocks xmlns:a="http://schemas.openxmlformats.org/drawingml/2006/main" noGrp="1"/>
          </p:cNvSpPr>
          <p:nvPr/>
        </p:nvSpPr>
        <p:spPr>
          <a:xfrm xmlns:a="http://schemas.openxmlformats.org/drawingml/2006/main">
            <a:off x="6353175" y="27146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Action</a:t>
            </a:r>
          </a:p>
        </p:txBody>
      </p:sp>
      <p:cxnSp>
        <p:nvCxnSpPr>
          <p:cNvPr id="26" name=""/>
          <p:cNvCxnSpPr>
            <a:stCxn xmlns:a="http://schemas.openxmlformats.org/drawingml/2006/main" id="5" idx="3"/>
            <a:endCxn xmlns:a="http://schemas.openxmlformats.org/drawingml/2006/main" id="8" idx="1"/>
          </p:cNvCxnSpPr>
          <p:nvPr/>
        </p:nvCxnSpPr>
        <p:spPr>
          <a:xfrm xmlns:a="http://schemas.openxmlformats.org/drawingml/2006/main">
            <a:off x="5819776" y="3048000"/>
            <a:ext cx="361949"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1" name="diagram-309">
            <a:extLst xmlns:a="http://schemas.openxmlformats.org/drawingml/2006/main">
              <a:ext uri="{FF2B5EF4-FFF2-40B4-BE49-F238E27FC236}">
                <a16:creationId xmlns:a16="http://schemas.microsoft.com/office/drawing/2014/main" id="{C2501165-ABB8-4FBE-9254-C634F43DA976}"/>
              </a:ext>
            </a:extLst>
          </p:cNvPr>
          <p:cNvSpPr>
            <a:spLocks xmlns:a="http://schemas.openxmlformats.org/drawingml/2006/main" noGrp="1"/>
          </p:cNvSpPr>
          <p:nvPr/>
        </p:nvSpPr>
        <p:spPr>
          <a:xfrm xmlns:a="http://schemas.openxmlformats.org/drawingml/2006/main">
            <a:off x="8891588" y="2571750"/>
            <a:ext cx="2347913" cy="9525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2" name="diagram-310">
            <a:extLst xmlns:a="http://schemas.openxmlformats.org/drawingml/2006/main">
              <a:ext uri="{FF2B5EF4-FFF2-40B4-BE49-F238E27FC236}">
                <a16:creationId xmlns:a16="http://schemas.microsoft.com/office/drawing/2014/main" id="{BE2E64F0-3188-48E9-B73C-D17AA2670B58}"/>
              </a:ext>
            </a:extLst>
          </p:cNvPr>
          <p:cNvSpPr>
            <a:spLocks xmlns:a="http://schemas.openxmlformats.org/drawingml/2006/main" noGrp="1"/>
          </p:cNvSpPr>
          <p:nvPr/>
        </p:nvSpPr>
        <p:spPr>
          <a:xfrm xmlns:a="http://schemas.openxmlformats.org/drawingml/2006/main">
            <a:off x="9063038" y="2714625"/>
            <a:ext cx="2005013"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Outcome</a:t>
            </a:r>
          </a:p>
        </p:txBody>
      </p:sp>
      <p:cxnSp>
        <p:nvCxnSpPr>
          <p:cNvPr id="29" name=""/>
          <p:cNvCxnSpPr>
            <a:stCxn xmlns:a="http://schemas.openxmlformats.org/drawingml/2006/main" id="8" idx="3"/>
            <a:endCxn xmlns:a="http://schemas.openxmlformats.org/drawingml/2006/main" id="11" idx="1"/>
          </p:cNvCxnSpPr>
          <p:nvPr/>
        </p:nvCxnSpPr>
        <p:spPr>
          <a:xfrm xmlns:a="http://schemas.openxmlformats.org/drawingml/2006/main">
            <a:off x="8529638" y="3048000"/>
            <a:ext cx="361950"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4" name="diagram-311">
            <a:extLst xmlns:a="http://schemas.openxmlformats.org/drawingml/2006/main">
              <a:ext uri="{FF2B5EF4-FFF2-40B4-BE49-F238E27FC236}">
                <a16:creationId xmlns:a16="http://schemas.microsoft.com/office/drawing/2014/main" id="{DA8DC280-E00B-490D-9A2C-71AD1E3F7130}"/>
              </a:ext>
            </a:extLst>
          </p:cNvPr>
          <p:cNvSpPr>
            <a:spLocks xmlns:a="http://schemas.openxmlformats.org/drawingml/2006/main" noGrp="1"/>
          </p:cNvSpPr>
          <p:nvPr/>
        </p:nvSpPr>
        <p:spPr>
          <a:xfrm xmlns:a="http://schemas.openxmlformats.org/drawingml/2006/main">
            <a:off x="809625" y="40957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50"/>
                </a:solidFill>
                <a:latin typeface="Tahoma"/>
                <a:ea typeface="Tahoma"/>
                <a:cs typeface="Tahoma"/>
              </a:defRPr>
            </a:pPr>
            <a:r>
              <a:rPr sz="2175" b="1">
                <a:solidFill>
                  <a:srgbClr val="102D50"/>
                </a:solidFill>
                <a:latin typeface="Tahoma"/>
                <a:ea typeface="Tahoma"/>
                <a:cs typeface="Tahoma"/>
              </a:rPr>
              <a:t>Use only cards that explain the selected opportunity</a:t>
            </a:r>
          </a:p>
        </p:txBody>
      </p:sp>
      <p:sp>
        <p:nvSpPr>
          <p:cNvPr id="15" name="diagram-312">
            <a:extLst xmlns:a="http://schemas.openxmlformats.org/drawingml/2006/main">
              <a:ext uri="{FF2B5EF4-FFF2-40B4-BE49-F238E27FC236}">
                <a16:creationId xmlns:a16="http://schemas.microsoft.com/office/drawing/2014/main" id="{C9E11DF8-3DCB-42D0-B8BD-B755852845A3}"/>
              </a:ext>
            </a:extLst>
          </p:cNvPr>
          <p:cNvSpPr>
            <a:spLocks xmlns:a="http://schemas.openxmlformats.org/drawingml/2006/main" noGrp="1"/>
          </p:cNvSpPr>
          <p:nvPr/>
        </p:nvSpPr>
        <p:spPr>
          <a:xfrm xmlns:a="http://schemas.openxmlformats.org/drawingml/2006/main">
            <a:off x="762000" y="4905375"/>
            <a:ext cx="10572750" cy="781050"/>
          </a:xfrm>
          <a:prstGeom xmlns:a="http://schemas.openxmlformats.org/drawingml/2006/main" prst="rect">
            <a:avLst/>
          </a:prstGeom>
          <a:solidFill xmlns:a="http://schemas.openxmlformats.org/drawingml/2006/main">
            <a:srgbClr val="FFF0D9"/>
          </a:solidFill>
          <a:ln xmlns:a="http://schemas.openxmlformats.org/drawingml/2006/main" w="19050">
            <a:solidFill>
              <a:srgbClr val="B76D13"/>
            </a:solidFill>
          </a:ln>
        </p:spPr>
      </p:sp>
      <p:sp>
        <p:nvSpPr>
          <p:cNvPr id="16" name="diagram-313">
            <a:extLst xmlns:a="http://schemas.openxmlformats.org/drawingml/2006/main">
              <a:ext uri="{FF2B5EF4-FFF2-40B4-BE49-F238E27FC236}">
                <a16:creationId xmlns:a16="http://schemas.microsoft.com/office/drawing/2014/main" id="{2B9D3FE6-59A2-4D56-BB59-B1CB690DA390}"/>
              </a:ext>
            </a:extLst>
          </p:cNvPr>
          <p:cNvSpPr>
            <a:spLocks xmlns:a="http://schemas.openxmlformats.org/drawingml/2006/main" noGrp="1"/>
          </p:cNvSpPr>
          <p:nvPr/>
        </p:nvSpPr>
        <p:spPr>
          <a:xfrm xmlns:a="http://schemas.openxmlformats.org/drawingml/2006/main">
            <a:off x="1000125" y="5067300"/>
            <a:ext cx="1009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D50"/>
                </a:solidFill>
                <a:latin typeface="Tahoma"/>
                <a:ea typeface="Tahoma"/>
                <a:cs typeface="Tahoma"/>
              </a:defRPr>
            </a:pPr>
            <a:r>
              <a:rPr sz="1950" b="1">
                <a:solidFill>
                  <a:srgbClr val="102D50"/>
                </a:solidFill>
                <a:latin typeface="Tahoma"/>
                <a:ea typeface="Tahoma"/>
                <a:cs typeface="Tahoma"/>
              </a:rPr>
              <a:t>Correction: Start and wait for an approval is an Action after a valid Trigger.</a:t>
            </a:r>
          </a:p>
        </p:txBody>
      </p:sp>
    </p:spTree>
    <p:extLst>
      <p:ext uri="{BB962C8B-B14F-4D97-AF65-F5344CB8AC3E}">
        <p14:creationId xmlns:p14="http://schemas.microsoft.com/office/powerpoint/2010/main" val="450496067"/>
      </p:ext>
    </p:extLst>
  </p:cSld>
</p:sld>
</file>

<file path=ppt/slides/slide32.xml><?xml version="1.0" encoding="utf-8"?>
<p:sld xmlns:p="http://schemas.openxmlformats.org/presentationml/2006/main">
  <p:cSld>
    <p:bg>
      <p:bgPr>
        <a:solidFill xmlns:a="http://schemas.openxmlformats.org/drawingml/2006/main">
          <a:srgbClr val="102D50"/>
        </a:solidFill>
      </p:bgPr>
    </p:bg>
    <p:spTree>
      <p:nvGrpSpPr>
        <p:cNvPr id="1" name=""/>
        <p:cNvGrpSpPr/>
        <p:nvPr/>
      </p:nvGrpSpPr>
      <p:grpSpPr>
        <a:xfrm xmlns:a="http://schemas.openxmlformats.org/drawingml/2006/main"/>
      </p:grpSpPr>
      <p:sp>
        <p:nvSpPr>
          <p:cNvPr id="5" name="diagram-314">
            <a:extLst xmlns:a="http://schemas.openxmlformats.org/drawingml/2006/main">
              <a:ext uri="{FF2B5EF4-FFF2-40B4-BE49-F238E27FC236}">
                <a16:creationId xmlns:a16="http://schemas.microsoft.com/office/drawing/2014/main" id="{AF1C294D-2EDC-4881-8372-C382A0ECFFA7}"/>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Tahoma"/>
                <a:ea typeface="Tahoma"/>
                <a:cs typeface="Tahoma"/>
              </a:defRPr>
            </a:pPr>
            <a:r>
              <a:rPr sz="3225" b="1">
                <a:solidFill>
                  <a:srgbClr val="FFFFFF"/>
                </a:solidFill>
                <a:latin typeface="Tahoma"/>
                <a:ea typeface="Tahoma"/>
                <a:cs typeface="Tahoma"/>
              </a:rPr>
              <a:t>Block 3 checkpoint</a:t>
            </a:r>
          </a:p>
        </p:txBody>
      </p:sp>
      <p:sp>
        <p:nvSpPr>
          <p:cNvPr id="2" name="diagram-315">
            <a:extLst xmlns:a="http://schemas.openxmlformats.org/drawingml/2006/main">
              <a:ext uri="{FF2B5EF4-FFF2-40B4-BE49-F238E27FC236}">
                <a16:creationId xmlns:a16="http://schemas.microsoft.com/office/drawing/2014/main" id="{62B12538-5E25-4D11-828F-7491BEB24367}"/>
              </a:ext>
            </a:extLst>
          </p:cNvPr>
          <p:cNvSpPr>
            <a:spLocks xmlns:a="http://schemas.openxmlformats.org/drawingml/2006/main" noGrp="1"/>
          </p:cNvSpPr>
          <p:nvPr/>
        </p:nvSpPr>
        <p:spPr>
          <a:xfrm xmlns:a="http://schemas.openxmlformats.org/drawingml/2006/main">
            <a:off x="762000" y="242887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FFFFFF"/>
                </a:solidFill>
                <a:latin typeface="Tahoma"/>
                <a:ea typeface="Tahoma"/>
                <a:cs typeface="Tahoma"/>
              </a:defRPr>
            </a:pPr>
            <a:r>
              <a:rPr sz="3150" b="1">
                <a:solidFill>
                  <a:srgbClr val="FFFFFF"/>
                </a:solidFill>
                <a:latin typeface="Tahoma"/>
                <a:ea typeface="Tahoma"/>
                <a:cs typeface="Tahoma"/>
              </a:rPr>
              <a:t>One selected opportunity</a:t>
            </a:r>
          </a:p>
        </p:txBody>
      </p:sp>
      <p:sp>
        <p:nvSpPr>
          <p:cNvPr id="3" name="diagram-316">
            <a:extLst xmlns:a="http://schemas.openxmlformats.org/drawingml/2006/main">
              <a:ext uri="{FF2B5EF4-FFF2-40B4-BE49-F238E27FC236}">
                <a16:creationId xmlns:a16="http://schemas.microsoft.com/office/drawing/2014/main" id="{31D0A104-D707-4347-92C4-C8A802CB89CE}"/>
              </a:ext>
            </a:extLst>
          </p:cNvPr>
          <p:cNvSpPr>
            <a:spLocks xmlns:a="http://schemas.openxmlformats.org/drawingml/2006/main" noGrp="1"/>
          </p:cNvSpPr>
          <p:nvPr/>
        </p:nvSpPr>
        <p:spPr>
          <a:xfrm xmlns:a="http://schemas.openxmlformats.org/drawingml/2006/main">
            <a:off x="762000" y="3667125"/>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FFFFFF"/>
                </a:solidFill>
                <a:latin typeface="Tahoma"/>
                <a:ea typeface="Tahoma"/>
                <a:cs typeface="Tahoma"/>
              </a:defRPr>
            </a:pPr>
            <a:r>
              <a:rPr sz="2550" b="0">
                <a:solidFill>
                  <a:srgbClr val="FFFFFF"/>
                </a:solidFill>
                <a:latin typeface="Tahoma"/>
                <a:ea typeface="Tahoma"/>
                <a:cs typeface="Tahoma"/>
              </a:rPr>
              <a:t>A visible Trigger-to-outcome path</a:t>
            </a:r>
          </a:p>
        </p:txBody>
      </p:sp>
      <p:sp>
        <p:nvSpPr>
          <p:cNvPr id="4" name="diagram-317">
            <a:extLst xmlns:a="http://schemas.openxmlformats.org/drawingml/2006/main">
              <a:ext uri="{FF2B5EF4-FFF2-40B4-BE49-F238E27FC236}">
                <a16:creationId xmlns:a16="http://schemas.microsoft.com/office/drawing/2014/main" id="{DA121BE0-5D34-481A-AF9C-9AB948A8BB89}"/>
              </a:ext>
            </a:extLst>
          </p:cNvPr>
          <p:cNvSpPr>
            <a:spLocks xmlns:a="http://schemas.openxmlformats.org/drawingml/2006/main" noGrp="1"/>
          </p:cNvSpPr>
          <p:nvPr/>
        </p:nvSpPr>
        <p:spPr>
          <a:xfrm xmlns:a="http://schemas.openxmlformats.org/drawingml/2006/main">
            <a:off x="762000" y="519112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ABCAE8"/>
                </a:solidFill>
                <a:latin typeface="Tahoma"/>
                <a:ea typeface="Tahoma"/>
                <a:cs typeface="Tahoma"/>
              </a:defRPr>
            </a:pPr>
            <a:r>
              <a:rPr sz="2175" b="0">
                <a:solidFill>
                  <a:srgbClr val="ABCAE8"/>
                </a:solidFill>
                <a:latin typeface="Tahoma"/>
                <a:ea typeface="Tahoma"/>
                <a:cs typeface="Tahoma"/>
              </a:rPr>
              <a:t>After the break: redraw the idea freely</a:t>
            </a:r>
          </a:p>
        </p:txBody>
      </p:sp>
    </p:spTree>
    <p:extLst>
      <p:ext uri="{BB962C8B-B14F-4D97-AF65-F5344CB8AC3E}">
        <p14:creationId xmlns:p14="http://schemas.microsoft.com/office/powerpoint/2010/main" val="1161666593"/>
      </p:ext>
    </p:extLst>
  </p:cSld>
</p:sld>
</file>

<file path=ppt/slides/slide33.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7" name="diagram-318">
            <a:extLst xmlns:a="http://schemas.openxmlformats.org/drawingml/2006/main">
              <a:ext uri="{FF2B5EF4-FFF2-40B4-BE49-F238E27FC236}">
                <a16:creationId xmlns:a16="http://schemas.microsoft.com/office/drawing/2014/main" id="{47FBBF86-ABE9-4977-A561-C95B02524249}"/>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5 · PRACTICE 1</a:t>
            </a:r>
          </a:p>
        </p:txBody>
      </p:sp>
      <p:sp>
        <p:nvSpPr>
          <p:cNvPr id="2" name="diagram-319">
            <a:extLst xmlns:a="http://schemas.openxmlformats.org/drawingml/2006/main">
              <a:ext uri="{FF2B5EF4-FFF2-40B4-BE49-F238E27FC236}">
                <a16:creationId xmlns:a16="http://schemas.microsoft.com/office/drawing/2014/main" id="{B68BFE97-755C-4669-B6C7-82832B6D4285}"/>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The free-form flow map</a:t>
            </a:r>
          </a:p>
        </p:txBody>
      </p:sp>
      <p:sp>
        <p:nvSpPr>
          <p:cNvPr id="3" name="diagram-320">
            <a:extLst xmlns:a="http://schemas.openxmlformats.org/drawingml/2006/main">
              <a:ext uri="{FF2B5EF4-FFF2-40B4-BE49-F238E27FC236}">
                <a16:creationId xmlns:a16="http://schemas.microsoft.com/office/drawing/2014/main" id="{A172B874-916C-495B-992C-100F2737E9E8}"/>
              </a:ext>
            </a:extLst>
          </p:cNvPr>
          <p:cNvSpPr>
            <a:spLocks xmlns:a="http://schemas.openxmlformats.org/drawingml/2006/main" noGrp="1"/>
          </p:cNvSpPr>
          <p:nvPr/>
        </p:nvSpPr>
        <p:spPr>
          <a:xfrm xmlns:a="http://schemas.openxmlformats.org/drawingml/2006/main">
            <a:off x="857250" y="2143125"/>
            <a:ext cx="10477500" cy="3048000"/>
          </a:xfrm>
          <a:prstGeom xmlns:a="http://schemas.openxmlformats.org/drawingml/2006/main" prst="rect">
            <a:avLst/>
          </a:prstGeom>
          <a:solidFill xmlns:a="http://schemas.openxmlformats.org/drawingml/2006/main">
            <a:srgbClr val="FFFFFF"/>
          </a:solidFill>
          <a:ln xmlns:a="http://schemas.openxmlformats.org/drawingml/2006/main" w="19050">
            <a:solidFill>
              <a:srgbClr val="174FBA"/>
            </a:solidFill>
          </a:ln>
        </p:spPr>
      </p:sp>
      <p:sp>
        <p:nvSpPr>
          <p:cNvPr id="4" name="diagram-321">
            <a:extLst xmlns:a="http://schemas.openxmlformats.org/drawingml/2006/main">
              <a:ext uri="{FF2B5EF4-FFF2-40B4-BE49-F238E27FC236}">
                <a16:creationId xmlns:a16="http://schemas.microsoft.com/office/drawing/2014/main" id="{9094E34D-8071-44D5-B2FD-6030362EE18F}"/>
              </a:ext>
            </a:extLst>
          </p:cNvPr>
          <p:cNvSpPr>
            <a:spLocks xmlns:a="http://schemas.openxmlformats.org/drawingml/2006/main" noGrp="1"/>
          </p:cNvSpPr>
          <p:nvPr/>
        </p:nvSpPr>
        <p:spPr>
          <a:xfrm xmlns:a="http://schemas.openxmlformats.org/drawingml/2006/main">
            <a:off x="1238250" y="2809875"/>
            <a:ext cx="1619250" cy="7620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322">
            <a:extLst xmlns:a="http://schemas.openxmlformats.org/drawingml/2006/main">
              <a:ext uri="{FF2B5EF4-FFF2-40B4-BE49-F238E27FC236}">
                <a16:creationId xmlns:a16="http://schemas.microsoft.com/office/drawing/2014/main" id="{563FF5AB-B226-417A-92F4-856D65BF4549}"/>
              </a:ext>
            </a:extLst>
          </p:cNvPr>
          <p:cNvSpPr>
            <a:spLocks xmlns:a="http://schemas.openxmlformats.org/drawingml/2006/main" noGrp="1"/>
          </p:cNvSpPr>
          <p:nvPr/>
        </p:nvSpPr>
        <p:spPr>
          <a:xfrm xmlns:a="http://schemas.openxmlformats.org/drawingml/2006/main">
            <a:off x="1409700" y="2952750"/>
            <a:ext cx="1276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Start</a:t>
            </a:r>
          </a:p>
        </p:txBody>
      </p:sp>
      <p:sp>
        <p:nvSpPr>
          <p:cNvPr id="6" name="diagram-323">
            <a:extLst xmlns:a="http://schemas.openxmlformats.org/drawingml/2006/main">
              <a:ext uri="{FF2B5EF4-FFF2-40B4-BE49-F238E27FC236}">
                <a16:creationId xmlns:a16="http://schemas.microsoft.com/office/drawing/2014/main" id="{7C323587-21AF-42B8-B237-86A48D5E11E2}"/>
              </a:ext>
            </a:extLst>
          </p:cNvPr>
          <p:cNvSpPr>
            <a:spLocks xmlns:a="http://schemas.openxmlformats.org/drawingml/2006/main" noGrp="1"/>
          </p:cNvSpPr>
          <p:nvPr/>
        </p:nvSpPr>
        <p:spPr>
          <a:xfrm xmlns:a="http://schemas.openxmlformats.org/drawingml/2006/main">
            <a:off x="3476625" y="2619375"/>
            <a:ext cx="2190750" cy="100012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7" name="diagram-324">
            <a:extLst xmlns:a="http://schemas.openxmlformats.org/drawingml/2006/main">
              <a:ext uri="{FF2B5EF4-FFF2-40B4-BE49-F238E27FC236}">
                <a16:creationId xmlns:a16="http://schemas.microsoft.com/office/drawing/2014/main" id="{AC89AB5B-564B-44DB-ACBA-215A9664325B}"/>
              </a:ext>
            </a:extLst>
          </p:cNvPr>
          <p:cNvSpPr>
            <a:spLocks xmlns:a="http://schemas.openxmlformats.org/drawingml/2006/main" noGrp="1"/>
          </p:cNvSpPr>
          <p:nvPr/>
        </p:nvSpPr>
        <p:spPr>
          <a:xfrm xmlns:a="http://schemas.openxmlformats.org/drawingml/2006/main">
            <a:off x="3648075" y="2762250"/>
            <a:ext cx="1847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8324B"/>
                </a:solidFill>
                <a:latin typeface="Tahoma"/>
                <a:ea typeface="Tahoma"/>
                <a:cs typeface="Tahoma"/>
              </a:defRPr>
            </a:pPr>
            <a:r>
              <a:rPr sz="1950" b="1">
                <a:solidFill>
                  <a:srgbClr val="18324B"/>
                </a:solidFill>
                <a:latin typeface="Tahoma"/>
                <a:ea typeface="Tahoma"/>
                <a:cs typeface="Tahoma"/>
              </a:rPr>
              <a:t>Main steps</a:t>
            </a:r>
          </a:p>
        </p:txBody>
      </p:sp>
      <p:sp>
        <p:nvSpPr>
          <p:cNvPr id="8" name="diagram-325">
            <a:extLst xmlns:a="http://schemas.openxmlformats.org/drawingml/2006/main">
              <a:ext uri="{FF2B5EF4-FFF2-40B4-BE49-F238E27FC236}">
                <a16:creationId xmlns:a16="http://schemas.microsoft.com/office/drawing/2014/main" id="{82D36F53-1D6C-40A4-B90B-ADF551BA9F59}"/>
              </a:ext>
            </a:extLst>
          </p:cNvPr>
          <p:cNvSpPr>
            <a:spLocks xmlns:a="http://schemas.openxmlformats.org/drawingml/2006/main" noGrp="1"/>
          </p:cNvSpPr>
          <p:nvPr/>
        </p:nvSpPr>
        <p:spPr>
          <a:xfrm xmlns:a="http://schemas.openxmlformats.org/drawingml/2006/main">
            <a:off x="6334125" y="2619375"/>
            <a:ext cx="2190750" cy="1000125"/>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9" name="diagram-326">
            <a:extLst xmlns:a="http://schemas.openxmlformats.org/drawingml/2006/main">
              <a:ext uri="{FF2B5EF4-FFF2-40B4-BE49-F238E27FC236}">
                <a16:creationId xmlns:a16="http://schemas.microsoft.com/office/drawing/2014/main" id="{739A77D4-296B-4BA6-9DF9-1B2F492AC9DB}"/>
              </a:ext>
            </a:extLst>
          </p:cNvPr>
          <p:cNvSpPr>
            <a:spLocks xmlns:a="http://schemas.openxmlformats.org/drawingml/2006/main" noGrp="1"/>
          </p:cNvSpPr>
          <p:nvPr/>
        </p:nvSpPr>
        <p:spPr>
          <a:xfrm xmlns:a="http://schemas.openxmlformats.org/drawingml/2006/main">
            <a:off x="6505575" y="2762250"/>
            <a:ext cx="1847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24B"/>
                </a:solidFill>
                <a:latin typeface="Tahoma"/>
                <a:ea typeface="Tahoma"/>
                <a:cs typeface="Tahoma"/>
              </a:defRPr>
            </a:pPr>
            <a:r>
              <a:rPr sz="1800" b="1">
                <a:solidFill>
                  <a:srgbClr val="18324B"/>
                </a:solidFill>
                <a:latin typeface="Tahoma"/>
                <a:ea typeface="Tahoma"/>
                <a:cs typeface="Tahoma"/>
              </a:rPr>
              <a:t>Human decision</a:t>
            </a:r>
          </a:p>
        </p:txBody>
      </p:sp>
      <p:sp>
        <p:nvSpPr>
          <p:cNvPr id="10" name="diagram-327">
            <a:extLst xmlns:a="http://schemas.openxmlformats.org/drawingml/2006/main">
              <a:ext uri="{FF2B5EF4-FFF2-40B4-BE49-F238E27FC236}">
                <a16:creationId xmlns:a16="http://schemas.microsoft.com/office/drawing/2014/main" id="{336838B7-42A2-44F1-9AF2-0A637A3C56DC}"/>
              </a:ext>
            </a:extLst>
          </p:cNvPr>
          <p:cNvSpPr>
            <a:spLocks xmlns:a="http://schemas.openxmlformats.org/drawingml/2006/main" noGrp="1"/>
          </p:cNvSpPr>
          <p:nvPr/>
        </p:nvSpPr>
        <p:spPr>
          <a:xfrm xmlns:a="http://schemas.openxmlformats.org/drawingml/2006/main">
            <a:off x="9191625" y="2809875"/>
            <a:ext cx="1762125" cy="7620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1" name="diagram-328">
            <a:extLst xmlns:a="http://schemas.openxmlformats.org/drawingml/2006/main">
              <a:ext uri="{FF2B5EF4-FFF2-40B4-BE49-F238E27FC236}">
                <a16:creationId xmlns:a16="http://schemas.microsoft.com/office/drawing/2014/main" id="{2B4271D7-F5AC-47A5-B503-587DDE6F0E40}"/>
              </a:ext>
            </a:extLst>
          </p:cNvPr>
          <p:cNvSpPr>
            <a:spLocks xmlns:a="http://schemas.openxmlformats.org/drawingml/2006/main" noGrp="1"/>
          </p:cNvSpPr>
          <p:nvPr/>
        </p:nvSpPr>
        <p:spPr>
          <a:xfrm xmlns:a="http://schemas.openxmlformats.org/drawingml/2006/main">
            <a:off x="9363075" y="2952750"/>
            <a:ext cx="14192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24B"/>
                </a:solidFill>
                <a:latin typeface="Tahoma"/>
                <a:ea typeface="Tahoma"/>
                <a:cs typeface="Tahoma"/>
              </a:defRPr>
            </a:pPr>
            <a:r>
              <a:rPr sz="1800" b="1">
                <a:solidFill>
                  <a:srgbClr val="18324B"/>
                </a:solidFill>
                <a:latin typeface="Tahoma"/>
                <a:ea typeface="Tahoma"/>
                <a:cs typeface="Tahoma"/>
              </a:rPr>
              <a:t>Outcome</a:t>
            </a:r>
          </a:p>
        </p:txBody>
      </p:sp>
      <p:cxnSp>
        <p:nvCxnSpPr>
          <p:cNvPr id="28" name=""/>
          <p:cNvCxnSpPr>
            <a:stCxn xmlns:a="http://schemas.openxmlformats.org/drawingml/2006/main" id="4" idx="3"/>
            <a:endCxn xmlns:a="http://schemas.openxmlformats.org/drawingml/2006/main" id="6" idx="1"/>
          </p:cNvCxnSpPr>
          <p:nvPr/>
        </p:nvCxnSpPr>
        <p:spPr>
          <a:xfrm xmlns:a="http://schemas.openxmlformats.org/drawingml/2006/main" flipV="1">
            <a:off x="2857500" y="3119438"/>
            <a:ext cx="619125" cy="71438"/>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29" name=""/>
          <p:cNvCxnSpPr>
            <a:stCxn xmlns:a="http://schemas.openxmlformats.org/drawingml/2006/main" id="6" idx="3"/>
            <a:endCxn xmlns:a="http://schemas.openxmlformats.org/drawingml/2006/main" id="8" idx="1"/>
          </p:cNvCxnSpPr>
          <p:nvPr/>
        </p:nvCxnSpPr>
        <p:spPr>
          <a:xfrm xmlns:a="http://schemas.openxmlformats.org/drawingml/2006/main">
            <a:off x="5667375" y="3119438"/>
            <a:ext cx="666750"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30" name=""/>
          <p:cNvCxnSpPr>
            <a:stCxn xmlns:a="http://schemas.openxmlformats.org/drawingml/2006/main" id="8" idx="3"/>
            <a:endCxn xmlns:a="http://schemas.openxmlformats.org/drawingml/2006/main" id="10" idx="1"/>
          </p:cNvCxnSpPr>
          <p:nvPr/>
        </p:nvCxnSpPr>
        <p:spPr>
          <a:xfrm xmlns:a="http://schemas.openxmlformats.org/drawingml/2006/main">
            <a:off x="8524875" y="3119438"/>
            <a:ext cx="666750" cy="71438"/>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5" name="diagram-329">
            <a:extLst xmlns:a="http://schemas.openxmlformats.org/drawingml/2006/main">
              <a:ext uri="{FF2B5EF4-FFF2-40B4-BE49-F238E27FC236}">
                <a16:creationId xmlns:a16="http://schemas.microsoft.com/office/drawing/2014/main" id="{AF829381-1F4C-42C1-94C3-EA292A4B6A36}"/>
              </a:ext>
            </a:extLst>
          </p:cNvPr>
          <p:cNvSpPr>
            <a:spLocks xmlns:a="http://schemas.openxmlformats.org/drawingml/2006/main" noGrp="1"/>
          </p:cNvSpPr>
          <p:nvPr/>
        </p:nvSpPr>
        <p:spPr>
          <a:xfrm xmlns:a="http://schemas.openxmlformats.org/drawingml/2006/main">
            <a:off x="3333750" y="41910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B76D13"/>
                </a:solidFill>
                <a:latin typeface="Tahoma"/>
                <a:ea typeface="Tahoma"/>
                <a:cs typeface="Tahoma"/>
              </a:defRPr>
            </a:pPr>
            <a:r>
              <a:rPr sz="2100" b="1">
                <a:solidFill>
                  <a:srgbClr val="B76D13"/>
                </a:solidFill>
                <a:latin typeface="Tahoma"/>
                <a:ea typeface="Tahoma"/>
                <a:cs typeface="Tahoma"/>
              </a:rPr>
              <a:t>People · exceptions · open questions</a:t>
            </a:r>
          </a:p>
        </p:txBody>
      </p:sp>
      <p:sp>
        <p:nvSpPr>
          <p:cNvPr id="16" name="diagram-330">
            <a:extLst xmlns:a="http://schemas.openxmlformats.org/drawingml/2006/main">
              <a:ext uri="{FF2B5EF4-FFF2-40B4-BE49-F238E27FC236}">
                <a16:creationId xmlns:a16="http://schemas.microsoft.com/office/drawing/2014/main" id="{A369879D-BD65-4011-B7EF-AEB0D0A01C94}"/>
              </a:ext>
            </a:extLst>
          </p:cNvPr>
          <p:cNvSpPr>
            <a:spLocks xmlns:a="http://schemas.openxmlformats.org/drawingml/2006/main" noGrp="1"/>
          </p:cNvSpPr>
          <p:nvPr/>
        </p:nvSpPr>
        <p:spPr>
          <a:xfrm xmlns:a="http://schemas.openxmlformats.org/drawingml/2006/main">
            <a:off x="857250" y="5476875"/>
            <a:ext cx="10382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Use the cards as inspiration. Exact Power Automate names are optional.</a:t>
            </a:r>
          </a:p>
        </p:txBody>
      </p:sp>
    </p:spTree>
    <p:extLst>
      <p:ext uri="{BB962C8B-B14F-4D97-AF65-F5344CB8AC3E}">
        <p14:creationId xmlns:p14="http://schemas.microsoft.com/office/powerpoint/2010/main" val="1837806435"/>
      </p:ext>
    </p:extLst>
  </p:cSld>
</p:sld>
</file>

<file path=ppt/slides/slide34.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1" name="diagram-331">
            <a:extLst xmlns:a="http://schemas.openxmlformats.org/drawingml/2006/main">
              <a:ext uri="{FF2B5EF4-FFF2-40B4-BE49-F238E27FC236}">
                <a16:creationId xmlns:a16="http://schemas.microsoft.com/office/drawing/2014/main" id="{4C9AD9C7-44D4-4780-9A72-49F18FD98A29}"/>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5 · PRACTICE 2</a:t>
            </a:r>
          </a:p>
        </p:txBody>
      </p:sp>
      <p:sp>
        <p:nvSpPr>
          <p:cNvPr id="2" name="diagram-332">
            <a:extLst xmlns:a="http://schemas.openxmlformats.org/drawingml/2006/main">
              <a:ext uri="{FF2B5EF4-FFF2-40B4-BE49-F238E27FC236}">
                <a16:creationId xmlns:a16="http://schemas.microsoft.com/office/drawing/2014/main" id="{47E7CD2B-D3F0-4901-8F2D-E3295147BA67}"/>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A safe workflow photo</a:t>
            </a:r>
          </a:p>
        </p:txBody>
      </p:sp>
      <p:sp>
        <p:nvSpPr>
          <p:cNvPr id="3" name="diagram-333">
            <a:extLst xmlns:a="http://schemas.openxmlformats.org/drawingml/2006/main">
              <a:ext uri="{FF2B5EF4-FFF2-40B4-BE49-F238E27FC236}">
                <a16:creationId xmlns:a16="http://schemas.microsoft.com/office/drawing/2014/main" id="{BBC959A2-00BB-4261-ABEF-3D8AFBCA910E}"/>
              </a:ext>
            </a:extLst>
          </p:cNvPr>
          <p:cNvSpPr>
            <a:spLocks xmlns:a="http://schemas.openxmlformats.org/drawingml/2006/main" noGrp="1"/>
          </p:cNvSpPr>
          <p:nvPr/>
        </p:nvSpPr>
        <p:spPr>
          <a:xfrm xmlns:a="http://schemas.openxmlformats.org/drawingml/2006/main">
            <a:off x="2381250" y="2047875"/>
            <a:ext cx="7429500" cy="3714750"/>
          </a:xfrm>
          <a:prstGeom xmlns:a="http://schemas.openxmlformats.org/drawingml/2006/main" prst="rect">
            <a:avLst/>
          </a:prstGeom>
          <a:solidFill xmlns:a="http://schemas.openxmlformats.org/drawingml/2006/main">
            <a:srgbClr val="FFFFFF"/>
          </a:solidFill>
          <a:ln xmlns:a="http://schemas.openxmlformats.org/drawingml/2006/main" w="19050">
            <a:solidFill>
              <a:srgbClr val="174FBA"/>
            </a:solidFill>
          </a:ln>
        </p:spPr>
      </p:sp>
      <p:sp>
        <p:nvSpPr>
          <p:cNvPr id="4" name="diagram-334">
            <a:extLst xmlns:a="http://schemas.openxmlformats.org/drawingml/2006/main">
              <a:ext uri="{FF2B5EF4-FFF2-40B4-BE49-F238E27FC236}">
                <a16:creationId xmlns:a16="http://schemas.microsoft.com/office/drawing/2014/main" id="{B169A8C1-CB57-4FAC-A240-7CBAF3991596}"/>
              </a:ext>
            </a:extLst>
          </p:cNvPr>
          <p:cNvSpPr>
            <a:spLocks xmlns:a="http://schemas.openxmlformats.org/drawingml/2006/main" noGrp="1"/>
          </p:cNvSpPr>
          <p:nvPr/>
        </p:nvSpPr>
        <p:spPr>
          <a:xfrm xmlns:a="http://schemas.openxmlformats.org/drawingml/2006/main">
            <a:off x="2714625" y="2381250"/>
            <a:ext cx="6762750" cy="304800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5" name="diagram-335">
            <a:extLst xmlns:a="http://schemas.openxmlformats.org/drawingml/2006/main">
              <a:ext uri="{FF2B5EF4-FFF2-40B4-BE49-F238E27FC236}">
                <a16:creationId xmlns:a16="http://schemas.microsoft.com/office/drawing/2014/main" id="{70B395B2-9701-4852-9B82-35A77B9B0BCE}"/>
              </a:ext>
            </a:extLst>
          </p:cNvPr>
          <p:cNvSpPr>
            <a:spLocks xmlns:a="http://schemas.openxmlformats.org/drawingml/2006/main" noGrp="1"/>
          </p:cNvSpPr>
          <p:nvPr/>
        </p:nvSpPr>
        <p:spPr>
          <a:xfrm xmlns:a="http://schemas.openxmlformats.org/drawingml/2006/main">
            <a:off x="3905250" y="3095625"/>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4FBA"/>
                </a:solidFill>
                <a:latin typeface="Tahoma"/>
                <a:ea typeface="Tahoma"/>
                <a:cs typeface="Tahoma"/>
              </a:defRPr>
            </a:pPr>
            <a:r>
              <a:rPr sz="3150" b="1">
                <a:solidFill>
                  <a:srgbClr val="174FBA"/>
                </a:solidFill>
                <a:latin typeface="Tahoma"/>
                <a:ea typeface="Tahoma"/>
                <a:cs typeface="Tahoma"/>
              </a:rPr>
              <a:t>SAFE MAP ONLY</a:t>
            </a:r>
          </a:p>
        </p:txBody>
      </p:sp>
      <p:sp>
        <p:nvSpPr>
          <p:cNvPr id="6" name="diagram-336">
            <a:extLst xmlns:a="http://schemas.openxmlformats.org/drawingml/2006/main">
              <a:ext uri="{FF2B5EF4-FFF2-40B4-BE49-F238E27FC236}">
                <a16:creationId xmlns:a16="http://schemas.microsoft.com/office/drawing/2014/main" id="{47F3A8C0-58BF-47EB-AE60-A416F6987DB4}"/>
              </a:ext>
            </a:extLst>
          </p:cNvPr>
          <p:cNvSpPr>
            <a:spLocks xmlns:a="http://schemas.openxmlformats.org/drawingml/2006/main" noGrp="1"/>
          </p:cNvSpPr>
          <p:nvPr/>
        </p:nvSpPr>
        <p:spPr>
          <a:xfrm xmlns:a="http://schemas.openxmlformats.org/drawingml/2006/main">
            <a:off x="3190875" y="4095750"/>
            <a:ext cx="5810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D50"/>
                </a:solidFill>
                <a:latin typeface="Tahoma"/>
                <a:ea typeface="Tahoma"/>
                <a:cs typeface="Tahoma"/>
              </a:defRPr>
            </a:pPr>
            <a:r>
              <a:rPr sz="2025" b="0">
                <a:solidFill>
                  <a:srgbClr val="102D50"/>
                </a:solidFill>
                <a:latin typeface="Tahoma"/>
                <a:ea typeface="Tahoma"/>
                <a:cs typeface="Tahoma"/>
              </a:rPr>
              <a:t>No names, faces, badges, confidential details, or unrelated flipcharts</a:t>
            </a:r>
          </a:p>
        </p:txBody>
      </p:sp>
      <p:sp>
        <p:nvSpPr>
          <p:cNvPr id="7" name="diagram-337">
            <a:extLst xmlns:a="http://schemas.openxmlformats.org/drawingml/2006/main">
              <a:ext uri="{FF2B5EF4-FFF2-40B4-BE49-F238E27FC236}">
                <a16:creationId xmlns:a16="http://schemas.microsoft.com/office/drawing/2014/main" id="{D88BA007-871A-4B59-BAC5-5027A8A266FF}"/>
              </a:ext>
            </a:extLst>
          </p:cNvPr>
          <p:cNvSpPr>
            <a:spLocks xmlns:a="http://schemas.openxmlformats.org/drawingml/2006/main" noGrp="1"/>
          </p:cNvSpPr>
          <p:nvPr/>
        </p:nvSpPr>
        <p:spPr>
          <a:xfrm xmlns:a="http://schemas.openxmlformats.org/drawingml/2006/main">
            <a:off x="2143125" y="18097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B76D13"/>
                </a:solidFill>
                <a:latin typeface="Tahoma"/>
                <a:ea typeface="Tahoma"/>
                <a:cs typeface="Tahoma"/>
              </a:defRPr>
            </a:pPr>
            <a:r>
              <a:rPr sz="3150" b="1">
                <a:solidFill>
                  <a:srgbClr val="B76D13"/>
                </a:solidFill>
                <a:latin typeface="Tahoma"/>
                <a:ea typeface="Tahoma"/>
                <a:cs typeface="Tahoma"/>
              </a:rPr>
              <a:t>⌜</a:t>
            </a:r>
          </a:p>
        </p:txBody>
      </p:sp>
      <p:sp>
        <p:nvSpPr>
          <p:cNvPr id="8" name="diagram-338">
            <a:extLst xmlns:a="http://schemas.openxmlformats.org/drawingml/2006/main">
              <a:ext uri="{FF2B5EF4-FFF2-40B4-BE49-F238E27FC236}">
                <a16:creationId xmlns:a16="http://schemas.microsoft.com/office/drawing/2014/main" id="{D60E8511-5D4D-4158-B0EA-303CAE27A4DE}"/>
              </a:ext>
            </a:extLst>
          </p:cNvPr>
          <p:cNvSpPr>
            <a:spLocks xmlns:a="http://schemas.openxmlformats.org/drawingml/2006/main" noGrp="1"/>
          </p:cNvSpPr>
          <p:nvPr/>
        </p:nvSpPr>
        <p:spPr>
          <a:xfrm xmlns:a="http://schemas.openxmlformats.org/drawingml/2006/main">
            <a:off x="9620250" y="18097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B76D13"/>
                </a:solidFill>
                <a:latin typeface="Tahoma"/>
                <a:ea typeface="Tahoma"/>
                <a:cs typeface="Tahoma"/>
              </a:defRPr>
            </a:pPr>
            <a:r>
              <a:rPr sz="3150" b="1">
                <a:solidFill>
                  <a:srgbClr val="B76D13"/>
                </a:solidFill>
                <a:latin typeface="Tahoma"/>
                <a:ea typeface="Tahoma"/>
                <a:cs typeface="Tahoma"/>
              </a:rPr>
              <a:t>⌝</a:t>
            </a:r>
          </a:p>
        </p:txBody>
      </p:sp>
      <p:sp>
        <p:nvSpPr>
          <p:cNvPr id="9" name="diagram-339">
            <a:extLst xmlns:a="http://schemas.openxmlformats.org/drawingml/2006/main">
              <a:ext uri="{FF2B5EF4-FFF2-40B4-BE49-F238E27FC236}">
                <a16:creationId xmlns:a16="http://schemas.microsoft.com/office/drawing/2014/main" id="{D079B1F8-4CCD-459E-82D2-456843DFE927}"/>
              </a:ext>
            </a:extLst>
          </p:cNvPr>
          <p:cNvSpPr>
            <a:spLocks xmlns:a="http://schemas.openxmlformats.org/drawingml/2006/main" noGrp="1"/>
          </p:cNvSpPr>
          <p:nvPr/>
        </p:nvSpPr>
        <p:spPr>
          <a:xfrm xmlns:a="http://schemas.openxmlformats.org/drawingml/2006/main">
            <a:off x="2143125" y="54292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B76D13"/>
                </a:solidFill>
                <a:latin typeface="Tahoma"/>
                <a:ea typeface="Tahoma"/>
                <a:cs typeface="Tahoma"/>
              </a:defRPr>
            </a:pPr>
            <a:r>
              <a:rPr sz="3150" b="1">
                <a:solidFill>
                  <a:srgbClr val="B76D13"/>
                </a:solidFill>
                <a:latin typeface="Tahoma"/>
                <a:ea typeface="Tahoma"/>
                <a:cs typeface="Tahoma"/>
              </a:rPr>
              <a:t>⌞</a:t>
            </a:r>
          </a:p>
        </p:txBody>
      </p:sp>
      <p:sp>
        <p:nvSpPr>
          <p:cNvPr id="10" name="diagram-340">
            <a:extLst xmlns:a="http://schemas.openxmlformats.org/drawingml/2006/main">
              <a:ext uri="{FF2B5EF4-FFF2-40B4-BE49-F238E27FC236}">
                <a16:creationId xmlns:a16="http://schemas.microsoft.com/office/drawing/2014/main" id="{2BA8383A-BE25-42E0-AE1D-53E7B5928CAB}"/>
              </a:ext>
            </a:extLst>
          </p:cNvPr>
          <p:cNvSpPr>
            <a:spLocks xmlns:a="http://schemas.openxmlformats.org/drawingml/2006/main" noGrp="1"/>
          </p:cNvSpPr>
          <p:nvPr/>
        </p:nvSpPr>
        <p:spPr>
          <a:xfrm xmlns:a="http://schemas.openxmlformats.org/drawingml/2006/main">
            <a:off x="9620250" y="54292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B76D13"/>
                </a:solidFill>
                <a:latin typeface="Tahoma"/>
                <a:ea typeface="Tahoma"/>
                <a:cs typeface="Tahoma"/>
              </a:defRPr>
            </a:pPr>
            <a:r>
              <a:rPr sz="3150" b="1">
                <a:solidFill>
                  <a:srgbClr val="B76D13"/>
                </a:solidFill>
                <a:latin typeface="Tahoma"/>
                <a:ea typeface="Tahoma"/>
                <a:cs typeface="Tahoma"/>
              </a:rPr>
              <a:t>⌟</a:t>
            </a:r>
          </a:p>
        </p:txBody>
      </p:sp>
    </p:spTree>
    <p:extLst>
      <p:ext uri="{BB962C8B-B14F-4D97-AF65-F5344CB8AC3E}">
        <p14:creationId xmlns:p14="http://schemas.microsoft.com/office/powerpoint/2010/main" val="601433366"/>
      </p:ext>
    </p:extLst>
  </p:cSld>
</p:sld>
</file>

<file path=ppt/slides/slide35.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pic>
        <p:nvPicPr>
          <p:cNvPr id="7" name="Generative AI as a second reader" descr="2D editorial illustration of a leader reviewing a workflow map while a chat panel acts as a second reader."/>
          <p:cNvPicPr>
            <a:picLocks xmlns:a="http://schemas.openxmlformats.org/drawingml/2006/main" noChangeAspect="1"/>
          </p:cNvPicPr>
          <p:nvPr/>
        </p:nvPicPr>
        <p:blipFill>
          <a:blip xmlns:r="http://schemas.openxmlformats.org/officeDocument/2006/relationships" xmlns:a="http://schemas.openxmlformats.org/drawingml/2006/main" r:embed="R10c41095f6f34e0e"/>
          <a:srcRect xmlns:a="http://schemas.openxmlformats.org/drawingml/2006/main" l="0" t="16337" r="0" b="16337"/>
          <a:stretch xmlns:a="http://schemas.openxmlformats.org/drawingml/2006/main">
            <a:fillRect l="0" t="0" r="0" b="0"/>
          </a:stretch>
        </p:blipFill>
        <p:spPr>
          <a:xfrm xmlns:a="http://schemas.openxmlformats.org/drawingml/2006/main">
            <a:off x="0" y="1809750"/>
            <a:ext cx="12192000" cy="4619625"/>
          </a:xfrm>
          <a:prstGeom xmlns:a="http://schemas.openxmlformats.org/drawingml/2006/main" prst="rect">
            <a:avLst/>
          </a:prstGeom>
        </p:spPr>
      </p:pic>
      <p:sp>
        <p:nvSpPr>
          <p:cNvPr id="2" name="diagram-341">
            <a:extLst xmlns:a="http://schemas.openxmlformats.org/drawingml/2006/main">
              <a:ext uri="{FF2B5EF4-FFF2-40B4-BE49-F238E27FC236}">
                <a16:creationId xmlns:a16="http://schemas.microsoft.com/office/drawing/2014/main" id="{763AEF2F-B566-4FB5-8460-A7B9DCC87223}"/>
              </a:ext>
            </a:extLst>
          </p:cNvPr>
          <p:cNvSpPr>
            <a:spLocks xmlns:a="http://schemas.openxmlformats.org/drawingml/2006/main" noGrp="1"/>
          </p:cNvSpPr>
          <p:nvPr/>
        </p:nvSpPr>
        <p:spPr>
          <a:xfrm xmlns:a="http://schemas.openxmlformats.org/drawingml/2006/main">
            <a:off x="7524750" y="333375"/>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5 · PRACTICE 3</a:t>
            </a:r>
          </a:p>
        </p:txBody>
      </p:sp>
      <p:sp>
        <p:nvSpPr>
          <p:cNvPr id="3" name="diagram-342">
            <a:extLst xmlns:a="http://schemas.openxmlformats.org/drawingml/2006/main">
              <a:ext uri="{FF2B5EF4-FFF2-40B4-BE49-F238E27FC236}">
                <a16:creationId xmlns:a16="http://schemas.microsoft.com/office/drawing/2014/main" id="{7B95E063-CE98-4A1B-A619-8ECEA6B4B414}"/>
              </a:ext>
            </a:extLst>
          </p:cNvPr>
          <p:cNvSpPr>
            <a:spLocks xmlns:a="http://schemas.openxmlformats.org/drawingml/2006/main" noGrp="1"/>
          </p:cNvSpPr>
          <p:nvPr/>
        </p:nvSpPr>
        <p:spPr>
          <a:xfrm xmlns:a="http://schemas.openxmlformats.org/drawingml/2006/main">
            <a:off x="666750" y="10001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Generative AI as a second reader</a:t>
            </a:r>
          </a:p>
        </p:txBody>
      </p:sp>
      <p:sp>
        <p:nvSpPr>
          <p:cNvPr id="4" name="diagram-343">
            <a:extLst xmlns:a="http://schemas.openxmlformats.org/drawingml/2006/main">
              <a:ext uri="{FF2B5EF4-FFF2-40B4-BE49-F238E27FC236}">
                <a16:creationId xmlns:a16="http://schemas.microsoft.com/office/drawing/2014/main" id="{5982E3C5-135F-4C80-B86F-CE47B687F984}"/>
              </a:ext>
            </a:extLst>
          </p:cNvPr>
          <p:cNvSpPr>
            <a:spLocks xmlns:a="http://schemas.openxmlformats.org/drawingml/2006/main" noGrp="1"/>
          </p:cNvSpPr>
          <p:nvPr/>
        </p:nvSpPr>
        <p:spPr>
          <a:xfrm xmlns:a="http://schemas.openxmlformats.org/drawingml/2006/main">
            <a:off x="714375" y="2714625"/>
            <a:ext cx="3810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4FBA"/>
                </a:solidFill>
                <a:latin typeface="Tahoma"/>
                <a:ea typeface="Tahoma"/>
                <a:cs typeface="Tahoma"/>
              </a:defRPr>
            </a:pPr>
            <a:r>
              <a:rPr sz="2550" b="1">
                <a:solidFill>
                  <a:srgbClr val="174FBA"/>
                </a:solidFill>
                <a:latin typeface="Tahoma"/>
                <a:ea typeface="Tahoma"/>
                <a:cs typeface="Tahoma"/>
              </a:rPr>
              <a:t>Second reader</a:t>
            </a:r>
          </a:p>
        </p:txBody>
      </p:sp>
      <p:sp>
        <p:nvSpPr>
          <p:cNvPr id="5" name="diagram-344">
            <a:extLst xmlns:a="http://schemas.openxmlformats.org/drawingml/2006/main">
              <a:ext uri="{FF2B5EF4-FFF2-40B4-BE49-F238E27FC236}">
                <a16:creationId xmlns:a16="http://schemas.microsoft.com/office/drawing/2014/main" id="{C4979C4F-FE60-488B-AF02-562B9775401C}"/>
              </a:ext>
            </a:extLst>
          </p:cNvPr>
          <p:cNvSpPr>
            <a:spLocks xmlns:a="http://schemas.openxmlformats.org/drawingml/2006/main" noGrp="1"/>
          </p:cNvSpPr>
          <p:nvPr/>
        </p:nvSpPr>
        <p:spPr>
          <a:xfrm xmlns:a="http://schemas.openxmlformats.org/drawingml/2006/main">
            <a:off x="714375" y="3476625"/>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50"/>
                </a:solidFill>
                <a:latin typeface="Tahoma"/>
                <a:ea typeface="Tahoma"/>
                <a:cs typeface="Tahoma"/>
              </a:defRPr>
            </a:pPr>
            <a:r>
              <a:rPr sz="2025" b="1">
                <a:solidFill>
                  <a:srgbClr val="102D50"/>
                </a:solidFill>
                <a:latin typeface="Tahoma"/>
                <a:ea typeface="Tahoma"/>
                <a:cs typeface="Tahoma"/>
              </a:rPr>
              <a:t>People choose what fits</a:t>
            </a:r>
          </a:p>
        </p:txBody>
      </p:sp>
      <p:sp>
        <p:nvSpPr>
          <p:cNvPr id="6" name="diagram-345">
            <a:extLst xmlns:a="http://schemas.openxmlformats.org/drawingml/2006/main">
              <a:ext uri="{FF2B5EF4-FFF2-40B4-BE49-F238E27FC236}">
                <a16:creationId xmlns:a16="http://schemas.microsoft.com/office/drawing/2014/main" id="{8086C0FD-47A8-408E-946E-1FC7674A8948}"/>
              </a:ext>
            </a:extLst>
          </p:cNvPr>
          <p:cNvSpPr>
            <a:spLocks xmlns:a="http://schemas.openxmlformats.org/drawingml/2006/main" noGrp="1"/>
          </p:cNvSpPr>
          <p:nvPr/>
        </p:nvSpPr>
        <p:spPr>
          <a:xfrm xmlns:a="http://schemas.openxmlformats.org/drawingml/2006/main">
            <a:off x="714375" y="4095750"/>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B76D13"/>
                </a:solidFill>
                <a:latin typeface="Tahoma"/>
                <a:ea typeface="Tahoma"/>
                <a:cs typeface="Tahoma"/>
              </a:defRPr>
            </a:pPr>
            <a:r>
              <a:rPr sz="1875" b="1">
                <a:solidFill>
                  <a:srgbClr val="B76D13"/>
                </a:solidFill>
                <a:latin typeface="Tahoma"/>
                <a:ea typeface="Tahoma"/>
                <a:cs typeface="Tahoma"/>
              </a:rPr>
              <a:t>No readiness certification</a:t>
            </a:r>
          </a:p>
        </p:txBody>
      </p:sp>
    </p:spTree>
    <p:extLst>
      <p:ext uri="{BB962C8B-B14F-4D97-AF65-F5344CB8AC3E}">
        <p14:creationId xmlns:p14="http://schemas.microsoft.com/office/powerpoint/2010/main" val="737327562"/>
      </p:ext>
    </p:extLst>
  </p:cSld>
</p:sld>
</file>

<file path=ppt/slides/slide36.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8" name="diagram-346">
            <a:extLst xmlns:a="http://schemas.openxmlformats.org/drawingml/2006/main">
              <a:ext uri="{FF2B5EF4-FFF2-40B4-BE49-F238E27FC236}">
                <a16:creationId xmlns:a16="http://schemas.microsoft.com/office/drawing/2014/main" id="{A628A020-7B13-4E97-B08E-A2016EB39EDB}"/>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5 · PRACTICE 3</a:t>
            </a:r>
          </a:p>
        </p:txBody>
      </p:sp>
      <p:sp>
        <p:nvSpPr>
          <p:cNvPr id="2" name="diagram-347">
            <a:extLst xmlns:a="http://schemas.openxmlformats.org/drawingml/2006/main">
              <a:ext uri="{FF2B5EF4-FFF2-40B4-BE49-F238E27FC236}">
                <a16:creationId xmlns:a16="http://schemas.microsoft.com/office/drawing/2014/main" id="{7CEE4710-7A3E-470D-B819-2A3ABB7B213B}"/>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Photo review and human revision</a:t>
            </a:r>
          </a:p>
        </p:txBody>
      </p:sp>
      <p:sp>
        <p:nvSpPr>
          <p:cNvPr id="3" name="diagram-348">
            <a:extLst xmlns:a="http://schemas.openxmlformats.org/drawingml/2006/main">
              <a:ext uri="{FF2B5EF4-FFF2-40B4-BE49-F238E27FC236}">
                <a16:creationId xmlns:a16="http://schemas.microsoft.com/office/drawing/2014/main" id="{0F42CDD8-1D4A-4756-A86E-E2375F8AD51E}"/>
              </a:ext>
            </a:extLst>
          </p:cNvPr>
          <p:cNvSpPr>
            <a:spLocks xmlns:a="http://schemas.openxmlformats.org/drawingml/2006/main" noGrp="1"/>
          </p:cNvSpPr>
          <p:nvPr/>
        </p:nvSpPr>
        <p:spPr>
          <a:xfrm xmlns:a="http://schemas.openxmlformats.org/drawingml/2006/main">
            <a:off x="619125" y="2762250"/>
            <a:ext cx="1809750" cy="857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349">
            <a:extLst xmlns:a="http://schemas.openxmlformats.org/drawingml/2006/main">
              <a:ext uri="{FF2B5EF4-FFF2-40B4-BE49-F238E27FC236}">
                <a16:creationId xmlns:a16="http://schemas.microsoft.com/office/drawing/2014/main" id="{7847D399-F546-46D7-8B43-5A2FCE19C87E}"/>
              </a:ext>
            </a:extLst>
          </p:cNvPr>
          <p:cNvSpPr>
            <a:spLocks xmlns:a="http://schemas.openxmlformats.org/drawingml/2006/main" noGrp="1"/>
          </p:cNvSpPr>
          <p:nvPr/>
        </p:nvSpPr>
        <p:spPr>
          <a:xfrm xmlns:a="http://schemas.openxmlformats.org/drawingml/2006/main">
            <a:off x="790575" y="2905125"/>
            <a:ext cx="1466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Safe photo</a:t>
            </a:r>
          </a:p>
        </p:txBody>
      </p:sp>
      <p:sp>
        <p:nvSpPr>
          <p:cNvPr id="5" name="diagram-350">
            <a:extLst xmlns:a="http://schemas.openxmlformats.org/drawingml/2006/main">
              <a:ext uri="{FF2B5EF4-FFF2-40B4-BE49-F238E27FC236}">
                <a16:creationId xmlns:a16="http://schemas.microsoft.com/office/drawing/2014/main" id="{7A3FBFEC-4039-4AD0-AA3D-4B4FCD37E8A3}"/>
              </a:ext>
            </a:extLst>
          </p:cNvPr>
          <p:cNvSpPr>
            <a:spLocks xmlns:a="http://schemas.openxmlformats.org/drawingml/2006/main" noGrp="1"/>
          </p:cNvSpPr>
          <p:nvPr/>
        </p:nvSpPr>
        <p:spPr>
          <a:xfrm xmlns:a="http://schemas.openxmlformats.org/drawingml/2006/main">
            <a:off x="3048000" y="2762250"/>
            <a:ext cx="1809750" cy="857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6" name="diagram-351">
            <a:extLst xmlns:a="http://schemas.openxmlformats.org/drawingml/2006/main">
              <a:ext uri="{FF2B5EF4-FFF2-40B4-BE49-F238E27FC236}">
                <a16:creationId xmlns:a16="http://schemas.microsoft.com/office/drawing/2014/main" id="{91210B69-B8B1-42BD-AF1B-C4511114C69B}"/>
              </a:ext>
            </a:extLst>
          </p:cNvPr>
          <p:cNvSpPr>
            <a:spLocks xmlns:a="http://schemas.openxmlformats.org/drawingml/2006/main" noGrp="1"/>
          </p:cNvSpPr>
          <p:nvPr/>
        </p:nvSpPr>
        <p:spPr>
          <a:xfrm xmlns:a="http://schemas.openxmlformats.org/drawingml/2006/main">
            <a:off x="3219450" y="2905125"/>
            <a:ext cx="1466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AI review</a:t>
            </a:r>
          </a:p>
        </p:txBody>
      </p:sp>
      <p:sp>
        <p:nvSpPr>
          <p:cNvPr id="7" name="diagram-352">
            <a:extLst xmlns:a="http://schemas.openxmlformats.org/drawingml/2006/main">
              <a:ext uri="{FF2B5EF4-FFF2-40B4-BE49-F238E27FC236}">
                <a16:creationId xmlns:a16="http://schemas.microsoft.com/office/drawing/2014/main" id="{53F2BAB1-CA32-4ACA-B971-BA4951067F50}"/>
              </a:ext>
            </a:extLst>
          </p:cNvPr>
          <p:cNvSpPr>
            <a:spLocks xmlns:a="http://schemas.openxmlformats.org/drawingml/2006/main" noGrp="1"/>
          </p:cNvSpPr>
          <p:nvPr/>
        </p:nvSpPr>
        <p:spPr>
          <a:xfrm xmlns:a="http://schemas.openxmlformats.org/drawingml/2006/main">
            <a:off x="5476875" y="2762250"/>
            <a:ext cx="2000250" cy="857250"/>
          </a:xfrm>
          <a:prstGeom xmlns:a="http://schemas.openxmlformats.org/drawingml/2006/main" prst="rect">
            <a:avLst/>
          </a:prstGeom>
          <a:solidFill xmlns:a="http://schemas.openxmlformats.org/drawingml/2006/main">
            <a:srgbClr val="FFF0D9"/>
          </a:solidFill>
          <a:ln xmlns:a="http://schemas.openxmlformats.org/drawingml/2006/main" w="0">
            <a:noFill/>
          </a:ln>
        </p:spPr>
      </p:sp>
      <p:sp>
        <p:nvSpPr>
          <p:cNvPr id="8" name="diagram-353">
            <a:extLst xmlns:a="http://schemas.openxmlformats.org/drawingml/2006/main">
              <a:ext uri="{FF2B5EF4-FFF2-40B4-BE49-F238E27FC236}">
                <a16:creationId xmlns:a16="http://schemas.microsoft.com/office/drawing/2014/main" id="{A9F5DDA9-CE38-4D7D-A560-1FE565B3EEB1}"/>
              </a:ext>
            </a:extLst>
          </p:cNvPr>
          <p:cNvSpPr>
            <a:spLocks xmlns:a="http://schemas.openxmlformats.org/drawingml/2006/main" noGrp="1"/>
          </p:cNvSpPr>
          <p:nvPr/>
        </p:nvSpPr>
        <p:spPr>
          <a:xfrm xmlns:a="http://schemas.openxmlformats.org/drawingml/2006/main">
            <a:off x="5648325" y="2905125"/>
            <a:ext cx="16573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24B"/>
                </a:solidFill>
                <a:latin typeface="Tahoma"/>
                <a:ea typeface="Tahoma"/>
                <a:cs typeface="Tahoma"/>
              </a:defRPr>
            </a:pPr>
            <a:r>
              <a:rPr sz="1800" b="1">
                <a:solidFill>
                  <a:srgbClr val="18324B"/>
                </a:solidFill>
                <a:latin typeface="Tahoma"/>
                <a:ea typeface="Tahoma"/>
                <a:cs typeface="Tahoma"/>
              </a:rPr>
              <a:t>Group decides</a:t>
            </a:r>
          </a:p>
        </p:txBody>
      </p:sp>
      <p:sp>
        <p:nvSpPr>
          <p:cNvPr id="9" name="diagram-354">
            <a:extLst xmlns:a="http://schemas.openxmlformats.org/drawingml/2006/main">
              <a:ext uri="{FF2B5EF4-FFF2-40B4-BE49-F238E27FC236}">
                <a16:creationId xmlns:a16="http://schemas.microsoft.com/office/drawing/2014/main" id="{93B08525-65BA-4CCB-AB30-E9D01BB93801}"/>
              </a:ext>
            </a:extLst>
          </p:cNvPr>
          <p:cNvSpPr>
            <a:spLocks xmlns:a="http://schemas.openxmlformats.org/drawingml/2006/main" noGrp="1"/>
          </p:cNvSpPr>
          <p:nvPr/>
        </p:nvSpPr>
        <p:spPr>
          <a:xfrm xmlns:a="http://schemas.openxmlformats.org/drawingml/2006/main">
            <a:off x="8096250" y="2762250"/>
            <a:ext cx="1809750" cy="857250"/>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0" name="diagram-355">
            <a:extLst xmlns:a="http://schemas.openxmlformats.org/drawingml/2006/main">
              <a:ext uri="{FF2B5EF4-FFF2-40B4-BE49-F238E27FC236}">
                <a16:creationId xmlns:a16="http://schemas.microsoft.com/office/drawing/2014/main" id="{2DDD7142-B0D0-4677-B65D-A4D470FFBE9B}"/>
              </a:ext>
            </a:extLst>
          </p:cNvPr>
          <p:cNvSpPr>
            <a:spLocks xmlns:a="http://schemas.openxmlformats.org/drawingml/2006/main" noGrp="1"/>
          </p:cNvSpPr>
          <p:nvPr/>
        </p:nvSpPr>
        <p:spPr>
          <a:xfrm xmlns:a="http://schemas.openxmlformats.org/drawingml/2006/main">
            <a:off x="8267700" y="2905125"/>
            <a:ext cx="1466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8324B"/>
                </a:solidFill>
                <a:latin typeface="Tahoma"/>
                <a:ea typeface="Tahoma"/>
                <a:cs typeface="Tahoma"/>
              </a:defRPr>
            </a:pPr>
            <a:r>
              <a:rPr sz="2025" b="1">
                <a:solidFill>
                  <a:srgbClr val="18324B"/>
                </a:solidFill>
                <a:latin typeface="Tahoma"/>
                <a:ea typeface="Tahoma"/>
                <a:cs typeface="Tahoma"/>
              </a:rPr>
              <a:t>Revise map</a:t>
            </a:r>
          </a:p>
        </p:txBody>
      </p:sp>
      <p:sp>
        <p:nvSpPr>
          <p:cNvPr id="11" name="diagram-356">
            <a:extLst xmlns:a="http://schemas.openxmlformats.org/drawingml/2006/main">
              <a:ext uri="{FF2B5EF4-FFF2-40B4-BE49-F238E27FC236}">
                <a16:creationId xmlns:a16="http://schemas.microsoft.com/office/drawing/2014/main" id="{9AE6AD8A-CA25-4614-9EFF-ABD4F4AF9BD7}"/>
              </a:ext>
            </a:extLst>
          </p:cNvPr>
          <p:cNvSpPr>
            <a:spLocks xmlns:a="http://schemas.openxmlformats.org/drawingml/2006/main" noGrp="1"/>
          </p:cNvSpPr>
          <p:nvPr/>
        </p:nvSpPr>
        <p:spPr>
          <a:xfrm xmlns:a="http://schemas.openxmlformats.org/drawingml/2006/main">
            <a:off x="10144125" y="2762250"/>
            <a:ext cx="1428750" cy="8572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diagram-357">
            <a:extLst xmlns:a="http://schemas.openxmlformats.org/drawingml/2006/main">
              <a:ext uri="{FF2B5EF4-FFF2-40B4-BE49-F238E27FC236}">
                <a16:creationId xmlns:a16="http://schemas.microsoft.com/office/drawing/2014/main" id="{1A3F1998-8022-485D-B0D6-B9FA6F222FE9}"/>
              </a:ext>
            </a:extLst>
          </p:cNvPr>
          <p:cNvSpPr>
            <a:spLocks xmlns:a="http://schemas.openxmlformats.org/drawingml/2006/main" noGrp="1"/>
          </p:cNvSpPr>
          <p:nvPr/>
        </p:nvSpPr>
        <p:spPr>
          <a:xfrm xmlns:a="http://schemas.openxmlformats.org/drawingml/2006/main">
            <a:off x="10315575" y="2905125"/>
            <a:ext cx="10858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8324B"/>
                </a:solidFill>
                <a:latin typeface="Tahoma"/>
                <a:ea typeface="Tahoma"/>
                <a:cs typeface="Tahoma"/>
              </a:defRPr>
            </a:pPr>
            <a:r>
              <a:rPr sz="1575" b="1">
                <a:solidFill>
                  <a:srgbClr val="18324B"/>
                </a:solidFill>
                <a:latin typeface="Tahoma"/>
                <a:ea typeface="Tahoma"/>
                <a:cs typeface="Tahoma"/>
              </a:rPr>
              <a:t>Open questions</a:t>
            </a:r>
          </a:p>
        </p:txBody>
      </p:sp>
      <p:cxnSp>
        <p:nvCxnSpPr>
          <p:cNvPr id="30" name=""/>
          <p:cNvCxnSpPr>
            <a:stCxn xmlns:a="http://schemas.openxmlformats.org/drawingml/2006/main" id="3" idx="3"/>
            <a:endCxn xmlns:a="http://schemas.openxmlformats.org/drawingml/2006/main" id="5" idx="1"/>
          </p:cNvCxnSpPr>
          <p:nvPr/>
        </p:nvCxnSpPr>
        <p:spPr>
          <a:xfrm xmlns:a="http://schemas.openxmlformats.org/drawingml/2006/main">
            <a:off x="2428875" y="3190875"/>
            <a:ext cx="6191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31" name=""/>
          <p:cNvCxnSpPr>
            <a:stCxn xmlns:a="http://schemas.openxmlformats.org/drawingml/2006/main" id="5" idx="3"/>
            <a:endCxn xmlns:a="http://schemas.openxmlformats.org/drawingml/2006/main" id="7" idx="1"/>
          </p:cNvCxnSpPr>
          <p:nvPr/>
        </p:nvCxnSpPr>
        <p:spPr>
          <a:xfrm xmlns:a="http://schemas.openxmlformats.org/drawingml/2006/main">
            <a:off x="4857750" y="3190875"/>
            <a:ext cx="6191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32" name=""/>
          <p:cNvCxnSpPr>
            <a:stCxn xmlns:a="http://schemas.openxmlformats.org/drawingml/2006/main" id="7" idx="3"/>
            <a:endCxn xmlns:a="http://schemas.openxmlformats.org/drawingml/2006/main" id="9" idx="1"/>
          </p:cNvCxnSpPr>
          <p:nvPr/>
        </p:nvCxnSpPr>
        <p:spPr>
          <a:xfrm xmlns:a="http://schemas.openxmlformats.org/drawingml/2006/main">
            <a:off x="7477125" y="3190875"/>
            <a:ext cx="619125" cy="0"/>
          </a:xfrm>
          <a:prstGeom xmlns:a="http://schemas.openxmlformats.org/drawingml/2006/main" prst="straightConnector1">
            <a:avLst/>
          </a:prstGeom>
          <a:ln xmlns:a="http://schemas.openxmlformats.org/drawingml/2006/main" w="28575">
            <a:solidFill>
              <a:srgbClr val="174FBA"/>
            </a:solidFill>
            <a:tailEnd type="triangle" w="med" len="med"/>
          </a:ln>
        </p:spPr>
      </p:cxnSp>
      <p:cxnSp>
        <p:nvCxnSpPr>
          <p:cNvPr id="33" name=""/>
          <p:cNvCxnSpPr>
            <a:stCxn xmlns:a="http://schemas.openxmlformats.org/drawingml/2006/main" id="9" idx="3"/>
            <a:endCxn xmlns:a="http://schemas.openxmlformats.org/drawingml/2006/main" id="11" idx="1"/>
          </p:cNvCxnSpPr>
          <p:nvPr/>
        </p:nvCxnSpPr>
        <p:spPr>
          <a:xfrm xmlns:a="http://schemas.openxmlformats.org/drawingml/2006/main">
            <a:off x="9906000" y="3190875"/>
            <a:ext cx="238125" cy="0"/>
          </a:xfrm>
          <a:prstGeom xmlns:a="http://schemas.openxmlformats.org/drawingml/2006/main" prst="straightConnector1">
            <a:avLst/>
          </a:prstGeom>
          <a:ln xmlns:a="http://schemas.openxmlformats.org/drawingml/2006/main" w="28575">
            <a:solidFill>
              <a:srgbClr val="174FBA"/>
            </a:solidFill>
            <a:tailEnd type="triangle" w="med" len="med"/>
          </a:ln>
        </p:spPr>
      </p:cxnSp>
      <p:sp>
        <p:nvSpPr>
          <p:cNvPr id="17" name="diagram-358">
            <a:extLst xmlns:a="http://schemas.openxmlformats.org/drawingml/2006/main">
              <a:ext uri="{FF2B5EF4-FFF2-40B4-BE49-F238E27FC236}">
                <a16:creationId xmlns:a16="http://schemas.microsoft.com/office/drawing/2014/main" id="{22430A9F-6106-4D05-B5E6-0E40A159FFB3}"/>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If the tool cannot read a label, clarify it. Do not let the tool invent missing information.</a:t>
            </a:r>
          </a:p>
        </p:txBody>
      </p:sp>
    </p:spTree>
    <p:extLst>
      <p:ext uri="{BB962C8B-B14F-4D97-AF65-F5344CB8AC3E}">
        <p14:creationId xmlns:p14="http://schemas.microsoft.com/office/powerpoint/2010/main" val="1684485591"/>
      </p:ext>
    </p:extLst>
  </p:cSld>
</p:sld>
</file>

<file path=ppt/slides/slide37.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3" name="diagram-359">
            <a:extLst xmlns:a="http://schemas.openxmlformats.org/drawingml/2006/main">
              <a:ext uri="{FF2B5EF4-FFF2-40B4-BE49-F238E27FC236}">
                <a16:creationId xmlns:a16="http://schemas.microsoft.com/office/drawing/2014/main" id="{2BF3FA96-964E-43BC-9F89-FC060EA4E786}"/>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5 · PRACTICE 4</a:t>
            </a:r>
          </a:p>
        </p:txBody>
      </p:sp>
      <p:sp>
        <p:nvSpPr>
          <p:cNvPr id="2" name="diagram-360">
            <a:extLst xmlns:a="http://schemas.openxmlformats.org/drawingml/2006/main">
              <a:ext uri="{FF2B5EF4-FFF2-40B4-BE49-F238E27FC236}">
                <a16:creationId xmlns:a16="http://schemas.microsoft.com/office/drawing/2014/main" id="{F886BD97-9C95-44C2-94EE-FFF88EF09403}"/>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Leadership Handover Card</a:t>
            </a:r>
          </a:p>
        </p:txBody>
      </p:sp>
      <p:sp>
        <p:nvSpPr>
          <p:cNvPr id="3" name="diagram-361">
            <a:extLst xmlns:a="http://schemas.openxmlformats.org/drawingml/2006/main">
              <a:ext uri="{FF2B5EF4-FFF2-40B4-BE49-F238E27FC236}">
                <a16:creationId xmlns:a16="http://schemas.microsoft.com/office/drawing/2014/main" id="{C175F016-DC1E-42B0-86A2-35D9B2E6C64C}"/>
              </a:ext>
            </a:extLst>
          </p:cNvPr>
          <p:cNvSpPr>
            <a:spLocks xmlns:a="http://schemas.openxmlformats.org/drawingml/2006/main" noGrp="1"/>
          </p:cNvSpPr>
          <p:nvPr/>
        </p:nvSpPr>
        <p:spPr>
          <a:xfrm xmlns:a="http://schemas.openxmlformats.org/drawingml/2006/main">
            <a:off x="5905500" y="2190750"/>
            <a:ext cx="19050" cy="28098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4" name="diagram-362">
            <a:extLst xmlns:a="http://schemas.openxmlformats.org/drawingml/2006/main">
              <a:ext uri="{FF2B5EF4-FFF2-40B4-BE49-F238E27FC236}">
                <a16:creationId xmlns:a16="http://schemas.microsoft.com/office/drawing/2014/main" id="{3729C1C5-D0A5-4DFE-A7D7-C8DC2AD79C1E}"/>
              </a:ext>
            </a:extLst>
          </p:cNvPr>
          <p:cNvSpPr>
            <a:spLocks xmlns:a="http://schemas.openxmlformats.org/drawingml/2006/main" noGrp="1"/>
          </p:cNvSpPr>
          <p:nvPr/>
        </p:nvSpPr>
        <p:spPr>
          <a:xfrm xmlns:a="http://schemas.openxmlformats.org/drawingml/2006/main">
            <a:off x="762000" y="21431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4FBA"/>
                </a:solidFill>
                <a:latin typeface="Tahoma"/>
                <a:ea typeface="Tahoma"/>
                <a:cs typeface="Tahoma"/>
              </a:defRPr>
            </a:pPr>
            <a:r>
              <a:rPr sz="2850" b="1">
                <a:solidFill>
                  <a:srgbClr val="174FBA"/>
                </a:solidFill>
                <a:latin typeface="Tahoma"/>
                <a:ea typeface="Tahoma"/>
                <a:cs typeface="Tahoma"/>
              </a:rPr>
              <a:t>Improved map</a:t>
            </a:r>
          </a:p>
        </p:txBody>
      </p:sp>
      <p:sp>
        <p:nvSpPr>
          <p:cNvPr id="5" name="diagram-363">
            <a:extLst xmlns:a="http://schemas.openxmlformats.org/drawingml/2006/main">
              <a:ext uri="{FF2B5EF4-FFF2-40B4-BE49-F238E27FC236}">
                <a16:creationId xmlns:a16="http://schemas.microsoft.com/office/drawing/2014/main" id="{46C41FE5-B4B3-4DC7-A944-B04BC4BE0D29}"/>
              </a:ext>
            </a:extLst>
          </p:cNvPr>
          <p:cNvSpPr>
            <a:spLocks xmlns:a="http://schemas.openxmlformats.org/drawingml/2006/main" noGrp="1"/>
          </p:cNvSpPr>
          <p:nvPr/>
        </p:nvSpPr>
        <p:spPr>
          <a:xfrm xmlns:a="http://schemas.openxmlformats.org/drawingml/2006/main">
            <a:off x="6572250" y="2143125"/>
            <a:ext cx="466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B76D13"/>
                </a:solidFill>
                <a:latin typeface="Tahoma"/>
                <a:ea typeface="Tahoma"/>
                <a:cs typeface="Tahoma"/>
              </a:defRPr>
            </a:pPr>
            <a:r>
              <a:rPr sz="2850" b="1">
                <a:solidFill>
                  <a:srgbClr val="B76D13"/>
                </a:solidFill>
                <a:latin typeface="Tahoma"/>
                <a:ea typeface="Tahoma"/>
                <a:cs typeface="Tahoma"/>
              </a:rPr>
              <a:t>Leadership Handover Card</a:t>
            </a:r>
          </a:p>
        </p:txBody>
      </p:sp>
      <p:sp>
        <p:nvSpPr>
          <p:cNvPr id="6" name="diagram-364">
            <a:extLst xmlns:a="http://schemas.openxmlformats.org/drawingml/2006/main">
              <a:ext uri="{FF2B5EF4-FFF2-40B4-BE49-F238E27FC236}">
                <a16:creationId xmlns:a16="http://schemas.microsoft.com/office/drawing/2014/main" id="{81ED7E2B-3809-43B9-865C-3E62F1F9A723}"/>
              </a:ext>
            </a:extLst>
          </p:cNvPr>
          <p:cNvSpPr>
            <a:spLocks xmlns:a="http://schemas.openxmlformats.org/drawingml/2006/main" noGrp="1"/>
          </p:cNvSpPr>
          <p:nvPr/>
        </p:nvSpPr>
        <p:spPr>
          <a:xfrm xmlns:a="http://schemas.openxmlformats.org/drawingml/2006/main">
            <a:off x="762000" y="304800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Useful feedback</a:t>
            </a:r>
          </a:p>
        </p:txBody>
      </p:sp>
      <p:sp>
        <p:nvSpPr>
          <p:cNvPr id="7" name="diagram-365">
            <a:extLst xmlns:a="http://schemas.openxmlformats.org/drawingml/2006/main">
              <a:ext uri="{FF2B5EF4-FFF2-40B4-BE49-F238E27FC236}">
                <a16:creationId xmlns:a16="http://schemas.microsoft.com/office/drawing/2014/main" id="{36E2BBC0-275F-45AC-B995-7766E0A28376}"/>
              </a:ext>
            </a:extLst>
          </p:cNvPr>
          <p:cNvSpPr>
            <a:spLocks xmlns:a="http://schemas.openxmlformats.org/drawingml/2006/main" noGrp="1"/>
          </p:cNvSpPr>
          <p:nvPr/>
        </p:nvSpPr>
        <p:spPr>
          <a:xfrm xmlns:a="http://schemas.openxmlformats.org/drawingml/2006/main">
            <a:off x="762000" y="371475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Changes made</a:t>
            </a:r>
          </a:p>
        </p:txBody>
      </p:sp>
      <p:sp>
        <p:nvSpPr>
          <p:cNvPr id="8" name="diagram-366">
            <a:extLst xmlns:a="http://schemas.openxmlformats.org/drawingml/2006/main">
              <a:ext uri="{FF2B5EF4-FFF2-40B4-BE49-F238E27FC236}">
                <a16:creationId xmlns:a16="http://schemas.microsoft.com/office/drawing/2014/main" id="{6A790BAB-24A3-4585-9A21-649EA3372C2A}"/>
              </a:ext>
            </a:extLst>
          </p:cNvPr>
          <p:cNvSpPr>
            <a:spLocks xmlns:a="http://schemas.openxmlformats.org/drawingml/2006/main" noGrp="1"/>
          </p:cNvSpPr>
          <p:nvPr/>
        </p:nvSpPr>
        <p:spPr>
          <a:xfrm xmlns:a="http://schemas.openxmlformats.org/drawingml/2006/main">
            <a:off x="762000" y="438150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Questions to confirm</a:t>
            </a:r>
          </a:p>
        </p:txBody>
      </p:sp>
      <p:sp>
        <p:nvSpPr>
          <p:cNvPr id="9" name="diagram-367">
            <a:extLst xmlns:a="http://schemas.openxmlformats.org/drawingml/2006/main">
              <a:ext uri="{FF2B5EF4-FFF2-40B4-BE49-F238E27FC236}">
                <a16:creationId xmlns:a16="http://schemas.microsoft.com/office/drawing/2014/main" id="{D300E56A-F809-4AD5-9A68-76BE6169DF2E}"/>
              </a:ext>
            </a:extLst>
          </p:cNvPr>
          <p:cNvSpPr>
            <a:spLocks xmlns:a="http://schemas.openxmlformats.org/drawingml/2006/main" noGrp="1"/>
          </p:cNvSpPr>
          <p:nvPr/>
        </p:nvSpPr>
        <p:spPr>
          <a:xfrm xmlns:a="http://schemas.openxmlformats.org/drawingml/2006/main">
            <a:off x="6572250" y="304800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Owner and expected benefit</a:t>
            </a:r>
          </a:p>
        </p:txBody>
      </p:sp>
      <p:sp>
        <p:nvSpPr>
          <p:cNvPr id="10" name="diagram-368">
            <a:extLst xmlns:a="http://schemas.openxmlformats.org/drawingml/2006/main">
              <a:ext uri="{FF2B5EF4-FFF2-40B4-BE49-F238E27FC236}">
                <a16:creationId xmlns:a16="http://schemas.microsoft.com/office/drawing/2014/main" id="{AF415ACD-815C-4A5F-8E09-0387C2C9F218}"/>
              </a:ext>
            </a:extLst>
          </p:cNvPr>
          <p:cNvSpPr>
            <a:spLocks xmlns:a="http://schemas.openxmlformats.org/drawingml/2006/main" noGrp="1"/>
          </p:cNvSpPr>
          <p:nvPr/>
        </p:nvSpPr>
        <p:spPr>
          <a:xfrm xmlns:a="http://schemas.openxmlformats.org/drawingml/2006/main">
            <a:off x="6572250" y="371475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Measure and support needs</a:t>
            </a:r>
          </a:p>
        </p:txBody>
      </p:sp>
      <p:sp>
        <p:nvSpPr>
          <p:cNvPr id="11" name="diagram-369">
            <a:extLst xmlns:a="http://schemas.openxmlformats.org/drawingml/2006/main">
              <a:ext uri="{FF2B5EF4-FFF2-40B4-BE49-F238E27FC236}">
                <a16:creationId xmlns:a16="http://schemas.microsoft.com/office/drawing/2014/main" id="{C6277E1E-35B4-4078-A9E2-86B9C792A54D}"/>
              </a:ext>
            </a:extLst>
          </p:cNvPr>
          <p:cNvSpPr>
            <a:spLocks xmlns:a="http://schemas.openxmlformats.org/drawingml/2006/main" noGrp="1"/>
          </p:cNvSpPr>
          <p:nvPr/>
        </p:nvSpPr>
        <p:spPr>
          <a:xfrm xmlns:a="http://schemas.openxmlformats.org/drawingml/2006/main">
            <a:off x="6572250" y="4381500"/>
            <a:ext cx="4714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8324B"/>
                </a:solidFill>
                <a:latin typeface="Tahoma"/>
                <a:ea typeface="Tahoma"/>
                <a:cs typeface="Tahoma"/>
              </a:defRPr>
            </a:pPr>
            <a:r>
              <a:rPr sz="2175" b="0">
                <a:solidFill>
                  <a:srgbClr val="18324B"/>
                </a:solidFill>
                <a:latin typeface="Tahoma"/>
                <a:ea typeface="Tahoma"/>
                <a:cs typeface="Tahoma"/>
              </a:rPr>
              <a:t>Next decision and follow-up</a:t>
            </a:r>
          </a:p>
        </p:txBody>
      </p:sp>
      <p:sp>
        <p:nvSpPr>
          <p:cNvPr id="12" name="diagram-370">
            <a:extLst xmlns:a="http://schemas.openxmlformats.org/drawingml/2006/main">
              <a:ext uri="{FF2B5EF4-FFF2-40B4-BE49-F238E27FC236}">
                <a16:creationId xmlns:a16="http://schemas.microsoft.com/office/drawing/2014/main" id="{53207847-6C51-4CD3-A334-99A4BE677848}"/>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Generative AI feedback is input, not evidence of readiness.</a:t>
            </a:r>
          </a:p>
        </p:txBody>
      </p:sp>
    </p:spTree>
    <p:extLst>
      <p:ext uri="{BB962C8B-B14F-4D97-AF65-F5344CB8AC3E}">
        <p14:creationId xmlns:p14="http://schemas.microsoft.com/office/powerpoint/2010/main" val="836098300"/>
      </p:ext>
    </p:extLst>
  </p:cSld>
</p:sld>
</file>

<file path=ppt/slides/slide38.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10" name="diagram-371">
            <a:extLst xmlns:a="http://schemas.openxmlformats.org/drawingml/2006/main">
              <a:ext uri="{FF2B5EF4-FFF2-40B4-BE49-F238E27FC236}">
                <a16:creationId xmlns:a16="http://schemas.microsoft.com/office/drawing/2014/main" id="{76431ACF-EC98-4E14-9DF8-6264B118E55F}"/>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5 · PRACTICE 4</a:t>
            </a:r>
          </a:p>
        </p:txBody>
      </p:sp>
      <p:sp>
        <p:nvSpPr>
          <p:cNvPr id="2" name="diagram-372">
            <a:extLst xmlns:a="http://schemas.openxmlformats.org/drawingml/2006/main">
              <a:ext uri="{FF2B5EF4-FFF2-40B4-BE49-F238E27FC236}">
                <a16:creationId xmlns:a16="http://schemas.microsoft.com/office/drawing/2014/main" id="{ABCE86E8-082B-432F-AE43-D179B33195C7}"/>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Three presentation points</a:t>
            </a:r>
          </a:p>
        </p:txBody>
      </p:sp>
      <p:sp>
        <p:nvSpPr>
          <p:cNvPr id="3" name="diagram-373">
            <a:extLst xmlns:a="http://schemas.openxmlformats.org/drawingml/2006/main">
              <a:ext uri="{FF2B5EF4-FFF2-40B4-BE49-F238E27FC236}">
                <a16:creationId xmlns:a16="http://schemas.microsoft.com/office/drawing/2014/main" id="{5FEF572C-94BC-4E7D-99BF-A421E28B3DEB}"/>
              </a:ext>
            </a:extLst>
          </p:cNvPr>
          <p:cNvSpPr>
            <a:spLocks xmlns:a="http://schemas.openxmlformats.org/drawingml/2006/main" noGrp="1"/>
          </p:cNvSpPr>
          <p:nvPr/>
        </p:nvSpPr>
        <p:spPr>
          <a:xfrm xmlns:a="http://schemas.openxmlformats.org/drawingml/2006/main">
            <a:off x="809625" y="214312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4FBA"/>
                </a:solidFill>
                <a:latin typeface="Tahoma"/>
                <a:ea typeface="Tahoma"/>
                <a:cs typeface="Tahoma"/>
              </a:defRPr>
            </a:pPr>
            <a:r>
              <a:rPr sz="3450" b="1">
                <a:solidFill>
                  <a:srgbClr val="174FBA"/>
                </a:solidFill>
                <a:latin typeface="Tahoma"/>
                <a:ea typeface="Tahoma"/>
                <a:cs typeface="Tahoma"/>
              </a:rPr>
              <a:t>01</a:t>
            </a:r>
          </a:p>
        </p:txBody>
      </p:sp>
      <p:sp>
        <p:nvSpPr>
          <p:cNvPr id="4" name="diagram-374">
            <a:extLst xmlns:a="http://schemas.openxmlformats.org/drawingml/2006/main">
              <a:ext uri="{FF2B5EF4-FFF2-40B4-BE49-F238E27FC236}">
                <a16:creationId xmlns:a16="http://schemas.microsoft.com/office/drawing/2014/main" id="{4DDFCD11-3D15-41A0-9A13-36CE0FAD56F1}"/>
              </a:ext>
            </a:extLst>
          </p:cNvPr>
          <p:cNvSpPr>
            <a:spLocks xmlns:a="http://schemas.openxmlformats.org/drawingml/2006/main" noGrp="1"/>
          </p:cNvSpPr>
          <p:nvPr/>
        </p:nvSpPr>
        <p:spPr>
          <a:xfrm xmlns:a="http://schemas.openxmlformats.org/drawingml/2006/main">
            <a:off x="1952625" y="2143125"/>
            <a:ext cx="909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50"/>
                </a:solidFill>
                <a:latin typeface="Tahoma"/>
                <a:ea typeface="Tahoma"/>
                <a:cs typeface="Tahoma"/>
              </a:defRPr>
            </a:pPr>
            <a:r>
              <a:rPr sz="2175" b="1">
                <a:solidFill>
                  <a:srgbClr val="102D50"/>
                </a:solidFill>
                <a:latin typeface="Tahoma"/>
                <a:ea typeface="Tahoma"/>
                <a:cs typeface="Tahoma"/>
              </a:rPr>
              <a:t>Problem and expected benefit</a:t>
            </a:r>
          </a:p>
        </p:txBody>
      </p:sp>
      <p:sp>
        <p:nvSpPr>
          <p:cNvPr id="5" name="diagram-375">
            <a:extLst xmlns:a="http://schemas.openxmlformats.org/drawingml/2006/main">
              <a:ext uri="{FF2B5EF4-FFF2-40B4-BE49-F238E27FC236}">
                <a16:creationId xmlns:a16="http://schemas.microsoft.com/office/drawing/2014/main" id="{F7398649-5AEB-4A80-AB3B-E9E7D10CD2EC}"/>
              </a:ext>
            </a:extLst>
          </p:cNvPr>
          <p:cNvSpPr>
            <a:spLocks xmlns:a="http://schemas.openxmlformats.org/drawingml/2006/main" noGrp="1"/>
          </p:cNvSpPr>
          <p:nvPr/>
        </p:nvSpPr>
        <p:spPr>
          <a:xfrm xmlns:a="http://schemas.openxmlformats.org/drawingml/2006/main">
            <a:off x="809625" y="328612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4FBA"/>
                </a:solidFill>
                <a:latin typeface="Tahoma"/>
                <a:ea typeface="Tahoma"/>
                <a:cs typeface="Tahoma"/>
              </a:defRPr>
            </a:pPr>
            <a:r>
              <a:rPr sz="3450" b="1">
                <a:solidFill>
                  <a:srgbClr val="174FBA"/>
                </a:solidFill>
                <a:latin typeface="Tahoma"/>
                <a:ea typeface="Tahoma"/>
                <a:cs typeface="Tahoma"/>
              </a:rPr>
              <a:t>02</a:t>
            </a:r>
          </a:p>
        </p:txBody>
      </p:sp>
      <p:sp>
        <p:nvSpPr>
          <p:cNvPr id="6" name="diagram-376">
            <a:extLst xmlns:a="http://schemas.openxmlformats.org/drawingml/2006/main">
              <a:ext uri="{FF2B5EF4-FFF2-40B4-BE49-F238E27FC236}">
                <a16:creationId xmlns:a16="http://schemas.microsoft.com/office/drawing/2014/main" id="{36D22B2F-3786-45CA-BAB3-586E6DA66C50}"/>
              </a:ext>
            </a:extLst>
          </p:cNvPr>
          <p:cNvSpPr>
            <a:spLocks xmlns:a="http://schemas.openxmlformats.org/drawingml/2006/main" noGrp="1"/>
          </p:cNvSpPr>
          <p:nvPr/>
        </p:nvSpPr>
        <p:spPr>
          <a:xfrm xmlns:a="http://schemas.openxmlformats.org/drawingml/2006/main">
            <a:off x="1952625" y="3286125"/>
            <a:ext cx="909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50"/>
                </a:solidFill>
                <a:latin typeface="Tahoma"/>
                <a:ea typeface="Tahoma"/>
                <a:cs typeface="Tahoma"/>
              </a:defRPr>
            </a:pPr>
            <a:r>
              <a:rPr sz="2175" b="0">
                <a:solidFill>
                  <a:srgbClr val="102D50"/>
                </a:solidFill>
                <a:latin typeface="Tahoma"/>
                <a:ea typeface="Tahoma"/>
                <a:cs typeface="Tahoma"/>
              </a:rPr>
              <a:t>How the flow works and where people remain responsible</a:t>
            </a:r>
          </a:p>
        </p:txBody>
      </p:sp>
      <p:sp>
        <p:nvSpPr>
          <p:cNvPr id="7" name="diagram-377">
            <a:extLst xmlns:a="http://schemas.openxmlformats.org/drawingml/2006/main">
              <a:ext uri="{FF2B5EF4-FFF2-40B4-BE49-F238E27FC236}">
                <a16:creationId xmlns:a16="http://schemas.microsoft.com/office/drawing/2014/main" id="{3855A05D-39C4-4839-B7E0-3405EDBEB5C4}"/>
              </a:ext>
            </a:extLst>
          </p:cNvPr>
          <p:cNvSpPr>
            <a:spLocks xmlns:a="http://schemas.openxmlformats.org/drawingml/2006/main" noGrp="1"/>
          </p:cNvSpPr>
          <p:nvPr/>
        </p:nvSpPr>
        <p:spPr>
          <a:xfrm xmlns:a="http://schemas.openxmlformats.org/drawingml/2006/main">
            <a:off x="809625" y="4429125"/>
            <a:ext cx="857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4FBA"/>
                </a:solidFill>
                <a:latin typeface="Tahoma"/>
                <a:ea typeface="Tahoma"/>
                <a:cs typeface="Tahoma"/>
              </a:defRPr>
            </a:pPr>
            <a:r>
              <a:rPr sz="3450" b="1">
                <a:solidFill>
                  <a:srgbClr val="174FBA"/>
                </a:solidFill>
                <a:latin typeface="Tahoma"/>
                <a:ea typeface="Tahoma"/>
                <a:cs typeface="Tahoma"/>
              </a:rPr>
              <a:t>03</a:t>
            </a:r>
          </a:p>
        </p:txBody>
      </p:sp>
      <p:sp>
        <p:nvSpPr>
          <p:cNvPr id="8" name="diagram-378">
            <a:extLst xmlns:a="http://schemas.openxmlformats.org/drawingml/2006/main">
              <a:ext uri="{FF2B5EF4-FFF2-40B4-BE49-F238E27FC236}">
                <a16:creationId xmlns:a16="http://schemas.microsoft.com/office/drawing/2014/main" id="{0DA2A41F-ADAE-473B-9E7C-06C82DE58105}"/>
              </a:ext>
            </a:extLst>
          </p:cNvPr>
          <p:cNvSpPr>
            <a:spLocks xmlns:a="http://schemas.openxmlformats.org/drawingml/2006/main" noGrp="1"/>
          </p:cNvSpPr>
          <p:nvPr/>
        </p:nvSpPr>
        <p:spPr>
          <a:xfrm xmlns:a="http://schemas.openxmlformats.org/drawingml/2006/main">
            <a:off x="1952625" y="4429125"/>
            <a:ext cx="909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50"/>
                </a:solidFill>
                <a:latin typeface="Tahoma"/>
                <a:ea typeface="Tahoma"/>
                <a:cs typeface="Tahoma"/>
              </a:defRPr>
            </a:pPr>
            <a:r>
              <a:rPr sz="2175" b="0">
                <a:solidFill>
                  <a:srgbClr val="102D50"/>
                </a:solidFill>
                <a:latin typeface="Tahoma"/>
                <a:ea typeface="Tahoma"/>
                <a:cs typeface="Tahoma"/>
              </a:rPr>
              <a:t>Next decision, owner, and most important open question</a:t>
            </a:r>
          </a:p>
        </p:txBody>
      </p:sp>
      <p:sp>
        <p:nvSpPr>
          <p:cNvPr id="9" name="diagram-379">
            <a:extLst xmlns:a="http://schemas.openxmlformats.org/drawingml/2006/main">
              <a:ext uri="{FF2B5EF4-FFF2-40B4-BE49-F238E27FC236}">
                <a16:creationId xmlns:a16="http://schemas.microsoft.com/office/drawing/2014/main" id="{CD1A60F6-0ABC-4974-828D-AB9D32C918A6}"/>
              </a:ext>
            </a:extLst>
          </p:cNvPr>
          <p:cNvSpPr>
            <a:spLocks xmlns:a="http://schemas.openxmlformats.org/drawingml/2006/main" noGrp="1"/>
          </p:cNvSpPr>
          <p:nvPr/>
        </p:nvSpPr>
        <p:spPr>
          <a:xfrm xmlns:a="http://schemas.openxmlformats.org/drawingml/2006/main">
            <a:off x="762000" y="5286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36B80"/>
                </a:solidFill>
                <a:latin typeface="Tahoma"/>
                <a:ea typeface="Tahoma"/>
                <a:cs typeface="Tahoma"/>
              </a:defRPr>
            </a:pPr>
            <a:r>
              <a:rPr sz="2100" b="0">
                <a:solidFill>
                  <a:srgbClr val="536B80"/>
                </a:solidFill>
                <a:latin typeface="Tahoma"/>
                <a:ea typeface="Tahoma"/>
                <a:cs typeface="Tahoma"/>
              </a:rPr>
              <a:t>Use the map and Handover Card as prompts. Do not read the worksheet word for word.</a:t>
            </a:r>
          </a:p>
        </p:txBody>
      </p:sp>
    </p:spTree>
    <p:extLst>
      <p:ext uri="{BB962C8B-B14F-4D97-AF65-F5344CB8AC3E}">
        <p14:creationId xmlns:p14="http://schemas.microsoft.com/office/powerpoint/2010/main" val="273366667"/>
      </p:ext>
    </p:extLst>
  </p:cSld>
</p:sld>
</file>

<file path=ppt/slides/slide39.xml><?xml version="1.0" encoding="utf-8"?>
<p:sld xmlns:p="http://schemas.openxmlformats.org/presentationml/2006/main">
  <p:cSld>
    <p:bg>
      <p:bgPr>
        <a:solidFill xmlns:a="http://schemas.openxmlformats.org/drawingml/2006/main">
          <a:srgbClr val="FAFAF7"/>
        </a:solidFill>
      </p:bgPr>
    </p:bg>
    <p:spTree>
      <p:nvGrpSpPr>
        <p:cNvPr id="1" name=""/>
        <p:cNvGrpSpPr/>
        <p:nvPr/>
      </p:nvGrpSpPr>
      <p:grpSpPr>
        <a:xfrm xmlns:a="http://schemas.openxmlformats.org/drawingml/2006/main"/>
      </p:grpSpPr>
      <p:sp>
        <p:nvSpPr>
          <p:cNvPr id="21" name="diagram-380">
            <a:extLst xmlns:a="http://schemas.openxmlformats.org/drawingml/2006/main">
              <a:ext uri="{FF2B5EF4-FFF2-40B4-BE49-F238E27FC236}">
                <a16:creationId xmlns:a16="http://schemas.microsoft.com/office/drawing/2014/main" id="{AF4D659F-B6AC-41BF-A8C0-29BE0492551A}"/>
              </a:ext>
            </a:extLst>
          </p:cNvPr>
          <p:cNvSpPr>
            <a:spLocks xmlns:a="http://schemas.openxmlformats.org/drawingml/2006/main" noGrp="1"/>
          </p:cNvSpPr>
          <p:nvPr/>
        </p:nvSpPr>
        <p:spPr>
          <a:xfrm xmlns:a="http://schemas.openxmlformats.org/drawingml/2006/main">
            <a:off x="7429500" y="333375"/>
            <a:ext cx="3905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76D13"/>
                </a:solidFill>
                <a:latin typeface="Tahoma"/>
                <a:ea typeface="Tahoma"/>
                <a:cs typeface="Tahoma"/>
              </a:defRPr>
            </a:pPr>
            <a:r>
              <a:rPr sz="1350" b="1">
                <a:solidFill>
                  <a:srgbClr val="B76D13"/>
                </a:solidFill>
                <a:latin typeface="Tahoma"/>
                <a:ea typeface="Tahoma"/>
                <a:cs typeface="Tahoma"/>
              </a:rPr>
              <a:t>EXERCISE 5 · PRACTICE 5</a:t>
            </a:r>
          </a:p>
        </p:txBody>
      </p:sp>
      <p:sp>
        <p:nvSpPr>
          <p:cNvPr id="2" name="diagram-381">
            <a:extLst xmlns:a="http://schemas.openxmlformats.org/drawingml/2006/main">
              <a:ext uri="{FF2B5EF4-FFF2-40B4-BE49-F238E27FC236}">
                <a16:creationId xmlns:a16="http://schemas.microsoft.com/office/drawing/2014/main" id="{0263DAEE-9ACF-4111-AB61-872BE25B2840}"/>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D50"/>
                </a:solidFill>
                <a:latin typeface="Tahoma"/>
                <a:ea typeface="Tahoma"/>
                <a:cs typeface="Tahoma"/>
              </a:defRPr>
            </a:pPr>
            <a:r>
              <a:rPr sz="3225" b="1">
                <a:solidFill>
                  <a:srgbClr val="102D50"/>
                </a:solidFill>
                <a:latin typeface="Tahoma"/>
                <a:ea typeface="Tahoma"/>
                <a:cs typeface="Tahoma"/>
              </a:rPr>
              <a:t>Six group presentations</a:t>
            </a:r>
          </a:p>
        </p:txBody>
      </p:sp>
      <p:sp>
        <p:nvSpPr>
          <p:cNvPr id="3" name="diagram-382">
            <a:extLst xmlns:a="http://schemas.openxmlformats.org/drawingml/2006/main">
              <a:ext uri="{FF2B5EF4-FFF2-40B4-BE49-F238E27FC236}">
                <a16:creationId xmlns:a16="http://schemas.microsoft.com/office/drawing/2014/main" id="{7E82EFD4-7140-43C7-B548-BD9A63B55C06}"/>
              </a:ext>
            </a:extLst>
          </p:cNvPr>
          <p:cNvSpPr>
            <a:spLocks xmlns:a="http://schemas.openxmlformats.org/drawingml/2006/main" noGrp="1"/>
          </p:cNvSpPr>
          <p:nvPr/>
        </p:nvSpPr>
        <p:spPr>
          <a:xfrm xmlns:a="http://schemas.openxmlformats.org/drawingml/2006/main">
            <a:off x="762000" y="2143125"/>
            <a:ext cx="4953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125" b="1">
                <a:solidFill>
                  <a:srgbClr val="174FBA"/>
                </a:solidFill>
                <a:latin typeface="Tahoma"/>
                <a:ea typeface="Tahoma"/>
                <a:cs typeface="Tahoma"/>
              </a:defRPr>
            </a:pPr>
            <a:r>
              <a:rPr sz="4125" b="1">
                <a:solidFill>
                  <a:srgbClr val="174FBA"/>
                </a:solidFill>
                <a:latin typeface="Tahoma"/>
                <a:ea typeface="Tahoma"/>
                <a:cs typeface="Tahoma"/>
              </a:rPr>
              <a:t>6 × 5 minutes</a:t>
            </a:r>
          </a:p>
        </p:txBody>
      </p:sp>
      <p:sp>
        <p:nvSpPr>
          <p:cNvPr id="4" name="diagram-383">
            <a:extLst xmlns:a="http://schemas.openxmlformats.org/drawingml/2006/main">
              <a:ext uri="{FF2B5EF4-FFF2-40B4-BE49-F238E27FC236}">
                <a16:creationId xmlns:a16="http://schemas.microsoft.com/office/drawing/2014/main" id="{727E8F2F-5124-40E8-AF50-883369FBDA3E}"/>
              </a:ext>
            </a:extLst>
          </p:cNvPr>
          <p:cNvSpPr>
            <a:spLocks xmlns:a="http://schemas.openxmlformats.org/drawingml/2006/main" noGrp="1"/>
          </p:cNvSpPr>
          <p:nvPr/>
        </p:nvSpPr>
        <p:spPr>
          <a:xfrm xmlns:a="http://schemas.openxmlformats.org/drawingml/2006/main">
            <a:off x="762000" y="3238500"/>
            <a:ext cx="6286500" cy="904875"/>
          </a:xfrm>
          <a:prstGeom xmlns:a="http://schemas.openxmlformats.org/drawingml/2006/main" prst="rect">
            <a:avLst/>
          </a:prstGeom>
          <a:solidFill xmlns:a="http://schemas.openxmlformats.org/drawingml/2006/main">
            <a:srgbClr val="174FBA"/>
          </a:solidFill>
          <a:ln xmlns:a="http://schemas.openxmlformats.org/drawingml/2006/main" w="0">
            <a:noFill/>
          </a:ln>
        </p:spPr>
      </p:sp>
      <p:sp>
        <p:nvSpPr>
          <p:cNvPr id="5" name="diagram-384">
            <a:extLst xmlns:a="http://schemas.openxmlformats.org/drawingml/2006/main">
              <a:ext uri="{FF2B5EF4-FFF2-40B4-BE49-F238E27FC236}">
                <a16:creationId xmlns:a16="http://schemas.microsoft.com/office/drawing/2014/main" id="{2212CEB9-354E-4AF6-8CE9-03368B520837}"/>
              </a:ext>
            </a:extLst>
          </p:cNvPr>
          <p:cNvSpPr>
            <a:spLocks xmlns:a="http://schemas.openxmlformats.org/drawingml/2006/main" noGrp="1"/>
          </p:cNvSpPr>
          <p:nvPr/>
        </p:nvSpPr>
        <p:spPr>
          <a:xfrm xmlns:a="http://schemas.openxmlformats.org/drawingml/2006/main">
            <a:off x="7048500" y="3238500"/>
            <a:ext cx="4191000" cy="904875"/>
          </a:xfrm>
          <a:prstGeom xmlns:a="http://schemas.openxmlformats.org/drawingml/2006/main" prst="rect">
            <a:avLst/>
          </a:prstGeom>
          <a:solidFill xmlns:a="http://schemas.openxmlformats.org/drawingml/2006/main">
            <a:srgbClr val="B76D13"/>
          </a:solidFill>
          <a:ln xmlns:a="http://schemas.openxmlformats.org/drawingml/2006/main" w="0">
            <a:noFill/>
          </a:ln>
        </p:spPr>
      </p:sp>
      <p:sp>
        <p:nvSpPr>
          <p:cNvPr id="6" name="diagram-385">
            <a:extLst xmlns:a="http://schemas.openxmlformats.org/drawingml/2006/main">
              <a:ext uri="{FF2B5EF4-FFF2-40B4-BE49-F238E27FC236}">
                <a16:creationId xmlns:a16="http://schemas.microsoft.com/office/drawing/2014/main" id="{20166747-C32A-472A-86B2-6C86CFFD5382}"/>
              </a:ext>
            </a:extLst>
          </p:cNvPr>
          <p:cNvSpPr>
            <a:spLocks xmlns:a="http://schemas.openxmlformats.org/drawingml/2006/main" noGrp="1"/>
          </p:cNvSpPr>
          <p:nvPr/>
        </p:nvSpPr>
        <p:spPr>
          <a:xfrm xmlns:a="http://schemas.openxmlformats.org/drawingml/2006/main">
            <a:off x="1047750" y="3429000"/>
            <a:ext cx="5524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FFFFFF"/>
                </a:solidFill>
                <a:latin typeface="Tahoma"/>
                <a:ea typeface="Tahoma"/>
                <a:cs typeface="Tahoma"/>
              </a:defRPr>
            </a:pPr>
            <a:r>
              <a:rPr sz="2400" b="1">
                <a:solidFill>
                  <a:srgbClr val="FFFFFF"/>
                </a:solidFill>
                <a:latin typeface="Tahoma"/>
                <a:ea typeface="Tahoma"/>
                <a:cs typeface="Tahoma"/>
              </a:rPr>
              <a:t>3 min  Present</a:t>
            </a:r>
          </a:p>
        </p:txBody>
      </p:sp>
      <p:sp>
        <p:nvSpPr>
          <p:cNvPr id="7" name="diagram-386">
            <a:extLst xmlns:a="http://schemas.openxmlformats.org/drawingml/2006/main">
              <a:ext uri="{FF2B5EF4-FFF2-40B4-BE49-F238E27FC236}">
                <a16:creationId xmlns:a16="http://schemas.microsoft.com/office/drawing/2014/main" id="{EB2CB1D4-B2CA-4404-AEBC-A8E1EFEC37DE}"/>
              </a:ext>
            </a:extLst>
          </p:cNvPr>
          <p:cNvSpPr>
            <a:spLocks xmlns:a="http://schemas.openxmlformats.org/drawingml/2006/main" noGrp="1"/>
          </p:cNvSpPr>
          <p:nvPr/>
        </p:nvSpPr>
        <p:spPr>
          <a:xfrm xmlns:a="http://schemas.openxmlformats.org/drawingml/2006/main">
            <a:off x="7429500" y="3429000"/>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FFFFFF"/>
                </a:solidFill>
                <a:latin typeface="Tahoma"/>
                <a:ea typeface="Tahoma"/>
                <a:cs typeface="Tahoma"/>
              </a:defRPr>
            </a:pPr>
            <a:r>
              <a:rPr sz="2325" b="1">
                <a:solidFill>
                  <a:srgbClr val="FFFFFF"/>
                </a:solidFill>
                <a:latin typeface="Tahoma"/>
                <a:ea typeface="Tahoma"/>
                <a:cs typeface="Tahoma"/>
              </a:rPr>
              <a:t>2 min  Feedback</a:t>
            </a:r>
          </a:p>
        </p:txBody>
      </p:sp>
      <p:sp>
        <p:nvSpPr>
          <p:cNvPr id="8" name="diagram-387">
            <a:extLst xmlns:a="http://schemas.openxmlformats.org/drawingml/2006/main">
              <a:ext uri="{FF2B5EF4-FFF2-40B4-BE49-F238E27FC236}">
                <a16:creationId xmlns:a16="http://schemas.microsoft.com/office/drawing/2014/main" id="{08198986-1BED-4688-9813-74F529D93508}"/>
              </a:ext>
            </a:extLst>
          </p:cNvPr>
          <p:cNvSpPr>
            <a:spLocks xmlns:a="http://schemas.openxmlformats.org/drawingml/2006/main" noGrp="1"/>
          </p:cNvSpPr>
          <p:nvPr/>
        </p:nvSpPr>
        <p:spPr>
          <a:xfrm xmlns:a="http://schemas.openxmlformats.org/drawingml/2006/main">
            <a:off x="762000" y="47625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536B80"/>
                </a:solidFill>
                <a:latin typeface="Tahoma"/>
                <a:ea typeface="Tahoma"/>
                <a:cs typeface="Tahoma"/>
              </a:defRPr>
            </a:pPr>
            <a:r>
              <a:rPr sz="1500" b="1">
                <a:solidFill>
                  <a:srgbClr val="536B80"/>
                </a:solidFill>
                <a:latin typeface="Tahoma"/>
                <a:ea typeface="Tahoma"/>
                <a:cs typeface="Tahoma"/>
              </a:rPr>
              <a:t>GROUP ORDER</a:t>
            </a:r>
          </a:p>
        </p:txBody>
      </p:sp>
      <p:sp>
        <p:nvSpPr>
          <p:cNvPr id="9" name="diagram-388">
            <a:extLst xmlns:a="http://schemas.openxmlformats.org/drawingml/2006/main">
              <a:ext uri="{FF2B5EF4-FFF2-40B4-BE49-F238E27FC236}">
                <a16:creationId xmlns:a16="http://schemas.microsoft.com/office/drawing/2014/main" id="{8CF61685-45DB-4283-949F-26F807FC0DCF}"/>
              </a:ext>
            </a:extLst>
          </p:cNvPr>
          <p:cNvSpPr>
            <a:spLocks xmlns:a="http://schemas.openxmlformats.org/drawingml/2006/main" noGrp="1"/>
          </p:cNvSpPr>
          <p:nvPr/>
        </p:nvSpPr>
        <p:spPr>
          <a:xfrm xmlns:a="http://schemas.openxmlformats.org/drawingml/2006/main">
            <a:off x="3333750" y="4619625"/>
            <a:ext cx="857250" cy="7143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0" name="diagram-389">
            <a:extLst xmlns:a="http://schemas.openxmlformats.org/drawingml/2006/main">
              <a:ext uri="{FF2B5EF4-FFF2-40B4-BE49-F238E27FC236}">
                <a16:creationId xmlns:a16="http://schemas.microsoft.com/office/drawing/2014/main" id="{7009339D-704F-4834-A488-0B6490816ADA}"/>
              </a:ext>
            </a:extLst>
          </p:cNvPr>
          <p:cNvSpPr>
            <a:spLocks xmlns:a="http://schemas.openxmlformats.org/drawingml/2006/main" noGrp="1"/>
          </p:cNvSpPr>
          <p:nvPr/>
        </p:nvSpPr>
        <p:spPr>
          <a:xfrm xmlns:a="http://schemas.openxmlformats.org/drawingml/2006/main">
            <a:off x="3505200" y="4762500"/>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24B"/>
                </a:solidFill>
                <a:latin typeface="Tahoma"/>
                <a:ea typeface="Tahoma"/>
                <a:cs typeface="Tahoma"/>
              </a:defRPr>
            </a:pPr>
            <a:r>
              <a:rPr sz="2250" b="1">
                <a:solidFill>
                  <a:srgbClr val="18324B"/>
                </a:solidFill>
                <a:latin typeface="Tahoma"/>
                <a:ea typeface="Tahoma"/>
                <a:cs typeface="Tahoma"/>
              </a:rPr>
              <a:t>1</a:t>
            </a:r>
          </a:p>
        </p:txBody>
      </p:sp>
      <p:sp>
        <p:nvSpPr>
          <p:cNvPr id="11" name="diagram-390">
            <a:extLst xmlns:a="http://schemas.openxmlformats.org/drawingml/2006/main">
              <a:ext uri="{FF2B5EF4-FFF2-40B4-BE49-F238E27FC236}">
                <a16:creationId xmlns:a16="http://schemas.microsoft.com/office/drawing/2014/main" id="{38C85CC5-67C8-451F-AC4E-C85FAEAF2959}"/>
              </a:ext>
            </a:extLst>
          </p:cNvPr>
          <p:cNvSpPr>
            <a:spLocks xmlns:a="http://schemas.openxmlformats.org/drawingml/2006/main" noGrp="1"/>
          </p:cNvSpPr>
          <p:nvPr/>
        </p:nvSpPr>
        <p:spPr>
          <a:xfrm xmlns:a="http://schemas.openxmlformats.org/drawingml/2006/main">
            <a:off x="4619625" y="4619625"/>
            <a:ext cx="857250"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2" name="diagram-391">
            <a:extLst xmlns:a="http://schemas.openxmlformats.org/drawingml/2006/main">
              <a:ext uri="{FF2B5EF4-FFF2-40B4-BE49-F238E27FC236}">
                <a16:creationId xmlns:a16="http://schemas.microsoft.com/office/drawing/2014/main" id="{10A3D183-3D02-47C8-A52D-DBAD99F056E8}"/>
              </a:ext>
            </a:extLst>
          </p:cNvPr>
          <p:cNvSpPr>
            <a:spLocks xmlns:a="http://schemas.openxmlformats.org/drawingml/2006/main" noGrp="1"/>
          </p:cNvSpPr>
          <p:nvPr/>
        </p:nvSpPr>
        <p:spPr>
          <a:xfrm xmlns:a="http://schemas.openxmlformats.org/drawingml/2006/main">
            <a:off x="4791075" y="4762500"/>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24B"/>
                </a:solidFill>
                <a:latin typeface="Tahoma"/>
                <a:ea typeface="Tahoma"/>
                <a:cs typeface="Tahoma"/>
              </a:defRPr>
            </a:pPr>
            <a:r>
              <a:rPr sz="2250" b="1">
                <a:solidFill>
                  <a:srgbClr val="18324B"/>
                </a:solidFill>
                <a:latin typeface="Tahoma"/>
                <a:ea typeface="Tahoma"/>
                <a:cs typeface="Tahoma"/>
              </a:rPr>
              <a:t>2</a:t>
            </a:r>
          </a:p>
        </p:txBody>
      </p:sp>
      <p:sp>
        <p:nvSpPr>
          <p:cNvPr id="13" name="diagram-392">
            <a:extLst xmlns:a="http://schemas.openxmlformats.org/drawingml/2006/main">
              <a:ext uri="{FF2B5EF4-FFF2-40B4-BE49-F238E27FC236}">
                <a16:creationId xmlns:a16="http://schemas.microsoft.com/office/drawing/2014/main" id="{E28FDBE5-405B-4C93-9350-18235161CC7E}"/>
              </a:ext>
            </a:extLst>
          </p:cNvPr>
          <p:cNvSpPr>
            <a:spLocks xmlns:a="http://schemas.openxmlformats.org/drawingml/2006/main" noGrp="1"/>
          </p:cNvSpPr>
          <p:nvPr/>
        </p:nvSpPr>
        <p:spPr>
          <a:xfrm xmlns:a="http://schemas.openxmlformats.org/drawingml/2006/main">
            <a:off x="5905500" y="4619625"/>
            <a:ext cx="857250" cy="7143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4" name="diagram-393">
            <a:extLst xmlns:a="http://schemas.openxmlformats.org/drawingml/2006/main">
              <a:ext uri="{FF2B5EF4-FFF2-40B4-BE49-F238E27FC236}">
                <a16:creationId xmlns:a16="http://schemas.microsoft.com/office/drawing/2014/main" id="{2497FC6A-D8B9-4132-BF61-9B92B895FF42}"/>
              </a:ext>
            </a:extLst>
          </p:cNvPr>
          <p:cNvSpPr>
            <a:spLocks xmlns:a="http://schemas.openxmlformats.org/drawingml/2006/main" noGrp="1"/>
          </p:cNvSpPr>
          <p:nvPr/>
        </p:nvSpPr>
        <p:spPr>
          <a:xfrm xmlns:a="http://schemas.openxmlformats.org/drawingml/2006/main">
            <a:off x="6076950" y="4762500"/>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24B"/>
                </a:solidFill>
                <a:latin typeface="Tahoma"/>
                <a:ea typeface="Tahoma"/>
                <a:cs typeface="Tahoma"/>
              </a:defRPr>
            </a:pPr>
            <a:r>
              <a:rPr sz="2250" b="1">
                <a:solidFill>
                  <a:srgbClr val="18324B"/>
                </a:solidFill>
                <a:latin typeface="Tahoma"/>
                <a:ea typeface="Tahoma"/>
                <a:cs typeface="Tahoma"/>
              </a:rPr>
              <a:t>3</a:t>
            </a:r>
          </a:p>
        </p:txBody>
      </p:sp>
      <p:sp>
        <p:nvSpPr>
          <p:cNvPr id="15" name="diagram-394">
            <a:extLst xmlns:a="http://schemas.openxmlformats.org/drawingml/2006/main">
              <a:ext uri="{FF2B5EF4-FFF2-40B4-BE49-F238E27FC236}">
                <a16:creationId xmlns:a16="http://schemas.microsoft.com/office/drawing/2014/main" id="{F50A5F52-6A17-4C72-B78A-4CED1479EFC4}"/>
              </a:ext>
            </a:extLst>
          </p:cNvPr>
          <p:cNvSpPr>
            <a:spLocks xmlns:a="http://schemas.openxmlformats.org/drawingml/2006/main" noGrp="1"/>
          </p:cNvSpPr>
          <p:nvPr/>
        </p:nvSpPr>
        <p:spPr>
          <a:xfrm xmlns:a="http://schemas.openxmlformats.org/drawingml/2006/main">
            <a:off x="7191375" y="4619625"/>
            <a:ext cx="857250"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6" name="diagram-395">
            <a:extLst xmlns:a="http://schemas.openxmlformats.org/drawingml/2006/main">
              <a:ext uri="{FF2B5EF4-FFF2-40B4-BE49-F238E27FC236}">
                <a16:creationId xmlns:a16="http://schemas.microsoft.com/office/drawing/2014/main" id="{3170A1E3-DB57-486E-B2FC-C239F462C454}"/>
              </a:ext>
            </a:extLst>
          </p:cNvPr>
          <p:cNvSpPr>
            <a:spLocks xmlns:a="http://schemas.openxmlformats.org/drawingml/2006/main" noGrp="1"/>
          </p:cNvSpPr>
          <p:nvPr/>
        </p:nvSpPr>
        <p:spPr>
          <a:xfrm xmlns:a="http://schemas.openxmlformats.org/drawingml/2006/main">
            <a:off x="7362825" y="4762500"/>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24B"/>
                </a:solidFill>
                <a:latin typeface="Tahoma"/>
                <a:ea typeface="Tahoma"/>
                <a:cs typeface="Tahoma"/>
              </a:defRPr>
            </a:pPr>
            <a:r>
              <a:rPr sz="2250" b="1">
                <a:solidFill>
                  <a:srgbClr val="18324B"/>
                </a:solidFill>
                <a:latin typeface="Tahoma"/>
                <a:ea typeface="Tahoma"/>
                <a:cs typeface="Tahoma"/>
              </a:rPr>
              <a:t>4</a:t>
            </a:r>
          </a:p>
        </p:txBody>
      </p:sp>
      <p:sp>
        <p:nvSpPr>
          <p:cNvPr id="17" name="diagram-396">
            <a:extLst xmlns:a="http://schemas.openxmlformats.org/drawingml/2006/main">
              <a:ext uri="{FF2B5EF4-FFF2-40B4-BE49-F238E27FC236}">
                <a16:creationId xmlns:a16="http://schemas.microsoft.com/office/drawing/2014/main" id="{C220C8EC-EC55-4E42-AC65-9E374D5D9E0D}"/>
              </a:ext>
            </a:extLst>
          </p:cNvPr>
          <p:cNvSpPr>
            <a:spLocks xmlns:a="http://schemas.openxmlformats.org/drawingml/2006/main" noGrp="1"/>
          </p:cNvSpPr>
          <p:nvPr/>
        </p:nvSpPr>
        <p:spPr>
          <a:xfrm xmlns:a="http://schemas.openxmlformats.org/drawingml/2006/main">
            <a:off x="8477250" y="4619625"/>
            <a:ext cx="857250" cy="714375"/>
          </a:xfrm>
          <a:prstGeom xmlns:a="http://schemas.openxmlformats.org/drawingml/2006/main" prst="rect">
            <a:avLst/>
          </a:prstGeom>
          <a:solidFill xmlns:a="http://schemas.openxmlformats.org/drawingml/2006/main">
            <a:srgbClr val="E8EFF7"/>
          </a:solidFill>
          <a:ln xmlns:a="http://schemas.openxmlformats.org/drawingml/2006/main" w="0">
            <a:noFill/>
          </a:ln>
        </p:spPr>
      </p:sp>
      <p:sp>
        <p:nvSpPr>
          <p:cNvPr id="18" name="diagram-397">
            <a:extLst xmlns:a="http://schemas.openxmlformats.org/drawingml/2006/main">
              <a:ext uri="{FF2B5EF4-FFF2-40B4-BE49-F238E27FC236}">
                <a16:creationId xmlns:a16="http://schemas.microsoft.com/office/drawing/2014/main" id="{A9DFF967-8802-45C7-B741-14A7DCA93AD5}"/>
              </a:ext>
            </a:extLst>
          </p:cNvPr>
          <p:cNvSpPr>
            <a:spLocks xmlns:a="http://schemas.openxmlformats.org/drawingml/2006/main" noGrp="1"/>
          </p:cNvSpPr>
          <p:nvPr/>
        </p:nvSpPr>
        <p:spPr>
          <a:xfrm xmlns:a="http://schemas.openxmlformats.org/drawingml/2006/main">
            <a:off x="8648700" y="4762500"/>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24B"/>
                </a:solidFill>
                <a:latin typeface="Tahoma"/>
                <a:ea typeface="Tahoma"/>
                <a:cs typeface="Tahoma"/>
              </a:defRPr>
            </a:pPr>
            <a:r>
              <a:rPr sz="2250" b="1">
                <a:solidFill>
                  <a:srgbClr val="18324B"/>
                </a:solidFill>
                <a:latin typeface="Tahoma"/>
                <a:ea typeface="Tahoma"/>
                <a:cs typeface="Tahoma"/>
              </a:rPr>
              <a:t>5</a:t>
            </a:r>
          </a:p>
        </p:txBody>
      </p:sp>
      <p:sp>
        <p:nvSpPr>
          <p:cNvPr id="19" name="diagram-398">
            <a:extLst xmlns:a="http://schemas.openxmlformats.org/drawingml/2006/main">
              <a:ext uri="{FF2B5EF4-FFF2-40B4-BE49-F238E27FC236}">
                <a16:creationId xmlns:a16="http://schemas.microsoft.com/office/drawing/2014/main" id="{ABF5400B-E0B7-4331-9923-373A8EC87276}"/>
              </a:ext>
            </a:extLst>
          </p:cNvPr>
          <p:cNvSpPr>
            <a:spLocks xmlns:a="http://schemas.openxmlformats.org/drawingml/2006/main" noGrp="1"/>
          </p:cNvSpPr>
          <p:nvPr/>
        </p:nvSpPr>
        <p:spPr>
          <a:xfrm xmlns:a="http://schemas.openxmlformats.org/drawingml/2006/main">
            <a:off x="9763125" y="4619625"/>
            <a:ext cx="857250" cy="71437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0" name="diagram-399">
            <a:extLst xmlns:a="http://schemas.openxmlformats.org/drawingml/2006/main">
              <a:ext uri="{FF2B5EF4-FFF2-40B4-BE49-F238E27FC236}">
                <a16:creationId xmlns:a16="http://schemas.microsoft.com/office/drawing/2014/main" id="{67F020F8-A413-456F-BE4D-1D1E36C524D4}"/>
              </a:ext>
            </a:extLst>
          </p:cNvPr>
          <p:cNvSpPr>
            <a:spLocks xmlns:a="http://schemas.openxmlformats.org/drawingml/2006/main" noGrp="1"/>
          </p:cNvSpPr>
          <p:nvPr/>
        </p:nvSpPr>
        <p:spPr>
          <a:xfrm xmlns:a="http://schemas.openxmlformats.org/drawingml/2006/main">
            <a:off x="9934575" y="4762500"/>
            <a:ext cx="514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8324B"/>
                </a:solidFill>
                <a:latin typeface="Tahoma"/>
                <a:ea typeface="Tahoma"/>
                <a:cs typeface="Tahoma"/>
              </a:defRPr>
            </a:pPr>
            <a:r>
              <a:rPr sz="2250" b="1">
                <a:solidFill>
                  <a:srgbClr val="18324B"/>
                </a:solidFill>
                <a:latin typeface="Tahoma"/>
                <a:ea typeface="Tahoma"/>
                <a:cs typeface="Tahoma"/>
              </a:rPr>
              <a:t>6</a:t>
            </a:r>
          </a:p>
        </p:txBody>
      </p:sp>
    </p:spTree>
    <p:extLst>
      <p:ext uri="{BB962C8B-B14F-4D97-AF65-F5344CB8AC3E}">
        <p14:creationId xmlns:p14="http://schemas.microsoft.com/office/powerpoint/2010/main" val="927568941"/>
      </p:ext>
    </p:extLst>
  </p:cSld>
</p:sld>
</file>

<file path=ppt/slides/slide40.xml><?xml version="1.0" encoding="utf-8"?>
<p:sld xmlns:p="http://schemas.openxmlformats.org/presentationml/2006/main">
  <p:cSld>
    <p:bg>
      <p:bgPr>
        <a:solidFill xmlns:a="http://schemas.openxmlformats.org/drawingml/2006/main">
          <a:srgbClr val="102D50"/>
        </a:solidFill>
      </p:bgPr>
    </p:bg>
    <p:spTree>
      <p:nvGrpSpPr>
        <p:cNvPr id="1" name=""/>
        <p:cNvGrpSpPr/>
        <p:nvPr/>
      </p:nvGrpSpPr>
      <p:grpSpPr>
        <a:xfrm xmlns:a="http://schemas.openxmlformats.org/drawingml/2006/main"/>
      </p:grpSpPr>
      <p:sp>
        <p:nvSpPr>
          <p:cNvPr id="7" name="diagram-400">
            <a:extLst xmlns:a="http://schemas.openxmlformats.org/drawingml/2006/main">
              <a:ext uri="{FF2B5EF4-FFF2-40B4-BE49-F238E27FC236}">
                <a16:creationId xmlns:a16="http://schemas.microsoft.com/office/drawing/2014/main" id="{194DC0A1-E73A-467D-BA8A-2FD42647912B}"/>
              </a:ext>
            </a:extLst>
          </p:cNvPr>
          <p:cNvSpPr>
            <a:spLocks xmlns:a="http://schemas.openxmlformats.org/drawingml/2006/main" noGrp="1"/>
          </p:cNvSpPr>
          <p:nvPr/>
        </p:nvSpPr>
        <p:spPr>
          <a:xfrm xmlns:a="http://schemas.openxmlformats.org/drawingml/2006/main">
            <a:off x="666750" y="100012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FFFFFF"/>
                </a:solidFill>
                <a:latin typeface="Tahoma"/>
                <a:ea typeface="Tahoma"/>
                <a:cs typeface="Tahoma"/>
              </a:defRPr>
            </a:pPr>
            <a:r>
              <a:rPr sz="3225" b="1">
                <a:solidFill>
                  <a:srgbClr val="FFFFFF"/>
                </a:solidFill>
                <a:latin typeface="Tahoma"/>
                <a:ea typeface="Tahoma"/>
                <a:cs typeface="Tahoma"/>
              </a:rPr>
              <a:t>Outputs and next steps</a:t>
            </a:r>
          </a:p>
        </p:txBody>
      </p:sp>
      <p:sp>
        <p:nvSpPr>
          <p:cNvPr id="2" name="diagram-401">
            <a:extLst xmlns:a="http://schemas.openxmlformats.org/drawingml/2006/main">
              <a:ext uri="{FF2B5EF4-FFF2-40B4-BE49-F238E27FC236}">
                <a16:creationId xmlns:a16="http://schemas.microsoft.com/office/drawing/2014/main" id="{41B51005-D750-434E-991A-9D80D0985C6C}"/>
              </a:ext>
            </a:extLst>
          </p:cNvPr>
          <p:cNvSpPr>
            <a:spLocks xmlns:a="http://schemas.openxmlformats.org/drawingml/2006/main" noGrp="1"/>
          </p:cNvSpPr>
          <p:nvPr/>
        </p:nvSpPr>
        <p:spPr>
          <a:xfrm xmlns:a="http://schemas.openxmlformats.org/drawingml/2006/main">
            <a:off x="762000" y="22860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Tahoma"/>
                <a:ea typeface="Tahoma"/>
                <a:cs typeface="Tahoma"/>
              </a:defRPr>
            </a:pPr>
            <a:r>
              <a:rPr sz="2550" b="1">
                <a:solidFill>
                  <a:srgbClr val="FFFFFF"/>
                </a:solidFill>
                <a:latin typeface="Tahoma"/>
                <a:ea typeface="Tahoma"/>
                <a:cs typeface="Tahoma"/>
              </a:rPr>
              <a:t>Selected opportunity</a:t>
            </a:r>
          </a:p>
        </p:txBody>
      </p:sp>
      <p:sp>
        <p:nvSpPr>
          <p:cNvPr id="3" name="diagram-402">
            <a:extLst xmlns:a="http://schemas.openxmlformats.org/drawingml/2006/main">
              <a:ext uri="{FF2B5EF4-FFF2-40B4-BE49-F238E27FC236}">
                <a16:creationId xmlns:a16="http://schemas.microsoft.com/office/drawing/2014/main" id="{4E0DEEA9-D4F2-4DB9-822D-2AB5061A384F}"/>
              </a:ext>
            </a:extLst>
          </p:cNvPr>
          <p:cNvSpPr>
            <a:spLocks xmlns:a="http://schemas.openxmlformats.org/drawingml/2006/main" noGrp="1"/>
          </p:cNvSpPr>
          <p:nvPr/>
        </p:nvSpPr>
        <p:spPr>
          <a:xfrm xmlns:a="http://schemas.openxmlformats.org/drawingml/2006/main">
            <a:off x="6381750" y="22860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Tahoma"/>
                <a:ea typeface="Tahoma"/>
                <a:cs typeface="Tahoma"/>
              </a:defRPr>
            </a:pPr>
            <a:r>
              <a:rPr sz="2550" b="1">
                <a:solidFill>
                  <a:srgbClr val="FFFFFF"/>
                </a:solidFill>
                <a:latin typeface="Tahoma"/>
                <a:ea typeface="Tahoma"/>
                <a:cs typeface="Tahoma"/>
              </a:rPr>
              <a:t>Improved flow map</a:t>
            </a:r>
          </a:p>
        </p:txBody>
      </p:sp>
      <p:sp>
        <p:nvSpPr>
          <p:cNvPr id="4" name="diagram-403">
            <a:extLst xmlns:a="http://schemas.openxmlformats.org/drawingml/2006/main">
              <a:ext uri="{FF2B5EF4-FFF2-40B4-BE49-F238E27FC236}">
                <a16:creationId xmlns:a16="http://schemas.microsoft.com/office/drawing/2014/main" id="{762DB8FA-1719-4519-9B84-C92E79CA851E}"/>
              </a:ext>
            </a:extLst>
          </p:cNvPr>
          <p:cNvSpPr>
            <a:spLocks xmlns:a="http://schemas.openxmlformats.org/drawingml/2006/main" noGrp="1"/>
          </p:cNvSpPr>
          <p:nvPr/>
        </p:nvSpPr>
        <p:spPr>
          <a:xfrm xmlns:a="http://schemas.openxmlformats.org/drawingml/2006/main">
            <a:off x="762000" y="35242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Tahoma"/>
                <a:ea typeface="Tahoma"/>
                <a:cs typeface="Tahoma"/>
              </a:defRPr>
            </a:pPr>
            <a:r>
              <a:rPr sz="2550" b="1">
                <a:solidFill>
                  <a:srgbClr val="FFFFFF"/>
                </a:solidFill>
                <a:latin typeface="Tahoma"/>
                <a:ea typeface="Tahoma"/>
                <a:cs typeface="Tahoma"/>
              </a:rPr>
              <a:t>Group presentation</a:t>
            </a:r>
          </a:p>
        </p:txBody>
      </p:sp>
      <p:sp>
        <p:nvSpPr>
          <p:cNvPr id="5" name="diagram-404">
            <a:extLst xmlns:a="http://schemas.openxmlformats.org/drawingml/2006/main">
              <a:ext uri="{FF2B5EF4-FFF2-40B4-BE49-F238E27FC236}">
                <a16:creationId xmlns:a16="http://schemas.microsoft.com/office/drawing/2014/main" id="{10942E49-2FC2-43E3-8ACB-CB29EF3F367E}"/>
              </a:ext>
            </a:extLst>
          </p:cNvPr>
          <p:cNvSpPr>
            <a:spLocks xmlns:a="http://schemas.openxmlformats.org/drawingml/2006/main" noGrp="1"/>
          </p:cNvSpPr>
          <p:nvPr/>
        </p:nvSpPr>
        <p:spPr>
          <a:xfrm xmlns:a="http://schemas.openxmlformats.org/drawingml/2006/main">
            <a:off x="6381750" y="35242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FFFFF"/>
                </a:solidFill>
                <a:latin typeface="Tahoma"/>
                <a:ea typeface="Tahoma"/>
                <a:cs typeface="Tahoma"/>
              </a:defRPr>
            </a:pPr>
            <a:r>
              <a:rPr sz="2550" b="1">
                <a:solidFill>
                  <a:srgbClr val="FFFFFF"/>
                </a:solidFill>
                <a:latin typeface="Tahoma"/>
                <a:ea typeface="Tahoma"/>
                <a:cs typeface="Tahoma"/>
              </a:rPr>
              <a:t>Leadership Handover Card</a:t>
            </a:r>
          </a:p>
        </p:txBody>
      </p:sp>
      <p:sp>
        <p:nvSpPr>
          <p:cNvPr id="6" name="diagram-405">
            <a:extLst xmlns:a="http://schemas.openxmlformats.org/drawingml/2006/main">
              <a:ext uri="{FF2B5EF4-FFF2-40B4-BE49-F238E27FC236}">
                <a16:creationId xmlns:a16="http://schemas.microsoft.com/office/drawing/2014/main" id="{8F065BD0-E470-44DB-A418-B4FA7CD7C366}"/>
              </a:ext>
            </a:extLst>
          </p:cNvPr>
          <p:cNvSpPr>
            <a:spLocks xmlns:a="http://schemas.openxmlformats.org/drawingml/2006/main" noGrp="1"/>
          </p:cNvSpPr>
          <p:nvPr/>
        </p:nvSpPr>
        <p:spPr>
          <a:xfrm xmlns:a="http://schemas.openxmlformats.org/drawingml/2006/main">
            <a:off x="762000" y="52387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ABCAE8"/>
                </a:solidFill>
                <a:latin typeface="Tahoma"/>
                <a:ea typeface="Tahoma"/>
                <a:cs typeface="Tahoma"/>
              </a:defRPr>
            </a:pPr>
            <a:r>
              <a:rPr sz="2400" b="0">
                <a:solidFill>
                  <a:srgbClr val="ABCAE8"/>
                </a:solidFill>
                <a:latin typeface="Tahoma"/>
                <a:ea typeface="Tahoma"/>
                <a:cs typeface="Tahoma"/>
              </a:rPr>
              <a:t>What will you discuss, with whom, and when?</a:t>
            </a:r>
          </a:p>
        </p:txBody>
      </p:sp>
    </p:spTree>
    <p:extLst>
      <p:ext uri="{BB962C8B-B14F-4D97-AF65-F5344CB8AC3E}">
        <p14:creationId xmlns:p14="http://schemas.microsoft.com/office/powerpoint/2010/main" val="16009858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2026-09-28T19:27:51.6870000Z</dcterms:created>
  <dcterms:modified xsi:type="dcterms:W3CDTF">2026-09-28T19:27:51.6870000Z</dcterms:modified>
</coreProperties>
</file>
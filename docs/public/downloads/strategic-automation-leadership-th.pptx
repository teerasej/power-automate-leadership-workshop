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75995e10c849e1" /><Relationship Type="http://schemas.openxmlformats.org/officeDocument/2006/relationships/extended-properties" Target="/docProps/app.xml" Id="R1dc9b3a6afbe4c6d" /><Relationship Type="http://schemas.openxmlformats.org/officeDocument/2006/relationships/officeDocument" Target="/ppt/presentation.xml" Id="R01178397b523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b175b1aed04a4b"/>
  </p:sldMasterIdLst>
  <p:notesMasterIdLst>
    <p:notesMasterId xmlns:r="http://schemas.openxmlformats.org/officeDocument/2006/relationships" r:id="R0759ed4b0d3b4b5a"/>
  </p:notesMasterIdLst>
  <p:sldIdLst>
    <p:sldId xmlns:r="http://schemas.openxmlformats.org/officeDocument/2006/relationships" id="256" r:id="R9388f53af5e94ae0"/>
    <p:sldId xmlns:r="http://schemas.openxmlformats.org/officeDocument/2006/relationships" id="257" r:id="R36ae908c47284c34"/>
    <p:sldId xmlns:r="http://schemas.openxmlformats.org/officeDocument/2006/relationships" id="258" r:id="R13a0f24447314a7c"/>
    <p:sldId xmlns:r="http://schemas.openxmlformats.org/officeDocument/2006/relationships" id="259" r:id="Rafc99816c1f447e1"/>
    <p:sldId xmlns:r="http://schemas.openxmlformats.org/officeDocument/2006/relationships" id="260" r:id="R03f6fa0263434168"/>
    <p:sldId xmlns:r="http://schemas.openxmlformats.org/officeDocument/2006/relationships" id="261" r:id="R0126a17564fb4bd0"/>
    <p:sldId xmlns:r="http://schemas.openxmlformats.org/officeDocument/2006/relationships" id="262" r:id="R4deafc2230784fe7"/>
    <p:sldId xmlns:r="http://schemas.openxmlformats.org/officeDocument/2006/relationships" id="263" r:id="R29391bdc1b624223"/>
    <p:sldId xmlns:r="http://schemas.openxmlformats.org/officeDocument/2006/relationships" id="264" r:id="R37edd9979bd34c0d"/>
    <p:sldId xmlns:r="http://schemas.openxmlformats.org/officeDocument/2006/relationships" id="265" r:id="R2c848155c7014356"/>
    <p:sldId xmlns:r="http://schemas.openxmlformats.org/officeDocument/2006/relationships" id="266" r:id="R16684d3b38b942b5"/>
    <p:sldId xmlns:r="http://schemas.openxmlformats.org/officeDocument/2006/relationships" id="267" r:id="Ra40a03a6fcc04ead"/>
    <p:sldId xmlns:r="http://schemas.openxmlformats.org/officeDocument/2006/relationships" id="268" r:id="R332859fd96f748e4"/>
    <p:sldId xmlns:r="http://schemas.openxmlformats.org/officeDocument/2006/relationships" id="269" r:id="R0b50aa6b8154436c"/>
    <p:sldId xmlns:r="http://schemas.openxmlformats.org/officeDocument/2006/relationships" id="270" r:id="R265c9b266df04e8d"/>
    <p:sldId xmlns:r="http://schemas.openxmlformats.org/officeDocument/2006/relationships" id="271" r:id="R50cab5380fc74a6b"/>
    <p:sldId xmlns:r="http://schemas.openxmlformats.org/officeDocument/2006/relationships" id="272" r:id="R7a3c3d97ef084605"/>
    <p:sldId xmlns:r="http://schemas.openxmlformats.org/officeDocument/2006/relationships" id="273" r:id="R1f6526ed1c0942b5"/>
    <p:sldId xmlns:r="http://schemas.openxmlformats.org/officeDocument/2006/relationships" id="274" r:id="Rbeb037df3e904a06"/>
    <p:sldId xmlns:r="http://schemas.openxmlformats.org/officeDocument/2006/relationships" id="275" r:id="R1126e818fa2a4f1d"/>
    <p:sldId xmlns:r="http://schemas.openxmlformats.org/officeDocument/2006/relationships" id="276" r:id="R6c777ebb3f554c6d"/>
    <p:sldId xmlns:r="http://schemas.openxmlformats.org/officeDocument/2006/relationships" id="277" r:id="R06e71d7ffdf74668"/>
    <p:sldId xmlns:r="http://schemas.openxmlformats.org/officeDocument/2006/relationships" id="278" r:id="R84245a25c3a14aa4"/>
    <p:sldId xmlns:r="http://schemas.openxmlformats.org/officeDocument/2006/relationships" id="279" r:id="R2b882006866449fe"/>
    <p:sldId xmlns:r="http://schemas.openxmlformats.org/officeDocument/2006/relationships" id="280" r:id="R76534a685722494e"/>
    <p:sldId xmlns:r="http://schemas.openxmlformats.org/officeDocument/2006/relationships" id="281" r:id="R3cf59ca3385b4183"/>
    <p:sldId xmlns:r="http://schemas.openxmlformats.org/officeDocument/2006/relationships" id="282" r:id="R4f7a6051eb2b42a3"/>
    <p:sldId xmlns:r="http://schemas.openxmlformats.org/officeDocument/2006/relationships" id="283" r:id="R9dc77bf68e2c4f89"/>
    <p:sldId xmlns:r="http://schemas.openxmlformats.org/officeDocument/2006/relationships" id="284" r:id="R1be27f9b84c140a7"/>
    <p:sldId xmlns:r="http://schemas.openxmlformats.org/officeDocument/2006/relationships" id="285" r:id="R8699d8e06da04d70"/>
    <p:sldId xmlns:r="http://schemas.openxmlformats.org/officeDocument/2006/relationships" id="286" r:id="R3d928b9be24c4a3a"/>
    <p:sldId xmlns:r="http://schemas.openxmlformats.org/officeDocument/2006/relationships" id="287" r:id="Rbe07f70151044d0e"/>
    <p:sldId xmlns:r="http://schemas.openxmlformats.org/officeDocument/2006/relationships" id="288" r:id="Redfedee72db84939"/>
    <p:sldId xmlns:r="http://schemas.openxmlformats.org/officeDocument/2006/relationships" id="289" r:id="R73f9c23763194720"/>
    <p:sldId xmlns:r="http://schemas.openxmlformats.org/officeDocument/2006/relationships" id="290" r:id="R92e0a7a935eb42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0b7c5165e4db6" /><Relationship Type="http://schemas.openxmlformats.org/officeDocument/2006/relationships/slideMaster" Target="/ppt/slideMasters/slideMaster1.xml" Id="R44b175b1aed04a4b" /><Relationship Type="http://schemas.openxmlformats.org/officeDocument/2006/relationships/notesMaster" Target="/ppt/notesMasters/notesMaster1.xml" Id="R0759ed4b0d3b4b5a" /><Relationship Type="http://schemas.openxmlformats.org/officeDocument/2006/relationships/presProps" Target="/ppt/presProps.xml" Id="R62529192154a4bd7" /><Relationship Type="http://schemas.openxmlformats.org/officeDocument/2006/relationships/tableStyles" Target="/ppt/tableStyles.xml" Id="R58a2343862b24c74" /><Relationship Type="http://schemas.openxmlformats.org/officeDocument/2006/relationships/slide" Target="/ppt/slides/slide1.xml" Id="R9388f53af5e94ae0" /><Relationship Type="http://schemas.openxmlformats.org/officeDocument/2006/relationships/slide" Target="/ppt/slides/slide2.xml" Id="R36ae908c47284c34" /><Relationship Type="http://schemas.openxmlformats.org/officeDocument/2006/relationships/slide" Target="/ppt/slides/slide3.xml" Id="R13a0f24447314a7c" /><Relationship Type="http://schemas.openxmlformats.org/officeDocument/2006/relationships/slide" Target="/ppt/slides/slide4.xml" Id="Rafc99816c1f447e1" /><Relationship Type="http://schemas.openxmlformats.org/officeDocument/2006/relationships/slide" Target="/ppt/slides/slide5.xml" Id="R03f6fa0263434168" /><Relationship Type="http://schemas.openxmlformats.org/officeDocument/2006/relationships/slide" Target="/ppt/slides/slide6.xml" Id="R0126a17564fb4bd0" /><Relationship Type="http://schemas.openxmlformats.org/officeDocument/2006/relationships/slide" Target="/ppt/slides/slide7.xml" Id="R4deafc2230784fe7" /><Relationship Type="http://schemas.openxmlformats.org/officeDocument/2006/relationships/slide" Target="/ppt/slides/slide8.xml" Id="R29391bdc1b624223" /><Relationship Type="http://schemas.openxmlformats.org/officeDocument/2006/relationships/slide" Target="/ppt/slides/slide9.xml" Id="R37edd9979bd34c0d" /><Relationship Type="http://schemas.openxmlformats.org/officeDocument/2006/relationships/slide" Target="/ppt/slides/slide10.xml" Id="R2c848155c7014356" /><Relationship Type="http://schemas.openxmlformats.org/officeDocument/2006/relationships/slide" Target="/ppt/slides/slide11.xml" Id="R16684d3b38b942b5" /><Relationship Type="http://schemas.openxmlformats.org/officeDocument/2006/relationships/slide" Target="/ppt/slides/slide12.xml" Id="Ra40a03a6fcc04ead" /><Relationship Type="http://schemas.openxmlformats.org/officeDocument/2006/relationships/slide" Target="/ppt/slides/slide13.xml" Id="R332859fd96f748e4" /><Relationship Type="http://schemas.openxmlformats.org/officeDocument/2006/relationships/slide" Target="/ppt/slides/slide14.xml" Id="R0b50aa6b8154436c" /><Relationship Type="http://schemas.openxmlformats.org/officeDocument/2006/relationships/slide" Target="/ppt/slides/slide15.xml" Id="R265c9b266df04e8d" /><Relationship Type="http://schemas.openxmlformats.org/officeDocument/2006/relationships/slide" Target="/ppt/slides/slide16.xml" Id="R50cab5380fc74a6b" /><Relationship Type="http://schemas.openxmlformats.org/officeDocument/2006/relationships/slide" Target="/ppt/slides/slide17.xml" Id="R7a3c3d97ef084605" /><Relationship Type="http://schemas.openxmlformats.org/officeDocument/2006/relationships/slide" Target="/ppt/slides/slide18.xml" Id="R1f6526ed1c0942b5" /><Relationship Type="http://schemas.openxmlformats.org/officeDocument/2006/relationships/slide" Target="/ppt/slides/slide19.xml" Id="Rbeb037df3e904a06" /><Relationship Type="http://schemas.openxmlformats.org/officeDocument/2006/relationships/slide" Target="/ppt/slides/slide20.xml" Id="R1126e818fa2a4f1d" /><Relationship Type="http://schemas.openxmlformats.org/officeDocument/2006/relationships/slide" Target="/ppt/slides/slide21.xml" Id="R6c777ebb3f554c6d" /><Relationship Type="http://schemas.openxmlformats.org/officeDocument/2006/relationships/slide" Target="/ppt/slides/slide22.xml" Id="R06e71d7ffdf74668" /><Relationship Type="http://schemas.openxmlformats.org/officeDocument/2006/relationships/slide" Target="/ppt/slides/slide23.xml" Id="R84245a25c3a14aa4" /><Relationship Type="http://schemas.openxmlformats.org/officeDocument/2006/relationships/slide" Target="/ppt/slides/slide24.xml" Id="R2b882006866449fe" /><Relationship Type="http://schemas.openxmlformats.org/officeDocument/2006/relationships/slide" Target="/ppt/slides/slide25.xml" Id="R76534a685722494e" /><Relationship Type="http://schemas.openxmlformats.org/officeDocument/2006/relationships/slide" Target="/ppt/slides/slide26.xml" Id="R3cf59ca3385b4183" /><Relationship Type="http://schemas.openxmlformats.org/officeDocument/2006/relationships/slide" Target="/ppt/slides/slide27.xml" Id="R4f7a6051eb2b42a3" /><Relationship Type="http://schemas.openxmlformats.org/officeDocument/2006/relationships/slide" Target="/ppt/slides/slide28.xml" Id="R9dc77bf68e2c4f89" /><Relationship Type="http://schemas.openxmlformats.org/officeDocument/2006/relationships/slide" Target="/ppt/slides/slide29.xml" Id="R1be27f9b84c140a7" /><Relationship Type="http://schemas.openxmlformats.org/officeDocument/2006/relationships/slide" Target="/ppt/slides/slide30.xml" Id="R8699d8e06da04d70" /><Relationship Type="http://schemas.openxmlformats.org/officeDocument/2006/relationships/slide" Target="/ppt/slides/slide31.xml" Id="R3d928b9be24c4a3a" /><Relationship Type="http://schemas.openxmlformats.org/officeDocument/2006/relationships/slide" Target="/ppt/slides/slide32.xml" Id="Rbe07f70151044d0e" /><Relationship Type="http://schemas.openxmlformats.org/officeDocument/2006/relationships/slide" Target="/ppt/slides/slide33.xml" Id="Redfedee72db84939" /><Relationship Type="http://schemas.openxmlformats.org/officeDocument/2006/relationships/slide" Target="/ppt/slides/slide34.xml" Id="R73f9c23763194720" /><Relationship Type="http://schemas.openxmlformats.org/officeDocument/2006/relationships/slide" Target="/ppt/slides/slide35.xml" Id="R92e0a7a935eb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adaaad065b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ab8c152c64723" /><Relationship Type="http://schemas.openxmlformats.org/officeDocument/2006/relationships/notesMaster" Target="/ppt/notesMasters/notesMaster1.xml" Id="Re83613a3652944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a1843511be45e8" /><Relationship Type="http://schemas.openxmlformats.org/officeDocument/2006/relationships/notesMaster" Target="/ppt/notesMasters/notesMaster1.xml" Id="R01a6a53dbcef46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3cd98c5094213" /><Relationship Type="http://schemas.openxmlformats.org/officeDocument/2006/relationships/notesMaster" Target="/ppt/notesMasters/notesMaster1.xml" Id="Rdcefe3ddf74643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74d4eef6d647b2" /><Relationship Type="http://schemas.openxmlformats.org/officeDocument/2006/relationships/notesMaster" Target="/ppt/notesMasters/notesMaster1.xml" Id="R4078445c820b4d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e34b029bea4226" /><Relationship Type="http://schemas.openxmlformats.org/officeDocument/2006/relationships/notesMaster" Target="/ppt/notesMasters/notesMaster1.xml" Id="Rf9bbd4b1e1fe44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25fdda86f415c" /><Relationship Type="http://schemas.openxmlformats.org/officeDocument/2006/relationships/notesMaster" Target="/ppt/notesMasters/notesMaster1.xml" Id="Rc7d3a298a593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92ee4f7b9c4c76" /><Relationship Type="http://schemas.openxmlformats.org/officeDocument/2006/relationships/notesMaster" Target="/ppt/notesMasters/notesMaster1.xml" Id="Rc9117467be1447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c2d8d6ff9f4369" /><Relationship Type="http://schemas.openxmlformats.org/officeDocument/2006/relationships/notesMaster" Target="/ppt/notesMasters/notesMaster1.xml" Id="Rfe684195921a42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c4952a3a8743da" /><Relationship Type="http://schemas.openxmlformats.org/officeDocument/2006/relationships/notesMaster" Target="/ppt/notesMasters/notesMaster1.xml" Id="R656ae57bb23944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fbb8b564114f62" /><Relationship Type="http://schemas.openxmlformats.org/officeDocument/2006/relationships/notesMaster" Target="/ppt/notesMasters/notesMaster1.xml" Id="Rf511112bb0db4a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a19acca2e44c0b" /><Relationship Type="http://schemas.openxmlformats.org/officeDocument/2006/relationships/notesMaster" Target="/ppt/notesMasters/notesMaster1.xml" Id="R60e73fe137d342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3c53fb6f0c4177" /><Relationship Type="http://schemas.openxmlformats.org/officeDocument/2006/relationships/notesMaster" Target="/ppt/notesMasters/notesMaster1.xml" Id="R1126030b1d2a4f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ebf8eb79944b1c" /><Relationship Type="http://schemas.openxmlformats.org/officeDocument/2006/relationships/notesMaster" Target="/ppt/notesMasters/notesMaster1.xml" Id="Raee537ee180b45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08d1d81f114686" /><Relationship Type="http://schemas.openxmlformats.org/officeDocument/2006/relationships/notesMaster" Target="/ppt/notesMasters/notesMaster1.xml" Id="R89a4c802b3cd49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2b9f5bc0e64805" /><Relationship Type="http://schemas.openxmlformats.org/officeDocument/2006/relationships/notesMaster" Target="/ppt/notesMasters/notesMaster1.xml" Id="Re53549867e8c44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7f225043fd4028" /><Relationship Type="http://schemas.openxmlformats.org/officeDocument/2006/relationships/notesMaster" Target="/ppt/notesMasters/notesMaster1.xml" Id="R09fe1dc34fa74d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3a93b173e747b0" /><Relationship Type="http://schemas.openxmlformats.org/officeDocument/2006/relationships/notesMaster" Target="/ppt/notesMasters/notesMaster1.xml" Id="Rc259b6459ef340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ddbd676b034d10" /><Relationship Type="http://schemas.openxmlformats.org/officeDocument/2006/relationships/notesMaster" Target="/ppt/notesMasters/notesMaster1.xml" Id="R976fcc0aae8c484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d43431ef3d4ee2" /><Relationship Type="http://schemas.openxmlformats.org/officeDocument/2006/relationships/notesMaster" Target="/ppt/notesMasters/notesMaster1.xml" Id="R67bda34a7fd845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76a99073634451" /><Relationship Type="http://schemas.openxmlformats.org/officeDocument/2006/relationships/notesMaster" Target="/ppt/notesMasters/notesMaster1.xml" Id="R30672e392d6e42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df8a0cc10d4190" /><Relationship Type="http://schemas.openxmlformats.org/officeDocument/2006/relationships/notesMaster" Target="/ppt/notesMasters/notesMaster1.xml" Id="R5851d58a47e14a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a3864239764897" /><Relationship Type="http://schemas.openxmlformats.org/officeDocument/2006/relationships/notesMaster" Target="/ppt/notesMasters/notesMaster1.xml" Id="R78c209669b0044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f87ae8fdd14616" /><Relationship Type="http://schemas.openxmlformats.org/officeDocument/2006/relationships/notesMaster" Target="/ppt/notesMasters/notesMaster1.xml" Id="R91382b736ef34d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23de0264fef4f17" /><Relationship Type="http://schemas.openxmlformats.org/officeDocument/2006/relationships/notesMaster" Target="/ppt/notesMasters/notesMaster1.xml" Id="R3109e08fc9d24a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01f1b0bbbd4b83" /><Relationship Type="http://schemas.openxmlformats.org/officeDocument/2006/relationships/notesMaster" Target="/ppt/notesMasters/notesMaster1.xml" Id="Rad0ec2ae8d4948b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2d05821d7df4f1a" /><Relationship Type="http://schemas.openxmlformats.org/officeDocument/2006/relationships/notesMaster" Target="/ppt/notesMasters/notesMaster1.xml" Id="R1f471665c5e443e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dbfd6cfd514535" /><Relationship Type="http://schemas.openxmlformats.org/officeDocument/2006/relationships/notesMaster" Target="/ppt/notesMasters/notesMaster1.xml" Id="R776f2d9b5b78404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148e0dcd1e4e86" /><Relationship Type="http://schemas.openxmlformats.org/officeDocument/2006/relationships/notesMaster" Target="/ppt/notesMasters/notesMaster1.xml" Id="R53d2d5fc32f341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c1135d944d40e7" /><Relationship Type="http://schemas.openxmlformats.org/officeDocument/2006/relationships/notesMaster" Target="/ppt/notesMasters/notesMaster1.xml" Id="R5c85e47598544b9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4182adb81f240cb" /><Relationship Type="http://schemas.openxmlformats.org/officeDocument/2006/relationships/notesMaster" Target="/ppt/notesMasters/notesMaster1.xml" Id="R3a1d8923a34d4cd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4a31569331e4caa" /><Relationship Type="http://schemas.openxmlformats.org/officeDocument/2006/relationships/notesMaster" Target="/ppt/notesMasters/notesMaster1.xml" Id="R6f31a85e7860459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592fd194544bc3" /><Relationship Type="http://schemas.openxmlformats.org/officeDocument/2006/relationships/notesMaster" Target="/ppt/notesMasters/notesMaster1.xml" Id="Rf8c0d93d4ee5462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616d03fab004c51" /><Relationship Type="http://schemas.openxmlformats.org/officeDocument/2006/relationships/notesMaster" Target="/ppt/notesMasters/notesMaster1.xml" Id="R91fa92c4a61b421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33b9bb516f14c6f" /><Relationship Type="http://schemas.openxmlformats.org/officeDocument/2006/relationships/notesMaster" Target="/ppt/notesMasters/notesMaster1.xml" Id="R806d9067bcee423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fbcf291c222487b" /><Relationship Type="http://schemas.openxmlformats.org/officeDocument/2006/relationships/notesMaster" Target="/ppt/notesMasters/notesMaster1.xml" Id="R3e807add5807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09:00–09:05;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ต้อนรับและแนะนำเป้าหมาย ขอให้ทุกคนคิดถึงงานซ้ำหนึ่งเรื่องแต่ยังไม่วิเคราะห์เชิงลึก วันนี้เป็นการตัดสินใจและร่างแนวคิดบนกระดาษ ไม่ต้องเข้าสู่ระบบ แบ่งกลุ่มเริ่มต้น 4–6 คน ปรับตามผู้เข้าร่วมจริง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generated fictional workshop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09:05–09:10;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อธิบายสามหัวข้อ: Demystifying, Bottlenecks, Blueprinting หัวข้อละ 110 นาทีภายใต้เวลาที่กำหนด แจ้งพัก 10:30–10:45 กลางวัน 12:00–13:00 พัก 14:30–14:45 จบ16:00 ย้ำ assessment อยู่นอกเวลาเรียน คำถามเปิด: หากลดงานซ้ำได้ อยากให้ทีมใช้เวลากับงานใด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09:10–09:15;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อธิบาย cloud flow แบบภาษาคน: เมื่องานเริ่ม ระบบทำตามขั้นตอนที่กำหนด ตัวอย่างส่งคำขอให้ผู้พิจารณาและแจ้งผล ไม่เปิด AI features แม้เอกสารผลิตภัณฑ์มีเนื้อหา AI อยู่ด้วย ไม่รับรองทุกระบบเชื่อมได้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https://learn.microsoft.com/en-us/power-automate/flow-types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https://learn.microsoft.com/en-us/power-automate/overview-cloud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09:15–09:20;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ใช้ครัวเป็นอุปมา: คำสั่งซื้อเริ่มงาน สูตรช่วยให้ทำซ้ำสม่ำเสมอ แต่ข้อยกเว้นต้องใช้ผู้รับผิดชอบ ถามผู้เรียนว่าเครื่องมือดีแต่สูตรไม่ชัดจะเกิดอะไร ไม่สรุปว่า automation แก้กระบวนการทั้งหมดได้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09:20–09:25;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ใช้สามตัวอย่างเป็นความสามารถ ไม่ใช่ lab ที่ องค์กรตัวอย่าง อนุมัติแล้ว ยก Excel/Teams/SharePoint เป็นบริบท M365 ที่อาจเกี่ยวข้อง ต้องตรวจวิธีเข้าถึง กติกา และ connector ก่อนนำไปใช้จริง ไม่กล่าวว่า Excel มี trigger เมื่อเพิ่มแถวโดยอัตโนมัติ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https://learn.microsoft.com/en-us/power-automate/work-with-triggers-actions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https://learn.microsoft.com/en-us/power-automate/overview-cloud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09:25–09:30;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ถามว่าใครรับผิดชอบผลตัดสินเมื่อ workflow ส่งเอกสารให้ผู้จัดการ ชี้ว่างานถูกส่งเร็วขึ้นไม่ได้แปลว่าการตัดสินใจเร็วขึ้นโดยอัตโนมัติ เปิดรับคำถามแต่เก็บคำถามละเอียดไว้ช่วง Q&amp;A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https://learn.microsoft.com/en-us/power-automate/work-with-triggers-actions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09:30–09:35;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เปิด files/case-pack.md อ่านบทบาทร่วมกัน ข้อมูลนี้เป็นเรื่องสมมติ ไม่ใช่นโยบายหรือกระบวนการ องค์กรตัวอย่าง ให้ผู้เรียนวงจุดที่ต้องคัดลอกหรือไล่ถาม ช่วงนี้รวมอยู่ใน Exercise1 Practice1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https://teerasej.github.io/power-automate-leadership-workshop/exercises/01-understand-automation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09:35–09:50;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Exercise1 Practice1 เวลารวม20นาที นับสไลด์ก่อนหน้า5นาทีด้วย ใช้แบบบันทึก1 ให้กลุ่มทำ10นาทีและเปรียบเทียบ5นาที ตัวอย่างตอบ: ส่งคำขอที่ครบให้ผู้จัดการลดการส่งต่อด้วยมือ แต่ผู้จัดการยังพิจารณา เกณฑ์ผ่านคือมีการเปลี่ยนงานที่ชัดและคนรับผิดชอบ หลีกเลี่ยงตัวเลขประโยชน์ที่ไม่ได้วัด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https://teerasej.github.io/power-automate-leadership-workshop/exercises/01-understand-automation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09:50–10:10;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Exercise1 Practice2 อ่านและจัดบัตร12นาที ถกเหตุผล5นาที เลือกคำถาม3นาที แนวตอบ A,C,E เหมาะให้ระบบช่วยภายใต้กติกาและสิทธิ์ B ต้องคนตัดสิน D ตรวจการเชื่อมต่อ/สิทธิ์ F ไม่ควรแจ้งอนุมัติก่อนผลตัดสิน อาจจัดเป็นคนตัดสินหรือข้อมูลผลตัดสินขาดได้ถ้าเหตุผลชัด ไม่บังคับคำตอบหมวดเดียวเมื่อเหตุผลสมเหตุสมผล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https://teerasej.github.io/power-automate-leadership-workshop/exercises/01-understand-automation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10:10–10:25;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Q&amp;A สด เลือก3–4คำถามที่มีประโยชน์ร่วม แยกคำถามเป็นข้อเท็จจริงผลิตภัณฑ์ ความพร้อม training environment และนโยบายธุรกิจ ถ้าไม่ทราบให้บันทึกเจ้าของคำถามและสิ่งที่ต้องตรวจ ไม่เดาคำตอบ จำกัดเวลาไม่กินช่วงพัก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1; 10:25–10:30;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ให้แต่ละคนบอกหนึ่งประโยชน์และหนึ่งขอบเขต จบตรง10:30 แจ้งพัก10:30–10:45 และกลับมาตรวจความเข้าใจ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2; 10:45–11:00;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Exercise1 Practice3 ตอบเดี่ยว5นาที คุยคู่5นาที ถามเหตุผลรวม5นาที นี่คือ formative check ไม่ใช่คัดลอกข้อสอบ pre/post ทั้งชุด ฟังเหตุผลและระบุความเข้าใจผิดไว้แก้ทันที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https://teerasej.github.io/power-automate-leadership-workshop/exercises/01-understand-automation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2; 11:00–11:05;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สรุป Exercise1 Practice3 อีก5นาที รวม20นาที เฉลยเหตุผลทั้ง3ข้อ ให้แก้คำตอบและเขียนสิ่งที่รู้/ต้องตรวจ ตรวจว่าผู้เรียนไม่สับสน automated routing กับ automatic approval จบ Demystifying เวลา11:05 ครบ110นาที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2; 11:05–11:15;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เริ่มหัวข้อที่2 ใช้กรณีเดิม อธิบายแผนที่งานปัจจุบัน ห้ามกระโดดไปออกแบบอนาคตก่อนเห็นปัญหา ตัวอย่างรออนุมัติอาจเกิดจากกติกาไม่ชัด ไม่ใช่แค่ไม่มี notification สาธิตเขียนหนึ่งงานต่อ post-it โดยใช้คำกริยา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2; 11:15–11:30;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Exercise2 Practice1 ใช้แบบบันทึก2 ให้เลือกกรณีสมมติเป็นค่าเริ่มต้น กำหนดขอบเขต3นาที เรียงงาน8นาที เล่ากลับ4นาที ตรวจว่าทุกขั้นมีเจ้าของและข้อมูลที่รับส่ง ไม่จำเป็นต้องสวย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https://teerasej.github.io/power-automate-leadership-workshop/exercises/02-map-work-friction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2; 11:30–11:50;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Exercise2 Practice2 ติดเครื่องหมาย8นาที ถามผลกระทบ7นาที ตรวจหลักฐาน5นาที ใช้ case pack มี3 pain point พร้อมข้อมูลสมมติ เดินถามกลุ่มว่าอะไรทำให้สรุปเช่นนั้น ไม่กล่าวโทษบุคคล เตือนปกปิดรายละเอียดงานจริง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https://teerasej.github.io/power-automate-leadership-workshop/exercises/02-map-work-friction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2; 11:50–11:55;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Exercise2 Practice3 เลือก3เรื่องและส่งต่อรายการนี้ไป Exercise3 ทุกกลุ่มต้องมี3เรื่องแม้ใช้กรณีสมมติ ตรวจว่าไม่เขียนเป็นชื่อแอปอย่างเดียว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https://teerasej.github.io/power-automate-leadership-workshop/exercises/02-map-work-friction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2; 11:55–12:00;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สุ่มหนึ่งกลุ่มแชร์60วินาที ให้กลุ่มอื่นตรวจว่าของตนพร้อมเช่นกัน ถ่ายภาพเฉพาะข้อมูลกิจกรรมที่อนุญาต แจ้งอาหารกลางวัน12:00–13:00 ไม่ให้การบ้านระหว่างพัก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13:00–13:10;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อธิบายแบบบันทึก3 แต่ละเกณฑ์1–3รวม9 คะแนนเป็นเครื่องมือสนทนาไม่ใช่ ROI ให้ตัวอย่างคะแนนโดยอ่าน anchor จาก worksheet ใช้เวลาตรวจว่าความพร้อมสูงหมายถึงพร้อมมาก ไม่ใช่งานยากมาก คะแนนเสมอเลือกงานเล็กและเจ้าของชัด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13:10–13:30;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Exercise3 Practice1 ส่วนแรก20นาที ให้คนเสนอคะแนนก่อนตกลงคะแนนกลุ่ม ไม่ต้องเฉลี่ยเลขบุคคล ย้ำเป็นคะแนนรวมกลุ่มรายเกณฑ์เท่านั้น เปิด worksheetเกณฑ์ครบ เดินตรวจเหตุผลคะแนนความพร้อม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https://teerasej.github.io/power-automate-leadership-workshop/exercises/03-prioritize-opportunity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13:30–13:40;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Exercise3 Practice1 ส่วนท้าย10นาที รวม30 ให้เลือก1เรื่องและเติมขอบเขต ไม่เลือกทั้งระบบคำขอจัดอบรมหากใหญ่เกินไป เช่นลดการส่งต่อคำขอข้อมูลครบอย่างเดียว เมื่อข้อมูลไม่พร้อมให้คงสถานะสำรวจ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https://teerasej.github.io/power-automate-leadership-workshop/exercises/03-prioritize-opportunity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13:40–13:50;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Exercise3 Practice2 จับคู่กลุ่ม ใช้กลุ่มละ2นาทีเล่าและ2นาทีถาม รวม8นาที ปรับ2นาที ถ้ามีกลุ่มเดียวให้สลับบทบาทภายใน ไม่จัดนำเสนอทุกกลุ่มหน้าห้องจนเกินเวลา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https://teerasej.github.io/power-automate-leadership-workshop/exercises/03-prioritize-opportunity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13:50–13:55;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ให้กลุ่มอ่านหนึ่งประโยคโอกาสที่เลือก ตรวจว่ามีเหตุผลและขอบเขต จบหัวข้อ Bottlenecks13:55 ครบ110นาที ต่อ Blueprint โดยไม่เพิ่มโครงการใหม่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13:55–14:00;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เริ่มหัวข้อ Blueprinting ถามผู้เรียนอุปมากริ่งประตู: เสียงกริ่งเป็นเหตุการณ์เริ่ม ไม่ใช่การเปิดประตู ยกตัวอย่าง cloud flows หลายแบบเพื่อไม่ผูกว่า triggerต้องเอกสารใหม่เสมอ ไม่ให้ขั้นตอนสร้างจริง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https://learn.microsoft.com/en-us/power-automate/work-with-triggers-actions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https://learn.microsoft.com/en-us/power-automate/flow-types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14:00–14:05;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ตัวอย่างแจ้งผู้ประสานงานเป็น Action การเชื่อม OutlookหรือTeamsผ่าน connectorขึ้นกับสิทธิ์และบริการ เปรียบ connectorเหมือนช่องทางส่งงานไปอีกแผนก ไม่ได้ทำให้ผู้ส่งมีสิทธิ์เห็นทุกข้อมูล ถามว่าในเรื่องเดิมงานใดเป็นAction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https://learn.microsoft.com/en-us/power-automate/work-with-triggers-actions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14:05–14:10;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อธิบาย Yes/No จากข้อมูลเทียบกติกา แยกการตรวจครบถ้วนออกจากการอนุมัติธุรกิจ ใช้ภาพMermaidใน Exercise4ประกอบได้ แต่ไม่ต้องเปิดระบบ ถามทางNoไปจบที่ใครและกลับมาเมื่อใด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https://learn.microsoft.com/en-us/power-automate/work-with-triggers-actions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14:10–14:25; 15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Exercise4 Practice1 ใช้หัวแบบบันทึก4 เขียนTriggerและผลปลายทาง5นาที ข้อมูลเริ่มต้น5นาที เล่ากลับ5นาที ตัวอย่างเมื่อรับคำขอครบให้ส่งผู้จัดการพิจารณาเพื่อทราบผู้รับผิดชอบและสถานะ ไม่ยืนยันชื่อ connectorที่ยังไม่ตรวจ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https://teerasej.github.io/power-automate-leadership-workshop/exercises/04-workflow-blueprint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3; 14:25–14:30;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ตรวจทุกกลุ่มมีหัวแบบร่างก่อนพัก เก็บpost-itไว้ เริ่มพักตรง14:30และกลับ14:45 อย่าใช้พักไปเขียนขั้นตอนบังคับ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4; 14:45–15:10; 25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Exercise4 Practice2 ชี้เป้าหมาย Section4ภายในเวลานี้ วางลำดับ10นาที ใส่เงื่อนไขและบทบาท10นาที ตรวจ5นาที ต้องมีทางไม่อนุมัติและขอข้อมูลเพิ่ม หากกลุ่มออกแบบใหญ่ให้ตัดขอบเขต ไม่ลดการทดสอบหรือยืดเวลา สถานะปลายช่วงคือภาพร่างพร้อมเดินทดสอบ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https://teerasej.github.io/power-automate-leadership-workshop/exercises/04-workflow-blueprint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4; 15:10–15:30; 20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Exercise4 Practice3 เลือกกรณี3นาที เขียนexpected2นาที roleplay8นาที แก้และretest7นาที ใช้R-101กับR-102หรือR-103 จดแบบบันทึก5 ห้ามให้ผู้เล่นช่วยเติมขั้นตอนที่ไม่มีในภาพโดยไม่บันทึก ทดสอบกระดาษไม่ใช่ทดสอบtraining environment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https://teerasej.github.io/power-automate-leadership-workshop/exercises/04-workflow-blueprint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4; 15:30–15:35;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Exercise5 Practice1 ส่วนแรก5นาที ตัวเลขทั้งหมดสมมติสำหรับการคิด ไม่ใช่ผลองค์กรตัวอย่างหรือROI3ชั่วโมง อธิบายเวลามือทำใหม่3บวกตรวจ2 ตรวจด้วยว่า outputถูกต้อง หากยังไม่วัดจริงให้เขียนคาดว่าจะ ประเด็นข้อมูลนี้ไม่ต้องใช้Excel ให้เลือกmetricของกลุ่มหนึ่งตัวและbaselineที่จะเก็บ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4; 15:35–15:40;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Exercise5 Practice1 ส่วนท้าย5นาที รวม10 เติมแบบบันทึก6ให้ครบ เน้น nextdecisionเช่นทบทวนกติกากับเจ้าของงาน ไม่สัญญาจะเปิดใช้งานทันที ความถูกต้องและผู้รับผิดชอบต้องอยู่คู่กับตัวเลขเวลา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https://teerasej.github.io/power-automate-leadership-workshop/exercises/05-leadership-handover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4; 15:40–15:50;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Exercise5 Practice2 คู่กลุ่มหรือคู่คน เล่า2นาทีถาม1นาทีสลับกันรวม6นาที ปรับการ์ด4นาที ไม่ต้องให้ทุกกลุ่มนำเสนอหน้าห้อง เช็กผู้ฟังบอกกลับได้ว่าใครทำอะไรต่อ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Participant guide: https://teerasej.github.io/power-automate-leadership-workshop/exercises/05-leadership-handover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4; 15:50–15:55;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เลือก2กลุ่มแชร์กลุ่มละ90วินาที ผู้สอนเชื่อมข้อค้นพบ2นาที หากกลุ่มจำนวนมากไม่เพิ่มเวลานำเสนอ ใช้การแลกคู่ที่ทำแล้วเป็นหลัก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4; 15:55–16:00;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ให้เขียนExit reflectionในแบบบันทึก7 ใช้2นาที เช็คผลงาน map/priority/blueprint/handover2นาที ปิด1นาที แนะนำทำpost-testตามช่องทางที่ผู้ประสานงานยืนยันภายหลัง ไม่สร้างลิงก์สมมติ จบตรง16:00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6db44c3e746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e13e3467949d6" /><Relationship Type="http://schemas.openxmlformats.org/officeDocument/2006/relationships/slideLayout" Target="/ppt/slideLayouts/slideLayout1.xml" Id="Rcec852ebb77d49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c852ebb77d49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3582f0ff1480e" /><Relationship Type="http://schemas.openxmlformats.org/officeDocument/2006/relationships/image" Target="/ppt/media/image.png" Id="Re1255c131de544c3" /><Relationship Type="http://schemas.openxmlformats.org/officeDocument/2006/relationships/notesSlide" Target="/ppt/notesSlides/notesSlide1.xml" Id="R1dd8f8d5082f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9140fcf9849ef" /><Relationship Type="http://schemas.openxmlformats.org/officeDocument/2006/relationships/notesSlide" Target="/ppt/notesSlides/notesSlide2.xml" Id="R97cad84d99de4f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49e192c444f06" /><Relationship Type="http://schemas.openxmlformats.org/officeDocument/2006/relationships/notesSlide" Target="/ppt/notesSlides/notesSlide3.xml" Id="Rd221ad9ae84c45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b7832a11e4a1a" /><Relationship Type="http://schemas.openxmlformats.org/officeDocument/2006/relationships/notesSlide" Target="/ppt/notesSlides/notesSlide4.xml" Id="Ra456e0ea0c7e44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60642e8424184" /><Relationship Type="http://schemas.openxmlformats.org/officeDocument/2006/relationships/notesSlide" Target="/ppt/notesSlides/notesSlide5.xml" Id="R758faf7c17fc48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cb6006fcd4f82" /><Relationship Type="http://schemas.openxmlformats.org/officeDocument/2006/relationships/notesSlide" Target="/ppt/notesSlides/notesSlide6.xml" Id="Re3eeaebef40d4e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2fb6ede974df4" /><Relationship Type="http://schemas.openxmlformats.org/officeDocument/2006/relationships/notesSlide" Target="/ppt/notesSlides/notesSlide7.xml" Id="R256cd9b1951948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d7cfad2a04439" /><Relationship Type="http://schemas.openxmlformats.org/officeDocument/2006/relationships/notesSlide" Target="/ppt/notesSlides/notesSlide8.xml" Id="R5578652f325a4b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a4bb7f7a14bb5" /><Relationship Type="http://schemas.openxmlformats.org/officeDocument/2006/relationships/notesSlide" Target="/ppt/notesSlides/notesSlide9.xml" Id="Ra73aecce343d43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b75e25913433d" /><Relationship Type="http://schemas.openxmlformats.org/officeDocument/2006/relationships/notesSlide" Target="/ppt/notesSlides/notesSlide10.xml" Id="R7af951a13d984b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832a7c22e46ec" /><Relationship Type="http://schemas.openxmlformats.org/officeDocument/2006/relationships/notesSlide" Target="/ppt/notesSlides/notesSlide11.xml" Id="R795a96a273ee43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c62626c3e43cc" /><Relationship Type="http://schemas.openxmlformats.org/officeDocument/2006/relationships/notesSlide" Target="/ppt/notesSlides/notesSlide12.xml" Id="R100e53a2c94b4d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a5c440b0945b6" /><Relationship Type="http://schemas.openxmlformats.org/officeDocument/2006/relationships/notesSlide" Target="/ppt/notesSlides/notesSlide13.xml" Id="R8753229992ca48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3856a21774848" /><Relationship Type="http://schemas.openxmlformats.org/officeDocument/2006/relationships/notesSlide" Target="/ppt/notesSlides/notesSlide14.xml" Id="R362cf020de5140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2a8d99444294" /><Relationship Type="http://schemas.openxmlformats.org/officeDocument/2006/relationships/notesSlide" Target="/ppt/notesSlides/notesSlide15.xml" Id="R16ec8318320c46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edde0f18d476d" /><Relationship Type="http://schemas.openxmlformats.org/officeDocument/2006/relationships/notesSlide" Target="/ppt/notesSlides/notesSlide16.xml" Id="R5f605a51ff4840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472e0e57a4a04" /><Relationship Type="http://schemas.openxmlformats.org/officeDocument/2006/relationships/notesSlide" Target="/ppt/notesSlides/notesSlide17.xml" Id="R12164d5febb549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46374763b43bb" /><Relationship Type="http://schemas.openxmlformats.org/officeDocument/2006/relationships/notesSlide" Target="/ppt/notesSlides/notesSlide18.xml" Id="Rc3d79b8b3b514c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f4003a0e34cba" /><Relationship Type="http://schemas.openxmlformats.org/officeDocument/2006/relationships/notesSlide" Target="/ppt/notesSlides/notesSlide19.xml" Id="Rda8e5395d36f40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d9f5854f248de" /><Relationship Type="http://schemas.openxmlformats.org/officeDocument/2006/relationships/notesSlide" Target="/ppt/notesSlides/notesSlide20.xml" Id="R10858f133f7444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24e87205548f4" /><Relationship Type="http://schemas.openxmlformats.org/officeDocument/2006/relationships/notesSlide" Target="/ppt/notesSlides/notesSlide21.xml" Id="R2392ec3664a14c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271de495a46d5" /><Relationship Type="http://schemas.openxmlformats.org/officeDocument/2006/relationships/notesSlide" Target="/ppt/notesSlides/notesSlide22.xml" Id="Rafef97afa5244e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800dd88f249d1" /><Relationship Type="http://schemas.openxmlformats.org/officeDocument/2006/relationships/notesSlide" Target="/ppt/notesSlides/notesSlide23.xml" Id="R776b7bb2e21b41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bbaf6b64a4782" /><Relationship Type="http://schemas.openxmlformats.org/officeDocument/2006/relationships/notesSlide" Target="/ppt/notesSlides/notesSlide24.xml" Id="R00aaf52308e64e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65d9b917549d3" /><Relationship Type="http://schemas.openxmlformats.org/officeDocument/2006/relationships/notesSlide" Target="/ppt/notesSlides/notesSlide25.xml" Id="R97488e2a080f48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fa6aa15184ab6" /><Relationship Type="http://schemas.openxmlformats.org/officeDocument/2006/relationships/notesSlide" Target="/ppt/notesSlides/notesSlide26.xml" Id="R5cfe44ec05d04b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a68ff486f45ad" /><Relationship Type="http://schemas.openxmlformats.org/officeDocument/2006/relationships/notesSlide" Target="/ppt/notesSlides/notesSlide27.xml" Id="R0b7f2e6c4f454e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de086dddf4447" /><Relationship Type="http://schemas.openxmlformats.org/officeDocument/2006/relationships/notesSlide" Target="/ppt/notesSlides/notesSlide28.xml" Id="Rbb7b2df65f54474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61b7b6dde4e56" /><Relationship Type="http://schemas.openxmlformats.org/officeDocument/2006/relationships/notesSlide" Target="/ppt/notesSlides/notesSlide29.xml" Id="R73a782910cbe49c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889fc79f423d" /><Relationship Type="http://schemas.openxmlformats.org/officeDocument/2006/relationships/notesSlide" Target="/ppt/notesSlides/notesSlide30.xml" Id="Rd63c61adaec04d7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aea4734ac4a4e" /><Relationship Type="http://schemas.openxmlformats.org/officeDocument/2006/relationships/notesSlide" Target="/ppt/notesSlides/notesSlide31.xml" Id="R0bfed0d1891349e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c89451d6c4c10" /><Relationship Type="http://schemas.openxmlformats.org/officeDocument/2006/relationships/notesSlide" Target="/ppt/notesSlides/notesSlide32.xml" Id="R75ece6ae68ce4f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80230fad64704" /><Relationship Type="http://schemas.openxmlformats.org/officeDocument/2006/relationships/notesSlide" Target="/ppt/notesSlides/notesSlide33.xml" Id="R26162145347b4a4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81145ab8a4eb9" /><Relationship Type="http://schemas.openxmlformats.org/officeDocument/2006/relationships/notesSlide" Target="/ppt/notesSlides/notesSlide34.xml" Id="Re849718e92094b1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ecb9e54f04cda" /><Relationship Type="http://schemas.openxmlformats.org/officeDocument/2006/relationships/notesSlide" Target="/ppt/notesSlides/notesSlide35.xml" Id="R052698659ab143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55c131de544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5C7210-15BC-4185-B48D-9096D3D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Power Automate</a:t>
            </a:r>
          </a:p>
          <a:p xmlns:a="http://schemas.openxmlformats.org/drawingml/2006/main">
            <a:pPr>
              <a:defRPr sz="4350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สำหรับผู้นำ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C0FD1EE-FECC-4F1A-9745-F2446BD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Strategic Automation Leadership</a:t>
            </a:r>
          </a:p>
        </p:txBody>
      </p:sp>
      <p:sp>
        <p:nvSpPr>
          <p:cNvPr id="4" name="edition">
            <a:extLst xmlns:a="http://schemas.openxmlformats.org/drawingml/2006/main">
              <a:ext uri="{FF2B5EF4-FFF2-40B4-BE49-F238E27FC236}">
                <a16:creationId xmlns:a16="http://schemas.microsoft.com/office/drawing/2014/main" id="{88E7EB2F-E6DE-4C68-836E-F415DAAA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คู่มือเวิร์กช็อปสำหรับผู้นำ</a:t>
            </a:r>
          </a:p>
        </p:txBody>
      </p:sp>
      <p:sp>
        <p:nvSpPr>
          <p:cNvPr id="5" name="time">
            <a:extLst xmlns:a="http://schemas.openxmlformats.org/drawingml/2006/main">
              <a:ext uri="{FF2B5EF4-FFF2-40B4-BE49-F238E27FC236}">
                <a16:creationId xmlns:a16="http://schemas.microsoft.com/office/drawing/2014/main" id="{30FC9AE5-F960-492F-815A-59B97FFD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09:00–16:00</a:t>
            </a:r>
          </a:p>
        </p:txBody>
      </p:sp>
    </p:spTree>
    <p:extLst>
      <p:ext uri="{BB962C8B-B14F-4D97-AF65-F5344CB8AC3E}">
        <p14:creationId xmlns:p14="http://schemas.microsoft.com/office/powerpoint/2010/main" val="1668167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A5FCC291-D2B7-4CB9-A6F0-055AAB27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09:05–09:10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AB9EC9-E0D9-4CA6-A3E6-5007F02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ผลงานปลายวัน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DC72A2D-7116-4D0C-8B5D-8ADCF25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หนึ่งโอกาสที่มีเหตุผลรองรับ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1BC21C6F-512B-40EF-8BD0-1D525AED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Workflow Blueprint ที่เห็นบทบาทและข้อยกเว้น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37B08F95-E166-4032-B06A-ACA2A93E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Handover Card สำหรับคุยกับทีมต่อ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0F6450B-2D1F-46AF-A0F5-52CA772B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4B47D2E-21B9-42CE-9906-A5A83D23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52833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1E620361-3998-4B24-964B-70B9249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09:10–09:15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DC19A0-3166-42FA-9C17-FCC7F3AA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Demystifying Power Automate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909B92E-0D93-4733-9C5F-217F9E8F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ทำงานตามขั้นตอนและกติกาที่กำหนด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460BAEFA-D666-4B64-BBEA-7C1146F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เริ่มจากเหตุการณ์ การสั่งเริ่ม หรือเวลาที่ตั้งไว้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C431D2B4-687E-4D29-9C5D-A1E3D368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เชื่อมงานผ่านบริการที่รองรับและสิทธิ์ที่มี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EAA9814-B044-4EC4-A984-8B16E3C3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D64655C-9E4D-45F0-B52D-69D0C9C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3936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533F4397-2537-4DCB-A1CE-1426E82A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09:15–09:20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E0EEC0-B7DA-4FBA-8BC0-E5737E28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เหมือนครัวที่มีสูตรชัดเจน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1C371AC-D687-4497-B9BF-5CE5FDD8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มีรายการอาหารเข้ามา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29D9D707-01D7-4222-A9B4-2797E7F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ทำตามขั้นตอนที่ตกลงไว้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84387465-1DAF-4E10-BA7A-5B3636C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กรณีแพ้อาหารยังต้องมีคนตรวจ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F0ABBA-8179-4C30-84E1-02D6545C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DA507CD-2C38-4983-88C4-86B95E5E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7953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0392293D-1D93-4333-A7FE-7389DD1A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09:20–09:25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B2B68F-E4B9-47DC-8227-B7E35D65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งานที่ระบบช่วยได้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DCBF0B7-5D1D-47C3-9668-9EFB7CF9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ส่งต่อคำขอให้ผู้รับผิดชอบ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0D3CBFC4-0485-4168-ABAE-6DB2B7E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แจ้งเตือนตามเงื่อนไขที่ตกลง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CE2B9FB7-6FAA-4882-9CB3-C3B34D0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อัปเดตหรือส่งข้อมูลผ่านบริการที่รองรับ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5E659D4-E664-4B9E-AB61-497C6B61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03809E7-DE19-4675-B1B3-4B6D284F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52304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C43F2072-53CB-4F6B-9FC6-D12514BF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09:25–09:30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D4BD18-FAE8-43F8-8C2A-A6FBA27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ขอบเขตที่ผู้นำต้องเข้าใจ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5AED895A-0D92-461C-9437-55B57FB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ระบบต้องมีกติกาและข้อมูลที่ใช้ได้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88EF2EFE-0879-4191-B9AC-011BB0BC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การส่งคำขออนุมัติยังต้องรอคนตัดสินใจ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F6543600-ACEA-49B6-82D2-EC4B755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สิทธิ์ การเชื่อมต่อ และข้อยกเว้นต้องตรวจ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C1F9929-5D97-4B2A-84A0-EF57B201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F54191B-A82A-4680-B90A-20DF2A81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4929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9FC439B3-02A0-4A72-8EC2-B8BBEC9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09:30–09:35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621C52-C856-40D7-8242-97F1E29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เรื่องสมมติ: คำขอจัดอบรม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2137B567-0F6A-4E80-AEBD-56FA7DC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ผู้ขอส่งหัวข้อ วันที่ จำนวนคน และเหตุผล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486FBA4B-B4C0-4B1E-B44D-C4FF06CA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ผู้ประสานงานตรวจและส่งให้ผู้จัดการ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D2A02FC3-90CF-4FC6-93A4-42C05E06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ผู้ประสานงานแจ้งผลกลับผู้ขอ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128D0C0-2E98-4079-A209-051AADDD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01  ·  power-automate-leadership-workshop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33C3E128-A44D-4F34-8CA3-4A305EFD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37979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6D238CEB-0E67-470F-9532-7E2DE0D3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09:35–09:50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6748C26-CD63-4AFE-BD79-71216907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ก่อนและหลังมีระบบช่วย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C3853793-47F0-43CB-A679-9D11E78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D35C860B-2890-4D7D-AB09-3B022E06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เลือกหนึ่งขั้นตอนที่ซ้ำหรือรอ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E7B48B47-C8A8-4104-BBBA-36B4FCA2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3F5696E1-CC84-4B45-92A3-54BE0395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อธิบายว่าระบบจะช่วยตรงไหน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5637BEA4-2DFA-4A83-ADA5-71490E1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26C3A3F6-B508-45B8-8E29-47FF84B2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ระบุคนที่ยังต้องตัดสินใจและตรวจผล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4410A36-1E2A-4C9B-A70E-0325DECB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01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0F451192-2D0F-426F-864D-86A8B96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7765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DABE8DBA-E70F-4C81-B736-185A709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09:50–10:10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E550EB-504F-4E4F-B1EB-2B3B4F59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บัตรสถานการณ์ A–F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83FC534D-4C03-49EF-ACCD-850AE63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6441041B-4373-4305-A795-A42CB7F0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ระบบช่วยตามกติกาได้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A5241D5C-1659-4F07-8AB9-3A7E3BA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FE8582C9-8473-4ABB-B1A7-727F906D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ต้องมีคนตัดสินใจ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CB2108EC-49BA-4F27-ABA0-663964CD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F2B90C55-D4B9-4FB6-9DA4-F7F3536A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ต้องตรวจข้อมูลเพิ่มก่อน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F5F6FB0-0C5D-4C56-8467-80946E5D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01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95EDE7D4-4EBB-4729-8AA0-BEED15A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4504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5ED9133D-0EE3-47AD-84E6-86B7EED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1   10:10–10:25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6C4062-475C-4175-B2D7-C4F8F237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คำถามจากกลุ่ม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9A2098E-83FE-4CC0-865C-EC79EE9B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ระบบช่วยงานส่วนใดได้แน่ในแนวคิดนี้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19A52A82-6F6C-4083-A54C-87A453D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ข้อมูลหรือกติกาใดยังไม่ชัด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9F3ECDE3-8273-47FE-B63A-5EF55E94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เรื่องใดต้องถามเจ้าของงานหรือ IT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AE6F081-9644-4E4D-BC68-1899F58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722A55C5-2227-40E3-8A52-64F80F94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4766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F4E7982A-B6F4-4F6E-A06F-039A953E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SECTION 1   10:25–10:30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12318F-4DAF-427B-B9D4-01633C73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สรุป Section 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C2C65E6-12B5-4994-8D3C-41B7F736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ระบบช่วยทำงานซ้ำตามกติกา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8A3F1812-C10F-4388-9BAC-C970C0B1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คนยังรับผิดชอบการตัดสินใจ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B8936384-81B6-452D-BE64-0734FA7A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หลังพัก: ตรวจความเข้าใจด้วยสถานการณ์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421D67D-C02B-4E7E-A1BD-E87D008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9A4F143-5236-4194-9AC7-71897AB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72116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BFD9857C-9FB0-45E4-8888-80FF2B3D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2   10:45–11:00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6FCD1C-1808-43F1-BDB4-1C61BFAF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Knowledge-check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C341CFEF-488F-4705-A0D0-B2A39477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5328CC1D-B331-420F-A70E-7523F5F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งานซ้ำกับข้อยกเว้นที่ไม่มีกติกา เริ่มสำรวจอะไร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1029613F-C5F5-4B60-A4B3-6FD85FF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5DB334C-C2B8-454B-9B00-02D1584B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แจ้งเตือนได้แล้ว ความล่าช้าจบหรือยัง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9BE05823-788E-4625-90C2-CAFDBB2B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3509716D-C3A7-4A37-8D5F-78929AB4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ยังไม่รู้ว่าเชื่อมต่อได้ ควรถามอะไร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61AE651-FB8C-464D-8522-FDA951F8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01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0C67894E-FB55-40EF-BD14-7B6A33F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68745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A17749F0-A8A9-409B-BF79-ED080EDA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2   11:00–11:05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A2F9D1-344D-494D-B31B-69B76D9E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สิ่งที่รู้และสิ่งที่ต้องตรวจ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EEC1C7F-CFB6-4568-936A-2BF3013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งานมีกติกาชัดเริ่มสำรวจได้ง่ายกว่า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C2C3B528-8C9C-4797-A779-2C4F7A2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การติดตามช่วยให้เห็นสถานะ แต่ไม่แทนการตัดสินใจ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D661A6D9-31BD-4A8E-BC93-C577F33D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ความพร้อมต้องมีข้อมูลและผู้รับผิดชอบยืนยัน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EFA2098-9BE4-431D-8BF3-7532B669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64EA9C39-DDF0-48DF-8255-3E883D42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51439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1AA21DE0-5983-4A35-802D-C90790F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SECTION 2   11:05–11:15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123CF0-3F07-4599-931D-292632AA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Unlocking Operational Bottlenecks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E0C8684-1BD8-4521-8458-1AA329FC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เริ่มจากงานที่คนทำอยู่จริง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5D08AC31-98D7-4955-A26A-9659D6F4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เห็นทั้งการส่งต่อและการรอ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DA2EDDFB-EFF4-42BA-893A-A6AF4DDB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เชื่อม pain point กับความสามารถที่เกี่ยวข้อง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32F5E4B-4EDB-410C-9F9C-205855E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AA590498-69D7-4D8D-AD87-672548E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633118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5100C0E3-EC81-4220-83C3-A725F4B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2   11:15–11:30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5A489D-1E78-44A2-84A6-EE30D799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แผนที่งานปัจจุบัน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90C0CA60-6031-4574-8CA8-003DE7A0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56723EC1-EB18-4AD8-89A5-4670D1D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กำหนดจุดเริ่มและจุดจบ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062A16E5-D1B2-4152-BA99-BD2B4640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94C827F5-8025-4524-93C9-D29BE3D2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เรียง 5–8 ขั้นตอน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880DF079-9A5C-4D25-B1F7-5309E9D0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ACA41426-FC90-40FA-AD67-9F8782B0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ใส่ผู้รับผิดชอบและข้อมูลที่ส่งต่อ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4FBC040-67A8-414D-AEB9-570924AA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02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ECA60719-68FB-4AAA-BE74-063B48F4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021785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C28576D6-9F99-4A43-BF4B-EA25634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2   11:30–11:50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CF6235-7AAD-4C01-A582-3A06A46D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จุดที่งานติดขัด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CE06E4A2-8199-4F98-9234-3D55099E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49B39DD0-8690-4C59-95CC-F5B9CA5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ซ้ำ / รอ / ข้อมูลขาด / เจ้าของไม่ชัด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AC67C41F-806A-4FBD-9E6B-758475F9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3DC2C3E-039B-4ADB-8583-07352703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เกิดกับใคร และกระทบงานอย่างไร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103FE0C4-6C1A-457E-8C9B-A957E9A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3A4FAE65-FC90-4ED2-9FF8-C45BC09B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แยกหลักฐานออกจากสิ่งที่คาดเดา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F83D5B5-E545-4328-BBB4-A77F1C70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02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15EDB37A-40B3-4E6B-9055-FE462A09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52411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22F49BEF-D4BD-4CD7-8DA3-7096506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2   11:50–11:55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25FE89-9BA8-4236-A8E7-95995BB5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สามเรื่องสำหรับเปรียบเทียบ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5D714419-86CE-4532-A91C-B7290082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E3721576-E02E-4748-B7AD-CFF461AD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ตั้งชื่อแต่ละปัญหาให้ชี้ตำแหน่งบนแผนที่ได้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7DB9824B-1AA5-4390-8DBA-259D46D9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ABA1D3B0-8B97-46BA-B6B8-1B6A99DB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บันทึก A B C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FBFF743A-7031-45FB-9FBD-1513FBB0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FCB3CFDA-5452-4BAF-82A8-78E27939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เก็บคำถามที่ยังต้องหาข้อมูลเพิ่ม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964D1E4-4C68-4D0E-A1A9-C8B0D810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02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A9892789-F4D7-4AAF-B9EB-D17C333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511564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242BA05F-BE5D-4E24-B962-4558C2C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SECTION 2   11:55–12:00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D8461E-383B-47ED-8722-D3CB1848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สรุป Section 2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A04032B-4E25-4409-92EA-74EF869A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มีแผนที่กระบวนการปัจจุบัน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F04BC41D-C636-4375-BBF6-3DF7A735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มีสาม pain point พร้อมเหตุผล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FB4954CF-5ED9-479B-9451-E303F4C1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หลังอาหารกลางวัน: เลือกหนึ่งโอกาส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625E535-12B2-4119-9772-CED0C86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E211D5E-BBB7-4A03-BEA8-A141CD34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026712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1019ED38-EE76-44F5-9387-A44D8A1A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13:00–13:10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DD0334-9575-4F94-9F2F-D37486D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เกณฑ์เลือกโอกาส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D7DD131-6D3F-4381-BF00-7760DCAD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ผลกระทบต่อผลงานของทีม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C601DE74-EFE3-4DB0-80B3-5F7D8DD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ความถี่หรือปริมาณงาน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81FB2019-37C7-4D3B-A1FE-D0463238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ความพร้อมของกติกา ข้อมูล และเจ้าของ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6851DD3-2C73-40CB-BA91-C255B5B7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CE5E8450-1935-4180-880D-1388292E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035241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485554C7-9606-4681-A9A8-4505E5C1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13:10–13:30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9622429-51A8-4F40-B14A-95BC1EE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คะแนนที่มีเหตุผลรองรับ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88605858-7BDB-4B7E-AA75-A9B521D0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FCEDF05E-0C46-46CE-8D18-07672820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เปรียบเทียบ A B C ด้วยเกณฑ์เดียวกัน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EAC15407-DB8A-4A29-B37A-BF4506D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B086D0EF-712E-4FD9-8E48-7F30AE59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ใช้หลักฐานประกอบคะแนน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D999B65E-513A-4F24-B785-2E5A325A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CA825DD-2359-4AAA-8E09-29056A21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บันทึกสิ่งที่ยังไม่รู้ไว้ข้างคะแนน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461216A-4B78-4E1B-BAEB-C97913E3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03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7DFFD6D2-F1A6-4E05-978B-CC0EFA0E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381095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B427BACE-FF50-4A52-BFDB-EEDC9388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13:30–13:40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89BCAB-3DD4-40A5-9464-3B25826D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หนึ่งโอกาสที่เริ่มเล็กพอ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6CBF3E49-5078-47E1-ADF2-493B59F2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DF65E61D-7300-480A-8E47-0B2F4948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เริ่มที่ขั้นตอนไหน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5F233B54-D6FD-42BA-B4F8-D49F9152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72A96686-6E3D-4B59-88C1-23BF898A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จบที่ผลลัพธ์อะไร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DCAF0713-AD75-43CD-969B-B4A45FF8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C525BF41-6D86-451C-AC54-2A09B286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ใครเป็นเจ้าของและต้องตรวจอะไรเพิ่ม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6005585-F63C-43F3-A075-E256A8F5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03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CE55A469-3927-4D9A-9177-9F748CD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472912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922576EC-ED63-4FAE-84E4-08976203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13:40–13:50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6B5594-E193-4450-B0B5-697E9575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เพื่อนช่วยตรวจขอบเขต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B144AF29-D926-47E6-A7F6-83EDF33F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81B7426F-3DAF-4666-9FB0-DAC0FF43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ทำไมเรื่องนี้ควรเริ่มก่อน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19759F9D-C199-4D12-A40B-752C2BF8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1B79071-C083-4CA9-BA42-0B449B93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ขอบเขตเล็กพอหรือยัง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3A671AA9-1FAD-4159-B289-DD20100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CE833FF5-0119-41E8-AA62-FCB89AE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หลักฐานใดหรือคนใดที่ยังขาด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6D12343-B023-4314-979B-946D3950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03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2BF601A0-7BCC-4510-A6D6-B495B66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354397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A86B4B18-4C18-4291-9CF5-5E9BA5F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13:50–13:55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530030-5469-4569-9A8C-39A37726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ข้อสรุปเรื่อง bottleneck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E0ECF52-BE99-4062-BB71-EEE7332D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เลือกหนึ่งเรื่องด้วยหลักฐาน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A4DFDE3A-C7FB-47CE-9ED0-A6658BC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มีขอบเขตและเจ้าของ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A77DEC80-E91D-441D-844B-CEC2F0F1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นำเรื่องเดิมไปสร้าง Blueprint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4E8C13-3B2F-415E-9D5D-0AD80DD9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77F2F6A-F195-4835-B384-6CBB9B6F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92683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4181A424-D45B-450A-AECF-B050056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13:55–14:00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80F9D2-CEFA-46DD-BD63-C0F6B51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Strategic Workflow Blueprinting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428C24D-263F-4679-8CBB-F4E00A6C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Trigger คือเหตุการณ์เริ่มงาน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62309875-3A72-4142-BC96-6E7488A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เช่น รับคำขอ ผู้ใช้สั่งเริ่ม หรือถึงเวลาที่ตั้งไว้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E3BD8C1E-3D12-4033-8448-C75F288E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ระบุจุดเริ่มและผลลัพธ์ให้ตรวจได้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96A3DB8-4175-4DA7-B1F6-0C5734AE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52D671F-4DCE-421E-BC91-4DF49AD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777272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A7A29D04-8FFE-422C-98D1-F8B7A899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14:00–14:05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ACEEA7-517C-44D7-B28D-4D98B4AA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Action และ Connector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AE272C5-AB76-42A2-86E3-F85E71D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Action คือขั้นตอนที่ Flow ทำ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C2C2FFDB-052C-495B-98A7-DE31B40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Connector ช่วยติดต่อบริการที่รองรับ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C09E3303-ECA9-44FC-9457-C6C23E27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สิทธิ์และข้อมูลต้องพร้อมสำหรับขั้นตอนนั้น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7A81942-177A-44D1-B9BB-288D8C67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2E46EE77-B731-4C09-BCE7-97A91E36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700514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7CC05C8E-89B2-4231-9D89-FDBD568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14:05–14:10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B5BFF4-2C1F-44A6-AF54-58400E6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Condition และการพิจารณาของคน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F7FF52F-FA17-4CA6-ACE1-F0ED9AC9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ข้อมูลครบหรือไม่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B0B15DE2-4063-43F2-B39C-BA796702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ครบ: ส่งพิจารณา / ไม่ครบ: ขอข้อมูลเพิ่ม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28FB3053-4BC7-489C-92AC-CB002FF0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ผลอนุมัติมาจากผู้รับผิดชอบ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7EFC1F4-03FE-4898-A37D-B572ADA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CAE0C1C-8071-453D-9401-FCCDA98C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898049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0D3CA57-E180-4276-A739-C241019F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3   14:10–14:25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78DD38-3037-4659-B92D-46050FA4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จุดเริ่มของ Blueprint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B4A2F6DC-7096-41C8-A476-9305C6A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4D74A214-575A-4786-B0F3-116BC293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เมื่อ...เกิดขึ้น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743AFB47-F126-4363-A6A4-122B217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3A25D148-6A5A-4173-8EA5-346EA8D7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ต้องการให้...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33B125E0-A153-4C33-B779-5928D3A1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6B41FAA0-64BE-48BF-9E73-024573BA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เพื่อให้ได้ผลลัพธ์...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459A4BD-3806-48BB-A07F-1EA3809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04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1DAD36F1-86AE-43F3-B124-B22BAF7E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989701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342BC434-38CD-4E1B-AB0A-8A85E30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SECTION 3   14:25–14:30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77A24F-17AF-48B7-8425-4E70099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สรุป Section 3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1A9DC6F2-2AE2-4A7D-8468-1EBE913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มีโอกาสเดียวที่กลุ่มเลือก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BB8A98E9-18D5-4B44-A518-097A81D3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มี Trigger และผลลัพธ์ปลายทาง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06497AEA-27AF-40ED-8DE1-42A00E94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หลังพัก: เติมขั้นตอนและข้อยกเว้น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9D7087E-1CC8-40E2-A61B-230CD1DA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9CD634A-8199-4402-B31B-882FE4E0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958762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375AFA2F-FFED-42B9-8BD6-A855C538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4   14:45–15:10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4D4D18-B9B4-460E-9A3D-718BACAD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Workflow Blueprint ของกลุ่ม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55F7440A-36B8-4E54-9573-382F6029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7FF9EBD2-D93F-4F0C-B3F3-B3F00F9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เรียงขั้นตอนและกำกับคนหรือระบบ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AF736F58-9E4A-4709-803B-1BEF8191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5E240AF1-BDA3-4E29-A3AD-14EA866E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ใส่ Condition พร้อมทาง Yes และ No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654EE744-7E81-4EFE-A11B-A12913C7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F38E3834-BCF2-44D5-818F-0A134F8F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ระบุคนดูแลงานที่ข้อมูลขาดหรือค้าง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FAFF351-8A13-4D39-BDC5-E56C78AC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04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FC005255-AD31-4DDD-BF26-393134A7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140223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11D19A2C-A316-4595-A43B-6181D70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4   15:10–15:30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579321-9584-48A8-A25E-0ECA03A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เดินทดสอบสองกรณี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59B6C257-0B4F-49AF-BA5A-A1423B39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FA369FF8-BB54-4B97-802D-66C1BC58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กรณีปกติ: ไปถึงผลลัพธ์ที่ตั้งใจหรือไม่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04AD40C1-E124-441A-AAC0-050A3DF0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3975ACD-9D44-4BD5-884F-CDA4702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ข้อยกเว้น: ใครรับช่วงเมื่อไปต่อไม่ได้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A73FDC2A-86B9-403B-BFBF-67B74DD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D6F8C129-1482-44FC-89F5-86DC695A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แก้ภาพและเดินกรณีเดิมอีกครั้ง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7D542FE-1912-491E-A1FC-F8747CA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04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33F4226E-650F-46CD-A716-4756554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317273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EA961687-580F-4E56-8D3B-F123C513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4   15:30–15:35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B3DC50-E651-49EB-BA65-47278A5F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ประโยชน์ที่คาดกับผลที่วัด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D8B0104-383B-4972-93B3-35D6E126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ตัวอย่างสมมติ: 60 คำขอต่อเดือน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B2123EA0-0C0A-42B1-87FD-43714F63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เดิม 8 นาที ใหม่ 3 + ตรวจ 2 = 5 นาที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41C6D47C-3825-416B-872F-ED3CE3EB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เวลาที่อาจลดได้: 60 × (8 − 5) = 180 นาที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9CBCC5C-E82E-4A57-9F4B-5FDAC324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C8FD2AE-1711-4D7B-9654-35C5E3FA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296104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42469777-3677-4FC5-8466-7885A417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4   15:35–15:40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E34FF9-0654-4C32-B876-5A4898CE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Handover Card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690CC741-F96D-4F82-B7A0-AD1A0856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B46572BB-89AE-4329-AE4B-AC15B66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เจ้าของงานและทีมที่ต้องปรึกษา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30490337-745D-4678-B473-4727D34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5EEC412E-0EB9-4689-8A5D-9C79EF84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ตัวชี้วัด วิธีตรวจผล และขอบเขตทดลอง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BC448658-4698-438E-A2C6-5CA5A910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F0515E51-BD87-4045-8FE0-A07F1A3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การตัดสินใจถัดไปพร้อมผู้รับผิดชอบ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2F94DAE-3324-4CDF-B651-0CBD23F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05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3FF706CD-159C-4992-A84B-C00DD816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881363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8F5F71D6-5081-4A89-98E8-3336695E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4   15:40–15:50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A857A8-6126-4929-A08B-1708EE42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เล่า Blueprint ให้เพื่อนฟัง</a:t>
            </a:r>
          </a:p>
        </p:txBody>
      </p:sp>
      <p:sp>
        <p:nvSpPr>
          <p:cNvPr id="3" name="number-0">
            <a:extLst xmlns:a="http://schemas.openxmlformats.org/drawingml/2006/main">
              <a:ext uri="{FF2B5EF4-FFF2-40B4-BE49-F238E27FC236}">
                <a16:creationId xmlns:a16="http://schemas.microsoft.com/office/drawing/2014/main" id="{5538734A-202A-41D4-8334-494204A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F889CFC5-C5A8-40BA-98AF-2D12009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ปัญหาและเหตุผลที่เลือก</a:t>
            </a:r>
          </a:p>
        </p:txBody>
      </p:sp>
      <p:sp>
        <p:nvSpPr>
          <p:cNvPr id="5" name="number-1">
            <a:extLst xmlns:a="http://schemas.openxmlformats.org/drawingml/2006/main">
              <a:ext uri="{FF2B5EF4-FFF2-40B4-BE49-F238E27FC236}">
                <a16:creationId xmlns:a16="http://schemas.microsoft.com/office/drawing/2014/main" id="{3AEAE170-D95D-4006-858B-BBA33CC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C2EB19AF-57EB-488F-8C6D-DA8D6EF7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4807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วิธีทำงานใหม่และคนที่รับผิดชอบ</a:t>
            </a:r>
          </a:p>
        </p:txBody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FA1DDB40-09BE-407C-910C-388B51B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BA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4FBA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B03EC088-A304-48B1-9965-DE2B5B0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81525"/>
            <a:ext cx="984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เรื่องที่ต้องตัดสินใจก่อนทดลอง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AE23BE6-F0AF-46B1-B15E-6F52588C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Exercise 05  ·  power-automate-leadership-workshop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E420C8EF-4FC4-4A97-885D-B8221EB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020303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EE175A44-49A8-46AE-80C5-F3FEC6C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SECTION 4   15:50–15:55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C9F397-9A0E-4567-9900-69924F15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D50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02D50"/>
                </a:solidFill>
                <a:latin typeface="Tahoma"/>
                <a:ea typeface="Tahoma"/>
                <a:cs typeface="Tahoma"/>
              </a:rPr>
              <a:t>บทเรียนที่นำกลับไปใช้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5014D9E-C971-49B9-8005-199A538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สิ่งที่เพื่อนถามแล้วทำให้ภาพชัดขึ้น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33E3517D-FF4A-466D-8E2A-A523F3CA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ข้อยกเว้นที่เราเกือบมองข้าม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D1AAF633-BA6C-4F4C-8720-D71FF416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24B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18324B"/>
                </a:solidFill>
                <a:latin typeface="Tahoma"/>
                <a:ea typeface="Tahoma"/>
                <a:cs typeface="Tahoma"/>
              </a:rPr>
              <a:t>เรื่องที่จะคุยกับทีมเป็นอันดับแรก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225F83E-2E50-48F5-98E6-9621E9FB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9274A68-DED8-4DD2-8ED4-76067721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B80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36B80"/>
                </a:solidFill>
                <a:latin typeface="Tahoma"/>
                <a:ea typeface="Tahoma"/>
                <a:cs typeface="Tahoma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0324159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6A6FD8A9-DE06-4239-A733-3283233D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SECTION 4   15:55–16:00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965EE-2DDC-4CB8-A0CE-778E6B91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สรุปและก้าวถัดไป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56E739A-F6E7-4903-A943-F45C6841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เข้าใจว่า Power Automate ช่วยตรงไหน</a:t>
            </a:r>
          </a:p>
        </p:txBody>
      </p:sp>
      <p:sp>
        <p:nvSpPr>
          <p:cNvPr id="4" name="body-1">
            <a:extLst xmlns:a="http://schemas.openxmlformats.org/drawingml/2006/main">
              <a:ext uri="{FF2B5EF4-FFF2-40B4-BE49-F238E27FC236}">
                <a16:creationId xmlns:a16="http://schemas.microsoft.com/office/drawing/2014/main" id="{FAC4BC12-D72F-4AD1-9F78-813DFA33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เลือก bottleneck ที่ควรเริ่มก่อน</a:t>
            </a:r>
          </a:p>
        </p:txBody>
      </p:sp>
      <p:sp>
        <p:nvSpPr>
          <p:cNvPr id="5" name="body-2">
            <a:extLst xmlns:a="http://schemas.openxmlformats.org/drawingml/2006/main">
              <a:ext uri="{FF2B5EF4-FFF2-40B4-BE49-F238E27FC236}">
                <a16:creationId xmlns:a16="http://schemas.microsoft.com/office/drawing/2014/main" id="{9ABD3665-AE7D-46A2-A362-113BF72B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มี Blueprint สำหรับหารือกับทีม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53E7141-84B7-4E0A-A93E-548EE870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Power Automate · Strategic Automation Leadership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04908C28-01E9-4549-8F8A-6F6FFA77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BCAE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ABCAE8"/>
                </a:solidFill>
                <a:latin typeface="Tahoma"/>
                <a:ea typeface="Tahoma"/>
                <a:cs typeface="Tahoma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54948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2026-09-15T09:15:42.7420000Z</dcterms:created>
  <dcterms:modified xsi:type="dcterms:W3CDTF">2026-09-15T09:15:42.7420000Z</dcterms:modified>
</coreProperties>
</file>
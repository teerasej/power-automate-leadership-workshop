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cc349f2461435a" /><Relationship Type="http://schemas.openxmlformats.org/officeDocument/2006/relationships/extended-properties" Target="/docProps/app.xml" Id="Rb5276fcf286045cb" /><Relationship Type="http://schemas.openxmlformats.org/officeDocument/2006/relationships/officeDocument" Target="/ppt/presentation.xml" Id="R2585bb4d2905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4e91c9d00a451c"/>
  </p:sldMasterIdLst>
  <p:notesMasterIdLst>
    <p:notesMasterId xmlns:r="http://schemas.openxmlformats.org/officeDocument/2006/relationships" r:id="R4fd0d4350a5545ba"/>
  </p:notesMasterIdLst>
  <p:sldIdLst>
    <p:sldId xmlns:r="http://schemas.openxmlformats.org/officeDocument/2006/relationships" id="256" r:id="R8a89ccfcd4c64f42"/>
    <p:sldId xmlns:r="http://schemas.openxmlformats.org/officeDocument/2006/relationships" id="257" r:id="R68b83241591c415e"/>
    <p:sldId xmlns:r="http://schemas.openxmlformats.org/officeDocument/2006/relationships" id="258" r:id="R0273a53c21034f6e"/>
    <p:sldId xmlns:r="http://schemas.openxmlformats.org/officeDocument/2006/relationships" id="259" r:id="R3052734c4f7f4fab"/>
    <p:sldId xmlns:r="http://schemas.openxmlformats.org/officeDocument/2006/relationships" id="260" r:id="R1abb7265118f4b30"/>
    <p:sldId xmlns:r="http://schemas.openxmlformats.org/officeDocument/2006/relationships" id="261" r:id="Rc19b86f7aa69454b"/>
    <p:sldId xmlns:r="http://schemas.openxmlformats.org/officeDocument/2006/relationships" id="262" r:id="Rf07b152873f74961"/>
    <p:sldId xmlns:r="http://schemas.openxmlformats.org/officeDocument/2006/relationships" id="263" r:id="R5f7fb5f3c0a44a73"/>
    <p:sldId xmlns:r="http://schemas.openxmlformats.org/officeDocument/2006/relationships" id="264" r:id="R625a33c61d2a454e"/>
    <p:sldId xmlns:r="http://schemas.openxmlformats.org/officeDocument/2006/relationships" id="265" r:id="R0d13ad7e0fe44c05"/>
    <p:sldId xmlns:r="http://schemas.openxmlformats.org/officeDocument/2006/relationships" id="266" r:id="R97e82c6ae4b64a53"/>
    <p:sldId xmlns:r="http://schemas.openxmlformats.org/officeDocument/2006/relationships" id="267" r:id="Rd207b72d21ed4e41"/>
    <p:sldId xmlns:r="http://schemas.openxmlformats.org/officeDocument/2006/relationships" id="268" r:id="R22b0889c655c43e5"/>
    <p:sldId xmlns:r="http://schemas.openxmlformats.org/officeDocument/2006/relationships" id="269" r:id="R3ef1a0a1f99845fd"/>
    <p:sldId xmlns:r="http://schemas.openxmlformats.org/officeDocument/2006/relationships" id="270" r:id="R64c4aaacd92049f1"/>
    <p:sldId xmlns:r="http://schemas.openxmlformats.org/officeDocument/2006/relationships" id="271" r:id="R0816d3a8b6fa4940"/>
    <p:sldId xmlns:r="http://schemas.openxmlformats.org/officeDocument/2006/relationships" id="272" r:id="Re57220f0fc6c427e"/>
    <p:sldId xmlns:r="http://schemas.openxmlformats.org/officeDocument/2006/relationships" id="273" r:id="R9ed154e662a64c09"/>
    <p:sldId xmlns:r="http://schemas.openxmlformats.org/officeDocument/2006/relationships" id="274" r:id="Rb3ac40d70a464572"/>
    <p:sldId xmlns:r="http://schemas.openxmlformats.org/officeDocument/2006/relationships" id="275" r:id="R9711126e5c644e2f"/>
    <p:sldId xmlns:r="http://schemas.openxmlformats.org/officeDocument/2006/relationships" id="276" r:id="Rd2abb99f27ff4a71"/>
    <p:sldId xmlns:r="http://schemas.openxmlformats.org/officeDocument/2006/relationships" id="277" r:id="R67f3ff7043ba4132"/>
    <p:sldId xmlns:r="http://schemas.openxmlformats.org/officeDocument/2006/relationships" id="278" r:id="Re76b2c8533d1453d"/>
    <p:sldId xmlns:r="http://schemas.openxmlformats.org/officeDocument/2006/relationships" id="279" r:id="R58d2404fea4348fe"/>
    <p:sldId xmlns:r="http://schemas.openxmlformats.org/officeDocument/2006/relationships" id="280" r:id="Rab22c91afabc4d4e"/>
    <p:sldId xmlns:r="http://schemas.openxmlformats.org/officeDocument/2006/relationships" id="281" r:id="Rb30c4b8e4796497f"/>
    <p:sldId xmlns:r="http://schemas.openxmlformats.org/officeDocument/2006/relationships" id="282" r:id="R82112dfc188849bb"/>
    <p:sldId xmlns:r="http://schemas.openxmlformats.org/officeDocument/2006/relationships" id="283" r:id="Rf8404ed3f8a448d2"/>
    <p:sldId xmlns:r="http://schemas.openxmlformats.org/officeDocument/2006/relationships" id="284" r:id="Rcebc8babaf534156"/>
    <p:sldId xmlns:r="http://schemas.openxmlformats.org/officeDocument/2006/relationships" id="285" r:id="R6f6357dce19e40e9"/>
    <p:sldId xmlns:r="http://schemas.openxmlformats.org/officeDocument/2006/relationships" id="286" r:id="R5ee0304fbe27459d"/>
    <p:sldId xmlns:r="http://schemas.openxmlformats.org/officeDocument/2006/relationships" id="287" r:id="R5ba99e6f20c44e5f"/>
    <p:sldId xmlns:r="http://schemas.openxmlformats.org/officeDocument/2006/relationships" id="288" r:id="Re5925aac634b4ba4"/>
    <p:sldId xmlns:r="http://schemas.openxmlformats.org/officeDocument/2006/relationships" id="289" r:id="R95df9b5df87e473b"/>
    <p:sldId xmlns:r="http://schemas.openxmlformats.org/officeDocument/2006/relationships" id="290" r:id="R0895ff7ca3aa4227"/>
    <p:sldId xmlns:r="http://schemas.openxmlformats.org/officeDocument/2006/relationships" id="291" r:id="R55d74f99bfce40c8"/>
    <p:sldId xmlns:r="http://schemas.openxmlformats.org/officeDocument/2006/relationships" id="292" r:id="R93c2e2dcf2294f70"/>
    <p:sldId xmlns:r="http://schemas.openxmlformats.org/officeDocument/2006/relationships" id="293" r:id="R4a88c835a3504af7"/>
    <p:sldId xmlns:r="http://schemas.openxmlformats.org/officeDocument/2006/relationships" id="294" r:id="Ra76ca7f8d6334d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b5d20db0e4d40" /><Relationship Type="http://schemas.openxmlformats.org/officeDocument/2006/relationships/slideMaster" Target="/ppt/slideMasters/slideMaster1.xml" Id="Rfd4e91c9d00a451c" /><Relationship Type="http://schemas.openxmlformats.org/officeDocument/2006/relationships/notesMaster" Target="/ppt/notesMasters/notesMaster1.xml" Id="R4fd0d4350a5545ba" /><Relationship Type="http://schemas.openxmlformats.org/officeDocument/2006/relationships/presProps" Target="/ppt/presProps.xml" Id="R15fee0de33c14ddd" /><Relationship Type="http://schemas.openxmlformats.org/officeDocument/2006/relationships/tableStyles" Target="/ppt/tableStyles.xml" Id="R174c90f753184a4e" /><Relationship Type="http://schemas.openxmlformats.org/officeDocument/2006/relationships/slide" Target="/ppt/slides/slide1.xml" Id="R8a89ccfcd4c64f42" /><Relationship Type="http://schemas.openxmlformats.org/officeDocument/2006/relationships/slide" Target="/ppt/slides/slide2.xml" Id="R68b83241591c415e" /><Relationship Type="http://schemas.openxmlformats.org/officeDocument/2006/relationships/slide" Target="/ppt/slides/slide3.xml" Id="R0273a53c21034f6e" /><Relationship Type="http://schemas.openxmlformats.org/officeDocument/2006/relationships/slide" Target="/ppt/slides/slide4.xml" Id="R3052734c4f7f4fab" /><Relationship Type="http://schemas.openxmlformats.org/officeDocument/2006/relationships/slide" Target="/ppt/slides/slide5.xml" Id="R1abb7265118f4b30" /><Relationship Type="http://schemas.openxmlformats.org/officeDocument/2006/relationships/slide" Target="/ppt/slides/slide6.xml" Id="Rc19b86f7aa69454b" /><Relationship Type="http://schemas.openxmlformats.org/officeDocument/2006/relationships/slide" Target="/ppt/slides/slide7.xml" Id="Rf07b152873f74961" /><Relationship Type="http://schemas.openxmlformats.org/officeDocument/2006/relationships/slide" Target="/ppt/slides/slide8.xml" Id="R5f7fb5f3c0a44a73" /><Relationship Type="http://schemas.openxmlformats.org/officeDocument/2006/relationships/slide" Target="/ppt/slides/slide9.xml" Id="R625a33c61d2a454e" /><Relationship Type="http://schemas.openxmlformats.org/officeDocument/2006/relationships/slide" Target="/ppt/slides/slide10.xml" Id="R0d13ad7e0fe44c05" /><Relationship Type="http://schemas.openxmlformats.org/officeDocument/2006/relationships/slide" Target="/ppt/slides/slide11.xml" Id="R97e82c6ae4b64a53" /><Relationship Type="http://schemas.openxmlformats.org/officeDocument/2006/relationships/slide" Target="/ppt/slides/slide12.xml" Id="Rd207b72d21ed4e41" /><Relationship Type="http://schemas.openxmlformats.org/officeDocument/2006/relationships/slide" Target="/ppt/slides/slide13.xml" Id="R22b0889c655c43e5" /><Relationship Type="http://schemas.openxmlformats.org/officeDocument/2006/relationships/slide" Target="/ppt/slides/slide14.xml" Id="R3ef1a0a1f99845fd" /><Relationship Type="http://schemas.openxmlformats.org/officeDocument/2006/relationships/slide" Target="/ppt/slides/slide15.xml" Id="R64c4aaacd92049f1" /><Relationship Type="http://schemas.openxmlformats.org/officeDocument/2006/relationships/slide" Target="/ppt/slides/slide16.xml" Id="R0816d3a8b6fa4940" /><Relationship Type="http://schemas.openxmlformats.org/officeDocument/2006/relationships/slide" Target="/ppt/slides/slide17.xml" Id="Re57220f0fc6c427e" /><Relationship Type="http://schemas.openxmlformats.org/officeDocument/2006/relationships/slide" Target="/ppt/slides/slide18.xml" Id="R9ed154e662a64c09" /><Relationship Type="http://schemas.openxmlformats.org/officeDocument/2006/relationships/slide" Target="/ppt/slides/slide19.xml" Id="Rb3ac40d70a464572" /><Relationship Type="http://schemas.openxmlformats.org/officeDocument/2006/relationships/slide" Target="/ppt/slides/slide20.xml" Id="R9711126e5c644e2f" /><Relationship Type="http://schemas.openxmlformats.org/officeDocument/2006/relationships/slide" Target="/ppt/slides/slide21.xml" Id="Rd2abb99f27ff4a71" /><Relationship Type="http://schemas.openxmlformats.org/officeDocument/2006/relationships/slide" Target="/ppt/slides/slide22.xml" Id="R67f3ff7043ba4132" /><Relationship Type="http://schemas.openxmlformats.org/officeDocument/2006/relationships/slide" Target="/ppt/slides/slide23.xml" Id="Re76b2c8533d1453d" /><Relationship Type="http://schemas.openxmlformats.org/officeDocument/2006/relationships/slide" Target="/ppt/slides/slide24.xml" Id="R58d2404fea4348fe" /><Relationship Type="http://schemas.openxmlformats.org/officeDocument/2006/relationships/slide" Target="/ppt/slides/slide25.xml" Id="Rab22c91afabc4d4e" /><Relationship Type="http://schemas.openxmlformats.org/officeDocument/2006/relationships/slide" Target="/ppt/slides/slide26.xml" Id="Rb30c4b8e4796497f" /><Relationship Type="http://schemas.openxmlformats.org/officeDocument/2006/relationships/slide" Target="/ppt/slides/slide27.xml" Id="R82112dfc188849bb" /><Relationship Type="http://schemas.openxmlformats.org/officeDocument/2006/relationships/slide" Target="/ppt/slides/slide28.xml" Id="Rf8404ed3f8a448d2" /><Relationship Type="http://schemas.openxmlformats.org/officeDocument/2006/relationships/slide" Target="/ppt/slides/slide29.xml" Id="Rcebc8babaf534156" /><Relationship Type="http://schemas.openxmlformats.org/officeDocument/2006/relationships/slide" Target="/ppt/slides/slide30.xml" Id="R6f6357dce19e40e9" /><Relationship Type="http://schemas.openxmlformats.org/officeDocument/2006/relationships/slide" Target="/ppt/slides/slide31.xml" Id="R5ee0304fbe27459d" /><Relationship Type="http://schemas.openxmlformats.org/officeDocument/2006/relationships/slide" Target="/ppt/slides/slide32.xml" Id="R5ba99e6f20c44e5f" /><Relationship Type="http://schemas.openxmlformats.org/officeDocument/2006/relationships/slide" Target="/ppt/slides/slide33.xml" Id="Re5925aac634b4ba4" /><Relationship Type="http://schemas.openxmlformats.org/officeDocument/2006/relationships/slide" Target="/ppt/slides/slide34.xml" Id="R95df9b5df87e473b" /><Relationship Type="http://schemas.openxmlformats.org/officeDocument/2006/relationships/slide" Target="/ppt/slides/slide35.xml" Id="R0895ff7ca3aa4227" /><Relationship Type="http://schemas.openxmlformats.org/officeDocument/2006/relationships/slide" Target="/ppt/slides/slide36.xml" Id="R55d74f99bfce40c8" /><Relationship Type="http://schemas.openxmlformats.org/officeDocument/2006/relationships/slide" Target="/ppt/slides/slide37.xml" Id="R93c2e2dcf2294f70" /><Relationship Type="http://schemas.openxmlformats.org/officeDocument/2006/relationships/slide" Target="/ppt/slides/slide38.xml" Id="R4a88c835a3504af7" /><Relationship Type="http://schemas.openxmlformats.org/officeDocument/2006/relationships/slide" Target="/ppt/slides/slide39.xml" Id="Ra76ca7f8d633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6570561f4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6ddb4f99b4764" /><Relationship Type="http://schemas.openxmlformats.org/officeDocument/2006/relationships/notesMaster" Target="/ppt/notesMasters/notesMaster1.xml" Id="R8b82c6eb0c18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5a386256764c9f" /><Relationship Type="http://schemas.openxmlformats.org/officeDocument/2006/relationships/notesMaster" Target="/ppt/notesMasters/notesMaster1.xml" Id="Raf0f5948f55a47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3674a574d84a1e" /><Relationship Type="http://schemas.openxmlformats.org/officeDocument/2006/relationships/notesMaster" Target="/ppt/notesMasters/notesMaster1.xml" Id="R72fb450a984442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f0634187da4481" /><Relationship Type="http://schemas.openxmlformats.org/officeDocument/2006/relationships/notesMaster" Target="/ppt/notesMasters/notesMaster1.xml" Id="Rd1ec05526569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eb5ebb4b6947d8" /><Relationship Type="http://schemas.openxmlformats.org/officeDocument/2006/relationships/notesMaster" Target="/ppt/notesMasters/notesMaster1.xml" Id="R8930a012911144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55d1a3a6724ece" /><Relationship Type="http://schemas.openxmlformats.org/officeDocument/2006/relationships/notesMaster" Target="/ppt/notesMasters/notesMaster1.xml" Id="R5ecf84b33c94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5171da70894f5a" /><Relationship Type="http://schemas.openxmlformats.org/officeDocument/2006/relationships/notesMaster" Target="/ppt/notesMasters/notesMaster1.xml" Id="Rbf5751a2bf384e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a0ac1d18dc46c2" /><Relationship Type="http://schemas.openxmlformats.org/officeDocument/2006/relationships/notesMaster" Target="/ppt/notesMasters/notesMaster1.xml" Id="Rea659a6cee1e42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bc1e2b53f74f4d" /><Relationship Type="http://schemas.openxmlformats.org/officeDocument/2006/relationships/notesMaster" Target="/ppt/notesMasters/notesMaster1.xml" Id="Rff62004d39f04d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567160565a4052" /><Relationship Type="http://schemas.openxmlformats.org/officeDocument/2006/relationships/notesMaster" Target="/ppt/notesMasters/notesMaster1.xml" Id="R04702483827947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eeba57628345c4" /><Relationship Type="http://schemas.openxmlformats.org/officeDocument/2006/relationships/notesMaster" Target="/ppt/notesMasters/notesMaster1.xml" Id="Rb822cf5e657740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988c4ba05d4f16" /><Relationship Type="http://schemas.openxmlformats.org/officeDocument/2006/relationships/notesMaster" Target="/ppt/notesMasters/notesMaster1.xml" Id="Rc1a1133d6e3a46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27f3209f244d51" /><Relationship Type="http://schemas.openxmlformats.org/officeDocument/2006/relationships/notesMaster" Target="/ppt/notesMasters/notesMaster1.xml" Id="R31508bec9a8d45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a26091aee24556" /><Relationship Type="http://schemas.openxmlformats.org/officeDocument/2006/relationships/notesMaster" Target="/ppt/notesMasters/notesMaster1.xml" Id="Rc849b4ed254a49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d374cc4ba44f80" /><Relationship Type="http://schemas.openxmlformats.org/officeDocument/2006/relationships/notesMaster" Target="/ppt/notesMasters/notesMaster1.xml" Id="Rae0fe66db7144c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521983d1a74535" /><Relationship Type="http://schemas.openxmlformats.org/officeDocument/2006/relationships/notesMaster" Target="/ppt/notesMasters/notesMaster1.xml" Id="R2f9ae20f4fa34c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b362da05944650" /><Relationship Type="http://schemas.openxmlformats.org/officeDocument/2006/relationships/notesMaster" Target="/ppt/notesMasters/notesMaster1.xml" Id="Re61272518ba848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ef1913356d4879" /><Relationship Type="http://schemas.openxmlformats.org/officeDocument/2006/relationships/notesMaster" Target="/ppt/notesMasters/notesMaster1.xml" Id="Rff6a4a0889a94a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69bcb0af0846ef" /><Relationship Type="http://schemas.openxmlformats.org/officeDocument/2006/relationships/notesMaster" Target="/ppt/notesMasters/notesMaster1.xml" Id="Rb5a99d28757144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b7a587d2934d92" /><Relationship Type="http://schemas.openxmlformats.org/officeDocument/2006/relationships/notesMaster" Target="/ppt/notesMasters/notesMaster1.xml" Id="R288b7c15c83746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b68a2aa3244ff4" /><Relationship Type="http://schemas.openxmlformats.org/officeDocument/2006/relationships/notesMaster" Target="/ppt/notesMasters/notesMaster1.xml" Id="Re780029a54d247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47cc2d100e4609" /><Relationship Type="http://schemas.openxmlformats.org/officeDocument/2006/relationships/notesMaster" Target="/ppt/notesMasters/notesMaster1.xml" Id="Rc5a38f2bd63a48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c85b07c8ba42d2" /><Relationship Type="http://schemas.openxmlformats.org/officeDocument/2006/relationships/notesMaster" Target="/ppt/notesMasters/notesMaster1.xml" Id="R07d2eba9606c475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0b81d4711c4a5b" /><Relationship Type="http://schemas.openxmlformats.org/officeDocument/2006/relationships/notesMaster" Target="/ppt/notesMasters/notesMaster1.xml" Id="Rc961a460eed745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1d03d23f594c15" /><Relationship Type="http://schemas.openxmlformats.org/officeDocument/2006/relationships/notesMaster" Target="/ppt/notesMasters/notesMaster1.xml" Id="Refbda82166a146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9a208afc334fd9" /><Relationship Type="http://schemas.openxmlformats.org/officeDocument/2006/relationships/notesMaster" Target="/ppt/notesMasters/notesMaster1.xml" Id="Rbf1a4b58376c4f1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4697c3e01949aa" /><Relationship Type="http://schemas.openxmlformats.org/officeDocument/2006/relationships/notesMaster" Target="/ppt/notesMasters/notesMaster1.xml" Id="R6322905ffba044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195ede445cf44a8" /><Relationship Type="http://schemas.openxmlformats.org/officeDocument/2006/relationships/notesMaster" Target="/ppt/notesMasters/notesMaster1.xml" Id="Rbb62bf73852b40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66ce2562ec44ed" /><Relationship Type="http://schemas.openxmlformats.org/officeDocument/2006/relationships/notesMaster" Target="/ppt/notesMasters/notesMaster1.xml" Id="Rd9493c84db63459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dd0a2adbd6400a" /><Relationship Type="http://schemas.openxmlformats.org/officeDocument/2006/relationships/notesMaster" Target="/ppt/notesMasters/notesMaster1.xml" Id="R707b16c10d64430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6e127c70a744cf9" /><Relationship Type="http://schemas.openxmlformats.org/officeDocument/2006/relationships/notesMaster" Target="/ppt/notesMasters/notesMaster1.xml" Id="R5edd61ec43064d1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b26389710594672" /><Relationship Type="http://schemas.openxmlformats.org/officeDocument/2006/relationships/notesMaster" Target="/ppt/notesMasters/notesMaster1.xml" Id="R78863561f9ad42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7434a067bf34da1" /><Relationship Type="http://schemas.openxmlformats.org/officeDocument/2006/relationships/notesMaster" Target="/ppt/notesMasters/notesMaster1.xml" Id="R8f437fefaae44a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54b17f86ea04e5e" /><Relationship Type="http://schemas.openxmlformats.org/officeDocument/2006/relationships/notesMaster" Target="/ppt/notesMasters/notesMaster1.xml" Id="Rb296a3653f104d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3fbade6d55b42a9" /><Relationship Type="http://schemas.openxmlformats.org/officeDocument/2006/relationships/notesMaster" Target="/ppt/notesMasters/notesMaster1.xml" Id="R809cd0374dc44b8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f6f1cd37c074028" /><Relationship Type="http://schemas.openxmlformats.org/officeDocument/2006/relationships/notesMaster" Target="/ppt/notesMasters/notesMaster1.xml" Id="R18da10593757482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40abd71cf9346e9" /><Relationship Type="http://schemas.openxmlformats.org/officeDocument/2006/relationships/notesMaster" Target="/ppt/notesMasters/notesMaster1.xml" Id="R6103af89228a489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d60dee928454b4d" /><Relationship Type="http://schemas.openxmlformats.org/officeDocument/2006/relationships/notesMaster" Target="/ppt/notesMasters/notesMaster1.xml" Id="Rb049e87741da45f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dc4eb6cd1524216" /><Relationship Type="http://schemas.openxmlformats.org/officeDocument/2006/relationships/notesMaster" Target="/ppt/notesMasters/notesMaster1.xml" Id="Red9526ab6b9948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09:00–09:05;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of one repetitive task. Work in groups of 4–6. Begin with discussion and paper design; use Copilot Chat only at the end, after the paper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Strategic Automation Leadership / Batch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Power Automate for leaders. Strategic Automation Leadership. Batch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09:05–09:10;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 available pre-survey findings to the day without exposing individual responses. If findings are unavailable, use the fictional training-request case. Carry one safe scenario through all five Exercises. The day contains three Modules, four Delivery blocks, five Exercises, and focused Practices.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One justified opportunity / A paper-tested Workflow Blueprint / A human-reviewed decision record / A Leadership Handover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Your end-of-day outputs. One justified opportunity. A paper-tested Workflow Blueprint. A human-reviewed decision record. A Leadership Handover Card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09:10–09:15;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Power Automate supports workflows across connected services. This workshop focuses on cloud-flow concepts. The proposed process still needs suitable data, permissions, connections, and responsible people.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A start event / Steps governed by agreed rules / An outcome that can be checked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Power Automate in everyday work. A start event. Steps governed by agreed rules. An outcome that can be checked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https://learn.microsoft.com/en-us/power-automate/triggers-introduction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09:15–09:17;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repeatable recipe helps coordinate work. An allergy exception needs a responsible person to check the details. Use the analogy to distinguish an agreed rule from business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Which tasks follow a recipe? / Which exceptions need a person?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A kitchen analogy. Which tasks follow a recipe?. Which exceptions need a person?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09:17–09:20;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AI-generated fictional kitchen image illustrates a chef checking an order before serving it. It is not a photograph of a real workshop. Connect this to checking missing information before routing a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Routine steps can follow rules / Exceptions need an accountable person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People check exceptions. Routine steps can follow rules. Exceptions need an accountable person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09:20–09:25;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examples of tasks available through suitable services and connectors. They do not prove that a particular organisation has enabled the required connections or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Route requests / Send notifications / Update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Common workflow tasks. Route requests. Send notifications. Update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https://learn.microsoft.com/en-us/power-automate/triggers-introduction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09:25–09:30;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this workshop, the manager retains the approval decision. Automation may route the request and communicate the decision once available. It does not replace the accountable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Systems carry out configured steps / People own business decisions / Verify access and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Rules and human judgement. Systems carry out configured steps. People own business decisions. Verify access and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09:30–09:35;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case pack. Show the complete case through the final requester notification. The seven-step process is fictional and supplies a rehearsal and fallback scenario, not a live tenant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Requester submits details / Coordinator checks and registers / Manager approves or rejects / Coordinator notifies requester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The fictional training request. Requester submits details. Coordinator checks and registers. Manager approves or rejects. Coordinator notifies requester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exercises/01-understand-automation/README.md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09:35–09:50;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1 Practice 1. Read the process, compare one step before and after proposed automation, then identify the decision owner and the output-check owner. Label benefits as expected, not measured.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Choose one repeated step / Describe the proposed change / Name the human decision owner / Name who checks the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Before and after. Choose one repeated step. Describe the proposed change. Name the human decision owner. Name who checks the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exercises/01-understand-automation/README.md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09:50–10:10;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1 Practice 2. Use these exact classification labels for all six scenario cards. Record a reason and verification owner for unresolved questions. Sending an approval request and approving it are different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System can help under agreed rules / Human decision needed / More information needed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Scenario cards A–F. System can help under agreed rules. Human decision needed. More information needed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exercises/01-understand-automation/README.md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10:10–10:25;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Separate product facts from tenant readiness and business policy. Record unknowns with a responsible role instead of guessing.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What could the system support? / Which rule or detail remains unclear? / What must the process owner or IT confirm?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Questions from the groups. What could the system support?. Which rule or detail remains unclear?. What must the process owner or IT confirm?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1; 10:25–10:30;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Describe one potential benefit and one boundary. Break from 10:30 to 10:45.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Systems support repeatable rules / People retain accountability / After the break: test your understanding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Block 1 checkpoint. Systems support repeatable rules. People retain accountability. After the break: test your understanding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10:45–11:00;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1 Practice 3. Answer individually, compare with a partner, and explain the reasoning. This is a formative check rather than the full pre/post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Routine copying or undefined exceptions? / Do reminders alone remove a delay? / What must be checked before connecting a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Knowledge check. Routine copying or undefined exceptions?. Do reminders alone remove a delay?. What must be checked before connecting a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exercises/01-understand-automation/README.md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11:00–11:05;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 the knowledge check by correcting misunderstandings. Record one known fact and one matter to verify. Demystifying Power Automate ends at 11:05, after 110 teaching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Clear rules make a starting point / Notifications do not make the decision / Readiness needs evidence and an 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Known facts and open questions. Clear rules make a starting point. Notifications do not make the decision. Readiness needs evidence and an 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11:05–11:08;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Understand the current process before proposing technology. A delay may reflect unclear decision criteria, not simply a missing notification.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Map the work as it happens / Show handovers and waiting / Connect pain points to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Unlocking Operational Bottlenecks. Map the work as it happens. Show handovers and waiting. Connect pain points to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11:08–11:15;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diagram shows the fictional current process. The waiting points are investigation prompts, not a claim that automation will solve every delay.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Missing information blocks progress / Waiting for a decision is a separate issue / Locate the problem before proposing a solution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Where requests wait. Missing information blocks progress. Waiting for a decision is a separate issue. Locate the problem before proposing a solution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11:15–11:30;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2 Practice 1. Use ordinary sticky notes, one action per note. Require the information or status received and passed on at every handover. Do not introduce Flow cards during current-process mapping.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Agree the start and end / Map 5–8 steps / Show information or status at each handover / Name each responsible role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Current-process map. Agree the start and end. Map 5–8 steps. Show information or status at each handover. Name each responsible role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exercises/02-map-work-friction/README.md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11:30–11:50;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2 Practice 2. Attach each friction point to a step, impact, and evidence or open question. Discuss process conditions rather than blaming people.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Repeated work and waiting / Missing information / Unclear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Four types of friction. Repeated work and waiting. Missing information. Unclear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exercises/02-map-work-friction/README.md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11:50–11:55;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2 Practice 3. Record pain points A, B, and C for comparison after lunch.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Choose three locations on the map / Name what gets stuck and where / Keep the map as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Three pain points to compare. Choose three locations on the map. Name what gets stuck and where. Keep the map as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exercises/02-map-work-friction/README.md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2; 11:55–12:00;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current map visible. Lunch is 12:00–13:00.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One current-process map / Three evidence-linked pain points / After lunch: select one opportunity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Block 2 checkpoint. One current-process map. Three evidence-linked pain points. After lunch: select one opportunity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13:00–13:10;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Screen each candidate before scoring. Sensitive or restricted data, material harm, unstable rules, frequent unowned exceptions, or missing ownership prevents workshop progression. A high expected benefit never overrides the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Proceed to compare / Explore after validation / Do not progress in this workshop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Opportunity readiness gate. Proceed to compare. Explore after validation. Do not progress in this workshop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13:10–13:30;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3 Practices 1–2. Apply the readiness gate first, then compare eligible candidates. The score supports discussion rather than proving ROI. For equal scores, prefer smaller scope, lower effort, and clearer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Impact, frequency, readiness: 1–3 / Effort: Low / Medium / High / Record reasons and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Compare eligible opportunities. Impact, frequency, readiness: 1–3. Effort: Low / Medium / High. Record reasons and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exercises/03-prioritize-opportunity/README.md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13:30–13:40;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 Exercise 3 Practice 1 by naming the selected opportunity, start, end, owner, and open checks. Start Worksheet 6C with the problem, scope, and owner.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Start event / Work to change / End outcome and process 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A manageable boundary. Start event. Work to change. End outcome and process 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exercises/03-prioritize-opportunity/README.md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13:40–13:50;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3 Practice 2. Explain for two minutes and take questions for two minutes; swap roles, then use two minutes to refine the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Explain the opportunity and evidence / Ask about scope, owner, and unknowns / Refine the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Peer scope review. Explain the opportunity and evidence. Ask about scope, owner, and unknowns. Refine the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exercises/03-prioritize-opportunity/README.md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13:50–13:55;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Confirm the selected opportunity. Unlocking Operational Bottlenecks ends at 13:55, after 110 teaching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One evidence-based opportunity / A clear boundary and owner / Carry the same opportunity forward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The selected bottleneck. One evidence-based opportunity. A clear boundary and owner. Carry the same opportunity forward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13:55–13:59;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Module 3 with the physical-card visual. The next slides introduce Trigger, Action, connector, Condition, human decision, and owned exceptions one concept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Steps, decisions, and exceptions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Strategic Workflow Blueprinting. Steps, decisions, and exceptions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13:59–14:03;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cloud flow can start from an event, manual start, or schedule. Think of a connector as a way to contact another service, not a key that grants access to everything. A real implementation needs valid connections and appropriate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A Trigger starts the flow / An Action performs a step / A connector exposes service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Triggers, Actions, and connectors. A Trigger starts the flow. An Action performs a step. A connector exposes service operations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https://learn.microsoft.com/en-us/power-automate/triggers-introduction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https://learn.microsoft.com/en-us/connectors/overview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14:03–14:07;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Condition branches according to a true/false result. A person makes the approval or rejection decision. Yes/No labels here express the conceptual rule, not an exact UI sequence. Both decision outcomes need an explicit next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Check details against an agreed rule / Human owner approves or rejects / Both outcomes reach notification or owned follow-up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Conditions and human decisions. Check details against an agreed rule. Human owner approves or rejects. Both outcomes reach notification or owned follow-up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https://learn.microsoft.com/en-us/power-automate/add-condition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14:07–14:10;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 the components before the physical-card exercise. Show both approval and rejection outcomes before adding exception routes. The diagram is conceptual and does not validate connector availability or tenant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Trigger and Actions / Condition outcomes / Human approval or rejection / Owned exception routes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Workflow Blueprint anatomy. Trigger and Actions. Condition outcomes. Human approval or rejection. Owned exception routes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https://learn.microsoft.com/en-us/power-automate/triggers-introduction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https://learn.microsoft.com/en-us/power-automate/add-condition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14:10–14:25;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4 Practice 1. Use the printed cards supplied separately. Use sticky notes for repeated or missing steps and unknowns. Show the correction visibly: Start and wait for an approval is an Action after a valid Trigger despite the printed Trigger label. Leave the original card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Choose a suitable Trigger / Arrange cards and sticky notes / Add an outcome and explain the path / `Start and wait for an approval` is an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Flow cards: the normal path. Choose a suitable Trigger. Arrange cards and sticky notes. Add an outcome and explain the path. `Start and wait for an approval` is an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exercises/04-workflow-blueprint/README.md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https://learn.microsoft.com/en-us/power-automate/triggers-introduction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3; 14:25–14:30;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Another participant should be able to explain the normal path. The draft is intentionally incomplete. Leave it in place during the 14:30–14:45 break.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One selected opportunity / A visible Trigger-to-outcome path / After the break: people and exceptions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Block 3 checkpoint. One selected opportunity. A visible Trigger-to-outcome path. After the break: people and exceptions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14:45–15:05;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4 Practices 2–3. First add owners and human checkpoints. Then add a Condition only where an agreed rule genuinely creates branches. Give missing-information, rejection, and stalled-work routes separate owners. Keep the supplied cards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Name owners and human checkpoints / Show justified branches and both outcomes / Own missing-information, rejection, and stalled-work routes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Flow cards: people and exceptions. Name owners and human checkpoints. Show justified branches and both outcomes. Own missing-information, rejection, and stalled-work routes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exercises/04-workflow-blueprint/README.md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https://learn.microsoft.com/en-us/power-automate/get-started-approvals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https://learn.microsoft.com/en-us/power-automate/add-condition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15:05–15:20;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4 Practice 3. Follow only visible cards or notes. Record a gap before changing the design, then repeat the affected path. Both cases must reach a clear outcome or an owned escalation. This is a paper test, not a tenant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R-101: normal path / R-102 or R-103: exception path / Record gaps, revise, and retest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Walk-test two cases. R-101: normal path. R-102 or R-103: exception path. Record gaps, revise, and retest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exercises/04-workflow-blueprint/README.md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15:20–15:25;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5 Practice 1. Transcribe the tested Blueprint into Worksheet 6A. Use fictional or sanitised text and remove prohibited information. Do not upload card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Problem and intended outcome / Steps, branches, and human decisions / Assumptions and verification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Text for Copilot review. Problem and intended outcome. Steps, branches, and human decisions. Assumptions and verification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exercises/05-leadership-handover/README.md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https://learn.microsoft.com/en-us/copilot/privacy-and-protections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15:25–15:27;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2D document-review scene to position Copilot Chat as a second reader, not an approver. Its suggestions may be wrong or unsuitable, and it cannot certify readiness through a text review. Current Microsoft documentation uses Microsoft Copilot Chat for the experience previously called Microsoft 365 Copilot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Reviews the safe brief / Surfaces gaps and verification questions / People judge every item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Copilot as a second reader. Reviews the safe brief. Surfaces gaps and verification questions. People judge every item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exercises/05-leadership-handover/README.md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https://learn.microsoft.com/en-us/copilot/privacy-and-protections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15:27–15:30;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Follow the visual path from the tested paper draft to safe text, Copilot suggestions, human decisions, limited changes, and handover. The diagram includes no automatic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Paper test before AI review / A decision for every suggestion / No more than two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Human judgement after Copilot. Paper test before AI review. A decision for every suggestion. No more than two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https://learn.microsoft.com/en-us/copilot/privacy-and-protections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15:30–15:40;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5 Practice 3. Use Goal, Context, Source, and Expectation. Choose either live Copilot Chat or the labelled facilitator fallback. Request at most four items and separate suggestions from matters requiring process-owner or IT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Goal and Context / Source / Expectation: maximum four items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A structured review request. Goal and Context. Source. Expectation: maximum four items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exercises/05-leadership-handover/README.md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https://learn.microsoft.com/en-us/copilot/privacy-and-protections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15:40–15:57; 17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 5 Practices 4–6. The full 37 minutes are safe brief 5, mindset 5, review 8, judgement 7, changes 5, and handover 7. Record a decision and reason for every item before applying no more than two changes. Complete owner, baseline, people affected, support needs, next decision, and follow-up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Judge every item: 7 minutes / Apply no more than two changes: 5 minutes / Complete the Handover Card: 7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Review decisions and handover. Judge every item: 7 minutes. Apply no more than two changes: 5 minutes. Complete the Handover Card: 7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instruction: exercises/05-leadership-handover/README.md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https://learn.microsoft.com/en-us/copilot/privacy-and-protections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4; 15:57–16:00;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 Worksheet 7 with a concrete workplace follow-up: what, with whom, and when. The design still needs review and authorisation before any live trial. Finish at 16:00.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Learning content: One opportunity and tested Blueprint / A human-reviewed decision record / A Handover Card with a clear next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explanation: Outputs and next steps. One opportunity and tested Blueprint. A human-reviewed decision record. A Handover Card with a clear next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https://learn.microsoft.com/en-us/copilot/privacy-and-protections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4c3c853604d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ed400d0de4ba2" /><Relationship Type="http://schemas.openxmlformats.org/officeDocument/2006/relationships/slideLayout" Target="/ppt/slideLayouts/slideLayout1.xml" Id="R0e47b127afd2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7b127afd2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0ed1ca0d84cc1" /><Relationship Type="http://schemas.openxmlformats.org/officeDocument/2006/relationships/image" Target="/ppt/media/image.png" Id="R94e6fd6534f541ee" /><Relationship Type="http://schemas.openxmlformats.org/officeDocument/2006/relationships/notesSlide" Target="/ppt/notesSlides/notesSlide1.xml" Id="R882a5ae2b6e24e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dc5b8a2d04297" /><Relationship Type="http://schemas.openxmlformats.org/officeDocument/2006/relationships/notesSlide" Target="/ppt/notesSlides/notesSlide2.xml" Id="Re2062f9c5d51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f724255714f4e" /><Relationship Type="http://schemas.openxmlformats.org/officeDocument/2006/relationships/notesSlide" Target="/ppt/notesSlides/notesSlide3.xml" Id="R954c7e6a03fb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4346258434443" /><Relationship Type="http://schemas.openxmlformats.org/officeDocument/2006/relationships/notesSlide" Target="/ppt/notesSlides/notesSlide4.xml" Id="R3f553f90256147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083c5da0b452e" /><Relationship Type="http://schemas.openxmlformats.org/officeDocument/2006/relationships/image" Target="/ppt/media/image2.png" Id="R2eeeb823a5664ff7" /><Relationship Type="http://schemas.openxmlformats.org/officeDocument/2006/relationships/notesSlide" Target="/ppt/notesSlides/notesSlide5.xml" Id="R9672b5f4b12b4f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d98525e97432f" /><Relationship Type="http://schemas.openxmlformats.org/officeDocument/2006/relationships/notesSlide" Target="/ppt/notesSlides/notesSlide6.xml" Id="R6716326b28824f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df228b0cf4ccf" /><Relationship Type="http://schemas.openxmlformats.org/officeDocument/2006/relationships/notesSlide" Target="/ppt/notesSlides/notesSlide7.xml" Id="R653bcea8bf4940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56bd5bf42443d" /><Relationship Type="http://schemas.openxmlformats.org/officeDocument/2006/relationships/notesSlide" Target="/ppt/notesSlides/notesSlide8.xml" Id="R1cf79025afce47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24da1c71249f2" /><Relationship Type="http://schemas.openxmlformats.org/officeDocument/2006/relationships/notesSlide" Target="/ppt/notesSlides/notesSlide9.xml" Id="R7376195e1e0340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ca2233d0b4990" /><Relationship Type="http://schemas.openxmlformats.org/officeDocument/2006/relationships/notesSlide" Target="/ppt/notesSlides/notesSlide10.xml" Id="R48aef41e780142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1d9bde4f0480f" /><Relationship Type="http://schemas.openxmlformats.org/officeDocument/2006/relationships/notesSlide" Target="/ppt/notesSlides/notesSlide11.xml" Id="R0dfc5b3f298448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6300b3a3e4744" /><Relationship Type="http://schemas.openxmlformats.org/officeDocument/2006/relationships/notesSlide" Target="/ppt/notesSlides/notesSlide12.xml" Id="Rf54bbfab38574f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34643e3014a4d" /><Relationship Type="http://schemas.openxmlformats.org/officeDocument/2006/relationships/notesSlide" Target="/ppt/notesSlides/notesSlide13.xml" Id="Re2d0de5a220d40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0e50b43e2405c" /><Relationship Type="http://schemas.openxmlformats.org/officeDocument/2006/relationships/notesSlide" Target="/ppt/notesSlides/notesSlide14.xml" Id="R8ab0a1ea576945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a10228b714a80" /><Relationship Type="http://schemas.openxmlformats.org/officeDocument/2006/relationships/image" Target="/ppt/media/image3.png" Id="R53ee925f475041ef" /><Relationship Type="http://schemas.openxmlformats.org/officeDocument/2006/relationships/notesSlide" Target="/ppt/notesSlides/notesSlide15.xml" Id="R8683e8e168774d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6d0d1fba64adc" /><Relationship Type="http://schemas.openxmlformats.org/officeDocument/2006/relationships/notesSlide" Target="/ppt/notesSlides/notesSlide16.xml" Id="Rcb81435f7f7d40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f5304194247a8" /><Relationship Type="http://schemas.openxmlformats.org/officeDocument/2006/relationships/notesSlide" Target="/ppt/notesSlides/notesSlide17.xml" Id="R9aa10ecbb58444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d0fa7f72f4dc9" /><Relationship Type="http://schemas.openxmlformats.org/officeDocument/2006/relationships/notesSlide" Target="/ppt/notesSlides/notesSlide18.xml" Id="Re79d4f8169e647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cb561030f4f25" /><Relationship Type="http://schemas.openxmlformats.org/officeDocument/2006/relationships/notesSlide" Target="/ppt/notesSlides/notesSlide19.xml" Id="R7f656e40171a4c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372bfb22a4477" /><Relationship Type="http://schemas.openxmlformats.org/officeDocument/2006/relationships/notesSlide" Target="/ppt/notesSlides/notesSlide20.xml" Id="Refa5efbefd754b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e618f65454c93" /><Relationship Type="http://schemas.openxmlformats.org/officeDocument/2006/relationships/notesSlide" Target="/ppt/notesSlides/notesSlide21.xml" Id="Rf6b210f790ff41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731d07fba4be8" /><Relationship Type="http://schemas.openxmlformats.org/officeDocument/2006/relationships/notesSlide" Target="/ppt/notesSlides/notesSlide22.xml" Id="Rc5ead701fd204c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ec3d8d96045eb" /><Relationship Type="http://schemas.openxmlformats.org/officeDocument/2006/relationships/notesSlide" Target="/ppt/notesSlides/notesSlide23.xml" Id="Rec968192a2614e1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e082de63e436a" /><Relationship Type="http://schemas.openxmlformats.org/officeDocument/2006/relationships/notesSlide" Target="/ppt/notesSlides/notesSlide24.xml" Id="R6f342adda4634fb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7db8fce484d2e" /><Relationship Type="http://schemas.openxmlformats.org/officeDocument/2006/relationships/notesSlide" Target="/ppt/notesSlides/notesSlide25.xml" Id="Rc5ae317aa96d4fe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b95c897cc4248" /><Relationship Type="http://schemas.openxmlformats.org/officeDocument/2006/relationships/image" Target="/ppt/media/image4.png" Id="Re3a26dfe59074662" /><Relationship Type="http://schemas.openxmlformats.org/officeDocument/2006/relationships/notesSlide" Target="/ppt/notesSlides/notesSlide26.xml" Id="R5b66313bf7c645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81a0c28274cbc" /><Relationship Type="http://schemas.openxmlformats.org/officeDocument/2006/relationships/notesSlide" Target="/ppt/notesSlides/notesSlide27.xml" Id="Re249ad9958e74e9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d15fb69a2435b" /><Relationship Type="http://schemas.openxmlformats.org/officeDocument/2006/relationships/notesSlide" Target="/ppt/notesSlides/notesSlide28.xml" Id="R35c934d5673f43e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7a747bc8e4e10" /><Relationship Type="http://schemas.openxmlformats.org/officeDocument/2006/relationships/notesSlide" Target="/ppt/notesSlides/notesSlide29.xml" Id="R759bf5280f484d8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d1a9843f44666" /><Relationship Type="http://schemas.openxmlformats.org/officeDocument/2006/relationships/notesSlide" Target="/ppt/notesSlides/notesSlide30.xml" Id="Rc684173edc4b478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67873a98f474e" /><Relationship Type="http://schemas.openxmlformats.org/officeDocument/2006/relationships/notesSlide" Target="/ppt/notesSlides/notesSlide31.xml" Id="R3654080648cd4e9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26445529c4ea4" /><Relationship Type="http://schemas.openxmlformats.org/officeDocument/2006/relationships/notesSlide" Target="/ppt/notesSlides/notesSlide32.xml" Id="R3ebcc4efff094a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3ff5932d94d14" /><Relationship Type="http://schemas.openxmlformats.org/officeDocument/2006/relationships/notesSlide" Target="/ppt/notesSlides/notesSlide33.xml" Id="R24f5b1e7635c4a7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613015c4744fe" /><Relationship Type="http://schemas.openxmlformats.org/officeDocument/2006/relationships/notesSlide" Target="/ppt/notesSlides/notesSlide34.xml" Id="Rb39f32f6a876449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ada8e468b437a" /><Relationship Type="http://schemas.openxmlformats.org/officeDocument/2006/relationships/image" Target="/ppt/media/image5.png" Id="R650b0188006d47fe" /><Relationship Type="http://schemas.openxmlformats.org/officeDocument/2006/relationships/notesSlide" Target="/ppt/notesSlides/notesSlide35.xml" Id="Rf031816aff1d4a4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5da758a6b484d" /><Relationship Type="http://schemas.openxmlformats.org/officeDocument/2006/relationships/notesSlide" Target="/ppt/notesSlides/notesSlide36.xml" Id="R42236e4c4332458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f1cf527f644a2" /><Relationship Type="http://schemas.openxmlformats.org/officeDocument/2006/relationships/notesSlide" Target="/ppt/notesSlides/notesSlide37.xml" Id="R2c61fec4b63644d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52919862e456a" /><Relationship Type="http://schemas.openxmlformats.org/officeDocument/2006/relationships/notesSlide" Target="/ppt/notesSlides/notesSlide38.xml" Id="R133198b294e4492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38cccddeb4ce5" /><Relationship Type="http://schemas.openxmlformats.org/officeDocument/2006/relationships/notesSlide" Target="/ppt/notesSlides/notesSlide39.xml" Id="R0332343b0bba49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Workshop team designing a workflow" descr="Fictional 2D editorial illustration of three colleagues arranging a workflow together on a whiteboar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6fd6534f541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agram-0">
            <a:extLst xmlns:a="http://schemas.openxmlformats.org/drawingml/2006/main">
              <a:ext uri="{FF2B5EF4-FFF2-40B4-BE49-F238E27FC236}">
                <a16:creationId xmlns:a16="http://schemas.microsoft.com/office/drawing/2014/main" id="{3BF24079-8136-451D-B6E7-5A5D4B35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685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Power Automate</a:t>
            </a:r>
          </a:p>
          <a:p xmlns:a="http://schemas.openxmlformats.org/drawingml/2006/main">
            <a:pPr>
              <a:defRPr sz="43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for leaders</a:t>
            </a:r>
          </a:p>
        </p:txBody>
      </p:sp>
      <p:sp>
        <p:nvSpPr>
          <p:cNvPr id="3" name="diagram-1">
            <a:extLst xmlns:a="http://schemas.openxmlformats.org/drawingml/2006/main">
              <a:ext uri="{FF2B5EF4-FFF2-40B4-BE49-F238E27FC236}">
                <a16:creationId xmlns:a16="http://schemas.microsoft.com/office/drawing/2014/main" id="{9F0C21F9-B21A-4643-9E7F-F63E0267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Strategic Automation Leadership</a:t>
            </a:r>
          </a:p>
        </p:txBody>
      </p:sp>
      <p:sp>
        <p:nvSpPr>
          <p:cNvPr id="4" name="diagram-2">
            <a:extLst xmlns:a="http://schemas.openxmlformats.org/drawingml/2006/main">
              <a:ext uri="{FF2B5EF4-FFF2-40B4-BE49-F238E27FC236}">
                <a16:creationId xmlns:a16="http://schemas.microsoft.com/office/drawing/2014/main" id="{DBA9981F-672E-4E8E-A79A-C5F555D7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Batch 1     09:00–16:00</a:t>
            </a:r>
          </a:p>
        </p:txBody>
      </p:sp>
    </p:spTree>
    <p:extLst>
      <p:ext uri="{BB962C8B-B14F-4D97-AF65-F5344CB8AC3E}">
        <p14:creationId xmlns:p14="http://schemas.microsoft.com/office/powerpoint/2010/main" val="1062644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3">
            <a:extLst xmlns:a="http://schemas.openxmlformats.org/drawingml/2006/main">
              <a:ext uri="{FF2B5EF4-FFF2-40B4-BE49-F238E27FC236}">
                <a16:creationId xmlns:a16="http://schemas.microsoft.com/office/drawing/2014/main" id="{445AC5B6-6BA4-4F44-8085-9E397CE9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Your end-of-day outputs</a:t>
            </a:r>
          </a:p>
        </p:txBody>
      </p:sp>
      <p:sp>
        <p:nvSpPr>
          <p:cNvPr id="2" name="diagram-4">
            <a:extLst xmlns:a="http://schemas.openxmlformats.org/drawingml/2006/main">
              <a:ext uri="{FF2B5EF4-FFF2-40B4-BE49-F238E27FC236}">
                <a16:creationId xmlns:a16="http://schemas.microsoft.com/office/drawing/2014/main" id="{54608FE4-ABA0-4F52-A310-4637C13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5">
            <a:extLst xmlns:a="http://schemas.openxmlformats.org/drawingml/2006/main">
              <a:ext uri="{FF2B5EF4-FFF2-40B4-BE49-F238E27FC236}">
                <a16:creationId xmlns:a16="http://schemas.microsoft.com/office/drawing/2014/main" id="{A0B71250-DF92-4CC4-B972-F034EC4F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Select an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opportunity</a:t>
            </a:r>
          </a:p>
        </p:txBody>
      </p:sp>
      <p:sp>
        <p:nvSpPr>
          <p:cNvPr id="4" name="diagram-6">
            <a:extLst xmlns:a="http://schemas.openxmlformats.org/drawingml/2006/main">
              <a:ext uri="{FF2B5EF4-FFF2-40B4-BE49-F238E27FC236}">
                <a16:creationId xmlns:a16="http://schemas.microsoft.com/office/drawing/2014/main" id="{92374AC0-5B98-4FF7-A91A-44D9B4D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7622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7">
            <a:extLst xmlns:a="http://schemas.openxmlformats.org/drawingml/2006/main">
              <a:ext uri="{FF2B5EF4-FFF2-40B4-BE49-F238E27FC236}">
                <a16:creationId xmlns:a16="http://schemas.microsoft.com/office/drawing/2014/main" id="{36521233-23DA-4C0A-9665-153855AB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9051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Test the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Blueprint</a:t>
            </a:r>
          </a:p>
        </p:txBody>
      </p:sp>
      <p:cxnSp>
        <p:nvCxnSpPr>
          <p:cNvPr id="20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09913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7" name="diagram-8">
            <a:extLst xmlns:a="http://schemas.openxmlformats.org/drawingml/2006/main">
              <a:ext uri="{FF2B5EF4-FFF2-40B4-BE49-F238E27FC236}">
                <a16:creationId xmlns:a16="http://schemas.microsoft.com/office/drawing/2014/main" id="{392DEB85-7F66-4EED-9365-F8E2D88F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622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8" name="diagram-9">
            <a:extLst xmlns:a="http://schemas.openxmlformats.org/drawingml/2006/main">
              <a:ext uri="{FF2B5EF4-FFF2-40B4-BE49-F238E27FC236}">
                <a16:creationId xmlns:a16="http://schemas.microsoft.com/office/drawing/2014/main" id="{EA46A128-CB25-4295-A8E2-C602DFD6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051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Review with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Copilot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9776" y="32385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0" name="diagram-10">
            <a:extLst xmlns:a="http://schemas.openxmlformats.org/drawingml/2006/main">
              <a:ext uri="{FF2B5EF4-FFF2-40B4-BE49-F238E27FC236}">
                <a16:creationId xmlns:a16="http://schemas.microsoft.com/office/drawing/2014/main" id="{FB6A10B5-4E01-46E6-800B-9C0CD8C6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27622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1" name="diagram-11">
            <a:extLst xmlns:a="http://schemas.openxmlformats.org/drawingml/2006/main">
              <a:ext uri="{FF2B5EF4-FFF2-40B4-BE49-F238E27FC236}">
                <a16:creationId xmlns:a16="http://schemas.microsoft.com/office/drawing/2014/main" id="{92877A8B-C4AC-4966-9F8D-C8908FD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9051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Prepare the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handover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29638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3" name="diagram-12">
            <a:extLst xmlns:a="http://schemas.openxmlformats.org/drawingml/2006/main">
              <a:ext uri="{FF2B5EF4-FFF2-40B4-BE49-F238E27FC236}">
                <a16:creationId xmlns:a16="http://schemas.microsoft.com/office/drawing/2014/main" id="{23C30D6F-7C48-40A4-87D8-1488053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Use available pre-survey findings</a:t>
            </a:r>
          </a:p>
        </p:txBody>
      </p:sp>
      <p:sp>
        <p:nvSpPr>
          <p:cNvPr id="14" name="diagram-13">
            <a:extLst xmlns:a="http://schemas.openxmlformats.org/drawingml/2006/main">
              <a:ext uri="{FF2B5EF4-FFF2-40B4-BE49-F238E27FC236}">
                <a16:creationId xmlns:a16="http://schemas.microsoft.com/office/drawing/2014/main" id="{1A4ABE0D-542D-4845-A4C8-A7154EF7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No findings? Use the fictional case</a:t>
            </a:r>
          </a:p>
        </p:txBody>
      </p:sp>
    </p:spTree>
    <p:extLst>
      <p:ext uri="{BB962C8B-B14F-4D97-AF65-F5344CB8AC3E}">
        <p14:creationId xmlns:p14="http://schemas.microsoft.com/office/powerpoint/2010/main" val="473101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-14">
            <a:extLst xmlns:a="http://schemas.openxmlformats.org/drawingml/2006/main">
              <a:ext uri="{FF2B5EF4-FFF2-40B4-BE49-F238E27FC236}">
                <a16:creationId xmlns:a16="http://schemas.microsoft.com/office/drawing/2014/main" id="{8C008A0A-7745-41D4-9AF5-534D4812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Power Automate in everyday work</a:t>
            </a:r>
          </a:p>
        </p:txBody>
      </p:sp>
      <p:sp>
        <p:nvSpPr>
          <p:cNvPr id="2" name="diagram-15">
            <a:extLst xmlns:a="http://schemas.openxmlformats.org/drawingml/2006/main">
              <a:ext uri="{FF2B5EF4-FFF2-40B4-BE49-F238E27FC236}">
                <a16:creationId xmlns:a16="http://schemas.microsoft.com/office/drawing/2014/main" id="{BF981463-38E9-49DF-8D4D-483B273E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25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16">
            <a:extLst xmlns:a="http://schemas.openxmlformats.org/drawingml/2006/main">
              <a:ext uri="{FF2B5EF4-FFF2-40B4-BE49-F238E27FC236}">
                <a16:creationId xmlns:a16="http://schemas.microsoft.com/office/drawing/2014/main" id="{A212781C-DC4A-43CD-B077-1E7A09E1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0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Start event</a:t>
            </a:r>
          </a:p>
        </p:txBody>
      </p:sp>
      <p:sp>
        <p:nvSpPr>
          <p:cNvPr id="4" name="diagram-17">
            <a:extLst xmlns:a="http://schemas.openxmlformats.org/drawingml/2006/main">
              <a:ext uri="{FF2B5EF4-FFF2-40B4-BE49-F238E27FC236}">
                <a16:creationId xmlns:a16="http://schemas.microsoft.com/office/drawing/2014/main" id="{D21F100C-905F-4176-8A71-3F983AF0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325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18">
            <a:extLst xmlns:a="http://schemas.openxmlformats.org/drawingml/2006/main">
              <a:ext uri="{FF2B5EF4-FFF2-40B4-BE49-F238E27FC236}">
                <a16:creationId xmlns:a16="http://schemas.microsoft.com/office/drawing/2014/main" id="{795AA112-3061-4E52-AF4F-85FDE934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000375"/>
            <a:ext cx="290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Steps and rules</a:t>
            </a:r>
          </a:p>
        </p:txBody>
      </p:sp>
      <p:cxnSp>
        <p:nvCxnSpPr>
          <p:cNvPr id="16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13200" y="3333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7" name="diagram-19">
            <a:extLst xmlns:a="http://schemas.openxmlformats.org/drawingml/2006/main">
              <a:ext uri="{FF2B5EF4-FFF2-40B4-BE49-F238E27FC236}">
                <a16:creationId xmlns:a16="http://schemas.microsoft.com/office/drawing/2014/main" id="{34A967DB-3AE0-4DAB-B6FB-676AAD4D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857500"/>
            <a:ext cx="325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8" name="diagram-20">
            <a:extLst xmlns:a="http://schemas.openxmlformats.org/drawingml/2006/main">
              <a:ext uri="{FF2B5EF4-FFF2-40B4-BE49-F238E27FC236}">
                <a16:creationId xmlns:a16="http://schemas.microsoft.com/office/drawing/2014/main" id="{6C2D8CEA-5CF8-458E-AB34-7EF2D2D4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3000375"/>
            <a:ext cx="290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Checkable outcome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6350" y="3333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0" name="diagram-21">
            <a:extLst xmlns:a="http://schemas.openxmlformats.org/drawingml/2006/main">
              <a:ext uri="{FF2B5EF4-FFF2-40B4-BE49-F238E27FC236}">
                <a16:creationId xmlns:a16="http://schemas.microsoft.com/office/drawing/2014/main" id="{DC6471F0-8025-44AD-8B00-2EE4AA8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runs configured workflow steps</a:t>
            </a:r>
          </a:p>
        </p:txBody>
      </p:sp>
    </p:spTree>
    <p:extLst>
      <p:ext uri="{BB962C8B-B14F-4D97-AF65-F5344CB8AC3E}">
        <p14:creationId xmlns:p14="http://schemas.microsoft.com/office/powerpoint/2010/main" val="752172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iagram-22">
            <a:extLst xmlns:a="http://schemas.openxmlformats.org/drawingml/2006/main">
              <a:ext uri="{FF2B5EF4-FFF2-40B4-BE49-F238E27FC236}">
                <a16:creationId xmlns:a16="http://schemas.microsoft.com/office/drawing/2014/main" id="{BA3ED266-F777-43F1-AF8F-D07BAFE2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A kitchen analogy</a:t>
            </a:r>
          </a:p>
        </p:txBody>
      </p:sp>
      <p:sp>
        <p:nvSpPr>
          <p:cNvPr id="2" name="diagram-23">
            <a:extLst xmlns:a="http://schemas.openxmlformats.org/drawingml/2006/main">
              <a:ext uri="{FF2B5EF4-FFF2-40B4-BE49-F238E27FC236}">
                <a16:creationId xmlns:a16="http://schemas.microsoft.com/office/drawing/2014/main" id="{059E1876-E155-41EA-BB5D-816BE21A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With a clear recipe,</a:t>
            </a:r>
          </a:p>
          <a:p xmlns:a="http://schemas.openxmlformats.org/drawingml/2006/main">
            <a:pPr>
              <a:defRPr sz="390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which tasks can repeat?</a:t>
            </a:r>
          </a:p>
        </p:txBody>
      </p:sp>
      <p:sp>
        <p:nvSpPr>
          <p:cNvPr id="3" name="diagram-24">
            <a:extLst xmlns:a="http://schemas.openxmlformats.org/drawingml/2006/main">
              <a:ext uri="{FF2B5EF4-FFF2-40B4-BE49-F238E27FC236}">
                <a16:creationId xmlns:a16="http://schemas.microsoft.com/office/drawing/2014/main" id="{197D194B-D89A-46DD-A4A2-F7BF9FD4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B76D13"/>
                </a:solidFill>
                <a:latin typeface="Tahoma"/>
                <a:ea typeface="Tahoma"/>
                <a:cs typeface="Tahoma"/>
              </a:rPr>
              <a:t>Who checks an allergy exception?</a:t>
            </a:r>
          </a:p>
        </p:txBody>
      </p:sp>
    </p:spTree>
    <p:extLst>
      <p:ext uri="{BB962C8B-B14F-4D97-AF65-F5344CB8AC3E}">
        <p14:creationId xmlns:p14="http://schemas.microsoft.com/office/powerpoint/2010/main" val="1840887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Chef checking an exception" descr="2D editorial illustration of a chef checking a dietary exception before serving a me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eb823a5664ff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agram-25">
            <a:extLst xmlns:a="http://schemas.openxmlformats.org/drawingml/2006/main">
              <a:ext uri="{FF2B5EF4-FFF2-40B4-BE49-F238E27FC236}">
                <a16:creationId xmlns:a16="http://schemas.microsoft.com/office/drawing/2014/main" id="{F676AC53-9AD6-45F3-A38C-B7A1406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People check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exceptions</a:t>
            </a:r>
          </a:p>
        </p:txBody>
      </p:sp>
      <p:sp>
        <p:nvSpPr>
          <p:cNvPr id="3" name="diagram-26">
            <a:extLst xmlns:a="http://schemas.openxmlformats.org/drawingml/2006/main">
              <a:ext uri="{FF2B5EF4-FFF2-40B4-BE49-F238E27FC236}">
                <a16:creationId xmlns:a16="http://schemas.microsoft.com/office/drawing/2014/main" id="{FFF2D919-208C-4219-9138-2E70410D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7E7F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D7E7F5"/>
                </a:solidFill>
                <a:latin typeface="Tahoma"/>
                <a:ea typeface="Tahoma"/>
                <a:cs typeface="Tahoma"/>
              </a:rPr>
              <a:t>Routine steps follow rules.</a:t>
            </a:r>
          </a:p>
          <a:p xmlns:a="http://schemas.openxmlformats.org/drawingml/2006/main">
            <a:pPr>
              <a:defRPr sz="2025" b="0">
                <a:solidFill>
                  <a:srgbClr val="D7E7F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D7E7F5"/>
                </a:solidFill>
                <a:latin typeface="Tahoma"/>
                <a:ea typeface="Tahoma"/>
                <a:cs typeface="Tahoma"/>
              </a:rPr>
              <a:t>A responsible person checks exceptions.</a:t>
            </a:r>
          </a:p>
        </p:txBody>
      </p:sp>
    </p:spTree>
    <p:extLst>
      <p:ext uri="{BB962C8B-B14F-4D97-AF65-F5344CB8AC3E}">
        <p14:creationId xmlns:p14="http://schemas.microsoft.com/office/powerpoint/2010/main" val="129050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-27">
            <a:extLst xmlns:a="http://schemas.openxmlformats.org/drawingml/2006/main">
              <a:ext uri="{FF2B5EF4-FFF2-40B4-BE49-F238E27FC236}">
                <a16:creationId xmlns:a16="http://schemas.microsoft.com/office/drawing/2014/main" id="{9AFC080B-520B-4074-B636-6C44E54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Common workflow tasks</a:t>
            </a:r>
          </a:p>
        </p:txBody>
      </p:sp>
      <p:sp>
        <p:nvSpPr>
          <p:cNvPr id="2" name="diagram-28">
            <a:extLst xmlns:a="http://schemas.openxmlformats.org/drawingml/2006/main">
              <a:ext uri="{FF2B5EF4-FFF2-40B4-BE49-F238E27FC236}">
                <a16:creationId xmlns:a16="http://schemas.microsoft.com/office/drawing/2014/main" id="{DF846BA8-B172-48B5-8318-9C32482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3" name="diagram-29">
            <a:extLst xmlns:a="http://schemas.openxmlformats.org/drawingml/2006/main">
              <a:ext uri="{FF2B5EF4-FFF2-40B4-BE49-F238E27FC236}">
                <a16:creationId xmlns:a16="http://schemas.microsoft.com/office/drawing/2014/main" id="{A82F8981-99BB-423D-B120-29AEC204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Route requests</a:t>
            </a:r>
          </a:p>
        </p:txBody>
      </p:sp>
      <p:sp>
        <p:nvSpPr>
          <p:cNvPr id="4" name="diagram-30">
            <a:extLst xmlns:a="http://schemas.openxmlformats.org/drawingml/2006/main">
              <a:ext uri="{FF2B5EF4-FFF2-40B4-BE49-F238E27FC236}">
                <a16:creationId xmlns:a16="http://schemas.microsoft.com/office/drawing/2014/main" id="{01B57CDB-07B9-46CA-9A6D-5199938D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To the responsible person</a:t>
            </a:r>
          </a:p>
        </p:txBody>
      </p:sp>
      <p:sp>
        <p:nvSpPr>
          <p:cNvPr id="5" name="diagram-31">
            <a:extLst xmlns:a="http://schemas.openxmlformats.org/drawingml/2006/main">
              <a:ext uri="{FF2B5EF4-FFF2-40B4-BE49-F238E27FC236}">
                <a16:creationId xmlns:a16="http://schemas.microsoft.com/office/drawing/2014/main" id="{3FE0FC6E-6D2E-4A05-9FAB-5E4742E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diagram-32">
            <a:extLst xmlns:a="http://schemas.openxmlformats.org/drawingml/2006/main">
              <a:ext uri="{FF2B5EF4-FFF2-40B4-BE49-F238E27FC236}">
                <a16:creationId xmlns:a16="http://schemas.microsoft.com/office/drawing/2014/main" id="{1018A002-C19D-4EDD-9645-B51A0DC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Send notifications</a:t>
            </a:r>
          </a:p>
        </p:txBody>
      </p:sp>
      <p:sp>
        <p:nvSpPr>
          <p:cNvPr id="7" name="diagram-33">
            <a:extLst xmlns:a="http://schemas.openxmlformats.org/drawingml/2006/main">
              <a:ext uri="{FF2B5EF4-FFF2-40B4-BE49-F238E27FC236}">
                <a16:creationId xmlns:a16="http://schemas.microsoft.com/office/drawing/2014/main" id="{5F61D72F-2178-4E6A-9918-77A79023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Under agreed rules</a:t>
            </a:r>
          </a:p>
        </p:txBody>
      </p:sp>
      <p:sp>
        <p:nvSpPr>
          <p:cNvPr id="8" name="diagram-34">
            <a:extLst xmlns:a="http://schemas.openxmlformats.org/drawingml/2006/main">
              <a:ext uri="{FF2B5EF4-FFF2-40B4-BE49-F238E27FC236}">
                <a16:creationId xmlns:a16="http://schemas.microsoft.com/office/drawing/2014/main" id="{69434A56-FEAE-447A-80D9-9F48D5D5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9" name="diagram-35">
            <a:extLst xmlns:a="http://schemas.openxmlformats.org/drawingml/2006/main">
              <a:ext uri="{FF2B5EF4-FFF2-40B4-BE49-F238E27FC236}">
                <a16:creationId xmlns:a16="http://schemas.microsoft.com/office/drawing/2014/main" id="{C60BB62D-E6A2-4C33-8003-1B17ADA0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Update records</a:t>
            </a:r>
          </a:p>
        </p:txBody>
      </p:sp>
      <p:sp>
        <p:nvSpPr>
          <p:cNvPr id="10" name="diagram-36">
            <a:extLst xmlns:a="http://schemas.openxmlformats.org/drawingml/2006/main">
              <a:ext uri="{FF2B5EF4-FFF2-40B4-BE49-F238E27FC236}">
                <a16:creationId xmlns:a16="http://schemas.microsoft.com/office/drawing/2014/main" id="{50C1B552-BA8A-4DF6-92F2-8B08CE90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Through supported services</a:t>
            </a:r>
          </a:p>
        </p:txBody>
      </p:sp>
    </p:spTree>
    <p:extLst>
      <p:ext uri="{BB962C8B-B14F-4D97-AF65-F5344CB8AC3E}">
        <p14:creationId xmlns:p14="http://schemas.microsoft.com/office/powerpoint/2010/main" val="1969292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iagram-37">
            <a:extLst xmlns:a="http://schemas.openxmlformats.org/drawingml/2006/main">
              <a:ext uri="{FF2B5EF4-FFF2-40B4-BE49-F238E27FC236}">
                <a16:creationId xmlns:a16="http://schemas.microsoft.com/office/drawing/2014/main" id="{7A47685C-232F-4D18-9379-12AC0D7D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Rules and human judgement</a:t>
            </a:r>
          </a:p>
        </p:txBody>
      </p:sp>
      <p:sp>
        <p:nvSpPr>
          <p:cNvPr id="2" name="diagram-38">
            <a:extLst xmlns:a="http://schemas.openxmlformats.org/drawingml/2006/main">
              <a:ext uri="{FF2B5EF4-FFF2-40B4-BE49-F238E27FC236}">
                <a16:creationId xmlns:a16="http://schemas.microsoft.com/office/drawing/2014/main" id="{5D359D03-8FEF-4CBC-96D4-4E1BC04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190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39">
            <a:extLst xmlns:a="http://schemas.openxmlformats.org/drawingml/2006/main">
              <a:ext uri="{FF2B5EF4-FFF2-40B4-BE49-F238E27FC236}">
                <a16:creationId xmlns:a16="http://schemas.microsoft.com/office/drawing/2014/main" id="{09A37B95-60E3-42A4-A59C-0D4FCCDE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Systems follow rules</a:t>
            </a:r>
          </a:p>
        </p:txBody>
      </p:sp>
      <p:sp>
        <p:nvSpPr>
          <p:cNvPr id="4" name="diagram-40">
            <a:extLst xmlns:a="http://schemas.openxmlformats.org/drawingml/2006/main">
              <a:ext uri="{FF2B5EF4-FFF2-40B4-BE49-F238E27FC236}">
                <a16:creationId xmlns:a16="http://schemas.microsoft.com/office/drawing/2014/main" id="{64BB5219-5EFD-4155-A14A-7DE97D08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People use judgement</a:t>
            </a:r>
          </a:p>
        </p:txBody>
      </p:sp>
      <p:sp>
        <p:nvSpPr>
          <p:cNvPr id="5" name="diagram-41">
            <a:extLst xmlns:a="http://schemas.openxmlformats.org/drawingml/2006/main">
              <a:ext uri="{FF2B5EF4-FFF2-40B4-BE49-F238E27FC236}">
                <a16:creationId xmlns:a16="http://schemas.microsoft.com/office/drawing/2014/main" id="{54D394AF-1BFC-42FB-91EF-C40AAE74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Route information</a:t>
            </a:r>
          </a:p>
        </p:txBody>
      </p:sp>
      <p:sp>
        <p:nvSpPr>
          <p:cNvPr id="6" name="diagram-42">
            <a:extLst xmlns:a="http://schemas.openxmlformats.org/drawingml/2006/main">
              <a:ext uri="{FF2B5EF4-FFF2-40B4-BE49-F238E27FC236}">
                <a16:creationId xmlns:a16="http://schemas.microsoft.com/office/drawing/2014/main" id="{771EBE26-05D4-42C7-B5BD-BF6622FB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and follow up</a:t>
            </a:r>
          </a:p>
        </p:txBody>
      </p:sp>
      <p:sp>
        <p:nvSpPr>
          <p:cNvPr id="7" name="diagram-43">
            <a:extLst xmlns:a="http://schemas.openxmlformats.org/drawingml/2006/main">
              <a:ext uri="{FF2B5EF4-FFF2-40B4-BE49-F238E27FC236}">
                <a16:creationId xmlns:a16="http://schemas.microsoft.com/office/drawing/2014/main" id="{43A2CC1E-012E-446B-B21C-5122A477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Make business decisions</a:t>
            </a:r>
          </a:p>
        </p:txBody>
      </p:sp>
      <p:sp>
        <p:nvSpPr>
          <p:cNvPr id="8" name="diagram-44">
            <a:extLst xmlns:a="http://schemas.openxmlformats.org/drawingml/2006/main">
              <a:ext uri="{FF2B5EF4-FFF2-40B4-BE49-F238E27FC236}">
                <a16:creationId xmlns:a16="http://schemas.microsoft.com/office/drawing/2014/main" id="{F9DEBA1E-3898-4FD0-9F68-9404579C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Check results and own outcomes</a:t>
            </a:r>
          </a:p>
        </p:txBody>
      </p:sp>
      <p:sp>
        <p:nvSpPr>
          <p:cNvPr id="9" name="diagram-45">
            <a:extLst xmlns:a="http://schemas.openxmlformats.org/drawingml/2006/main">
              <a:ext uri="{FF2B5EF4-FFF2-40B4-BE49-F238E27FC236}">
                <a16:creationId xmlns:a16="http://schemas.microsoft.com/office/drawing/2014/main" id="{BF9CD4D8-CBC7-4F63-9FAE-F0C86291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Information, permissions, and connections must be ready</a:t>
            </a:r>
          </a:p>
        </p:txBody>
      </p:sp>
    </p:spTree>
    <p:extLst>
      <p:ext uri="{BB962C8B-B14F-4D97-AF65-F5344CB8AC3E}">
        <p14:creationId xmlns:p14="http://schemas.microsoft.com/office/powerpoint/2010/main" val="1106701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iagram-46">
            <a:extLst xmlns:a="http://schemas.openxmlformats.org/drawingml/2006/main">
              <a:ext uri="{FF2B5EF4-FFF2-40B4-BE49-F238E27FC236}">
                <a16:creationId xmlns:a16="http://schemas.microsoft.com/office/drawing/2014/main" id="{5B530FE0-D0D4-4D58-BA85-62C547ED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1 · PRACTICE 1</a:t>
            </a:r>
          </a:p>
        </p:txBody>
      </p:sp>
      <p:sp>
        <p:nvSpPr>
          <p:cNvPr id="2" name="diagram-47">
            <a:extLst xmlns:a="http://schemas.openxmlformats.org/drawingml/2006/main">
              <a:ext uri="{FF2B5EF4-FFF2-40B4-BE49-F238E27FC236}">
                <a16:creationId xmlns:a16="http://schemas.microsoft.com/office/drawing/2014/main" id="{BD837FA1-E1BD-405A-B4A7-9676553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The fictional training request</a:t>
            </a:r>
          </a:p>
        </p:txBody>
      </p:sp>
      <p:sp>
        <p:nvSpPr>
          <p:cNvPr id="3" name="diagram-48">
            <a:extLst xmlns:a="http://schemas.openxmlformats.org/drawingml/2006/main">
              <a:ext uri="{FF2B5EF4-FFF2-40B4-BE49-F238E27FC236}">
                <a16:creationId xmlns:a16="http://schemas.microsoft.com/office/drawing/2014/main" id="{575AE0EE-3EC9-4D9D-820B-C2B8CD5E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4" name="diagram-49">
            <a:extLst xmlns:a="http://schemas.openxmlformats.org/drawingml/2006/main">
              <a:ext uri="{FF2B5EF4-FFF2-40B4-BE49-F238E27FC236}">
                <a16:creationId xmlns:a16="http://schemas.microsoft.com/office/drawing/2014/main" id="{EB47B841-44C1-4EE6-8783-B4C7C20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Requester</a:t>
            </a:r>
          </a:p>
        </p:txBody>
      </p:sp>
      <p:sp>
        <p:nvSpPr>
          <p:cNvPr id="5" name="diagram-50">
            <a:extLst xmlns:a="http://schemas.openxmlformats.org/drawingml/2006/main">
              <a:ext uri="{FF2B5EF4-FFF2-40B4-BE49-F238E27FC236}">
                <a16:creationId xmlns:a16="http://schemas.microsoft.com/office/drawing/2014/main" id="{E749C07A-059F-4B8C-B647-5AC71F0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diagram-51">
            <a:extLst xmlns:a="http://schemas.openxmlformats.org/drawingml/2006/main">
              <a:ext uri="{FF2B5EF4-FFF2-40B4-BE49-F238E27FC236}">
                <a16:creationId xmlns:a16="http://schemas.microsoft.com/office/drawing/2014/main" id="{2273D8A1-3BFE-4DEE-A812-976C3B43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Coordinator</a:t>
            </a:r>
          </a:p>
        </p:txBody>
      </p:sp>
      <p:sp>
        <p:nvSpPr>
          <p:cNvPr id="7" name="diagram-52">
            <a:extLst xmlns:a="http://schemas.openxmlformats.org/drawingml/2006/main">
              <a:ext uri="{FF2B5EF4-FFF2-40B4-BE49-F238E27FC236}">
                <a16:creationId xmlns:a16="http://schemas.microsoft.com/office/drawing/2014/main" id="{48EE6BEA-B8F8-460F-8352-C552E79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8" name="diagram-53">
            <a:extLst xmlns:a="http://schemas.openxmlformats.org/drawingml/2006/main">
              <a:ext uri="{FF2B5EF4-FFF2-40B4-BE49-F238E27FC236}">
                <a16:creationId xmlns:a16="http://schemas.microsoft.com/office/drawing/2014/main" id="{9F5B9F5B-9D2F-490A-8F04-083224F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Manager</a:t>
            </a:r>
          </a:p>
        </p:txBody>
      </p:sp>
      <p:sp>
        <p:nvSpPr>
          <p:cNvPr id="9" name="diagram-54">
            <a:extLst xmlns:a="http://schemas.openxmlformats.org/drawingml/2006/main">
              <a:ext uri="{FF2B5EF4-FFF2-40B4-BE49-F238E27FC236}">
                <a16:creationId xmlns:a16="http://schemas.microsoft.com/office/drawing/2014/main" id="{9FF7D45D-60D1-4BDA-AAB6-EBE39C02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66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diagram-55">
            <a:extLst xmlns:a="http://schemas.openxmlformats.org/drawingml/2006/main">
              <a:ext uri="{FF2B5EF4-FFF2-40B4-BE49-F238E27FC236}">
                <a16:creationId xmlns:a16="http://schemas.microsoft.com/office/drawing/2014/main" id="{3F9E663E-5DF6-467A-93E7-8E23A70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0982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Submit request</a:t>
            </a:r>
          </a:p>
        </p:txBody>
      </p:sp>
      <p:sp>
        <p:nvSpPr>
          <p:cNvPr id="11" name="diagram-56">
            <a:extLst xmlns:a="http://schemas.openxmlformats.org/drawingml/2006/main">
              <a:ext uri="{FF2B5EF4-FFF2-40B4-BE49-F238E27FC236}">
                <a16:creationId xmlns:a16="http://schemas.microsoft.com/office/drawing/2014/main" id="{CBBE605E-01D7-425F-9506-E35BD894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623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diagram-57">
            <a:extLst xmlns:a="http://schemas.openxmlformats.org/drawingml/2006/main">
              <a:ext uri="{FF2B5EF4-FFF2-40B4-BE49-F238E27FC236}">
                <a16:creationId xmlns:a16="http://schemas.microsoft.com/office/drawing/2014/main" id="{3A0D09B2-9AD4-4815-9FD5-1FE8CC2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5052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Check and register</a:t>
            </a:r>
          </a:p>
        </p:txBody>
      </p:sp>
      <p:sp>
        <p:nvSpPr>
          <p:cNvPr id="13" name="diagram-58">
            <a:extLst xmlns:a="http://schemas.openxmlformats.org/drawingml/2006/main">
              <a:ext uri="{FF2B5EF4-FFF2-40B4-BE49-F238E27FC236}">
                <a16:creationId xmlns:a16="http://schemas.microsoft.com/office/drawing/2014/main" id="{3B9CA161-9B30-403D-A4DE-DBC1AD7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577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diagram-59">
            <a:extLst xmlns:a="http://schemas.openxmlformats.org/drawingml/2006/main">
              <a:ext uri="{FF2B5EF4-FFF2-40B4-BE49-F238E27FC236}">
                <a16:creationId xmlns:a16="http://schemas.microsoft.com/office/drawing/2014/main" id="{9687EF89-4CF7-481E-84A1-565B688D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6005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Approve or reject</a:t>
            </a:r>
          </a:p>
        </p:txBody>
      </p:sp>
      <p:sp>
        <p:nvSpPr>
          <p:cNvPr id="15" name="diagram-60">
            <a:extLst xmlns:a="http://schemas.openxmlformats.org/drawingml/2006/main">
              <a:ext uri="{FF2B5EF4-FFF2-40B4-BE49-F238E27FC236}">
                <a16:creationId xmlns:a16="http://schemas.microsoft.com/office/drawing/2014/main" id="{1F711FA1-A5D1-4483-818C-3A1FCCB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669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diagram-61">
            <a:extLst xmlns:a="http://schemas.openxmlformats.org/drawingml/2006/main">
              <a:ext uri="{FF2B5EF4-FFF2-40B4-BE49-F238E27FC236}">
                <a16:creationId xmlns:a16="http://schemas.microsoft.com/office/drawing/2014/main" id="{0D62586E-1642-4A91-840C-F44957EF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09825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requester</a:t>
            </a:r>
          </a:p>
        </p:txBody>
      </p: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381375" y="2933700"/>
            <a:ext cx="2286000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715125" y="3695700"/>
            <a:ext cx="1285875" cy="76200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13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8001000" y="2933700"/>
            <a:ext cx="2357438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20" name="diagram-62">
            <a:extLst xmlns:a="http://schemas.openxmlformats.org/drawingml/2006/main">
              <a:ext uri="{FF2B5EF4-FFF2-40B4-BE49-F238E27FC236}">
                <a16:creationId xmlns:a16="http://schemas.microsoft.com/office/drawing/2014/main" id="{574088E4-7C27-4CAC-A357-102A992F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The case ends when the coordinator communicates the decision to the requester.</a:t>
            </a:r>
          </a:p>
        </p:txBody>
      </p:sp>
    </p:spTree>
    <p:extLst>
      <p:ext uri="{BB962C8B-B14F-4D97-AF65-F5344CB8AC3E}">
        <p14:creationId xmlns:p14="http://schemas.microsoft.com/office/powerpoint/2010/main" val="911334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63">
            <a:extLst xmlns:a="http://schemas.openxmlformats.org/drawingml/2006/main">
              <a:ext uri="{FF2B5EF4-FFF2-40B4-BE49-F238E27FC236}">
                <a16:creationId xmlns:a16="http://schemas.microsoft.com/office/drawing/2014/main" id="{AED13B13-0FF1-4597-B7DC-B4EF2564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1 · PRACTICE 1</a:t>
            </a:r>
          </a:p>
        </p:txBody>
      </p:sp>
      <p:sp>
        <p:nvSpPr>
          <p:cNvPr id="2" name="diagram-64">
            <a:extLst xmlns:a="http://schemas.openxmlformats.org/drawingml/2006/main">
              <a:ext uri="{FF2B5EF4-FFF2-40B4-BE49-F238E27FC236}">
                <a16:creationId xmlns:a16="http://schemas.microsoft.com/office/drawing/2014/main" id="{A766D860-9EF2-4424-90B1-34527BE9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Before and after</a:t>
            </a:r>
          </a:p>
        </p:txBody>
      </p:sp>
      <p:sp>
        <p:nvSpPr>
          <p:cNvPr id="3" name="diagram-65">
            <a:extLst xmlns:a="http://schemas.openxmlformats.org/drawingml/2006/main">
              <a:ext uri="{FF2B5EF4-FFF2-40B4-BE49-F238E27FC236}">
                <a16:creationId xmlns:a16="http://schemas.microsoft.com/office/drawing/2014/main" id="{FD93B10C-F1F3-4BEF-8D54-1B9C964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536B80"/>
                </a:solidFill>
                <a:latin typeface="Tahoma"/>
                <a:ea typeface="Tahoma"/>
                <a:cs typeface="Tahoma"/>
              </a:rPr>
              <a:t>Before</a:t>
            </a:r>
          </a:p>
        </p:txBody>
      </p:sp>
      <p:sp>
        <p:nvSpPr>
          <p:cNvPr id="4" name="diagram-66">
            <a:extLst xmlns:a="http://schemas.openxmlformats.org/drawingml/2006/main">
              <a:ext uri="{FF2B5EF4-FFF2-40B4-BE49-F238E27FC236}">
                <a16:creationId xmlns:a16="http://schemas.microsoft.com/office/drawing/2014/main" id="{62700DD6-713B-4293-9C84-F0D3BCF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Proposed with automation</a:t>
            </a:r>
          </a:p>
        </p:txBody>
      </p:sp>
      <p:sp>
        <p:nvSpPr>
          <p:cNvPr id="5" name="diagram-67">
            <a:extLst xmlns:a="http://schemas.openxmlformats.org/drawingml/2006/main">
              <a:ext uri="{FF2B5EF4-FFF2-40B4-BE49-F238E27FC236}">
                <a16:creationId xmlns:a16="http://schemas.microsoft.com/office/drawing/2014/main" id="{B37EF789-127C-4813-A4D7-89D0886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381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6" name="diagram-68">
            <a:extLst xmlns:a="http://schemas.openxmlformats.org/drawingml/2006/main">
              <a:ext uri="{FF2B5EF4-FFF2-40B4-BE49-F238E27FC236}">
                <a16:creationId xmlns:a16="http://schemas.microsoft.com/office/drawing/2014/main" id="{20B57A7D-B699-4E81-8EBB-EE1B7010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Check details</a:t>
            </a:r>
          </a:p>
        </p:txBody>
      </p:sp>
      <p:sp>
        <p:nvSpPr>
          <p:cNvPr id="7" name="diagram-69">
            <a:extLst xmlns:a="http://schemas.openxmlformats.org/drawingml/2006/main">
              <a:ext uri="{FF2B5EF4-FFF2-40B4-BE49-F238E27FC236}">
                <a16:creationId xmlns:a16="http://schemas.microsoft.com/office/drawing/2014/main" id="{DF2ACD17-63FD-47CA-A2A4-9DCADB06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2381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8" name="diagram-70">
            <a:extLst xmlns:a="http://schemas.openxmlformats.org/drawingml/2006/main">
              <a:ext uri="{FF2B5EF4-FFF2-40B4-BE49-F238E27FC236}">
                <a16:creationId xmlns:a16="http://schemas.microsoft.com/office/drawing/2014/main" id="{6027013C-EE53-452F-8756-9735B03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Route manually</a:t>
            </a:r>
          </a:p>
        </p:txBody>
      </p:sp>
      <p:sp>
        <p:nvSpPr>
          <p:cNvPr id="9" name="diagram-71">
            <a:extLst xmlns:a="http://schemas.openxmlformats.org/drawingml/2006/main">
              <a:ext uri="{FF2B5EF4-FFF2-40B4-BE49-F238E27FC236}">
                <a16:creationId xmlns:a16="http://schemas.microsoft.com/office/drawing/2014/main" id="{0688A82E-02CC-4CC4-AA6E-2CCD84C4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3143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0" name="diagram-72">
            <a:extLst xmlns:a="http://schemas.openxmlformats.org/drawingml/2006/main">
              <a:ext uri="{FF2B5EF4-FFF2-40B4-BE49-F238E27FC236}">
                <a16:creationId xmlns:a16="http://schemas.microsoft.com/office/drawing/2014/main" id="{F90374E7-2876-4001-86B0-6FEA986D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Check agreed rules</a:t>
            </a:r>
          </a:p>
        </p:txBody>
      </p:sp>
      <p:sp>
        <p:nvSpPr>
          <p:cNvPr id="11" name="diagram-73">
            <a:extLst xmlns:a="http://schemas.openxmlformats.org/drawingml/2006/main">
              <a:ext uri="{FF2B5EF4-FFF2-40B4-BE49-F238E27FC236}">
                <a16:creationId xmlns:a16="http://schemas.microsoft.com/office/drawing/2014/main" id="{F0D2FC09-1578-4AC3-B7CE-B477910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3143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2" name="diagram-74">
            <a:extLst xmlns:a="http://schemas.openxmlformats.org/drawingml/2006/main">
              <a:ext uri="{FF2B5EF4-FFF2-40B4-BE49-F238E27FC236}">
                <a16:creationId xmlns:a16="http://schemas.microsoft.com/office/drawing/2014/main" id="{CB51097B-93EC-4C57-91B1-B3EDCFAC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Route automatically</a:t>
            </a:r>
          </a:p>
        </p:txBody>
      </p:sp>
      <p:sp>
        <p:nvSpPr>
          <p:cNvPr id="13" name="diagram-75">
            <a:extLst xmlns:a="http://schemas.openxmlformats.org/drawingml/2006/main">
              <a:ext uri="{FF2B5EF4-FFF2-40B4-BE49-F238E27FC236}">
                <a16:creationId xmlns:a16="http://schemas.microsoft.com/office/drawing/2014/main" id="{68B3E241-0E4D-4F0A-9100-01324AF7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The manager still decides</a:t>
            </a:r>
          </a:p>
        </p:txBody>
      </p:sp>
      <p:sp>
        <p:nvSpPr>
          <p:cNvPr id="14" name="diagram-76">
            <a:extLst xmlns:a="http://schemas.openxmlformats.org/drawingml/2006/main">
              <a:ext uri="{FF2B5EF4-FFF2-40B4-BE49-F238E27FC236}">
                <a16:creationId xmlns:a16="http://schemas.microsoft.com/office/drawing/2014/main" id="{4B502DF2-0C8C-4D49-9153-559B58F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Output check owner: __________</a:t>
            </a:r>
          </a:p>
        </p:txBody>
      </p:sp>
    </p:spTree>
    <p:extLst>
      <p:ext uri="{BB962C8B-B14F-4D97-AF65-F5344CB8AC3E}">
        <p14:creationId xmlns:p14="http://schemas.microsoft.com/office/powerpoint/2010/main" val="1885835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iagram-77">
            <a:extLst xmlns:a="http://schemas.openxmlformats.org/drawingml/2006/main">
              <a:ext uri="{FF2B5EF4-FFF2-40B4-BE49-F238E27FC236}">
                <a16:creationId xmlns:a16="http://schemas.microsoft.com/office/drawing/2014/main" id="{00CDAD6C-DF48-4BB7-90EF-93E3FDEE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1 · PRACTICE 2</a:t>
            </a:r>
          </a:p>
        </p:txBody>
      </p:sp>
      <p:sp>
        <p:nvSpPr>
          <p:cNvPr id="2" name="diagram-78">
            <a:extLst xmlns:a="http://schemas.openxmlformats.org/drawingml/2006/main">
              <a:ext uri="{FF2B5EF4-FFF2-40B4-BE49-F238E27FC236}">
                <a16:creationId xmlns:a16="http://schemas.microsoft.com/office/drawing/2014/main" id="{E1B76F5D-D816-403F-BF58-4E87D122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Scenario cards A–F</a:t>
            </a:r>
          </a:p>
        </p:txBody>
      </p:sp>
      <p:sp>
        <p:nvSpPr>
          <p:cNvPr id="3" name="diagram-79">
            <a:extLst xmlns:a="http://schemas.openxmlformats.org/drawingml/2006/main">
              <a:ext uri="{FF2B5EF4-FFF2-40B4-BE49-F238E27FC236}">
                <a16:creationId xmlns:a16="http://schemas.microsoft.com/office/drawing/2014/main" id="{FC22DD2D-3887-4870-A20B-4C23400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4" name="diagram-80">
            <a:extLst xmlns:a="http://schemas.openxmlformats.org/drawingml/2006/main">
              <a:ext uri="{FF2B5EF4-FFF2-40B4-BE49-F238E27FC236}">
                <a16:creationId xmlns:a16="http://schemas.microsoft.com/office/drawing/2014/main" id="{B69F0913-B9B0-4AB5-BA72-97C137F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System can help</a:t>
            </a:r>
          </a:p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under agreed rules</a:t>
            </a:r>
          </a:p>
        </p:txBody>
      </p:sp>
      <p:sp>
        <p:nvSpPr>
          <p:cNvPr id="5" name="diagram-81">
            <a:extLst xmlns:a="http://schemas.openxmlformats.org/drawingml/2006/main">
              <a:ext uri="{FF2B5EF4-FFF2-40B4-BE49-F238E27FC236}">
                <a16:creationId xmlns:a16="http://schemas.microsoft.com/office/drawing/2014/main" id="{12199654-364C-4A9B-871E-43BB2140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90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Cards A–F</a:t>
            </a:r>
          </a:p>
          <a:p xmlns:a="http://schemas.openxmlformats.org/drawingml/2006/main">
            <a:pPr>
              <a:defRPr sz="18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Classification + reason</a:t>
            </a:r>
          </a:p>
        </p:txBody>
      </p:sp>
      <p:sp>
        <p:nvSpPr>
          <p:cNvPr id="6" name="diagram-82">
            <a:extLst xmlns:a="http://schemas.openxmlformats.org/drawingml/2006/main">
              <a:ext uri="{FF2B5EF4-FFF2-40B4-BE49-F238E27FC236}">
                <a16:creationId xmlns:a16="http://schemas.microsoft.com/office/drawing/2014/main" id="{4200D7A4-B4C9-40F7-B87B-168C652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7" name="diagram-83">
            <a:extLst xmlns:a="http://schemas.openxmlformats.org/drawingml/2006/main">
              <a:ext uri="{FF2B5EF4-FFF2-40B4-BE49-F238E27FC236}">
                <a16:creationId xmlns:a16="http://schemas.microsoft.com/office/drawing/2014/main" id="{CF80DD0D-6FB7-40DA-B21B-0C2F772C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Human decision</a:t>
            </a:r>
          </a:p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needed</a:t>
            </a:r>
          </a:p>
        </p:txBody>
      </p:sp>
      <p:sp>
        <p:nvSpPr>
          <p:cNvPr id="8" name="diagram-84">
            <a:extLst xmlns:a="http://schemas.openxmlformats.org/drawingml/2006/main">
              <a:ext uri="{FF2B5EF4-FFF2-40B4-BE49-F238E27FC236}">
                <a16:creationId xmlns:a16="http://schemas.microsoft.com/office/drawing/2014/main" id="{7B37D63C-1447-46A3-B238-E4A5ED0F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52875"/>
            <a:ext cx="290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Cards A–F</a:t>
            </a:r>
          </a:p>
          <a:p xmlns:a="http://schemas.openxmlformats.org/drawingml/2006/main">
            <a:pPr>
              <a:defRPr sz="18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Classification + reason</a:t>
            </a:r>
          </a:p>
        </p:txBody>
      </p:sp>
      <p:sp>
        <p:nvSpPr>
          <p:cNvPr id="9" name="diagram-85">
            <a:extLst xmlns:a="http://schemas.openxmlformats.org/drawingml/2006/main">
              <a:ext uri="{FF2B5EF4-FFF2-40B4-BE49-F238E27FC236}">
                <a16:creationId xmlns:a16="http://schemas.microsoft.com/office/drawing/2014/main" id="{7AFA137C-14F3-4E72-BB5A-29BB066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10" name="diagram-86">
            <a:extLst xmlns:a="http://schemas.openxmlformats.org/drawingml/2006/main">
              <a:ext uri="{FF2B5EF4-FFF2-40B4-BE49-F238E27FC236}">
                <a16:creationId xmlns:a16="http://schemas.microsoft.com/office/drawing/2014/main" id="{A1C24C62-A0EB-44F2-A07F-40C7BEC6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More information</a:t>
            </a:r>
          </a:p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needed</a:t>
            </a:r>
          </a:p>
        </p:txBody>
      </p:sp>
      <p:sp>
        <p:nvSpPr>
          <p:cNvPr id="11" name="diagram-87">
            <a:extLst xmlns:a="http://schemas.openxmlformats.org/drawingml/2006/main">
              <a:ext uri="{FF2B5EF4-FFF2-40B4-BE49-F238E27FC236}">
                <a16:creationId xmlns:a16="http://schemas.microsoft.com/office/drawing/2014/main" id="{7AF91DC4-9A1A-4D94-AFCC-E6CCF4B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290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Cards A–F</a:t>
            </a:r>
          </a:p>
          <a:p xmlns:a="http://schemas.openxmlformats.org/drawingml/2006/main">
            <a:pPr>
              <a:defRPr sz="18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Classification + reason</a:t>
            </a:r>
          </a:p>
        </p:txBody>
      </p:sp>
    </p:spTree>
    <p:extLst>
      <p:ext uri="{BB962C8B-B14F-4D97-AF65-F5344CB8AC3E}">
        <p14:creationId xmlns:p14="http://schemas.microsoft.com/office/powerpoint/2010/main" val="1339919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iagram-88">
            <a:extLst xmlns:a="http://schemas.openxmlformats.org/drawingml/2006/main">
              <a:ext uri="{FF2B5EF4-FFF2-40B4-BE49-F238E27FC236}">
                <a16:creationId xmlns:a16="http://schemas.microsoft.com/office/drawing/2014/main" id="{41E917CC-4E4C-47ED-BF26-96E96F9E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Questions from the groups</a:t>
            </a:r>
          </a:p>
        </p:txBody>
      </p:sp>
      <p:sp>
        <p:nvSpPr>
          <p:cNvPr id="2" name="diagram-89">
            <a:extLst xmlns:a="http://schemas.openxmlformats.org/drawingml/2006/main">
              <a:ext uri="{FF2B5EF4-FFF2-40B4-BE49-F238E27FC236}">
                <a16:creationId xmlns:a16="http://schemas.microsoft.com/office/drawing/2014/main" id="{FAA1F717-792F-48FC-A245-52491113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3" name="diagram-90">
            <a:extLst xmlns:a="http://schemas.openxmlformats.org/drawingml/2006/main">
              <a:ext uri="{FF2B5EF4-FFF2-40B4-BE49-F238E27FC236}">
                <a16:creationId xmlns:a16="http://schemas.microsoft.com/office/drawing/2014/main" id="{952B0818-C504-4D63-92F9-9B73AEA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19350"/>
            <a:ext cx="919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What could the system support?</a:t>
            </a:r>
          </a:p>
        </p:txBody>
      </p:sp>
      <p:sp>
        <p:nvSpPr>
          <p:cNvPr id="4" name="diagram-91">
            <a:extLst xmlns:a="http://schemas.openxmlformats.org/drawingml/2006/main">
              <a:ext uri="{FF2B5EF4-FFF2-40B4-BE49-F238E27FC236}">
                <a16:creationId xmlns:a16="http://schemas.microsoft.com/office/drawing/2014/main" id="{6A185762-5D37-458B-870D-70CEBB9D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diagram-92">
            <a:extLst xmlns:a="http://schemas.openxmlformats.org/drawingml/2006/main">
              <a:ext uri="{FF2B5EF4-FFF2-40B4-BE49-F238E27FC236}">
                <a16:creationId xmlns:a16="http://schemas.microsoft.com/office/drawing/2014/main" id="{8EB1F2DB-E850-4D4B-B17D-7D7CF0C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67100"/>
            <a:ext cx="919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Which rule or detail remains unclear?</a:t>
            </a:r>
          </a:p>
        </p:txBody>
      </p:sp>
      <p:sp>
        <p:nvSpPr>
          <p:cNvPr id="6" name="diagram-93">
            <a:extLst xmlns:a="http://schemas.openxmlformats.org/drawingml/2006/main">
              <a:ext uri="{FF2B5EF4-FFF2-40B4-BE49-F238E27FC236}">
                <a16:creationId xmlns:a16="http://schemas.microsoft.com/office/drawing/2014/main" id="{9B8D6376-A017-4633-A85F-3E295F1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7" name="diagram-94">
            <a:extLst xmlns:a="http://schemas.openxmlformats.org/drawingml/2006/main">
              <a:ext uri="{FF2B5EF4-FFF2-40B4-BE49-F238E27FC236}">
                <a16:creationId xmlns:a16="http://schemas.microsoft.com/office/drawing/2014/main" id="{42121B35-219F-4818-84C1-08150CA2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4850"/>
            <a:ext cx="919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What must the process owner or IT confirm?</a:t>
            </a:r>
          </a:p>
        </p:txBody>
      </p:sp>
    </p:spTree>
    <p:extLst>
      <p:ext uri="{BB962C8B-B14F-4D97-AF65-F5344CB8AC3E}">
        <p14:creationId xmlns:p14="http://schemas.microsoft.com/office/powerpoint/2010/main" val="8783641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agram-95">
            <a:extLst xmlns:a="http://schemas.openxmlformats.org/drawingml/2006/main">
              <a:ext uri="{FF2B5EF4-FFF2-40B4-BE49-F238E27FC236}">
                <a16:creationId xmlns:a16="http://schemas.microsoft.com/office/drawing/2014/main" id="{7CC59842-B655-45EC-BDD1-1374BA98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Block 1 checkpoint</a:t>
            </a:r>
          </a:p>
        </p:txBody>
      </p:sp>
      <p:sp>
        <p:nvSpPr>
          <p:cNvPr id="2" name="diagram-96">
            <a:extLst xmlns:a="http://schemas.openxmlformats.org/drawingml/2006/main">
              <a:ext uri="{FF2B5EF4-FFF2-40B4-BE49-F238E27FC236}">
                <a16:creationId xmlns:a16="http://schemas.microsoft.com/office/drawing/2014/main" id="{2491ED69-29DA-4D65-A7AC-B7736100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Systems support repeatable rules</a:t>
            </a:r>
          </a:p>
        </p:txBody>
      </p:sp>
      <p:sp>
        <p:nvSpPr>
          <p:cNvPr id="3" name="diagram-97">
            <a:extLst xmlns:a="http://schemas.openxmlformats.org/drawingml/2006/main">
              <a:ext uri="{FF2B5EF4-FFF2-40B4-BE49-F238E27FC236}">
                <a16:creationId xmlns:a16="http://schemas.microsoft.com/office/drawing/2014/main" id="{A32C4AA2-3775-4918-92D9-B77B37C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People retain accountability</a:t>
            </a:r>
          </a:p>
        </p:txBody>
      </p:sp>
      <p:sp>
        <p:nvSpPr>
          <p:cNvPr id="4" name="diagram-98">
            <a:extLst xmlns:a="http://schemas.openxmlformats.org/drawingml/2006/main">
              <a:ext uri="{FF2B5EF4-FFF2-40B4-BE49-F238E27FC236}">
                <a16:creationId xmlns:a16="http://schemas.microsoft.com/office/drawing/2014/main" id="{B9F4DFC8-CC9D-49A4-A0D3-1FEE25C7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After the break: test your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1607322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agram-99">
            <a:extLst xmlns:a="http://schemas.openxmlformats.org/drawingml/2006/main">
              <a:ext uri="{FF2B5EF4-FFF2-40B4-BE49-F238E27FC236}">
                <a16:creationId xmlns:a16="http://schemas.microsoft.com/office/drawing/2014/main" id="{74BCF3DD-F580-4618-838C-E728639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1 · PRACTICE 3</a:t>
            </a:r>
          </a:p>
        </p:txBody>
      </p:sp>
      <p:sp>
        <p:nvSpPr>
          <p:cNvPr id="2" name="diagram-100">
            <a:extLst xmlns:a="http://schemas.openxmlformats.org/drawingml/2006/main">
              <a:ext uri="{FF2B5EF4-FFF2-40B4-BE49-F238E27FC236}">
                <a16:creationId xmlns:a16="http://schemas.microsoft.com/office/drawing/2014/main" id="{AA845537-77AE-4CDB-9924-9BBFEA53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Knowledge check</a:t>
            </a:r>
          </a:p>
        </p:txBody>
      </p:sp>
      <p:sp>
        <p:nvSpPr>
          <p:cNvPr id="3" name="diagram-101">
            <a:extLst xmlns:a="http://schemas.openxmlformats.org/drawingml/2006/main">
              <a:ext uri="{FF2B5EF4-FFF2-40B4-BE49-F238E27FC236}">
                <a16:creationId xmlns:a16="http://schemas.microsoft.com/office/drawing/2014/main" id="{FB85AF0C-8862-4826-8957-D00012E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diagram-102">
            <a:extLst xmlns:a="http://schemas.openxmlformats.org/drawingml/2006/main">
              <a:ext uri="{FF2B5EF4-FFF2-40B4-BE49-F238E27FC236}">
                <a16:creationId xmlns:a16="http://schemas.microsoft.com/office/drawing/2014/main" id="{E0DA1D52-B4F5-4916-B34A-3EFE09CE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19350"/>
            <a:ext cx="919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Routine copying or undefined exceptions?</a:t>
            </a:r>
          </a:p>
        </p:txBody>
      </p:sp>
      <p:sp>
        <p:nvSpPr>
          <p:cNvPr id="5" name="diagram-103">
            <a:extLst xmlns:a="http://schemas.openxmlformats.org/drawingml/2006/main">
              <a:ext uri="{FF2B5EF4-FFF2-40B4-BE49-F238E27FC236}">
                <a16:creationId xmlns:a16="http://schemas.microsoft.com/office/drawing/2014/main" id="{2534C8D4-DE4A-4FFC-8B04-36C9F345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diagram-104">
            <a:extLst xmlns:a="http://schemas.openxmlformats.org/drawingml/2006/main">
              <a:ext uri="{FF2B5EF4-FFF2-40B4-BE49-F238E27FC236}">
                <a16:creationId xmlns:a16="http://schemas.microsoft.com/office/drawing/2014/main" id="{3BD08E64-25B4-4302-99AE-9A713CF4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67100"/>
            <a:ext cx="919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Do reminders alone remove a delay?</a:t>
            </a:r>
          </a:p>
        </p:txBody>
      </p:sp>
      <p:sp>
        <p:nvSpPr>
          <p:cNvPr id="7" name="diagram-105">
            <a:extLst xmlns:a="http://schemas.openxmlformats.org/drawingml/2006/main">
              <a:ext uri="{FF2B5EF4-FFF2-40B4-BE49-F238E27FC236}">
                <a16:creationId xmlns:a16="http://schemas.microsoft.com/office/drawing/2014/main" id="{28D4C062-DBA6-4B86-AEC6-9BDA2EE9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diagram-106">
            <a:extLst xmlns:a="http://schemas.openxmlformats.org/drawingml/2006/main">
              <a:ext uri="{FF2B5EF4-FFF2-40B4-BE49-F238E27FC236}">
                <a16:creationId xmlns:a16="http://schemas.microsoft.com/office/drawing/2014/main" id="{69D3BAED-7615-4CD1-8B3B-F84FBBF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4850"/>
            <a:ext cx="919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What must be checked before connecting a system?</a:t>
            </a:r>
          </a:p>
        </p:txBody>
      </p:sp>
    </p:spTree>
    <p:extLst>
      <p:ext uri="{BB962C8B-B14F-4D97-AF65-F5344CB8AC3E}">
        <p14:creationId xmlns:p14="http://schemas.microsoft.com/office/powerpoint/2010/main" val="18484531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agram-107">
            <a:extLst xmlns:a="http://schemas.openxmlformats.org/drawingml/2006/main">
              <a:ext uri="{FF2B5EF4-FFF2-40B4-BE49-F238E27FC236}">
                <a16:creationId xmlns:a16="http://schemas.microsoft.com/office/drawing/2014/main" id="{A60F8660-8470-4BE9-BA6E-0C1CB372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Known facts and open questions</a:t>
            </a:r>
          </a:p>
        </p:txBody>
      </p:sp>
      <p:sp>
        <p:nvSpPr>
          <p:cNvPr id="2" name="diagram-108">
            <a:extLst xmlns:a="http://schemas.openxmlformats.org/drawingml/2006/main">
              <a:ext uri="{FF2B5EF4-FFF2-40B4-BE49-F238E27FC236}">
                <a16:creationId xmlns:a16="http://schemas.microsoft.com/office/drawing/2014/main" id="{84719124-C866-4E43-AEB2-BCFAF09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190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109">
            <a:extLst xmlns:a="http://schemas.openxmlformats.org/drawingml/2006/main">
              <a:ext uri="{FF2B5EF4-FFF2-40B4-BE49-F238E27FC236}">
                <a16:creationId xmlns:a16="http://schemas.microsoft.com/office/drawing/2014/main" id="{37FE9E48-C145-4815-A5B5-1EEE1D41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What we know</a:t>
            </a:r>
          </a:p>
        </p:txBody>
      </p:sp>
      <p:sp>
        <p:nvSpPr>
          <p:cNvPr id="4" name="diagram-110">
            <a:extLst xmlns:a="http://schemas.openxmlformats.org/drawingml/2006/main">
              <a:ext uri="{FF2B5EF4-FFF2-40B4-BE49-F238E27FC236}">
                <a16:creationId xmlns:a16="http://schemas.microsoft.com/office/drawing/2014/main" id="{9AC4EA29-8D01-4383-A89B-6F0B3433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What to verify</a:t>
            </a:r>
          </a:p>
        </p:txBody>
      </p:sp>
      <p:sp>
        <p:nvSpPr>
          <p:cNvPr id="5" name="diagram-111">
            <a:extLst xmlns:a="http://schemas.openxmlformats.org/drawingml/2006/main">
              <a:ext uri="{FF2B5EF4-FFF2-40B4-BE49-F238E27FC236}">
                <a16:creationId xmlns:a16="http://schemas.microsoft.com/office/drawing/2014/main" id="{3BF1B793-DD6E-4308-8D7E-764A31A0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Explore repeatable, rule-based work</a:t>
            </a:r>
          </a:p>
        </p:txBody>
      </p:sp>
      <p:sp>
        <p:nvSpPr>
          <p:cNvPr id="6" name="diagram-112">
            <a:extLst xmlns:a="http://schemas.openxmlformats.org/drawingml/2006/main">
              <a:ext uri="{FF2B5EF4-FFF2-40B4-BE49-F238E27FC236}">
                <a16:creationId xmlns:a16="http://schemas.microsoft.com/office/drawing/2014/main" id="{382E130D-DA89-4E4C-8E93-01B50CF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Notifications make status visible</a:t>
            </a:r>
          </a:p>
        </p:txBody>
      </p:sp>
      <p:sp>
        <p:nvSpPr>
          <p:cNvPr id="7" name="diagram-113">
            <a:extLst xmlns:a="http://schemas.openxmlformats.org/drawingml/2006/main">
              <a:ext uri="{FF2B5EF4-FFF2-40B4-BE49-F238E27FC236}">
                <a16:creationId xmlns:a16="http://schemas.microsoft.com/office/drawing/2014/main" id="{0C7E50FE-CC57-4926-B74B-541B3941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Information, rules, and owners</a:t>
            </a:r>
          </a:p>
        </p:txBody>
      </p:sp>
      <p:sp>
        <p:nvSpPr>
          <p:cNvPr id="8" name="diagram-114">
            <a:extLst xmlns:a="http://schemas.openxmlformats.org/drawingml/2006/main">
              <a:ext uri="{FF2B5EF4-FFF2-40B4-BE49-F238E27FC236}">
                <a16:creationId xmlns:a16="http://schemas.microsoft.com/office/drawing/2014/main" id="{2F6BDB56-09A6-4983-9F38-7803AE37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Permissions and available connectors</a:t>
            </a:r>
          </a:p>
        </p:txBody>
      </p:sp>
    </p:spTree>
    <p:extLst>
      <p:ext uri="{BB962C8B-B14F-4D97-AF65-F5344CB8AC3E}">
        <p14:creationId xmlns:p14="http://schemas.microsoft.com/office/powerpoint/2010/main" val="12593448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Operational handover bottleneck" descr="2D editorial illustration of work accumulating at a handover between office team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e925f475041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agram-115">
            <a:extLst xmlns:a="http://schemas.openxmlformats.org/drawingml/2006/main">
              <a:ext uri="{FF2B5EF4-FFF2-40B4-BE49-F238E27FC236}">
                <a16:creationId xmlns:a16="http://schemas.microsoft.com/office/drawing/2014/main" id="{19E886F3-A2C1-4C26-B9B7-B5708053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47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BCAE8"/>
                </a:solidFill>
                <a:latin typeface="Tahoma"/>
                <a:ea typeface="Tahoma"/>
                <a:cs typeface="Tahoma"/>
              </a:rPr>
              <a:t>MODULE 2</a:t>
            </a:r>
          </a:p>
        </p:txBody>
      </p:sp>
      <p:sp>
        <p:nvSpPr>
          <p:cNvPr id="3" name="diagram-116">
            <a:extLst xmlns:a="http://schemas.openxmlformats.org/drawingml/2006/main">
              <a:ext uri="{FF2B5EF4-FFF2-40B4-BE49-F238E27FC236}">
                <a16:creationId xmlns:a16="http://schemas.microsoft.com/office/drawing/2014/main" id="{FAA23039-FD11-4AFA-8272-7380F06F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Unlocking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Operational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Bottlenecks</a:t>
            </a:r>
          </a:p>
        </p:txBody>
      </p:sp>
      <p:sp>
        <p:nvSpPr>
          <p:cNvPr id="4" name="diagram-117">
            <a:extLst xmlns:a="http://schemas.openxmlformats.org/drawingml/2006/main">
              <a:ext uri="{FF2B5EF4-FFF2-40B4-BE49-F238E27FC236}">
                <a16:creationId xmlns:a16="http://schemas.microsoft.com/office/drawing/2014/main" id="{1A33006A-130A-4F93-804A-DB2460D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7E7F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7E7F5"/>
                </a:solidFill>
                <a:latin typeface="Tahoma"/>
                <a:ea typeface="Tahoma"/>
                <a:cs typeface="Tahoma"/>
              </a:rPr>
              <a:t>Map the work before choosing a change</a:t>
            </a:r>
          </a:p>
        </p:txBody>
      </p:sp>
    </p:spTree>
    <p:extLst>
      <p:ext uri="{BB962C8B-B14F-4D97-AF65-F5344CB8AC3E}">
        <p14:creationId xmlns:p14="http://schemas.microsoft.com/office/powerpoint/2010/main" val="1944082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iagram-118">
            <a:extLst xmlns:a="http://schemas.openxmlformats.org/drawingml/2006/main">
              <a:ext uri="{FF2B5EF4-FFF2-40B4-BE49-F238E27FC236}">
                <a16:creationId xmlns:a16="http://schemas.microsoft.com/office/drawing/2014/main" id="{EAF9AEC2-3409-4FFA-A756-95B8D18A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Where requests wait</a:t>
            </a:r>
          </a:p>
        </p:txBody>
      </p:sp>
      <p:sp>
        <p:nvSpPr>
          <p:cNvPr id="2" name="diagram-119">
            <a:extLst xmlns:a="http://schemas.openxmlformats.org/drawingml/2006/main">
              <a:ext uri="{FF2B5EF4-FFF2-40B4-BE49-F238E27FC236}">
                <a16:creationId xmlns:a16="http://schemas.microsoft.com/office/drawing/2014/main" id="{97ADA014-8F23-435B-95BE-B214895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8059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120">
            <a:extLst xmlns:a="http://schemas.openxmlformats.org/drawingml/2006/main">
              <a:ext uri="{FF2B5EF4-FFF2-40B4-BE49-F238E27FC236}">
                <a16:creationId xmlns:a16="http://schemas.microsoft.com/office/drawing/2014/main" id="{57679C16-1EC9-4F0C-BF8B-B3248836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14630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Receive request</a:t>
            </a:r>
          </a:p>
        </p:txBody>
      </p:sp>
      <p:sp>
        <p:nvSpPr>
          <p:cNvPr id="4" name="diagram-121">
            <a:extLst xmlns:a="http://schemas.openxmlformats.org/drawingml/2006/main">
              <a:ext uri="{FF2B5EF4-FFF2-40B4-BE49-F238E27FC236}">
                <a16:creationId xmlns:a16="http://schemas.microsoft.com/office/drawing/2014/main" id="{256A3EED-34F4-4EDB-A49F-8FF9E0B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762250"/>
            <a:ext cx="18059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122">
            <a:extLst xmlns:a="http://schemas.openxmlformats.org/drawingml/2006/main">
              <a:ext uri="{FF2B5EF4-FFF2-40B4-BE49-F238E27FC236}">
                <a16:creationId xmlns:a16="http://schemas.microsoft.com/office/drawing/2014/main" id="{1A54AEBF-C929-42CC-AB73-CF011E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2905125"/>
            <a:ext cx="14630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Check details</a:t>
            </a:r>
          </a:p>
        </p:txBody>
      </p:sp>
      <p:cxnSp>
        <p:nvCxnSpPr>
          <p:cNvPr id="24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6794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7" name="diagram-123">
            <a:extLst xmlns:a="http://schemas.openxmlformats.org/drawingml/2006/main">
              <a:ext uri="{FF2B5EF4-FFF2-40B4-BE49-F238E27FC236}">
                <a16:creationId xmlns:a16="http://schemas.microsoft.com/office/drawing/2014/main" id="{16A04371-BD1E-4D40-8ED5-B0D7E865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762250"/>
            <a:ext cx="18059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8" name="diagram-124">
            <a:extLst xmlns:a="http://schemas.openxmlformats.org/drawingml/2006/main">
              <a:ext uri="{FF2B5EF4-FFF2-40B4-BE49-F238E27FC236}">
                <a16:creationId xmlns:a16="http://schemas.microsoft.com/office/drawing/2014/main" id="{830249A8-6B88-4C94-AE83-7AF1AEF4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2905125"/>
            <a:ext cx="14630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Register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3583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0" name="diagram-125">
            <a:extLst xmlns:a="http://schemas.openxmlformats.org/drawingml/2006/main">
              <a:ext uri="{FF2B5EF4-FFF2-40B4-BE49-F238E27FC236}">
                <a16:creationId xmlns:a16="http://schemas.microsoft.com/office/drawing/2014/main" id="{263265F7-35F6-4083-AC8E-2E8C659F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762250"/>
            <a:ext cx="18059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1" name="diagram-126">
            <a:extLst xmlns:a="http://schemas.openxmlformats.org/drawingml/2006/main">
              <a:ext uri="{FF2B5EF4-FFF2-40B4-BE49-F238E27FC236}">
                <a16:creationId xmlns:a16="http://schemas.microsoft.com/office/drawing/2014/main" id="{07DD87B7-F645-4AD1-843E-BC3D6AD9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905125"/>
            <a:ext cx="14630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Await review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0372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3" name="diagram-127">
            <a:extLst xmlns:a="http://schemas.openxmlformats.org/drawingml/2006/main">
              <a:ext uri="{FF2B5EF4-FFF2-40B4-BE49-F238E27FC236}">
                <a16:creationId xmlns:a16="http://schemas.microsoft.com/office/drawing/2014/main" id="{F50633AE-1192-4048-9F5F-81061119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762250"/>
            <a:ext cx="18059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4" name="diagram-128">
            <a:extLst xmlns:a="http://schemas.openxmlformats.org/drawingml/2006/main">
              <a:ext uri="{FF2B5EF4-FFF2-40B4-BE49-F238E27FC236}">
                <a16:creationId xmlns:a16="http://schemas.microsoft.com/office/drawing/2014/main" id="{626EDB34-049E-4F26-A899-8EE12E17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2905125"/>
            <a:ext cx="14630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outcome</a:t>
            </a:r>
          </a:p>
        </p:txBody>
      </p: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71610" y="3238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6" name="diagram-129">
            <a:extLst xmlns:a="http://schemas.openxmlformats.org/drawingml/2006/main">
              <a:ext uri="{FF2B5EF4-FFF2-40B4-BE49-F238E27FC236}">
                <a16:creationId xmlns:a16="http://schemas.microsoft.com/office/drawing/2014/main" id="{BEC12C5B-48EF-412D-B919-742A1B1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433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Missing details</a:t>
            </a:r>
          </a:p>
        </p:txBody>
      </p:sp>
      <p:sp>
        <p:nvSpPr>
          <p:cNvPr id="17" name="diagram-130">
            <a:extLst xmlns:a="http://schemas.openxmlformats.org/drawingml/2006/main">
              <a:ext uri="{FF2B5EF4-FFF2-40B4-BE49-F238E27FC236}">
                <a16:creationId xmlns:a16="http://schemas.microsoft.com/office/drawing/2014/main" id="{3B25EF6E-FCB4-4F25-8F79-43F9F20F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Awaiting a decision</a:t>
            </a:r>
          </a:p>
        </p:txBody>
      </p:sp>
      <p:sp>
        <p:nvSpPr>
          <p:cNvPr id="18" name="diagram-131">
            <a:extLst xmlns:a="http://schemas.openxmlformats.org/drawingml/2006/main">
              <a:ext uri="{FF2B5EF4-FFF2-40B4-BE49-F238E27FC236}">
                <a16:creationId xmlns:a16="http://schemas.microsoft.com/office/drawing/2014/main" id="{92F5AAAF-A32D-4E88-924D-8CF509BF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Evidence locates the problem before we choose a solution</a:t>
            </a:r>
          </a:p>
        </p:txBody>
      </p:sp>
    </p:spTree>
    <p:extLst>
      <p:ext uri="{BB962C8B-B14F-4D97-AF65-F5344CB8AC3E}">
        <p14:creationId xmlns:p14="http://schemas.microsoft.com/office/powerpoint/2010/main" val="11730908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diagram-132">
            <a:extLst xmlns:a="http://schemas.openxmlformats.org/drawingml/2006/main">
              <a:ext uri="{FF2B5EF4-FFF2-40B4-BE49-F238E27FC236}">
                <a16:creationId xmlns:a16="http://schemas.microsoft.com/office/drawing/2014/main" id="{151CE7B6-3EC1-4756-ACE7-28DFF9A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2 · PRACTICE 1</a:t>
            </a:r>
          </a:p>
        </p:txBody>
      </p:sp>
      <p:sp>
        <p:nvSpPr>
          <p:cNvPr id="2" name="diagram-133">
            <a:extLst xmlns:a="http://schemas.openxmlformats.org/drawingml/2006/main">
              <a:ext uri="{FF2B5EF4-FFF2-40B4-BE49-F238E27FC236}">
                <a16:creationId xmlns:a16="http://schemas.microsoft.com/office/drawing/2014/main" id="{9B05037C-6438-4C9D-91DA-946ADE6F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Current-process map</a:t>
            </a:r>
          </a:p>
        </p:txBody>
      </p:sp>
      <p:sp>
        <p:nvSpPr>
          <p:cNvPr id="3" name="diagram-134">
            <a:extLst xmlns:a="http://schemas.openxmlformats.org/drawingml/2006/main">
              <a:ext uri="{FF2B5EF4-FFF2-40B4-BE49-F238E27FC236}">
                <a16:creationId xmlns:a16="http://schemas.microsoft.com/office/drawing/2014/main" id="{1568D753-B909-41F5-90CC-A72E7DC0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4" name="diagram-135">
            <a:extLst xmlns:a="http://schemas.openxmlformats.org/drawingml/2006/main">
              <a:ext uri="{FF2B5EF4-FFF2-40B4-BE49-F238E27FC236}">
                <a16:creationId xmlns:a16="http://schemas.microsoft.com/office/drawing/2014/main" id="{E14376B9-85D1-4833-9D5E-61075FC0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1  Start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sp>
        <p:nvSpPr>
          <p:cNvPr id="5" name="diagram-136">
            <a:extLst xmlns:a="http://schemas.openxmlformats.org/drawingml/2006/main">
              <a:ext uri="{FF2B5EF4-FFF2-40B4-BE49-F238E27FC236}">
                <a16:creationId xmlns:a16="http://schemas.microsoft.com/office/drawing/2014/main" id="{089F9401-245F-4D34-8907-BB78EEC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6" name="diagram-137">
            <a:extLst xmlns:a="http://schemas.openxmlformats.org/drawingml/2006/main">
              <a:ext uri="{FF2B5EF4-FFF2-40B4-BE49-F238E27FC236}">
                <a16:creationId xmlns:a16="http://schemas.microsoft.com/office/drawing/2014/main" id="{4E0598A3-DAC9-45F6-97DE-60104603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2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sp>
        <p:nvSpPr>
          <p:cNvPr id="7" name="diagram-138">
            <a:extLst xmlns:a="http://schemas.openxmlformats.org/drawingml/2006/main">
              <a:ext uri="{FF2B5EF4-FFF2-40B4-BE49-F238E27FC236}">
                <a16:creationId xmlns:a16="http://schemas.microsoft.com/office/drawing/2014/main" id="{B84F39B7-7F6F-42FC-9F5F-D9B4DDDF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8" name="diagram-139">
            <a:extLst xmlns:a="http://schemas.openxmlformats.org/drawingml/2006/main">
              <a:ext uri="{FF2B5EF4-FFF2-40B4-BE49-F238E27FC236}">
                <a16:creationId xmlns:a16="http://schemas.microsoft.com/office/drawing/2014/main" id="{6C4942B8-7F0B-4A7D-A402-22EC2671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3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sp>
        <p:nvSpPr>
          <p:cNvPr id="9" name="diagram-140">
            <a:extLst xmlns:a="http://schemas.openxmlformats.org/drawingml/2006/main">
              <a:ext uri="{FF2B5EF4-FFF2-40B4-BE49-F238E27FC236}">
                <a16:creationId xmlns:a16="http://schemas.microsoft.com/office/drawing/2014/main" id="{5DC5A0C0-D6F1-41B6-925D-859F8AF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0" name="diagram-141">
            <a:extLst xmlns:a="http://schemas.openxmlformats.org/drawingml/2006/main">
              <a:ext uri="{FF2B5EF4-FFF2-40B4-BE49-F238E27FC236}">
                <a16:creationId xmlns:a16="http://schemas.microsoft.com/office/drawing/2014/main" id="{8759C51A-7B8A-4347-8A0B-F0C8ADB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4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sp>
        <p:nvSpPr>
          <p:cNvPr id="11" name="diagram-142">
            <a:extLst xmlns:a="http://schemas.openxmlformats.org/drawingml/2006/main">
              <a:ext uri="{FF2B5EF4-FFF2-40B4-BE49-F238E27FC236}">
                <a16:creationId xmlns:a16="http://schemas.microsoft.com/office/drawing/2014/main" id="{484A6AB6-D15C-45FB-9A15-CCADDD4E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diagram-143">
            <a:extLst xmlns:a="http://schemas.openxmlformats.org/drawingml/2006/main">
              <a:ext uri="{FF2B5EF4-FFF2-40B4-BE49-F238E27FC236}">
                <a16:creationId xmlns:a16="http://schemas.microsoft.com/office/drawing/2014/main" id="{C3431FFF-FA1A-461F-ADC6-2773DF9C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38625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5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sp>
        <p:nvSpPr>
          <p:cNvPr id="13" name="diagram-144">
            <a:extLst xmlns:a="http://schemas.openxmlformats.org/drawingml/2006/main">
              <a:ext uri="{FF2B5EF4-FFF2-40B4-BE49-F238E27FC236}">
                <a16:creationId xmlns:a16="http://schemas.microsoft.com/office/drawing/2014/main" id="{F77AD6B7-C716-4ACF-8023-63D500C4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diagram-145">
            <a:extLst xmlns:a="http://schemas.openxmlformats.org/drawingml/2006/main">
              <a:ext uri="{FF2B5EF4-FFF2-40B4-BE49-F238E27FC236}">
                <a16:creationId xmlns:a16="http://schemas.microsoft.com/office/drawing/2014/main" id="{C99EDC16-BCEA-4553-8F16-99F9C5A2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6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sp>
        <p:nvSpPr>
          <p:cNvPr id="15" name="diagram-146">
            <a:extLst xmlns:a="http://schemas.openxmlformats.org/drawingml/2006/main">
              <a:ext uri="{FF2B5EF4-FFF2-40B4-BE49-F238E27FC236}">
                <a16:creationId xmlns:a16="http://schemas.microsoft.com/office/drawing/2014/main" id="{9943A07A-AA83-48EA-873C-5BC6382B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diagram-147">
            <a:extLst xmlns:a="http://schemas.openxmlformats.org/drawingml/2006/main">
              <a:ext uri="{FF2B5EF4-FFF2-40B4-BE49-F238E27FC236}">
                <a16:creationId xmlns:a16="http://schemas.microsoft.com/office/drawing/2014/main" id="{48A163B4-78D5-4D80-89E8-BF7D0949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38625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7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sp>
        <p:nvSpPr>
          <p:cNvPr id="17" name="diagram-148">
            <a:extLst xmlns:a="http://schemas.openxmlformats.org/drawingml/2006/main">
              <a:ext uri="{FF2B5EF4-FFF2-40B4-BE49-F238E27FC236}">
                <a16:creationId xmlns:a16="http://schemas.microsoft.com/office/drawing/2014/main" id="{C477F52B-2170-4A4C-BDCB-888339D2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diagram-149">
            <a:extLst xmlns:a="http://schemas.openxmlformats.org/drawingml/2006/main">
              <a:ext uri="{FF2B5EF4-FFF2-40B4-BE49-F238E27FC236}">
                <a16:creationId xmlns:a16="http://schemas.microsoft.com/office/drawing/2014/main" id="{8A1F7C23-CD7E-44AC-9095-B74E3F54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1895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8  End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Role · info/status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00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67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34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882188" y="3209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9" name=""/>
          <p:cNvCxnSpPr>
            <a:stCxn xmlns:a="http://schemas.openxmlformats.org/drawingml/2006/main" id="11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8334375" y="4533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13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5667375" y="4533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5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000375" y="4533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26" name="diagram-150">
            <a:extLst xmlns:a="http://schemas.openxmlformats.org/drawingml/2006/main">
              <a:ext uri="{FF2B5EF4-FFF2-40B4-BE49-F238E27FC236}">
                <a16:creationId xmlns:a16="http://schemas.microsoft.com/office/drawing/2014/main" id="{BCA4DE30-5C9B-49B9-B2D4-5DDFADA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Map 5–8 steps. Show the role and information or status at every handover.</a:t>
            </a:r>
          </a:p>
        </p:txBody>
      </p:sp>
    </p:spTree>
    <p:extLst>
      <p:ext uri="{BB962C8B-B14F-4D97-AF65-F5344CB8AC3E}">
        <p14:creationId xmlns:p14="http://schemas.microsoft.com/office/powerpoint/2010/main" val="19535734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-151">
            <a:extLst xmlns:a="http://schemas.openxmlformats.org/drawingml/2006/main">
              <a:ext uri="{FF2B5EF4-FFF2-40B4-BE49-F238E27FC236}">
                <a16:creationId xmlns:a16="http://schemas.microsoft.com/office/drawing/2014/main" id="{A13E608E-5B39-4A03-B09A-E7D44E12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2 · PRACTICE 2</a:t>
            </a:r>
          </a:p>
        </p:txBody>
      </p:sp>
      <p:sp>
        <p:nvSpPr>
          <p:cNvPr id="2" name="diagram-152">
            <a:extLst xmlns:a="http://schemas.openxmlformats.org/drawingml/2006/main">
              <a:ext uri="{FF2B5EF4-FFF2-40B4-BE49-F238E27FC236}">
                <a16:creationId xmlns:a16="http://schemas.microsoft.com/office/drawing/2014/main" id="{4A5B11EF-9CAF-460E-900B-053F7084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Four types of friction</a:t>
            </a:r>
          </a:p>
        </p:txBody>
      </p:sp>
      <p:sp>
        <p:nvSpPr>
          <p:cNvPr id="3" name="diagram-153">
            <a:extLst xmlns:a="http://schemas.openxmlformats.org/drawingml/2006/main">
              <a:ext uri="{FF2B5EF4-FFF2-40B4-BE49-F238E27FC236}">
                <a16:creationId xmlns:a16="http://schemas.microsoft.com/office/drawing/2014/main" id="{FD328679-DFCD-44A2-ADCE-CDCEBB6D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Repeated work</a:t>
            </a:r>
          </a:p>
        </p:txBody>
      </p:sp>
      <p:sp>
        <p:nvSpPr>
          <p:cNvPr id="4" name="diagram-154">
            <a:extLst xmlns:a="http://schemas.openxmlformats.org/drawingml/2006/main">
              <a:ext uri="{FF2B5EF4-FFF2-40B4-BE49-F238E27FC236}">
                <a16:creationId xmlns:a16="http://schemas.microsoft.com/office/drawing/2014/main" id="{026F2B12-4C94-4046-91D7-8F2A7AD9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Enter the same information again</a:t>
            </a:r>
          </a:p>
        </p:txBody>
      </p:sp>
      <p:sp>
        <p:nvSpPr>
          <p:cNvPr id="5" name="diagram-155">
            <a:extLst xmlns:a="http://schemas.openxmlformats.org/drawingml/2006/main">
              <a:ext uri="{FF2B5EF4-FFF2-40B4-BE49-F238E27FC236}">
                <a16:creationId xmlns:a16="http://schemas.microsoft.com/office/drawing/2014/main" id="{317DBC14-1982-4BAC-8694-70FDEF1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Waiting</a:t>
            </a:r>
          </a:p>
        </p:txBody>
      </p:sp>
      <p:sp>
        <p:nvSpPr>
          <p:cNvPr id="6" name="diagram-156">
            <a:extLst xmlns:a="http://schemas.openxmlformats.org/drawingml/2006/main">
              <a:ext uri="{FF2B5EF4-FFF2-40B4-BE49-F238E27FC236}">
                <a16:creationId xmlns:a16="http://schemas.microsoft.com/office/drawing/2014/main" id="{5F865546-89DE-4A8D-8A5D-87B7CCA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Work pauses during a handover</a:t>
            </a:r>
          </a:p>
        </p:txBody>
      </p:sp>
      <p:sp>
        <p:nvSpPr>
          <p:cNvPr id="7" name="diagram-157">
            <a:extLst xmlns:a="http://schemas.openxmlformats.org/drawingml/2006/main">
              <a:ext uri="{FF2B5EF4-FFF2-40B4-BE49-F238E27FC236}">
                <a16:creationId xmlns:a16="http://schemas.microsoft.com/office/drawing/2014/main" id="{35403B47-E6EA-4492-BA02-8C091E26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Missing details</a:t>
            </a:r>
          </a:p>
        </p:txBody>
      </p:sp>
      <p:sp>
        <p:nvSpPr>
          <p:cNvPr id="8" name="diagram-158">
            <a:extLst xmlns:a="http://schemas.openxmlformats.org/drawingml/2006/main">
              <a:ext uri="{FF2B5EF4-FFF2-40B4-BE49-F238E27FC236}">
                <a16:creationId xmlns:a16="http://schemas.microsoft.com/office/drawing/2014/main" id="{BD203F3F-8257-4138-9E09-B7801B3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The next step cannot start</a:t>
            </a:r>
          </a:p>
        </p:txBody>
      </p:sp>
      <p:sp>
        <p:nvSpPr>
          <p:cNvPr id="9" name="diagram-159">
            <a:extLst xmlns:a="http://schemas.openxmlformats.org/drawingml/2006/main">
              <a:ext uri="{FF2B5EF4-FFF2-40B4-BE49-F238E27FC236}">
                <a16:creationId xmlns:a16="http://schemas.microsoft.com/office/drawing/2014/main" id="{BE2D1598-3E47-44EC-9AE9-216791D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Unclear owner</a:t>
            </a:r>
          </a:p>
        </p:txBody>
      </p:sp>
      <p:sp>
        <p:nvSpPr>
          <p:cNvPr id="10" name="diagram-160">
            <a:extLst xmlns:a="http://schemas.openxmlformats.org/drawingml/2006/main">
              <a:ext uri="{FF2B5EF4-FFF2-40B4-BE49-F238E27FC236}">
                <a16:creationId xmlns:a16="http://schemas.microsoft.com/office/drawing/2014/main" id="{53978576-562B-4300-AEAE-0A3CE26F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Nobody takes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0025272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161">
            <a:extLst xmlns:a="http://schemas.openxmlformats.org/drawingml/2006/main">
              <a:ext uri="{FF2B5EF4-FFF2-40B4-BE49-F238E27FC236}">
                <a16:creationId xmlns:a16="http://schemas.microsoft.com/office/drawing/2014/main" id="{C70A7EE4-22AE-43D7-97AE-228AABB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2 · PRACTICE 3</a:t>
            </a:r>
          </a:p>
        </p:txBody>
      </p:sp>
      <p:sp>
        <p:nvSpPr>
          <p:cNvPr id="2" name="diagram-162">
            <a:extLst xmlns:a="http://schemas.openxmlformats.org/drawingml/2006/main">
              <a:ext uri="{FF2B5EF4-FFF2-40B4-BE49-F238E27FC236}">
                <a16:creationId xmlns:a16="http://schemas.microsoft.com/office/drawing/2014/main" id="{535B6589-227A-421D-94A8-74C918A6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Three pain points to compare</a:t>
            </a:r>
          </a:p>
        </p:txBody>
      </p:sp>
      <p:sp>
        <p:nvSpPr>
          <p:cNvPr id="3" name="diagram-163">
            <a:extLst xmlns:a="http://schemas.openxmlformats.org/drawingml/2006/main">
              <a:ext uri="{FF2B5EF4-FFF2-40B4-BE49-F238E27FC236}">
                <a16:creationId xmlns:a16="http://schemas.microsoft.com/office/drawing/2014/main" id="{80509AC2-1894-4833-BADA-FBB439E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4667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4" name="diagram-164">
            <a:extLst xmlns:a="http://schemas.openxmlformats.org/drawingml/2006/main">
              <a:ext uri="{FF2B5EF4-FFF2-40B4-BE49-F238E27FC236}">
                <a16:creationId xmlns:a16="http://schemas.microsoft.com/office/drawing/2014/main" id="{E1D5B0E9-A189-4AE8-9914-7B6061FA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Process map and evidence</a:t>
            </a:r>
          </a:p>
        </p:txBody>
      </p:sp>
      <p:sp>
        <p:nvSpPr>
          <p:cNvPr id="5" name="diagram-165">
            <a:extLst xmlns:a="http://schemas.openxmlformats.org/drawingml/2006/main">
              <a:ext uri="{FF2B5EF4-FFF2-40B4-BE49-F238E27FC236}">
                <a16:creationId xmlns:a16="http://schemas.microsoft.com/office/drawing/2014/main" id="{DDAEC628-E180-4BD5-B86E-0F9DF632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6" name="diagram-166">
            <a:extLst xmlns:a="http://schemas.openxmlformats.org/drawingml/2006/main">
              <a:ext uri="{FF2B5EF4-FFF2-40B4-BE49-F238E27FC236}">
                <a16:creationId xmlns:a16="http://schemas.microsoft.com/office/drawing/2014/main" id="{071785AB-988C-429B-B05E-592D81AE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99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Pain point A</a:t>
            </a:r>
          </a:p>
        </p:txBody>
      </p:sp>
      <p:cxnSp>
        <p:nvCxnSpPr>
          <p:cNvPr id="21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428875" y="3048000"/>
            <a:ext cx="36195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8" name="diagram-167">
            <a:extLst xmlns:a="http://schemas.openxmlformats.org/drawingml/2006/main">
              <a:ext uri="{FF2B5EF4-FFF2-40B4-BE49-F238E27FC236}">
                <a16:creationId xmlns:a16="http://schemas.microsoft.com/office/drawing/2014/main" id="{6E7DA959-7CD8-4661-8923-111B449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9" name="diagram-168">
            <a:extLst xmlns:a="http://schemas.openxmlformats.org/drawingml/2006/main">
              <a:ext uri="{FF2B5EF4-FFF2-40B4-BE49-F238E27FC236}">
                <a16:creationId xmlns:a16="http://schemas.microsoft.com/office/drawing/2014/main" id="{F94B5F1A-AEAF-4975-809C-87646E97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99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Pain point B</a:t>
            </a:r>
          </a:p>
        </p:txBody>
      </p:sp>
      <p:cxnSp>
        <p:nvCxnSpPr>
          <p:cNvPr id="24" name=""/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48375" y="30480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1" name="diagram-169">
            <a:extLst xmlns:a="http://schemas.openxmlformats.org/drawingml/2006/main">
              <a:ext uri="{FF2B5EF4-FFF2-40B4-BE49-F238E27FC236}">
                <a16:creationId xmlns:a16="http://schemas.microsoft.com/office/drawing/2014/main" id="{C23542C4-87AE-41AB-8C39-9EBDC9B1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52875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2" name="diagram-170">
            <a:extLst xmlns:a="http://schemas.openxmlformats.org/drawingml/2006/main">
              <a:ext uri="{FF2B5EF4-FFF2-40B4-BE49-F238E27FC236}">
                <a16:creationId xmlns:a16="http://schemas.microsoft.com/office/drawing/2014/main" id="{2AFD3B7A-060F-43AB-94AD-9821ED4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99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Pain point C</a:t>
            </a:r>
          </a:p>
        </p:txBody>
      </p:sp>
      <p:cxnSp>
        <p:nvCxnSpPr>
          <p:cNvPr id="27" name=""/>
          <p:cNvCxnSpPr>
            <a:stCxn xmlns:a="http://schemas.openxmlformats.org/drawingml/2006/main" id="3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48375" y="3048000"/>
            <a:ext cx="36195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4" name="diagram-171">
            <a:extLst xmlns:a="http://schemas.openxmlformats.org/drawingml/2006/main">
              <a:ext uri="{FF2B5EF4-FFF2-40B4-BE49-F238E27FC236}">
                <a16:creationId xmlns:a16="http://schemas.microsoft.com/office/drawing/2014/main" id="{081780CC-68A7-40F6-9271-CC40905D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Each pain point must link to a place on the map</a:t>
            </a:r>
          </a:p>
        </p:txBody>
      </p:sp>
    </p:spTree>
    <p:extLst>
      <p:ext uri="{BB962C8B-B14F-4D97-AF65-F5344CB8AC3E}">
        <p14:creationId xmlns:p14="http://schemas.microsoft.com/office/powerpoint/2010/main" val="12083750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agram-172">
            <a:extLst xmlns:a="http://schemas.openxmlformats.org/drawingml/2006/main">
              <a:ext uri="{FF2B5EF4-FFF2-40B4-BE49-F238E27FC236}">
                <a16:creationId xmlns:a16="http://schemas.microsoft.com/office/drawing/2014/main" id="{9F1AE144-F1FA-44C3-9360-93D33755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Block 2 checkpoint</a:t>
            </a:r>
          </a:p>
        </p:txBody>
      </p:sp>
      <p:sp>
        <p:nvSpPr>
          <p:cNvPr id="2" name="diagram-173">
            <a:extLst xmlns:a="http://schemas.openxmlformats.org/drawingml/2006/main">
              <a:ext uri="{FF2B5EF4-FFF2-40B4-BE49-F238E27FC236}">
                <a16:creationId xmlns:a16="http://schemas.microsoft.com/office/drawing/2014/main" id="{CAD86730-7307-4571-A7A6-4A72F1A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One current-process map</a:t>
            </a:r>
          </a:p>
        </p:txBody>
      </p:sp>
      <p:sp>
        <p:nvSpPr>
          <p:cNvPr id="3" name="diagram-174">
            <a:extLst xmlns:a="http://schemas.openxmlformats.org/drawingml/2006/main">
              <a:ext uri="{FF2B5EF4-FFF2-40B4-BE49-F238E27FC236}">
                <a16:creationId xmlns:a16="http://schemas.microsoft.com/office/drawing/2014/main" id="{282BB8C4-2273-4FCE-95F0-3F40DB02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Three evidence-linked pain points</a:t>
            </a:r>
          </a:p>
        </p:txBody>
      </p:sp>
      <p:sp>
        <p:nvSpPr>
          <p:cNvPr id="4" name="diagram-175">
            <a:extLst xmlns:a="http://schemas.openxmlformats.org/drawingml/2006/main">
              <a:ext uri="{FF2B5EF4-FFF2-40B4-BE49-F238E27FC236}">
                <a16:creationId xmlns:a16="http://schemas.microsoft.com/office/drawing/2014/main" id="{AD8DA34A-5205-4F8D-BC29-809E061C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After lunch: select one opportunity</a:t>
            </a:r>
          </a:p>
        </p:txBody>
      </p:sp>
    </p:spTree>
    <p:extLst>
      <p:ext uri="{BB962C8B-B14F-4D97-AF65-F5344CB8AC3E}">
        <p14:creationId xmlns:p14="http://schemas.microsoft.com/office/powerpoint/2010/main" val="8432431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iagram-176">
            <a:extLst xmlns:a="http://schemas.openxmlformats.org/drawingml/2006/main">
              <a:ext uri="{FF2B5EF4-FFF2-40B4-BE49-F238E27FC236}">
                <a16:creationId xmlns:a16="http://schemas.microsoft.com/office/drawing/2014/main" id="{F84B5EA8-DEC8-4D51-8B6D-BAB7FEDF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Opportunity readiness gate</a:t>
            </a:r>
          </a:p>
        </p:txBody>
      </p:sp>
      <p:sp>
        <p:nvSpPr>
          <p:cNvPr id="2" name="diagram-177">
            <a:extLst xmlns:a="http://schemas.openxmlformats.org/drawingml/2006/main">
              <a:ext uri="{FF2B5EF4-FFF2-40B4-BE49-F238E27FC236}">
                <a16:creationId xmlns:a16="http://schemas.microsoft.com/office/drawing/2014/main" id="{1FA516B4-59AE-4FFF-90EB-E16755A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178">
            <a:extLst xmlns:a="http://schemas.openxmlformats.org/drawingml/2006/main">
              <a:ext uri="{FF2B5EF4-FFF2-40B4-BE49-F238E27FC236}">
                <a16:creationId xmlns:a16="http://schemas.microsoft.com/office/drawing/2014/main" id="{70F2272C-78C3-478B-AB94-593F5C14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Proceed to compare</a:t>
            </a:r>
          </a:p>
        </p:txBody>
      </p:sp>
      <p:sp>
        <p:nvSpPr>
          <p:cNvPr id="4" name="diagram-179">
            <a:extLst xmlns:a="http://schemas.openxmlformats.org/drawingml/2006/main">
              <a:ext uri="{FF2B5EF4-FFF2-40B4-BE49-F238E27FC236}">
                <a16:creationId xmlns:a16="http://schemas.microsoft.com/office/drawing/2014/main" id="{C0C85B4A-7F54-4A71-9FDA-586972C8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No stop condition identified</a:t>
            </a:r>
          </a:p>
        </p:txBody>
      </p:sp>
      <p:sp>
        <p:nvSpPr>
          <p:cNvPr id="5" name="diagram-180">
            <a:extLst xmlns:a="http://schemas.openxmlformats.org/drawingml/2006/main">
              <a:ext uri="{FF2B5EF4-FFF2-40B4-BE49-F238E27FC236}">
                <a16:creationId xmlns:a16="http://schemas.microsoft.com/office/drawing/2014/main" id="{C4DF4F8E-A19C-43E1-97EB-5289C63B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diagram-181">
            <a:extLst xmlns:a="http://schemas.openxmlformats.org/drawingml/2006/main">
              <a:ext uri="{FF2B5EF4-FFF2-40B4-BE49-F238E27FC236}">
                <a16:creationId xmlns:a16="http://schemas.microsoft.com/office/drawing/2014/main" id="{1972A11C-6DEC-4CC9-B084-4BB72723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Explore after validation</a:t>
            </a:r>
          </a:p>
        </p:txBody>
      </p:sp>
      <p:sp>
        <p:nvSpPr>
          <p:cNvPr id="7" name="diagram-182">
            <a:extLst xmlns:a="http://schemas.openxmlformats.org/drawingml/2006/main">
              <a:ext uri="{FF2B5EF4-FFF2-40B4-BE49-F238E27FC236}">
                <a16:creationId xmlns:a16="http://schemas.microsoft.com/office/drawing/2014/main" id="{E7AC7874-61FA-4D83-B1F8-3A0D5AEE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A responsible role must validate a gap</a:t>
            </a:r>
          </a:p>
        </p:txBody>
      </p:sp>
      <p:sp>
        <p:nvSpPr>
          <p:cNvPr id="8" name="diagram-183">
            <a:extLst xmlns:a="http://schemas.openxmlformats.org/drawingml/2006/main">
              <a:ext uri="{FF2B5EF4-FFF2-40B4-BE49-F238E27FC236}">
                <a16:creationId xmlns:a16="http://schemas.microsoft.com/office/drawing/2014/main" id="{EE9A98DD-8284-4A87-957B-4E00CA5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9" name="diagram-184">
            <a:extLst xmlns:a="http://schemas.openxmlformats.org/drawingml/2006/main">
              <a:ext uri="{FF2B5EF4-FFF2-40B4-BE49-F238E27FC236}">
                <a16:creationId xmlns:a16="http://schemas.microsoft.com/office/drawing/2014/main" id="{1B66CF69-1D55-42BE-B45E-8A627DB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Do not progress in this workshop</a:t>
            </a:r>
          </a:p>
        </p:txBody>
      </p:sp>
      <p:sp>
        <p:nvSpPr>
          <p:cNvPr id="10" name="diagram-185">
            <a:extLst xmlns:a="http://schemas.openxmlformats.org/drawingml/2006/main">
              <a:ext uri="{FF2B5EF4-FFF2-40B4-BE49-F238E27FC236}">
                <a16:creationId xmlns:a16="http://schemas.microsoft.com/office/drawing/2014/main" id="{58EF2C31-654D-4669-ABE8-9830EADA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Stop condition remains</a:t>
            </a:r>
          </a:p>
        </p:txBody>
      </p:sp>
      <p:sp>
        <p:nvSpPr>
          <p:cNvPr id="11" name="diagram-186">
            <a:extLst xmlns:a="http://schemas.openxmlformats.org/drawingml/2006/main">
              <a:ext uri="{FF2B5EF4-FFF2-40B4-BE49-F238E27FC236}">
                <a16:creationId xmlns:a16="http://schemas.microsoft.com/office/drawing/2014/main" id="{59F20D6B-A105-48AC-AD97-C47482CE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Stop: sensitive data · material harm · unstable rules · frequent unowned exceptions · missing owner</a:t>
            </a:r>
          </a:p>
        </p:txBody>
      </p:sp>
    </p:spTree>
    <p:extLst>
      <p:ext uri="{BB962C8B-B14F-4D97-AF65-F5344CB8AC3E}">
        <p14:creationId xmlns:p14="http://schemas.microsoft.com/office/powerpoint/2010/main" val="1908698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diagram-187">
            <a:extLst xmlns:a="http://schemas.openxmlformats.org/drawingml/2006/main">
              <a:ext uri="{FF2B5EF4-FFF2-40B4-BE49-F238E27FC236}">
                <a16:creationId xmlns:a16="http://schemas.microsoft.com/office/drawing/2014/main" id="{97EDA540-FEA5-4DCC-BA0E-B12A484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3 · PRACTICES 1–2</a:t>
            </a:r>
          </a:p>
        </p:txBody>
      </p:sp>
      <p:sp>
        <p:nvSpPr>
          <p:cNvPr id="2" name="diagram-188">
            <a:extLst xmlns:a="http://schemas.openxmlformats.org/drawingml/2006/main">
              <a:ext uri="{FF2B5EF4-FFF2-40B4-BE49-F238E27FC236}">
                <a16:creationId xmlns:a16="http://schemas.microsoft.com/office/drawing/2014/main" id="{2A791A59-EE1A-49EB-AA99-4EDADB8C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Compare eligible opportunities</a:t>
            </a:r>
          </a:p>
        </p:txBody>
      </p:sp>
      <p:sp>
        <p:nvSpPr>
          <p:cNvPr id="3" name="diagram-189">
            <a:extLst xmlns:a="http://schemas.openxmlformats.org/drawingml/2006/main">
              <a:ext uri="{FF2B5EF4-FFF2-40B4-BE49-F238E27FC236}">
                <a16:creationId xmlns:a16="http://schemas.microsoft.com/office/drawing/2014/main" id="{A7B19D85-B0EE-4790-AD6C-F96C776E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Impact</a:t>
            </a:r>
          </a:p>
        </p:txBody>
      </p:sp>
      <p:sp>
        <p:nvSpPr>
          <p:cNvPr id="4" name="diagram-190">
            <a:extLst xmlns:a="http://schemas.openxmlformats.org/drawingml/2006/main">
              <a:ext uri="{FF2B5EF4-FFF2-40B4-BE49-F238E27FC236}">
                <a16:creationId xmlns:a16="http://schemas.microsoft.com/office/drawing/2014/main" id="{79D6E2B3-44CD-4867-91C5-45D5AA0A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191">
            <a:extLst xmlns:a="http://schemas.openxmlformats.org/drawingml/2006/main">
              <a:ext uri="{FF2B5EF4-FFF2-40B4-BE49-F238E27FC236}">
                <a16:creationId xmlns:a16="http://schemas.microsoft.com/office/drawing/2014/main" id="{861B38A8-F940-402D-A80F-594E39FC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6" name="diagram-192">
            <a:extLst xmlns:a="http://schemas.openxmlformats.org/drawingml/2006/main">
              <a:ext uri="{FF2B5EF4-FFF2-40B4-BE49-F238E27FC236}">
                <a16:creationId xmlns:a16="http://schemas.microsoft.com/office/drawing/2014/main" id="{CC1C6040-0A93-4907-8C30-28388852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7" name="diagram-193">
            <a:extLst xmlns:a="http://schemas.openxmlformats.org/drawingml/2006/main">
              <a:ext uri="{FF2B5EF4-FFF2-40B4-BE49-F238E27FC236}">
                <a16:creationId xmlns:a16="http://schemas.microsoft.com/office/drawing/2014/main" id="{1FCBCD6A-A6BB-4A99-8CC1-900F4738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907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diagram-194">
            <a:extLst xmlns:a="http://schemas.openxmlformats.org/drawingml/2006/main">
              <a:ext uri="{FF2B5EF4-FFF2-40B4-BE49-F238E27FC236}">
                <a16:creationId xmlns:a16="http://schemas.microsoft.com/office/drawing/2014/main" id="{2CD9AC42-2533-49BC-BD50-E6ADA565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9" name="diagram-195">
            <a:extLst xmlns:a="http://schemas.openxmlformats.org/drawingml/2006/main">
              <a:ext uri="{FF2B5EF4-FFF2-40B4-BE49-F238E27FC236}">
                <a16:creationId xmlns:a16="http://schemas.microsoft.com/office/drawing/2014/main" id="{85372111-5A8A-4524-AC75-83BA6406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907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diagram-196">
            <a:extLst xmlns:a="http://schemas.openxmlformats.org/drawingml/2006/main">
              <a:ext uri="{FF2B5EF4-FFF2-40B4-BE49-F238E27FC236}">
                <a16:creationId xmlns:a16="http://schemas.microsoft.com/office/drawing/2014/main" id="{3AC41605-6364-4DE5-AB8A-00772830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Which outcome is affected?</a:t>
            </a:r>
          </a:p>
        </p:txBody>
      </p:sp>
      <p:sp>
        <p:nvSpPr>
          <p:cNvPr id="11" name="diagram-197">
            <a:extLst xmlns:a="http://schemas.openxmlformats.org/drawingml/2006/main">
              <a:ext uri="{FF2B5EF4-FFF2-40B4-BE49-F238E27FC236}">
                <a16:creationId xmlns:a16="http://schemas.microsoft.com/office/drawing/2014/main" id="{86D2C42F-8454-4DD5-B9F2-48AABBFF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Frequency</a:t>
            </a:r>
          </a:p>
        </p:txBody>
      </p:sp>
      <p:sp>
        <p:nvSpPr>
          <p:cNvPr id="12" name="diagram-198">
            <a:extLst xmlns:a="http://schemas.openxmlformats.org/drawingml/2006/main">
              <a:ext uri="{FF2B5EF4-FFF2-40B4-BE49-F238E27FC236}">
                <a16:creationId xmlns:a16="http://schemas.microsoft.com/office/drawing/2014/main" id="{AB0ADE16-E791-4270-ABB9-38814CA0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241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3" name="diagram-199">
            <a:extLst xmlns:a="http://schemas.openxmlformats.org/drawingml/2006/main">
              <a:ext uri="{FF2B5EF4-FFF2-40B4-BE49-F238E27FC236}">
                <a16:creationId xmlns:a16="http://schemas.microsoft.com/office/drawing/2014/main" id="{E5F1569B-D97F-4313-97C3-6C2FB3CB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diagram-200">
            <a:extLst xmlns:a="http://schemas.openxmlformats.org/drawingml/2006/main">
              <a:ext uri="{FF2B5EF4-FFF2-40B4-BE49-F238E27FC236}">
                <a16:creationId xmlns:a16="http://schemas.microsoft.com/office/drawing/2014/main" id="{F947F3E4-26EB-4612-84D5-1406F100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241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5" name="diagram-201">
            <a:extLst xmlns:a="http://schemas.openxmlformats.org/drawingml/2006/main">
              <a:ext uri="{FF2B5EF4-FFF2-40B4-BE49-F238E27FC236}">
                <a16:creationId xmlns:a16="http://schemas.microsoft.com/office/drawing/2014/main" id="{3ECD25FA-B59F-4809-B6DF-9427ECF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670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diagram-202">
            <a:extLst xmlns:a="http://schemas.openxmlformats.org/drawingml/2006/main">
              <a:ext uri="{FF2B5EF4-FFF2-40B4-BE49-F238E27FC236}">
                <a16:creationId xmlns:a16="http://schemas.microsoft.com/office/drawing/2014/main" id="{AE13F1D9-FDE9-487B-9409-E1F6F0D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7" name="diagram-203">
            <a:extLst xmlns:a="http://schemas.openxmlformats.org/drawingml/2006/main">
              <a:ext uri="{FF2B5EF4-FFF2-40B4-BE49-F238E27FC236}">
                <a16:creationId xmlns:a16="http://schemas.microsoft.com/office/drawing/2014/main" id="{15227FD7-CE49-4F37-B324-E1B171D4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670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diagram-204">
            <a:extLst xmlns:a="http://schemas.openxmlformats.org/drawingml/2006/main">
              <a:ext uri="{FF2B5EF4-FFF2-40B4-BE49-F238E27FC236}">
                <a16:creationId xmlns:a16="http://schemas.microsoft.com/office/drawing/2014/main" id="{4F8E36A0-4653-4B11-A411-9473233A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How often does it happen?</a:t>
            </a:r>
          </a:p>
        </p:txBody>
      </p:sp>
      <p:sp>
        <p:nvSpPr>
          <p:cNvPr id="19" name="diagram-205">
            <a:extLst xmlns:a="http://schemas.openxmlformats.org/drawingml/2006/main">
              <a:ext uri="{FF2B5EF4-FFF2-40B4-BE49-F238E27FC236}">
                <a16:creationId xmlns:a16="http://schemas.microsoft.com/office/drawing/2014/main" id="{8EB97032-7B3B-486C-AEE4-2E6AED65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Readiness</a:t>
            </a:r>
          </a:p>
        </p:txBody>
      </p:sp>
      <p:sp>
        <p:nvSpPr>
          <p:cNvPr id="20" name="diagram-206">
            <a:extLst xmlns:a="http://schemas.openxmlformats.org/drawingml/2006/main">
              <a:ext uri="{FF2B5EF4-FFF2-40B4-BE49-F238E27FC236}">
                <a16:creationId xmlns:a16="http://schemas.microsoft.com/office/drawing/2014/main" id="{1F673DBE-0613-4020-A2B1-296AAFB4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004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21" name="diagram-207">
            <a:extLst xmlns:a="http://schemas.openxmlformats.org/drawingml/2006/main">
              <a:ext uri="{FF2B5EF4-FFF2-40B4-BE49-F238E27FC236}">
                <a16:creationId xmlns:a16="http://schemas.microsoft.com/office/drawing/2014/main" id="{F5CFEF92-9B81-44A8-B2EF-38AEDD3B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433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22" name="diagram-208">
            <a:extLst xmlns:a="http://schemas.openxmlformats.org/drawingml/2006/main">
              <a:ext uri="{FF2B5EF4-FFF2-40B4-BE49-F238E27FC236}">
                <a16:creationId xmlns:a16="http://schemas.microsoft.com/office/drawing/2014/main" id="{338236B6-39F4-4CB7-BBBA-5075A264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23" name="diagram-209">
            <a:extLst xmlns:a="http://schemas.openxmlformats.org/drawingml/2006/main">
              <a:ext uri="{FF2B5EF4-FFF2-40B4-BE49-F238E27FC236}">
                <a16:creationId xmlns:a16="http://schemas.microsoft.com/office/drawing/2014/main" id="{6ECC3460-47E2-4918-A7E6-15B955A2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433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24" name="diagram-210">
            <a:extLst xmlns:a="http://schemas.openxmlformats.org/drawingml/2006/main">
              <a:ext uri="{FF2B5EF4-FFF2-40B4-BE49-F238E27FC236}">
                <a16:creationId xmlns:a16="http://schemas.microsoft.com/office/drawing/2014/main" id="{5C98FC1B-DDBD-4A2C-9423-12258F1D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00475"/>
            <a:ext cx="76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25" name="diagram-211">
            <a:extLst xmlns:a="http://schemas.openxmlformats.org/drawingml/2006/main">
              <a:ext uri="{FF2B5EF4-FFF2-40B4-BE49-F238E27FC236}">
                <a16:creationId xmlns:a16="http://schemas.microsoft.com/office/drawing/2014/main" id="{32F10256-7985-4609-846A-E65BC3FA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6" name="diagram-212">
            <a:extLst xmlns:a="http://schemas.openxmlformats.org/drawingml/2006/main">
              <a:ext uri="{FF2B5EF4-FFF2-40B4-BE49-F238E27FC236}">
                <a16:creationId xmlns:a16="http://schemas.microsoft.com/office/drawing/2014/main" id="{82A5931B-F25D-447F-A70F-7B286AE9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Are scope, rules, information, and owner clear?</a:t>
            </a:r>
          </a:p>
        </p:txBody>
      </p:sp>
      <p:sp>
        <p:nvSpPr>
          <p:cNvPr id="27" name="diagram-213">
            <a:extLst xmlns:a="http://schemas.openxmlformats.org/drawingml/2006/main">
              <a:ext uri="{FF2B5EF4-FFF2-40B4-BE49-F238E27FC236}">
                <a16:creationId xmlns:a16="http://schemas.microsoft.com/office/drawing/2014/main" id="{9CA8F4F7-FCCA-43DC-A8F9-A5394938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Effort</a:t>
            </a:r>
          </a:p>
        </p:txBody>
      </p:sp>
      <p:sp>
        <p:nvSpPr>
          <p:cNvPr id="28" name="diagram-214">
            <a:extLst xmlns:a="http://schemas.openxmlformats.org/drawingml/2006/main">
              <a:ext uri="{FF2B5EF4-FFF2-40B4-BE49-F238E27FC236}">
                <a16:creationId xmlns:a16="http://schemas.microsoft.com/office/drawing/2014/main" id="{98DE0B9D-356D-4164-955B-38F062D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910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Low     Medium     High</a:t>
            </a:r>
          </a:p>
        </p:txBody>
      </p:sp>
      <p:sp>
        <p:nvSpPr>
          <p:cNvPr id="29" name="diagram-215">
            <a:extLst xmlns:a="http://schemas.openxmlformats.org/drawingml/2006/main">
              <a:ext uri="{FF2B5EF4-FFF2-40B4-BE49-F238E27FC236}">
                <a16:creationId xmlns:a16="http://schemas.microsoft.com/office/drawing/2014/main" id="{F4C7AB92-64C8-4519-AC95-E1BE7985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529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Low / Medium / High</a:t>
            </a:r>
          </a:p>
        </p:txBody>
      </p:sp>
    </p:spTree>
    <p:extLst>
      <p:ext uri="{BB962C8B-B14F-4D97-AF65-F5344CB8AC3E}">
        <p14:creationId xmlns:p14="http://schemas.microsoft.com/office/powerpoint/2010/main" val="10626905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216">
            <a:extLst xmlns:a="http://schemas.openxmlformats.org/drawingml/2006/main">
              <a:ext uri="{FF2B5EF4-FFF2-40B4-BE49-F238E27FC236}">
                <a16:creationId xmlns:a16="http://schemas.microsoft.com/office/drawing/2014/main" id="{B52EF0D4-3919-4C44-BBBE-46AB5466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3 · PRACTICE 2</a:t>
            </a:r>
          </a:p>
        </p:txBody>
      </p:sp>
      <p:sp>
        <p:nvSpPr>
          <p:cNvPr id="2" name="diagram-217">
            <a:extLst xmlns:a="http://schemas.openxmlformats.org/drawingml/2006/main">
              <a:ext uri="{FF2B5EF4-FFF2-40B4-BE49-F238E27FC236}">
                <a16:creationId xmlns:a16="http://schemas.microsoft.com/office/drawing/2014/main" id="{70033A36-51A4-440F-986E-47692E4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A manageable boundary</a:t>
            </a:r>
          </a:p>
        </p:txBody>
      </p:sp>
      <p:sp>
        <p:nvSpPr>
          <p:cNvPr id="3" name="diagram-218">
            <a:extLst xmlns:a="http://schemas.openxmlformats.org/drawingml/2006/main">
              <a:ext uri="{FF2B5EF4-FFF2-40B4-BE49-F238E27FC236}">
                <a16:creationId xmlns:a16="http://schemas.microsoft.com/office/drawing/2014/main" id="{472AA077-8EAF-40D5-9F0A-FDF04630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57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4FBA"/>
            </a:solidFill>
          </a:ln>
        </p:spPr>
      </p:sp>
      <p:sp>
        <p:nvSpPr>
          <p:cNvPr id="4" name="diagram-219">
            <a:extLst xmlns:a="http://schemas.openxmlformats.org/drawingml/2006/main">
              <a:ext uri="{FF2B5EF4-FFF2-40B4-BE49-F238E27FC236}">
                <a16:creationId xmlns:a16="http://schemas.microsoft.com/office/drawing/2014/main" id="{AA82CA45-8968-4A28-9104-963D031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Selected boundary</a:t>
            </a:r>
          </a:p>
        </p:txBody>
      </p:sp>
      <p:sp>
        <p:nvSpPr>
          <p:cNvPr id="5" name="diagram-220">
            <a:extLst xmlns:a="http://schemas.openxmlformats.org/drawingml/2006/main">
              <a:ext uri="{FF2B5EF4-FFF2-40B4-BE49-F238E27FC236}">
                <a16:creationId xmlns:a16="http://schemas.microsoft.com/office/drawing/2014/main" id="{6C22174E-CAF5-47BC-A4DA-7CB8EDF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25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6" name="diagram-221">
            <a:extLst xmlns:a="http://schemas.openxmlformats.org/drawingml/2006/main">
              <a:ext uri="{FF2B5EF4-FFF2-40B4-BE49-F238E27FC236}">
                <a16:creationId xmlns:a16="http://schemas.microsoft.com/office/drawing/2014/main" id="{7F0CD510-3EF7-4C14-AD53-6EA1B28A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90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Starts when…</a:t>
            </a:r>
          </a:p>
        </p:txBody>
      </p:sp>
      <p:sp>
        <p:nvSpPr>
          <p:cNvPr id="7" name="diagram-222">
            <a:extLst xmlns:a="http://schemas.openxmlformats.org/drawingml/2006/main">
              <a:ext uri="{FF2B5EF4-FFF2-40B4-BE49-F238E27FC236}">
                <a16:creationId xmlns:a16="http://schemas.microsoft.com/office/drawing/2014/main" id="{9041EFF5-DCA5-462C-90A8-99D77918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190875"/>
            <a:ext cx="325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8" name="diagram-223">
            <a:extLst xmlns:a="http://schemas.openxmlformats.org/drawingml/2006/main">
              <a:ext uri="{FF2B5EF4-FFF2-40B4-BE49-F238E27FC236}">
                <a16:creationId xmlns:a16="http://schemas.microsoft.com/office/drawing/2014/main" id="{506E0089-1FFD-4FD0-9856-177CEC7D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333750"/>
            <a:ext cx="290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Work to change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13200" y="3667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0" name="diagram-224">
            <a:extLst xmlns:a="http://schemas.openxmlformats.org/drawingml/2006/main">
              <a:ext uri="{FF2B5EF4-FFF2-40B4-BE49-F238E27FC236}">
                <a16:creationId xmlns:a16="http://schemas.microsoft.com/office/drawing/2014/main" id="{D34FCC96-C887-4DC5-A189-B55012F7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190875"/>
            <a:ext cx="325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1" name="diagram-225">
            <a:extLst xmlns:a="http://schemas.openxmlformats.org/drawingml/2006/main">
              <a:ext uri="{FF2B5EF4-FFF2-40B4-BE49-F238E27FC236}">
                <a16:creationId xmlns:a16="http://schemas.microsoft.com/office/drawing/2014/main" id="{15BFA279-3DFF-45C4-91F2-F52789B2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3333750"/>
            <a:ext cx="290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Ends when…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26350" y="3667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3" name="diagram-226">
            <a:extLst xmlns:a="http://schemas.openxmlformats.org/drawingml/2006/main">
              <a:ext uri="{FF2B5EF4-FFF2-40B4-BE49-F238E27FC236}">
                <a16:creationId xmlns:a16="http://schemas.microsoft.com/office/drawing/2014/main" id="{913FAB80-FF5D-46D4-B8FA-86190513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Owner: who is responsible?</a:t>
            </a:r>
          </a:p>
        </p:txBody>
      </p:sp>
      <p:sp>
        <p:nvSpPr>
          <p:cNvPr id="14" name="diagram-227">
            <a:extLst xmlns:a="http://schemas.openxmlformats.org/drawingml/2006/main">
              <a:ext uri="{FF2B5EF4-FFF2-40B4-BE49-F238E27FC236}">
                <a16:creationId xmlns:a16="http://schemas.microsoft.com/office/drawing/2014/main" id="{9F250E66-6051-4D96-8FF0-EB4C4CE4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B76D13"/>
                </a:solidFill>
                <a:latin typeface="Tahoma"/>
                <a:ea typeface="Tahoma"/>
                <a:cs typeface="Tahoma"/>
              </a:rPr>
              <a:t>Outside scope: what is excluded?</a:t>
            </a:r>
          </a:p>
        </p:txBody>
      </p:sp>
    </p:spTree>
    <p:extLst>
      <p:ext uri="{BB962C8B-B14F-4D97-AF65-F5344CB8AC3E}">
        <p14:creationId xmlns:p14="http://schemas.microsoft.com/office/powerpoint/2010/main" val="17676616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agram-228">
            <a:extLst xmlns:a="http://schemas.openxmlformats.org/drawingml/2006/main">
              <a:ext uri="{FF2B5EF4-FFF2-40B4-BE49-F238E27FC236}">
                <a16:creationId xmlns:a16="http://schemas.microsoft.com/office/drawing/2014/main" id="{2050C3E8-DB4E-4A8B-8FA3-91F31E8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3 · PRACTICE 3</a:t>
            </a:r>
          </a:p>
        </p:txBody>
      </p:sp>
      <p:sp>
        <p:nvSpPr>
          <p:cNvPr id="2" name="diagram-229">
            <a:extLst xmlns:a="http://schemas.openxmlformats.org/drawingml/2006/main">
              <a:ext uri="{FF2B5EF4-FFF2-40B4-BE49-F238E27FC236}">
                <a16:creationId xmlns:a16="http://schemas.microsoft.com/office/drawing/2014/main" id="{044A5BD2-240D-4D3B-A728-86BFBAD9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Peer scope review</a:t>
            </a:r>
          </a:p>
        </p:txBody>
      </p:sp>
      <p:sp>
        <p:nvSpPr>
          <p:cNvPr id="3" name="diagram-230">
            <a:extLst xmlns:a="http://schemas.openxmlformats.org/drawingml/2006/main">
              <a:ext uri="{FF2B5EF4-FFF2-40B4-BE49-F238E27FC236}">
                <a16:creationId xmlns:a16="http://schemas.microsoft.com/office/drawing/2014/main" id="{3A606DF7-92FB-4C04-856B-E4308328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4" name="diagram-231">
            <a:extLst xmlns:a="http://schemas.openxmlformats.org/drawingml/2006/main">
              <a:ext uri="{FF2B5EF4-FFF2-40B4-BE49-F238E27FC236}">
                <a16:creationId xmlns:a16="http://schemas.microsoft.com/office/drawing/2014/main" id="{DD5A5037-7D5D-4C34-8231-0B8367E6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Presenting group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Opportunity and evidence</a:t>
            </a:r>
          </a:p>
        </p:txBody>
      </p:sp>
      <p:sp>
        <p:nvSpPr>
          <p:cNvPr id="5" name="diagram-232">
            <a:extLst xmlns:a="http://schemas.openxmlformats.org/drawingml/2006/main">
              <a:ext uri="{FF2B5EF4-FFF2-40B4-BE49-F238E27FC236}">
                <a16:creationId xmlns:a16="http://schemas.microsoft.com/office/drawing/2014/main" id="{2789BB12-2109-4235-BD20-F9FC333E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6" name="diagram-233">
            <a:extLst xmlns:a="http://schemas.openxmlformats.org/drawingml/2006/main">
              <a:ext uri="{FF2B5EF4-FFF2-40B4-BE49-F238E27FC236}">
                <a16:creationId xmlns:a16="http://schemas.microsoft.com/office/drawing/2014/main" id="{6C22CCD7-9AD5-45FD-93D8-2ACDC2F6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05125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Peer group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Scope and open questions</a:t>
            </a:r>
          </a:p>
        </p:txBody>
      </p: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48250" y="34766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8" name="diagram-234">
            <a:extLst xmlns:a="http://schemas.openxmlformats.org/drawingml/2006/main">
              <a:ext uri="{FF2B5EF4-FFF2-40B4-BE49-F238E27FC236}">
                <a16:creationId xmlns:a16="http://schemas.microsoft.com/office/drawing/2014/main" id="{6B9906C0-C981-4915-8AE0-DFD729C7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Explain for 2 minutes, discuss for 2 minutes, then swap</a:t>
            </a:r>
          </a:p>
        </p:txBody>
      </p:sp>
    </p:spTree>
    <p:extLst>
      <p:ext uri="{BB962C8B-B14F-4D97-AF65-F5344CB8AC3E}">
        <p14:creationId xmlns:p14="http://schemas.microsoft.com/office/powerpoint/2010/main" val="2839294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iagram-235">
            <a:extLst xmlns:a="http://schemas.openxmlformats.org/drawingml/2006/main">
              <a:ext uri="{FF2B5EF4-FFF2-40B4-BE49-F238E27FC236}">
                <a16:creationId xmlns:a16="http://schemas.microsoft.com/office/drawing/2014/main" id="{2846D1D1-F2F8-47EC-AB20-ECEBB0C1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The selected bottleneck</a:t>
            </a:r>
          </a:p>
        </p:txBody>
      </p:sp>
      <p:sp>
        <p:nvSpPr>
          <p:cNvPr id="2" name="diagram-236">
            <a:extLst xmlns:a="http://schemas.openxmlformats.org/drawingml/2006/main">
              <a:ext uri="{FF2B5EF4-FFF2-40B4-BE49-F238E27FC236}">
                <a16:creationId xmlns:a16="http://schemas.microsoft.com/office/drawing/2014/main" id="{4618500A-A103-4D1F-BDF2-C1FE75A6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One selected opportunity</a:t>
            </a:r>
          </a:p>
        </p:txBody>
      </p:sp>
      <p:sp>
        <p:nvSpPr>
          <p:cNvPr id="3" name="diagram-237">
            <a:extLst xmlns:a="http://schemas.openxmlformats.org/drawingml/2006/main">
              <a:ext uri="{FF2B5EF4-FFF2-40B4-BE49-F238E27FC236}">
                <a16:creationId xmlns:a16="http://schemas.microsoft.com/office/drawing/2014/main" id="{089D7B24-D7EB-4E3D-B72D-AA6ADA2C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Evidence-based reason</a:t>
            </a:r>
          </a:p>
        </p:txBody>
      </p:sp>
      <p:sp>
        <p:nvSpPr>
          <p:cNvPr id="4" name="diagram-238">
            <a:extLst xmlns:a="http://schemas.openxmlformats.org/drawingml/2006/main">
              <a:ext uri="{FF2B5EF4-FFF2-40B4-BE49-F238E27FC236}">
                <a16:creationId xmlns:a16="http://schemas.microsoft.com/office/drawing/2014/main" id="{DF441E48-FED9-43B2-9E7A-2DA11881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Boundary and owner</a:t>
            </a:r>
          </a:p>
        </p:txBody>
      </p:sp>
      <p:sp>
        <p:nvSpPr>
          <p:cNvPr id="5" name="diagram-239">
            <a:extLst xmlns:a="http://schemas.openxmlformats.org/drawingml/2006/main">
              <a:ext uri="{FF2B5EF4-FFF2-40B4-BE49-F238E27FC236}">
                <a16:creationId xmlns:a16="http://schemas.microsoft.com/office/drawing/2014/main" id="{B6E8E0F1-6BC4-4697-8217-450869D7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Use the same opportunity to design the Blueprint</a:t>
            </a:r>
          </a:p>
        </p:txBody>
      </p:sp>
    </p:spTree>
    <p:extLst>
      <p:ext uri="{BB962C8B-B14F-4D97-AF65-F5344CB8AC3E}">
        <p14:creationId xmlns:p14="http://schemas.microsoft.com/office/powerpoint/2010/main" val="16422070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Leadership workflow blueprint" descr="2D top-down illustration of a leadership team arranging workflow cards with a branch and exception rou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26dfe5907466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iagram-240">
            <a:extLst xmlns:a="http://schemas.openxmlformats.org/drawingml/2006/main">
              <a:ext uri="{FF2B5EF4-FFF2-40B4-BE49-F238E27FC236}">
                <a16:creationId xmlns:a16="http://schemas.microsoft.com/office/drawing/2014/main" id="{AD219FEB-47BB-475C-8111-C0C17FA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47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BCAE8"/>
                </a:solidFill>
                <a:latin typeface="Tahoma"/>
                <a:ea typeface="Tahoma"/>
                <a:cs typeface="Tahoma"/>
              </a:rPr>
              <a:t>MODULE 3</a:t>
            </a:r>
          </a:p>
        </p:txBody>
      </p:sp>
      <p:sp>
        <p:nvSpPr>
          <p:cNvPr id="3" name="diagram-241">
            <a:extLst xmlns:a="http://schemas.openxmlformats.org/drawingml/2006/main">
              <a:ext uri="{FF2B5EF4-FFF2-40B4-BE49-F238E27FC236}">
                <a16:creationId xmlns:a16="http://schemas.microsoft.com/office/drawing/2014/main" id="{99674D5E-D113-43C6-95DE-4E531797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Strategic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Workflow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Blueprinting</a:t>
            </a:r>
          </a:p>
        </p:txBody>
      </p:sp>
      <p:sp>
        <p:nvSpPr>
          <p:cNvPr id="4" name="diagram-242">
            <a:extLst xmlns:a="http://schemas.openxmlformats.org/drawingml/2006/main">
              <a:ext uri="{FF2B5EF4-FFF2-40B4-BE49-F238E27FC236}">
                <a16:creationId xmlns:a16="http://schemas.microsoft.com/office/drawing/2014/main" id="{D2F1ECAC-F27E-4B56-A7BB-EE3E22A1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7E7F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7E7F5"/>
                </a:solidFill>
                <a:latin typeface="Tahoma"/>
                <a:ea typeface="Tahoma"/>
                <a:cs typeface="Tahoma"/>
              </a:rPr>
              <a:t>Steps, decisions, and exceptions</a:t>
            </a:r>
          </a:p>
        </p:txBody>
      </p:sp>
    </p:spTree>
    <p:extLst>
      <p:ext uri="{BB962C8B-B14F-4D97-AF65-F5344CB8AC3E}">
        <p14:creationId xmlns:p14="http://schemas.microsoft.com/office/powerpoint/2010/main" val="13487514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iagram-243">
            <a:extLst xmlns:a="http://schemas.openxmlformats.org/drawingml/2006/main">
              <a:ext uri="{FF2B5EF4-FFF2-40B4-BE49-F238E27FC236}">
                <a16:creationId xmlns:a16="http://schemas.microsoft.com/office/drawing/2014/main" id="{CB38BED5-3804-47C7-BE48-858B7E34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Triggers, Actions, and connectors</a:t>
            </a:r>
          </a:p>
        </p:txBody>
      </p:sp>
      <p:sp>
        <p:nvSpPr>
          <p:cNvPr id="2" name="diagram-244">
            <a:extLst xmlns:a="http://schemas.openxmlformats.org/drawingml/2006/main">
              <a:ext uri="{FF2B5EF4-FFF2-40B4-BE49-F238E27FC236}">
                <a16:creationId xmlns:a16="http://schemas.microsoft.com/office/drawing/2014/main" id="{9CE1583B-DDE7-4525-AF0F-6FAB98A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245">
            <a:extLst xmlns:a="http://schemas.openxmlformats.org/drawingml/2006/main">
              <a:ext uri="{FF2B5EF4-FFF2-40B4-BE49-F238E27FC236}">
                <a16:creationId xmlns:a16="http://schemas.microsoft.com/office/drawing/2014/main" id="{68A3BA90-9C1C-427B-9595-30884FC0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Trigger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Request received</a:t>
            </a:r>
          </a:p>
        </p:txBody>
      </p:sp>
      <p:sp>
        <p:nvSpPr>
          <p:cNvPr id="4" name="diagram-246">
            <a:extLst xmlns:a="http://schemas.openxmlformats.org/drawingml/2006/main">
              <a:ext uri="{FF2B5EF4-FFF2-40B4-BE49-F238E27FC236}">
                <a16:creationId xmlns:a16="http://schemas.microsoft.com/office/drawing/2014/main" id="{C099C102-AFE8-4FE0-A5D8-72467620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247">
            <a:extLst xmlns:a="http://schemas.openxmlformats.org/drawingml/2006/main">
              <a:ext uri="{FF2B5EF4-FFF2-40B4-BE49-F238E27FC236}">
                <a16:creationId xmlns:a16="http://schemas.microsoft.com/office/drawing/2014/main" id="{EF5CF6B4-35B4-44F8-A1B6-AF5E1D4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051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Action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Send a message</a:t>
            </a:r>
          </a:p>
        </p:txBody>
      </p:sp>
      <p:sp>
        <p:nvSpPr>
          <p:cNvPr id="6" name="diagram-248">
            <a:extLst xmlns:a="http://schemas.openxmlformats.org/drawingml/2006/main">
              <a:ext uri="{FF2B5EF4-FFF2-40B4-BE49-F238E27FC236}">
                <a16:creationId xmlns:a16="http://schemas.microsoft.com/office/drawing/2014/main" id="{3D082AAB-B213-4DE3-A4DE-54742638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7" name="diagram-249">
            <a:extLst xmlns:a="http://schemas.openxmlformats.org/drawingml/2006/main">
              <a:ext uri="{FF2B5EF4-FFF2-40B4-BE49-F238E27FC236}">
                <a16:creationId xmlns:a16="http://schemas.microsoft.com/office/drawing/2014/main" id="{FE15673D-8067-4015-A1D8-3D860C2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Supported service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For example, Outlook</a:t>
            </a:r>
          </a:p>
        </p:txBody>
      </p:sp>
      <p:cxnSp>
        <p:nvCxnSpPr>
          <p:cNvPr id="19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43250" y="33813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34250" y="33813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0" name="diagram-250">
            <a:extLst xmlns:a="http://schemas.openxmlformats.org/drawingml/2006/main">
              <a:ext uri="{FF2B5EF4-FFF2-40B4-BE49-F238E27FC236}">
                <a16:creationId xmlns:a16="http://schemas.microsoft.com/office/drawing/2014/main" id="{EB67CFF6-893F-40EF-B564-C8CA42F3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Connector exposes service operations</a:t>
            </a:r>
          </a:p>
        </p:txBody>
      </p:sp>
      <p:sp>
        <p:nvSpPr>
          <p:cNvPr id="11" name="diagram-251">
            <a:extLst xmlns:a="http://schemas.openxmlformats.org/drawingml/2006/main">
              <a:ext uri="{FF2B5EF4-FFF2-40B4-BE49-F238E27FC236}">
                <a16:creationId xmlns:a16="http://schemas.microsoft.com/office/drawing/2014/main" id="{59DEC4C6-A389-4305-89F8-BCA75715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Verify connections, permissions, information, and supported behaviour before real use.</a:t>
            </a:r>
          </a:p>
        </p:txBody>
      </p:sp>
    </p:spTree>
    <p:extLst>
      <p:ext uri="{BB962C8B-B14F-4D97-AF65-F5344CB8AC3E}">
        <p14:creationId xmlns:p14="http://schemas.microsoft.com/office/powerpoint/2010/main" val="17578006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iagram-252">
            <a:extLst xmlns:a="http://schemas.openxmlformats.org/drawingml/2006/main">
              <a:ext uri="{FF2B5EF4-FFF2-40B4-BE49-F238E27FC236}">
                <a16:creationId xmlns:a16="http://schemas.microsoft.com/office/drawing/2014/main" id="{F478669F-E5F9-430C-B35E-89AE4D27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Conditions and human decisions</a:t>
            </a:r>
          </a:p>
        </p:txBody>
      </p:sp>
      <p:sp>
        <p:nvSpPr>
          <p:cNvPr id="2" name="diagram-253">
            <a:extLst xmlns:a="http://schemas.openxmlformats.org/drawingml/2006/main">
              <a:ext uri="{FF2B5EF4-FFF2-40B4-BE49-F238E27FC236}">
                <a16:creationId xmlns:a16="http://schemas.microsoft.com/office/drawing/2014/main" id="{7B4F41FC-6B69-432F-9357-726ACA5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571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254">
            <a:extLst xmlns:a="http://schemas.openxmlformats.org/drawingml/2006/main">
              <a:ext uri="{FF2B5EF4-FFF2-40B4-BE49-F238E27FC236}">
                <a16:creationId xmlns:a16="http://schemas.microsoft.com/office/drawing/2014/main" id="{6AEA5FF2-F4CA-4A7B-B6AC-952DFED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0"/>
            <a:ext cx="1228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Receive request</a:t>
            </a:r>
          </a:p>
        </p:txBody>
      </p:sp>
      <p:sp>
        <p:nvSpPr>
          <p:cNvPr id="4" name="diagram-255">
            <a:extLst xmlns:a="http://schemas.openxmlformats.org/drawingml/2006/main">
              <a:ext uri="{FF2B5EF4-FFF2-40B4-BE49-F238E27FC236}">
                <a16:creationId xmlns:a16="http://schemas.microsoft.com/office/drawing/2014/main" id="{7A3D92B2-8D4E-4C0D-B72E-40BCACB5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146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256">
            <a:extLst xmlns:a="http://schemas.openxmlformats.org/drawingml/2006/main">
              <a:ext uri="{FF2B5EF4-FFF2-40B4-BE49-F238E27FC236}">
                <a16:creationId xmlns:a16="http://schemas.microsoft.com/office/drawing/2014/main" id="{06E0A7D4-73D5-4DD3-825C-4A33AFB9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575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Details complete?</a:t>
            </a:r>
          </a:p>
        </p:txBody>
      </p:sp>
      <p:sp>
        <p:nvSpPr>
          <p:cNvPr id="6" name="diagram-257">
            <a:extLst xmlns:a="http://schemas.openxmlformats.org/drawingml/2006/main">
              <a:ext uri="{FF2B5EF4-FFF2-40B4-BE49-F238E27FC236}">
                <a16:creationId xmlns:a16="http://schemas.microsoft.com/office/drawing/2014/main" id="{430C6ECA-8A1F-4C12-A3A0-425A7C5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7" name="diagram-258">
            <a:extLst xmlns:a="http://schemas.openxmlformats.org/drawingml/2006/main">
              <a:ext uri="{FF2B5EF4-FFF2-40B4-BE49-F238E27FC236}">
                <a16:creationId xmlns:a16="http://schemas.microsoft.com/office/drawing/2014/main" id="{F708189F-A700-46E8-9580-02CB6AC5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Human approval</a:t>
            </a:r>
          </a:p>
          <a:p xmlns:a="http://schemas.openxmlformats.org/drawingml/2006/main">
            <a:pPr>
              <a:defRPr sz="18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decision</a:t>
            </a:r>
          </a:p>
        </p:txBody>
      </p:sp>
      <p:sp>
        <p:nvSpPr>
          <p:cNvPr id="8" name="diagram-259">
            <a:extLst xmlns:a="http://schemas.openxmlformats.org/drawingml/2006/main">
              <a:ext uri="{FF2B5EF4-FFF2-40B4-BE49-F238E27FC236}">
                <a16:creationId xmlns:a16="http://schemas.microsoft.com/office/drawing/2014/main" id="{1AED4B07-5ADD-44F6-871D-B62E781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428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9" name="diagram-260">
            <a:extLst xmlns:a="http://schemas.openxmlformats.org/drawingml/2006/main">
              <a:ext uri="{FF2B5EF4-FFF2-40B4-BE49-F238E27FC236}">
                <a16:creationId xmlns:a16="http://schemas.microsoft.com/office/drawing/2014/main" id="{09CA0811-2873-4091-9F6A-25B9D129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38375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Approved</a:t>
            </a:r>
          </a:p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requester</a:t>
            </a:r>
          </a:p>
        </p:txBody>
      </p:sp>
      <p:sp>
        <p:nvSpPr>
          <p:cNvPr id="10" name="diagram-261">
            <a:extLst xmlns:a="http://schemas.openxmlformats.org/drawingml/2006/main">
              <a:ext uri="{FF2B5EF4-FFF2-40B4-BE49-F238E27FC236}">
                <a16:creationId xmlns:a16="http://schemas.microsoft.com/office/drawing/2014/main" id="{0A40186E-90D2-4AD0-A71C-DF929523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2428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11" name="diagram-262">
            <a:extLst xmlns:a="http://schemas.openxmlformats.org/drawingml/2006/main">
              <a:ext uri="{FF2B5EF4-FFF2-40B4-BE49-F238E27FC236}">
                <a16:creationId xmlns:a16="http://schemas.microsoft.com/office/drawing/2014/main" id="{DB785916-1ACF-4861-BE9E-1E407C24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Rejected</a:t>
            </a:r>
          </a:p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requester</a:t>
            </a:r>
          </a:p>
        </p:txBody>
      </p:sp>
      <p:sp>
        <p:nvSpPr>
          <p:cNvPr id="12" name="diagram-263">
            <a:extLst xmlns:a="http://schemas.openxmlformats.org/drawingml/2006/main">
              <a:ext uri="{FF2B5EF4-FFF2-40B4-BE49-F238E27FC236}">
                <a16:creationId xmlns:a16="http://schemas.microsoft.com/office/drawing/2014/main" id="{32AA408C-8F69-4FBA-BB82-BB6DD606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13" name="diagram-264">
            <a:extLst xmlns:a="http://schemas.openxmlformats.org/drawingml/2006/main">
              <a:ext uri="{FF2B5EF4-FFF2-40B4-BE49-F238E27FC236}">
                <a16:creationId xmlns:a16="http://schemas.microsoft.com/office/drawing/2014/main" id="{FB33B272-490A-4849-B016-24A892A4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005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Request details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Owner: coordinator</a:t>
            </a:r>
          </a:p>
        </p:txBody>
      </p:sp>
      <p:cxnSp>
        <p:nvCxnSpPr>
          <p:cNvPr id="3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90750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29125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858000" y="2533650"/>
            <a:ext cx="6667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58000" y="3105150"/>
            <a:ext cx="666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D13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24250" y="3495675"/>
            <a:ext cx="428625" cy="962025"/>
          </a:xfrm>
          <a:prstGeom xmlns:a="http://schemas.openxmlformats.org/drawingml/2006/main" prst="bentConnector4">
            <a:avLst>
              <a:gd name="adj1" fmla="val 0"/>
              <a:gd name="adj2" fmla="val 23762"/>
            </a:avLst>
          </a:prstGeom>
          <a:ln xmlns:a="http://schemas.openxmlformats.org/drawingml/2006/main" w="28575">
            <a:solidFill>
              <a:srgbClr val="B76D13"/>
            </a:solidFill>
            <a:tailEnd type="triangle" w="med" len="med"/>
          </a:ln>
        </p:spPr>
      </p:cxnSp>
      <p:sp>
        <p:nvSpPr>
          <p:cNvPr id="19" name="diagram-265">
            <a:extLst xmlns:a="http://schemas.openxmlformats.org/drawingml/2006/main">
              <a:ext uri="{FF2B5EF4-FFF2-40B4-BE49-F238E27FC236}">
                <a16:creationId xmlns:a16="http://schemas.microsoft.com/office/drawing/2014/main" id="{4E7517C4-FCF4-4AC7-BB06-BF2B053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Complete</a:t>
            </a:r>
          </a:p>
        </p:txBody>
      </p:sp>
      <p:sp>
        <p:nvSpPr>
          <p:cNvPr id="20" name="diagram-266">
            <a:extLst xmlns:a="http://schemas.openxmlformats.org/drawingml/2006/main">
              <a:ext uri="{FF2B5EF4-FFF2-40B4-BE49-F238E27FC236}">
                <a16:creationId xmlns:a16="http://schemas.microsoft.com/office/drawing/2014/main" id="{EB90AF99-6CBD-422E-A475-CD527E69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002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Incomplete</a:t>
            </a:r>
          </a:p>
        </p:txBody>
      </p:sp>
      <p:sp>
        <p:nvSpPr>
          <p:cNvPr id="21" name="diagram-267">
            <a:extLst xmlns:a="http://schemas.openxmlformats.org/drawingml/2006/main">
              <a:ext uri="{FF2B5EF4-FFF2-40B4-BE49-F238E27FC236}">
                <a16:creationId xmlns:a16="http://schemas.microsoft.com/office/drawing/2014/main" id="{61007EE3-5203-45C1-A316-0387067B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Approve</a:t>
            </a:r>
          </a:p>
        </p:txBody>
      </p:sp>
      <p:sp>
        <p:nvSpPr>
          <p:cNvPr id="22" name="diagram-268">
            <a:extLst xmlns:a="http://schemas.openxmlformats.org/drawingml/2006/main">
              <a:ext uri="{FF2B5EF4-FFF2-40B4-BE49-F238E27FC236}">
                <a16:creationId xmlns:a16="http://schemas.microsoft.com/office/drawing/2014/main" id="{C31D38F1-927F-4FD2-AE53-F529375A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Reject</a:t>
            </a:r>
          </a:p>
        </p:txBody>
      </p:sp>
      <p:sp>
        <p:nvSpPr>
          <p:cNvPr id="23" name="diagram-269">
            <a:extLst xmlns:a="http://schemas.openxmlformats.org/drawingml/2006/main">
              <a:ext uri="{FF2B5EF4-FFF2-40B4-BE49-F238E27FC236}">
                <a16:creationId xmlns:a16="http://schemas.microsoft.com/office/drawing/2014/main" id="{40CDE5A0-50CD-49A2-9F5A-D1481E9B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A person approves or rejects; both outcomes continue to notification or owned follow-up.</a:t>
            </a:r>
          </a:p>
        </p:txBody>
      </p:sp>
    </p:spTree>
    <p:extLst>
      <p:ext uri="{BB962C8B-B14F-4D97-AF65-F5344CB8AC3E}">
        <p14:creationId xmlns:p14="http://schemas.microsoft.com/office/powerpoint/2010/main" val="555224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diagram-270">
            <a:extLst xmlns:a="http://schemas.openxmlformats.org/drawingml/2006/main">
              <a:ext uri="{FF2B5EF4-FFF2-40B4-BE49-F238E27FC236}">
                <a16:creationId xmlns:a16="http://schemas.microsoft.com/office/drawing/2014/main" id="{6B07A952-0F38-4007-A85D-F548AC59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Workflow Blueprint anatomy</a:t>
            </a:r>
          </a:p>
        </p:txBody>
      </p:sp>
      <p:sp>
        <p:nvSpPr>
          <p:cNvPr id="2" name="diagram-271">
            <a:extLst xmlns:a="http://schemas.openxmlformats.org/drawingml/2006/main">
              <a:ext uri="{FF2B5EF4-FFF2-40B4-BE49-F238E27FC236}">
                <a16:creationId xmlns:a16="http://schemas.microsoft.com/office/drawing/2014/main" id="{9F242D9A-6152-4DCA-82C5-3BF892C8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571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272">
            <a:extLst xmlns:a="http://schemas.openxmlformats.org/drawingml/2006/main">
              <a:ext uri="{FF2B5EF4-FFF2-40B4-BE49-F238E27FC236}">
                <a16:creationId xmlns:a16="http://schemas.microsoft.com/office/drawing/2014/main" id="{60AF3E66-25EB-4E2B-AB20-840AB28E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0"/>
            <a:ext cx="1228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Receive request</a:t>
            </a:r>
          </a:p>
        </p:txBody>
      </p:sp>
      <p:sp>
        <p:nvSpPr>
          <p:cNvPr id="4" name="diagram-273">
            <a:extLst xmlns:a="http://schemas.openxmlformats.org/drawingml/2006/main">
              <a:ext uri="{FF2B5EF4-FFF2-40B4-BE49-F238E27FC236}">
                <a16:creationId xmlns:a16="http://schemas.microsoft.com/office/drawing/2014/main" id="{58E2BEA9-B0B0-4159-AEE1-A729066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146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274">
            <a:extLst xmlns:a="http://schemas.openxmlformats.org/drawingml/2006/main">
              <a:ext uri="{FF2B5EF4-FFF2-40B4-BE49-F238E27FC236}">
                <a16:creationId xmlns:a16="http://schemas.microsoft.com/office/drawing/2014/main" id="{757CD60B-BDD1-4B50-B2B0-DC01FF9F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575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Details complete?</a:t>
            </a:r>
          </a:p>
        </p:txBody>
      </p:sp>
      <p:sp>
        <p:nvSpPr>
          <p:cNvPr id="6" name="diagram-275">
            <a:extLst xmlns:a="http://schemas.openxmlformats.org/drawingml/2006/main">
              <a:ext uri="{FF2B5EF4-FFF2-40B4-BE49-F238E27FC236}">
                <a16:creationId xmlns:a16="http://schemas.microsoft.com/office/drawing/2014/main" id="{7ED738D1-BD75-4072-96A8-5CC37193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7" name="diagram-276">
            <a:extLst xmlns:a="http://schemas.openxmlformats.org/drawingml/2006/main">
              <a:ext uri="{FF2B5EF4-FFF2-40B4-BE49-F238E27FC236}">
                <a16:creationId xmlns:a16="http://schemas.microsoft.com/office/drawing/2014/main" id="{C609F7DE-879F-493C-ADF9-056F5C2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Human approval</a:t>
            </a:r>
          </a:p>
          <a:p xmlns:a="http://schemas.openxmlformats.org/drawingml/2006/main">
            <a:pPr>
              <a:defRPr sz="18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decision</a:t>
            </a:r>
          </a:p>
        </p:txBody>
      </p:sp>
      <p:sp>
        <p:nvSpPr>
          <p:cNvPr id="8" name="diagram-277">
            <a:extLst xmlns:a="http://schemas.openxmlformats.org/drawingml/2006/main">
              <a:ext uri="{FF2B5EF4-FFF2-40B4-BE49-F238E27FC236}">
                <a16:creationId xmlns:a16="http://schemas.microsoft.com/office/drawing/2014/main" id="{6C3EF3BB-09BF-41D0-87FB-A3802849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428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9" name="diagram-278">
            <a:extLst xmlns:a="http://schemas.openxmlformats.org/drawingml/2006/main">
              <a:ext uri="{FF2B5EF4-FFF2-40B4-BE49-F238E27FC236}">
                <a16:creationId xmlns:a16="http://schemas.microsoft.com/office/drawing/2014/main" id="{F9081C1C-6035-4DE1-8B7E-19B1AA0C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38375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Approved</a:t>
            </a:r>
          </a:p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requester</a:t>
            </a:r>
          </a:p>
        </p:txBody>
      </p:sp>
      <p:sp>
        <p:nvSpPr>
          <p:cNvPr id="10" name="diagram-279">
            <a:extLst xmlns:a="http://schemas.openxmlformats.org/drawingml/2006/main">
              <a:ext uri="{FF2B5EF4-FFF2-40B4-BE49-F238E27FC236}">
                <a16:creationId xmlns:a16="http://schemas.microsoft.com/office/drawing/2014/main" id="{1F737CD8-C6B9-4F79-804E-381F4F9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2428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11" name="diagram-280">
            <a:extLst xmlns:a="http://schemas.openxmlformats.org/drawingml/2006/main">
              <a:ext uri="{FF2B5EF4-FFF2-40B4-BE49-F238E27FC236}">
                <a16:creationId xmlns:a16="http://schemas.microsoft.com/office/drawing/2014/main" id="{EA2387FD-14CE-49B5-BC15-DCEFCFF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2085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Rejected</a:t>
            </a:r>
          </a:p>
          <a:p xmlns:a="http://schemas.openxmlformats.org/drawingml/2006/main">
            <a:pPr>
              <a:defRPr sz="17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requester</a:t>
            </a:r>
          </a:p>
        </p:txBody>
      </p:sp>
      <p:sp>
        <p:nvSpPr>
          <p:cNvPr id="12" name="diagram-281">
            <a:extLst xmlns:a="http://schemas.openxmlformats.org/drawingml/2006/main">
              <a:ext uri="{FF2B5EF4-FFF2-40B4-BE49-F238E27FC236}">
                <a16:creationId xmlns:a16="http://schemas.microsoft.com/office/drawing/2014/main" id="{4C9E6A90-7619-4CF0-B754-E56295E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13" name="diagram-282">
            <a:extLst xmlns:a="http://schemas.openxmlformats.org/drawingml/2006/main">
              <a:ext uri="{FF2B5EF4-FFF2-40B4-BE49-F238E27FC236}">
                <a16:creationId xmlns:a16="http://schemas.microsoft.com/office/drawing/2014/main" id="{AC9D60B2-E5FD-428D-9197-37A5A46B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005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Request details</a:t>
            </a:r>
          </a:p>
          <a:p xmlns:a="http://schemas.openxmlformats.org/drawingml/2006/main">
            <a:pPr>
              <a:defRPr sz="1500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Owner: coordinator</a:t>
            </a:r>
          </a:p>
        </p:txBody>
      </p:sp>
      <p:cxnSp>
        <p:nvCxnSpPr>
          <p:cNvPr id="41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90750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29125" y="3105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858000" y="2533650"/>
            <a:ext cx="6667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58000" y="3105150"/>
            <a:ext cx="666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D13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24250" y="3495675"/>
            <a:ext cx="428625" cy="962025"/>
          </a:xfrm>
          <a:prstGeom xmlns:a="http://schemas.openxmlformats.org/drawingml/2006/main" prst="bentConnector4">
            <a:avLst>
              <a:gd name="adj1" fmla="val 0"/>
              <a:gd name="adj2" fmla="val 23762"/>
            </a:avLst>
          </a:prstGeom>
          <a:ln xmlns:a="http://schemas.openxmlformats.org/drawingml/2006/main" w="28575">
            <a:solidFill>
              <a:srgbClr val="B76D13"/>
            </a:solidFill>
            <a:tailEnd type="triangle" w="med" len="med"/>
          </a:ln>
        </p:spPr>
      </p:cxnSp>
      <p:sp>
        <p:nvSpPr>
          <p:cNvPr id="19" name="diagram-283">
            <a:extLst xmlns:a="http://schemas.openxmlformats.org/drawingml/2006/main">
              <a:ext uri="{FF2B5EF4-FFF2-40B4-BE49-F238E27FC236}">
                <a16:creationId xmlns:a16="http://schemas.microsoft.com/office/drawing/2014/main" id="{FE6D6617-62B3-4F8C-BAB0-45ADE428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Complete</a:t>
            </a:r>
          </a:p>
        </p:txBody>
      </p:sp>
      <p:sp>
        <p:nvSpPr>
          <p:cNvPr id="20" name="diagram-284">
            <a:extLst xmlns:a="http://schemas.openxmlformats.org/drawingml/2006/main">
              <a:ext uri="{FF2B5EF4-FFF2-40B4-BE49-F238E27FC236}">
                <a16:creationId xmlns:a16="http://schemas.microsoft.com/office/drawing/2014/main" id="{C136B1F3-986A-4E2E-9F9C-9BFBEB19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002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Incomplete</a:t>
            </a:r>
          </a:p>
        </p:txBody>
      </p:sp>
      <p:sp>
        <p:nvSpPr>
          <p:cNvPr id="21" name="diagram-285">
            <a:extLst xmlns:a="http://schemas.openxmlformats.org/drawingml/2006/main">
              <a:ext uri="{FF2B5EF4-FFF2-40B4-BE49-F238E27FC236}">
                <a16:creationId xmlns:a16="http://schemas.microsoft.com/office/drawing/2014/main" id="{94F297FF-C063-4DEE-BE7C-5B884A36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Approve</a:t>
            </a:r>
          </a:p>
        </p:txBody>
      </p:sp>
      <p:sp>
        <p:nvSpPr>
          <p:cNvPr id="22" name="diagram-286">
            <a:extLst xmlns:a="http://schemas.openxmlformats.org/drawingml/2006/main">
              <a:ext uri="{FF2B5EF4-FFF2-40B4-BE49-F238E27FC236}">
                <a16:creationId xmlns:a16="http://schemas.microsoft.com/office/drawing/2014/main" id="{6AF9A131-FC10-41CC-A7B3-77563D3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Reject</a:t>
            </a:r>
          </a:p>
        </p:txBody>
      </p:sp>
      <p:sp>
        <p:nvSpPr>
          <p:cNvPr id="23" name="diagram-287">
            <a:extLst xmlns:a="http://schemas.openxmlformats.org/drawingml/2006/main">
              <a:ext uri="{FF2B5EF4-FFF2-40B4-BE49-F238E27FC236}">
                <a16:creationId xmlns:a16="http://schemas.microsoft.com/office/drawing/2014/main" id="{FB217058-C581-4923-9347-B0ED32C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Trigger</a:t>
            </a:r>
          </a:p>
        </p:txBody>
      </p:sp>
      <p:sp>
        <p:nvSpPr>
          <p:cNvPr id="24" name="diagram-288">
            <a:extLst xmlns:a="http://schemas.openxmlformats.org/drawingml/2006/main">
              <a:ext uri="{FF2B5EF4-FFF2-40B4-BE49-F238E27FC236}">
                <a16:creationId xmlns:a16="http://schemas.microsoft.com/office/drawing/2014/main" id="{734E9785-DE0E-4463-8F1A-97621D3A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38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Condition</a:t>
            </a:r>
          </a:p>
        </p:txBody>
      </p:sp>
      <p:sp>
        <p:nvSpPr>
          <p:cNvPr id="25" name="diagram-289">
            <a:extLst xmlns:a="http://schemas.openxmlformats.org/drawingml/2006/main">
              <a:ext uri="{FF2B5EF4-FFF2-40B4-BE49-F238E27FC236}">
                <a16:creationId xmlns:a16="http://schemas.microsoft.com/office/drawing/2014/main" id="{10CA5DB9-644E-442B-84EF-9C20397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Human decision</a:t>
            </a:r>
          </a:p>
        </p:txBody>
      </p:sp>
      <p:sp>
        <p:nvSpPr>
          <p:cNvPr id="26" name="diagram-290">
            <a:extLst xmlns:a="http://schemas.openxmlformats.org/drawingml/2006/main">
              <a:ext uri="{FF2B5EF4-FFF2-40B4-BE49-F238E27FC236}">
                <a16:creationId xmlns:a16="http://schemas.microsoft.com/office/drawing/2014/main" id="{8FBADCC6-6E35-4D0C-AFC6-23B47222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Actions</a:t>
            </a:r>
          </a:p>
        </p:txBody>
      </p:sp>
      <p:sp>
        <p:nvSpPr>
          <p:cNvPr id="27" name="diagram-291">
            <a:extLst xmlns:a="http://schemas.openxmlformats.org/drawingml/2006/main">
              <a:ext uri="{FF2B5EF4-FFF2-40B4-BE49-F238E27FC236}">
                <a16:creationId xmlns:a16="http://schemas.microsoft.com/office/drawing/2014/main" id="{9281F78C-1F98-494A-A3FF-69841E3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Both decisions reach an explicit outcome; every exception route has an owner.</a:t>
            </a:r>
          </a:p>
        </p:txBody>
      </p:sp>
    </p:spTree>
    <p:extLst>
      <p:ext uri="{BB962C8B-B14F-4D97-AF65-F5344CB8AC3E}">
        <p14:creationId xmlns:p14="http://schemas.microsoft.com/office/powerpoint/2010/main" val="15854244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iagram-292">
            <a:extLst xmlns:a="http://schemas.openxmlformats.org/drawingml/2006/main">
              <a:ext uri="{FF2B5EF4-FFF2-40B4-BE49-F238E27FC236}">
                <a16:creationId xmlns:a16="http://schemas.microsoft.com/office/drawing/2014/main" id="{DCB972B5-84F7-47C5-B059-62546953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4 · PRACTICE 1</a:t>
            </a:r>
          </a:p>
        </p:txBody>
      </p:sp>
      <p:sp>
        <p:nvSpPr>
          <p:cNvPr id="2" name="diagram-293">
            <a:extLst xmlns:a="http://schemas.openxmlformats.org/drawingml/2006/main">
              <a:ext uri="{FF2B5EF4-FFF2-40B4-BE49-F238E27FC236}">
                <a16:creationId xmlns:a16="http://schemas.microsoft.com/office/drawing/2014/main" id="{AC98D1C0-6A8F-4C8F-966F-2CFD1520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Flow cards: the normal path</a:t>
            </a:r>
          </a:p>
        </p:txBody>
      </p:sp>
      <p:sp>
        <p:nvSpPr>
          <p:cNvPr id="3" name="diagram-294">
            <a:extLst xmlns:a="http://schemas.openxmlformats.org/drawingml/2006/main">
              <a:ext uri="{FF2B5EF4-FFF2-40B4-BE49-F238E27FC236}">
                <a16:creationId xmlns:a16="http://schemas.microsoft.com/office/drawing/2014/main" id="{9DAC425E-7969-4C91-9F7E-6DFC3EFA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4" name="diagram-295">
            <a:extLst xmlns:a="http://schemas.openxmlformats.org/drawingml/2006/main">
              <a:ext uri="{FF2B5EF4-FFF2-40B4-BE49-F238E27FC236}">
                <a16:creationId xmlns:a16="http://schemas.microsoft.com/office/drawing/2014/main" id="{E28DD048-59D1-43DA-BC85-B9053FFD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Trigger</a:t>
            </a:r>
          </a:p>
        </p:txBody>
      </p:sp>
      <p:sp>
        <p:nvSpPr>
          <p:cNvPr id="5" name="diagram-296">
            <a:extLst xmlns:a="http://schemas.openxmlformats.org/drawingml/2006/main">
              <a:ext uri="{FF2B5EF4-FFF2-40B4-BE49-F238E27FC236}">
                <a16:creationId xmlns:a16="http://schemas.microsoft.com/office/drawing/2014/main" id="{69F1E175-AC69-4962-9F7E-DBB8B51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5717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6" name="diagram-297">
            <a:extLst xmlns:a="http://schemas.openxmlformats.org/drawingml/2006/main">
              <a:ext uri="{FF2B5EF4-FFF2-40B4-BE49-F238E27FC236}">
                <a16:creationId xmlns:a16="http://schemas.microsoft.com/office/drawing/2014/main" id="{6B3C9FC1-EF27-4C99-9AF9-69E4D91D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7146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Action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09913" y="3048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8" name="diagram-298">
            <a:extLst xmlns:a="http://schemas.openxmlformats.org/drawingml/2006/main">
              <a:ext uri="{FF2B5EF4-FFF2-40B4-BE49-F238E27FC236}">
                <a16:creationId xmlns:a16="http://schemas.microsoft.com/office/drawing/2014/main" id="{62EB5ECC-31A2-42F8-B817-B40D4BA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717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9" name="diagram-299">
            <a:extLst xmlns:a="http://schemas.openxmlformats.org/drawingml/2006/main">
              <a:ext uri="{FF2B5EF4-FFF2-40B4-BE49-F238E27FC236}">
                <a16:creationId xmlns:a16="http://schemas.microsoft.com/office/drawing/2014/main" id="{871D388F-44D7-4C0E-AABA-E30A9EA5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146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Action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19776" y="30480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1" name="diagram-300">
            <a:extLst xmlns:a="http://schemas.openxmlformats.org/drawingml/2006/main">
              <a:ext uri="{FF2B5EF4-FFF2-40B4-BE49-F238E27FC236}">
                <a16:creationId xmlns:a16="http://schemas.microsoft.com/office/drawing/2014/main" id="{0D440922-B505-4684-93A0-523A4001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2571750"/>
            <a:ext cx="23479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2" name="diagram-301">
            <a:extLst xmlns:a="http://schemas.openxmlformats.org/drawingml/2006/main">
              <a:ext uri="{FF2B5EF4-FFF2-40B4-BE49-F238E27FC236}">
                <a16:creationId xmlns:a16="http://schemas.microsoft.com/office/drawing/2014/main" id="{2D2D7944-74FD-4756-93C3-A6E020F1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714625"/>
            <a:ext cx="200501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Outcome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529638" y="3048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4" name="diagram-302">
            <a:extLst xmlns:a="http://schemas.openxmlformats.org/drawingml/2006/main">
              <a:ext uri="{FF2B5EF4-FFF2-40B4-BE49-F238E27FC236}">
                <a16:creationId xmlns:a16="http://schemas.microsoft.com/office/drawing/2014/main" id="{EBA55481-FC78-4832-A65F-AFA37800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Use only cards that explain the selected opportunity</a:t>
            </a:r>
          </a:p>
        </p:txBody>
      </p:sp>
      <p:sp>
        <p:nvSpPr>
          <p:cNvPr id="15" name="diagram-303">
            <a:extLst xmlns:a="http://schemas.openxmlformats.org/drawingml/2006/main">
              <a:ext uri="{FF2B5EF4-FFF2-40B4-BE49-F238E27FC236}">
                <a16:creationId xmlns:a16="http://schemas.microsoft.com/office/drawing/2014/main" id="{953E460E-9F11-4BD8-932B-55744755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19050">
            <a:solidFill>
              <a:srgbClr val="B76D13"/>
            </a:solidFill>
          </a:ln>
        </p:spPr>
      </p:sp>
      <p:sp>
        <p:nvSpPr>
          <p:cNvPr id="16" name="diagram-304">
            <a:extLst xmlns:a="http://schemas.openxmlformats.org/drawingml/2006/main">
              <a:ext uri="{FF2B5EF4-FFF2-40B4-BE49-F238E27FC236}">
                <a16:creationId xmlns:a16="http://schemas.microsoft.com/office/drawing/2014/main" id="{F2BA6F88-3883-4857-92C4-EBA2055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Correction: Start and wait for an approval is an Action after a valid Trigger.</a:t>
            </a:r>
          </a:p>
        </p:txBody>
      </p:sp>
    </p:spTree>
    <p:extLst>
      <p:ext uri="{BB962C8B-B14F-4D97-AF65-F5344CB8AC3E}">
        <p14:creationId xmlns:p14="http://schemas.microsoft.com/office/powerpoint/2010/main" val="10640391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agram-305">
            <a:extLst xmlns:a="http://schemas.openxmlformats.org/drawingml/2006/main">
              <a:ext uri="{FF2B5EF4-FFF2-40B4-BE49-F238E27FC236}">
                <a16:creationId xmlns:a16="http://schemas.microsoft.com/office/drawing/2014/main" id="{265BFA5A-E455-42C7-B977-8433D16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Block 3 checkpoint</a:t>
            </a:r>
          </a:p>
        </p:txBody>
      </p:sp>
      <p:sp>
        <p:nvSpPr>
          <p:cNvPr id="2" name="diagram-306">
            <a:extLst xmlns:a="http://schemas.openxmlformats.org/drawingml/2006/main">
              <a:ext uri="{FF2B5EF4-FFF2-40B4-BE49-F238E27FC236}">
                <a16:creationId xmlns:a16="http://schemas.microsoft.com/office/drawing/2014/main" id="{E49C112C-AB80-433A-8455-113764A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One selected opportunity</a:t>
            </a:r>
          </a:p>
        </p:txBody>
      </p:sp>
      <p:sp>
        <p:nvSpPr>
          <p:cNvPr id="3" name="diagram-307">
            <a:extLst xmlns:a="http://schemas.openxmlformats.org/drawingml/2006/main">
              <a:ext uri="{FF2B5EF4-FFF2-40B4-BE49-F238E27FC236}">
                <a16:creationId xmlns:a16="http://schemas.microsoft.com/office/drawing/2014/main" id="{539854E1-6664-46DA-8072-0D1668A9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 visible Trigger-to-outcome path</a:t>
            </a:r>
          </a:p>
        </p:txBody>
      </p:sp>
      <p:sp>
        <p:nvSpPr>
          <p:cNvPr id="4" name="diagram-308">
            <a:extLst xmlns:a="http://schemas.openxmlformats.org/drawingml/2006/main">
              <a:ext uri="{FF2B5EF4-FFF2-40B4-BE49-F238E27FC236}">
                <a16:creationId xmlns:a16="http://schemas.microsoft.com/office/drawing/2014/main" id="{C98C3C24-62B9-4144-832D-9714D442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After the break: people and exceptions</a:t>
            </a:r>
          </a:p>
        </p:txBody>
      </p:sp>
    </p:spTree>
    <p:extLst>
      <p:ext uri="{BB962C8B-B14F-4D97-AF65-F5344CB8AC3E}">
        <p14:creationId xmlns:p14="http://schemas.microsoft.com/office/powerpoint/2010/main" val="2739158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iagram-309">
            <a:extLst xmlns:a="http://schemas.openxmlformats.org/drawingml/2006/main">
              <a:ext uri="{FF2B5EF4-FFF2-40B4-BE49-F238E27FC236}">
                <a16:creationId xmlns:a16="http://schemas.microsoft.com/office/drawing/2014/main" id="{C50C1D2D-4509-4B16-B37A-FF4A652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4 · PRACTICES 2–3</a:t>
            </a:r>
          </a:p>
        </p:txBody>
      </p:sp>
      <p:sp>
        <p:nvSpPr>
          <p:cNvPr id="2" name="diagram-310">
            <a:extLst xmlns:a="http://schemas.openxmlformats.org/drawingml/2006/main">
              <a:ext uri="{FF2B5EF4-FFF2-40B4-BE49-F238E27FC236}">
                <a16:creationId xmlns:a16="http://schemas.microsoft.com/office/drawing/2014/main" id="{0C121DFF-F3B6-47FC-AFC8-B69BDE2A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Flow cards: people and exceptions</a:t>
            </a:r>
          </a:p>
        </p:txBody>
      </p:sp>
      <p:sp>
        <p:nvSpPr>
          <p:cNvPr id="3" name="diagram-311">
            <a:extLst xmlns:a="http://schemas.openxmlformats.org/drawingml/2006/main">
              <a:ext uri="{FF2B5EF4-FFF2-40B4-BE49-F238E27FC236}">
                <a16:creationId xmlns:a16="http://schemas.microsoft.com/office/drawing/2014/main" id="{02ACB61F-8EA0-462B-83B4-2FD5ED9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Missing information</a:t>
            </a:r>
          </a:p>
        </p:txBody>
      </p:sp>
      <p:sp>
        <p:nvSpPr>
          <p:cNvPr id="4" name="diagram-312">
            <a:extLst xmlns:a="http://schemas.openxmlformats.org/drawingml/2006/main">
              <a:ext uri="{FF2B5EF4-FFF2-40B4-BE49-F238E27FC236}">
                <a16:creationId xmlns:a16="http://schemas.microsoft.com/office/drawing/2014/main" id="{E4DF5493-D65B-433B-BB2E-066E6989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313">
            <a:extLst xmlns:a="http://schemas.openxmlformats.org/drawingml/2006/main">
              <a:ext uri="{FF2B5EF4-FFF2-40B4-BE49-F238E27FC236}">
                <a16:creationId xmlns:a16="http://schemas.microsoft.com/office/drawing/2014/main" id="{37776337-6C4B-455F-8143-593A27E4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3837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Owner: coordinator</a:t>
            </a:r>
          </a:p>
        </p:txBody>
      </p:sp>
      <p:sp>
        <p:nvSpPr>
          <p:cNvPr id="6" name="diagram-314">
            <a:extLst xmlns:a="http://schemas.openxmlformats.org/drawingml/2006/main">
              <a:ext uri="{FF2B5EF4-FFF2-40B4-BE49-F238E27FC236}">
                <a16:creationId xmlns:a16="http://schemas.microsoft.com/office/drawing/2014/main" id="{811D6FC5-CFEE-47C9-B88A-3B667B64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diagram-315">
            <a:extLst xmlns:a="http://schemas.openxmlformats.org/drawingml/2006/main">
              <a:ext uri="{FF2B5EF4-FFF2-40B4-BE49-F238E27FC236}">
                <a16:creationId xmlns:a16="http://schemas.microsoft.com/office/drawing/2014/main" id="{45D590EB-BA2E-4B11-8B4D-853B394C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8375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Resume at completeness check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24384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9" name="diagram-316">
            <a:extLst xmlns:a="http://schemas.openxmlformats.org/drawingml/2006/main">
              <a:ext uri="{FF2B5EF4-FFF2-40B4-BE49-F238E27FC236}">
                <a16:creationId xmlns:a16="http://schemas.microsoft.com/office/drawing/2014/main" id="{7023FB41-1419-4675-AF7C-A4752A5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Rejection</a:t>
            </a:r>
          </a:p>
        </p:txBody>
      </p:sp>
      <p:sp>
        <p:nvSpPr>
          <p:cNvPr id="10" name="diagram-317">
            <a:extLst xmlns:a="http://schemas.openxmlformats.org/drawingml/2006/main">
              <a:ext uri="{FF2B5EF4-FFF2-40B4-BE49-F238E27FC236}">
                <a16:creationId xmlns:a16="http://schemas.microsoft.com/office/drawing/2014/main" id="{FC670097-E6DF-468E-BD0F-3A144CD8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86125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11" name="diagram-318">
            <a:extLst xmlns:a="http://schemas.openxmlformats.org/drawingml/2006/main">
              <a:ext uri="{FF2B5EF4-FFF2-40B4-BE49-F238E27FC236}">
                <a16:creationId xmlns:a16="http://schemas.microsoft.com/office/drawing/2014/main" id="{60B7E144-E80C-40BA-92D1-576A626B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Owner: manager + coordinator</a:t>
            </a:r>
          </a:p>
        </p:txBody>
      </p:sp>
      <p:sp>
        <p:nvSpPr>
          <p:cNvPr id="12" name="diagram-319">
            <a:extLst xmlns:a="http://schemas.openxmlformats.org/drawingml/2006/main">
              <a:ext uri="{FF2B5EF4-FFF2-40B4-BE49-F238E27FC236}">
                <a16:creationId xmlns:a16="http://schemas.microsoft.com/office/drawing/2014/main" id="{F8766025-C1E6-40A8-B611-206A7DA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diagram-320">
            <a:extLst xmlns:a="http://schemas.openxmlformats.org/drawingml/2006/main">
              <a:ext uri="{FF2B5EF4-FFF2-40B4-BE49-F238E27FC236}">
                <a16:creationId xmlns:a16="http://schemas.microsoft.com/office/drawing/2014/main" id="{95A471FC-609B-47CB-8E67-FD1DD46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Notify requester</a:t>
            </a:r>
          </a:p>
        </p:txBody>
      </p: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572250" y="36290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5" name="diagram-321">
            <a:extLst xmlns:a="http://schemas.openxmlformats.org/drawingml/2006/main">
              <a:ext uri="{FF2B5EF4-FFF2-40B4-BE49-F238E27FC236}">
                <a16:creationId xmlns:a16="http://schemas.microsoft.com/office/drawing/2014/main" id="{66BDD4EE-B19A-480B-A647-D310A332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Stalled work</a:t>
            </a:r>
          </a:p>
        </p:txBody>
      </p:sp>
      <p:sp>
        <p:nvSpPr>
          <p:cNvPr id="16" name="diagram-322">
            <a:extLst xmlns:a="http://schemas.openxmlformats.org/drawingml/2006/main">
              <a:ext uri="{FF2B5EF4-FFF2-40B4-BE49-F238E27FC236}">
                <a16:creationId xmlns:a16="http://schemas.microsoft.com/office/drawing/2014/main" id="{53A9B4DF-D224-46F1-A2DA-6C2C3FDB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7" name="diagram-323">
            <a:extLst xmlns:a="http://schemas.openxmlformats.org/drawingml/2006/main">
              <a:ext uri="{FF2B5EF4-FFF2-40B4-BE49-F238E27FC236}">
                <a16:creationId xmlns:a16="http://schemas.microsoft.com/office/drawing/2014/main" id="{F3F4A7C4-375C-46A4-95BA-E2460AF5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1962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Owner: process owner</a:t>
            </a:r>
          </a:p>
        </p:txBody>
      </p:sp>
      <p:sp>
        <p:nvSpPr>
          <p:cNvPr id="18" name="diagram-324">
            <a:extLst xmlns:a="http://schemas.openxmlformats.org/drawingml/2006/main">
              <a:ext uri="{FF2B5EF4-FFF2-40B4-BE49-F238E27FC236}">
                <a16:creationId xmlns:a16="http://schemas.microsoft.com/office/drawing/2014/main" id="{3AA79A1A-4D8F-46E9-8A2E-789814B0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diagram-325">
            <a:extLst xmlns:a="http://schemas.openxmlformats.org/drawingml/2006/main">
              <a:ext uri="{FF2B5EF4-FFF2-40B4-BE49-F238E27FC236}">
                <a16:creationId xmlns:a16="http://schemas.microsoft.com/office/drawing/2014/main" id="{4F280ECD-2B7C-4ED0-9883-56CB802D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Follow up or escalate</a:t>
            </a:r>
          </a:p>
        </p:txBody>
      </p:sp>
      <p:cxnSp>
        <p:nvCxnSpPr>
          <p:cNvPr id="41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572250" y="48196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21" name="diagram-326">
            <a:extLst xmlns:a="http://schemas.openxmlformats.org/drawingml/2006/main">
              <a:ext uri="{FF2B5EF4-FFF2-40B4-BE49-F238E27FC236}">
                <a16:creationId xmlns:a16="http://schemas.microsoft.com/office/drawing/2014/main" id="{DF209A29-6545-4649-AFF3-3D77B473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Show each route on separate sticky notes and keep the fictional case as the rehearsal fallback.</a:t>
            </a:r>
          </a:p>
        </p:txBody>
      </p:sp>
    </p:spTree>
    <p:extLst>
      <p:ext uri="{BB962C8B-B14F-4D97-AF65-F5344CB8AC3E}">
        <p14:creationId xmlns:p14="http://schemas.microsoft.com/office/powerpoint/2010/main" val="628703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-327">
            <a:extLst xmlns:a="http://schemas.openxmlformats.org/drawingml/2006/main">
              <a:ext uri="{FF2B5EF4-FFF2-40B4-BE49-F238E27FC236}">
                <a16:creationId xmlns:a16="http://schemas.microsoft.com/office/drawing/2014/main" id="{6EECB1EC-5449-4A02-A9A4-3F2A27D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4 · PRACTICE 4</a:t>
            </a:r>
          </a:p>
        </p:txBody>
      </p:sp>
      <p:sp>
        <p:nvSpPr>
          <p:cNvPr id="2" name="diagram-328">
            <a:extLst xmlns:a="http://schemas.openxmlformats.org/drawingml/2006/main">
              <a:ext uri="{FF2B5EF4-FFF2-40B4-BE49-F238E27FC236}">
                <a16:creationId xmlns:a16="http://schemas.microsoft.com/office/drawing/2014/main" id="{4BC7DF32-95B7-493A-B1D9-60BEFA6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Walk-test two cases</a:t>
            </a:r>
          </a:p>
        </p:txBody>
      </p:sp>
      <p:sp>
        <p:nvSpPr>
          <p:cNvPr id="3" name="diagram-329">
            <a:extLst xmlns:a="http://schemas.openxmlformats.org/drawingml/2006/main">
              <a:ext uri="{FF2B5EF4-FFF2-40B4-BE49-F238E27FC236}">
                <a16:creationId xmlns:a16="http://schemas.microsoft.com/office/drawing/2014/main" id="{D4C01591-F752-44B8-A021-88D073C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190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4" name="diagram-330">
            <a:extLst xmlns:a="http://schemas.openxmlformats.org/drawingml/2006/main">
              <a:ext uri="{FF2B5EF4-FFF2-40B4-BE49-F238E27FC236}">
                <a16:creationId xmlns:a16="http://schemas.microsoft.com/office/drawing/2014/main" id="{063A0E50-61DF-42B6-8712-3D7FD5A6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R-101: normal case</a:t>
            </a:r>
          </a:p>
        </p:txBody>
      </p:sp>
      <p:sp>
        <p:nvSpPr>
          <p:cNvPr id="5" name="diagram-331">
            <a:extLst xmlns:a="http://schemas.openxmlformats.org/drawingml/2006/main">
              <a:ext uri="{FF2B5EF4-FFF2-40B4-BE49-F238E27FC236}">
                <a16:creationId xmlns:a16="http://schemas.microsoft.com/office/drawing/2014/main" id="{AFA93704-F32E-4A27-875A-EE202A4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R-102 / R-103: exception</a:t>
            </a:r>
          </a:p>
        </p:txBody>
      </p:sp>
      <p:sp>
        <p:nvSpPr>
          <p:cNvPr id="6" name="diagram-332">
            <a:extLst xmlns:a="http://schemas.openxmlformats.org/drawingml/2006/main">
              <a:ext uri="{FF2B5EF4-FFF2-40B4-BE49-F238E27FC236}">
                <a16:creationId xmlns:a16="http://schemas.microsoft.com/office/drawing/2014/main" id="{84D24337-0485-425E-8657-F6FDC6C4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Follow visible steps only</a:t>
            </a:r>
          </a:p>
        </p:txBody>
      </p:sp>
      <p:sp>
        <p:nvSpPr>
          <p:cNvPr id="7" name="diagram-333">
            <a:extLst xmlns:a="http://schemas.openxmlformats.org/drawingml/2006/main">
              <a:ext uri="{FF2B5EF4-FFF2-40B4-BE49-F238E27FC236}">
                <a16:creationId xmlns:a16="http://schemas.microsoft.com/office/drawing/2014/main" id="{0408E373-259E-4D4E-8162-B8C8C0A7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Check the outcome</a:t>
            </a:r>
          </a:p>
        </p:txBody>
      </p:sp>
      <p:sp>
        <p:nvSpPr>
          <p:cNvPr id="8" name="diagram-334">
            <a:extLst xmlns:a="http://schemas.openxmlformats.org/drawingml/2006/main">
              <a:ext uri="{FF2B5EF4-FFF2-40B4-BE49-F238E27FC236}">
                <a16:creationId xmlns:a16="http://schemas.microsoft.com/office/drawing/2014/main" id="{A8DE3AEF-AE2F-4D5B-B809-1F2836B9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Record the gap before editing</a:t>
            </a:r>
          </a:p>
        </p:txBody>
      </p:sp>
      <p:sp>
        <p:nvSpPr>
          <p:cNvPr id="9" name="diagram-335">
            <a:extLst xmlns:a="http://schemas.openxmlformats.org/drawingml/2006/main">
              <a:ext uri="{FF2B5EF4-FFF2-40B4-BE49-F238E27FC236}">
                <a16:creationId xmlns:a16="http://schemas.microsoft.com/office/drawing/2014/main" id="{16994325-886C-4E26-A113-A165957B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Revise and retest the affected path</a:t>
            </a:r>
          </a:p>
        </p:txBody>
      </p:sp>
      <p:sp>
        <p:nvSpPr>
          <p:cNvPr id="10" name="diagram-336">
            <a:extLst xmlns:a="http://schemas.openxmlformats.org/drawingml/2006/main">
              <a:ext uri="{FF2B5EF4-FFF2-40B4-BE49-F238E27FC236}">
                <a16:creationId xmlns:a16="http://schemas.microsoft.com/office/drawing/2014/main" id="{04691552-95B1-4E73-848C-5FF992EC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If progress stops, identify who takes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9218458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iagram-337">
            <a:extLst xmlns:a="http://schemas.openxmlformats.org/drawingml/2006/main">
              <a:ext uri="{FF2B5EF4-FFF2-40B4-BE49-F238E27FC236}">
                <a16:creationId xmlns:a16="http://schemas.microsoft.com/office/drawing/2014/main" id="{03796FEA-9898-47B7-BDFA-9684EF6B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5 · PRACTICE 1</a:t>
            </a:r>
          </a:p>
        </p:txBody>
      </p:sp>
      <p:sp>
        <p:nvSpPr>
          <p:cNvPr id="2" name="diagram-338">
            <a:extLst xmlns:a="http://schemas.openxmlformats.org/drawingml/2006/main">
              <a:ext uri="{FF2B5EF4-FFF2-40B4-BE49-F238E27FC236}">
                <a16:creationId xmlns:a16="http://schemas.microsoft.com/office/drawing/2014/main" id="{CA38F1BA-C546-4A6C-B981-470E820E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Text for Copilot review</a:t>
            </a:r>
          </a:p>
        </p:txBody>
      </p:sp>
      <p:sp>
        <p:nvSpPr>
          <p:cNvPr id="3" name="diagram-339">
            <a:extLst xmlns:a="http://schemas.openxmlformats.org/drawingml/2006/main">
              <a:ext uri="{FF2B5EF4-FFF2-40B4-BE49-F238E27FC236}">
                <a16:creationId xmlns:a16="http://schemas.microsoft.com/office/drawing/2014/main" id="{AAE57A59-01EA-4E39-89CE-F0B3555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Problem / outcome</a:t>
            </a:r>
          </a:p>
        </p:txBody>
      </p:sp>
      <p:sp>
        <p:nvSpPr>
          <p:cNvPr id="4" name="diagram-340">
            <a:extLst xmlns:a="http://schemas.openxmlformats.org/drawingml/2006/main">
              <a:ext uri="{FF2B5EF4-FFF2-40B4-BE49-F238E27FC236}">
                <a16:creationId xmlns:a16="http://schemas.microsoft.com/office/drawing/2014/main" id="{2D312413-4786-42E8-9C74-45D818A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3762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Why change the work?</a:t>
            </a:r>
          </a:p>
        </p:txBody>
      </p:sp>
      <p:sp>
        <p:nvSpPr>
          <p:cNvPr id="5" name="diagram-341">
            <a:extLst xmlns:a="http://schemas.openxmlformats.org/drawingml/2006/main">
              <a:ext uri="{FF2B5EF4-FFF2-40B4-BE49-F238E27FC236}">
                <a16:creationId xmlns:a16="http://schemas.microsoft.com/office/drawing/2014/main" id="{BE255059-CA83-47CF-9D75-8D46E41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Trigger / steps / branches</a:t>
            </a:r>
          </a:p>
        </p:txBody>
      </p:sp>
      <p:sp>
        <p:nvSpPr>
          <p:cNvPr id="6" name="diagram-342">
            <a:extLst xmlns:a="http://schemas.openxmlformats.org/drawingml/2006/main">
              <a:ext uri="{FF2B5EF4-FFF2-40B4-BE49-F238E27FC236}">
                <a16:creationId xmlns:a16="http://schemas.microsoft.com/office/drawing/2014/main" id="{6589E5EE-3FE5-4967-83BC-386AB956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05175"/>
            <a:ext cx="3762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How does the draft work?</a:t>
            </a:r>
          </a:p>
        </p:txBody>
      </p:sp>
      <p:sp>
        <p:nvSpPr>
          <p:cNvPr id="7" name="diagram-343">
            <a:extLst xmlns:a="http://schemas.openxmlformats.org/drawingml/2006/main">
              <a:ext uri="{FF2B5EF4-FFF2-40B4-BE49-F238E27FC236}">
                <a16:creationId xmlns:a16="http://schemas.microsoft.com/office/drawing/2014/main" id="{51FA72A7-2684-456E-8C15-2421307F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People / exceptions / assumptions</a:t>
            </a:r>
          </a:p>
        </p:txBody>
      </p:sp>
      <p:sp>
        <p:nvSpPr>
          <p:cNvPr id="8" name="diagram-344">
            <a:extLst xmlns:a="http://schemas.openxmlformats.org/drawingml/2006/main">
              <a:ext uri="{FF2B5EF4-FFF2-40B4-BE49-F238E27FC236}">
                <a16:creationId xmlns:a16="http://schemas.microsoft.com/office/drawing/2014/main" id="{1172E57C-3BD7-491A-BA12-B95E1AC8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3762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What needs verification?</a:t>
            </a:r>
          </a:p>
        </p:txBody>
      </p:sp>
      <p:sp>
        <p:nvSpPr>
          <p:cNvPr id="9" name="diagram-345">
            <a:extLst xmlns:a="http://schemas.openxmlformats.org/drawingml/2006/main">
              <a:ext uri="{FF2B5EF4-FFF2-40B4-BE49-F238E27FC236}">
                <a16:creationId xmlns:a16="http://schemas.microsoft.com/office/drawing/2014/main" id="{CBD0DDE5-139F-4A1E-9BAE-0D30B2B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Use safe fictional text. No card-image upload is required</a:t>
            </a:r>
          </a:p>
        </p:txBody>
      </p:sp>
    </p:spTree>
    <p:extLst>
      <p:ext uri="{BB962C8B-B14F-4D97-AF65-F5344CB8AC3E}">
        <p14:creationId xmlns:p14="http://schemas.microsoft.com/office/powerpoint/2010/main" val="4801339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agram-346">
            <a:extLst xmlns:a="http://schemas.openxmlformats.org/drawingml/2006/main">
              <a:ext uri="{FF2B5EF4-FFF2-40B4-BE49-F238E27FC236}">
                <a16:creationId xmlns:a16="http://schemas.microsoft.com/office/drawing/2014/main" id="{68E287D7-D8D9-4B8D-9EAD-F86C68A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5 · PRACTICE 2</a:t>
            </a:r>
          </a:p>
        </p:txBody>
      </p:sp>
      <p:sp>
        <p:nvSpPr>
          <p:cNvPr id="2" name="diagram-347">
            <a:extLst xmlns:a="http://schemas.openxmlformats.org/drawingml/2006/main">
              <a:ext uri="{FF2B5EF4-FFF2-40B4-BE49-F238E27FC236}">
                <a16:creationId xmlns:a16="http://schemas.microsoft.com/office/drawing/2014/main" id="{C4474964-3659-4BE2-AE5F-5E1B8261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Copilot as a second reader</a:t>
            </a:r>
          </a:p>
        </p:txBody>
      </p:sp>
      <p:pic>
        <p:nvPicPr>
          <p:cNvPr id="9" name="Copilot as a second reader" descr="2D editorial illustration of a leader reviewing a workflow document while a chat panel acts as a second reade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b0188006d47fe"/>
          <a:srcRect xmlns:a="http://schemas.openxmlformats.org/drawingml/2006/main" l="0" t="16337" r="0" b="16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809750"/>
            <a:ext cx="12192000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diagram-348">
            <a:extLst xmlns:a="http://schemas.openxmlformats.org/drawingml/2006/main">
              <a:ext uri="{FF2B5EF4-FFF2-40B4-BE49-F238E27FC236}">
                <a16:creationId xmlns:a16="http://schemas.microsoft.com/office/drawing/2014/main" id="{377052EC-B34A-4DFA-92C1-5F26BE06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Second reader</a:t>
            </a:r>
          </a:p>
        </p:txBody>
      </p:sp>
      <p:sp>
        <p:nvSpPr>
          <p:cNvPr id="5" name="diagram-349">
            <a:extLst xmlns:a="http://schemas.openxmlformats.org/drawingml/2006/main">
              <a:ext uri="{FF2B5EF4-FFF2-40B4-BE49-F238E27FC236}">
                <a16:creationId xmlns:a16="http://schemas.microsoft.com/office/drawing/2014/main" id="{D7B4F1F3-E540-4B46-9958-117E2161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People judge every item</a:t>
            </a:r>
          </a:p>
        </p:txBody>
      </p:sp>
      <p:sp>
        <p:nvSpPr>
          <p:cNvPr id="6" name="diagram-350">
            <a:extLst xmlns:a="http://schemas.openxmlformats.org/drawingml/2006/main">
              <a:ext uri="{FF2B5EF4-FFF2-40B4-BE49-F238E27FC236}">
                <a16:creationId xmlns:a16="http://schemas.microsoft.com/office/drawing/2014/main" id="{0EB28091-FFA2-4BDC-AC41-CF627D11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No readiness certification</a:t>
            </a:r>
          </a:p>
        </p:txBody>
      </p:sp>
    </p:spTree>
    <p:extLst>
      <p:ext uri="{BB962C8B-B14F-4D97-AF65-F5344CB8AC3E}">
        <p14:creationId xmlns:p14="http://schemas.microsoft.com/office/powerpoint/2010/main" val="18056958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iagram-351">
            <a:extLst xmlns:a="http://schemas.openxmlformats.org/drawingml/2006/main">
              <a:ext uri="{FF2B5EF4-FFF2-40B4-BE49-F238E27FC236}">
                <a16:creationId xmlns:a16="http://schemas.microsoft.com/office/drawing/2014/main" id="{C5FF70CC-C6E0-43CA-A7AB-BBF73EE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Human judgement after Copilot</a:t>
            </a:r>
          </a:p>
        </p:txBody>
      </p:sp>
      <p:sp>
        <p:nvSpPr>
          <p:cNvPr id="2" name="diagram-352">
            <a:extLst xmlns:a="http://schemas.openxmlformats.org/drawingml/2006/main">
              <a:ext uri="{FF2B5EF4-FFF2-40B4-BE49-F238E27FC236}">
                <a16:creationId xmlns:a16="http://schemas.microsoft.com/office/drawing/2014/main" id="{27D4C667-E90C-4FD2-B11F-14CB8EE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3" name="diagram-353">
            <a:extLst xmlns:a="http://schemas.openxmlformats.org/drawingml/2006/main">
              <a:ext uri="{FF2B5EF4-FFF2-40B4-BE49-F238E27FC236}">
                <a16:creationId xmlns:a16="http://schemas.microsoft.com/office/drawing/2014/main" id="{B606AE34-80FB-47D6-A06B-023BD31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Paper-tested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draft</a:t>
            </a:r>
          </a:p>
        </p:txBody>
      </p:sp>
      <p:sp>
        <p:nvSpPr>
          <p:cNvPr id="4" name="diagram-354">
            <a:extLst xmlns:a="http://schemas.openxmlformats.org/drawingml/2006/main">
              <a:ext uri="{FF2B5EF4-FFF2-40B4-BE49-F238E27FC236}">
                <a16:creationId xmlns:a16="http://schemas.microsoft.com/office/drawing/2014/main" id="{5014A346-A9F2-4CE2-AF43-F7238834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5" name="diagram-355">
            <a:extLst xmlns:a="http://schemas.openxmlformats.org/drawingml/2006/main">
              <a:ext uri="{FF2B5EF4-FFF2-40B4-BE49-F238E27FC236}">
                <a16:creationId xmlns:a16="http://schemas.microsoft.com/office/drawing/2014/main" id="{0A98FDBC-436B-4322-B493-48874A8B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Sanitised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text</a:t>
            </a:r>
          </a:p>
        </p:txBody>
      </p:sp>
      <p:sp>
        <p:nvSpPr>
          <p:cNvPr id="6" name="diagram-356">
            <a:extLst xmlns:a="http://schemas.openxmlformats.org/drawingml/2006/main">
              <a:ext uri="{FF2B5EF4-FFF2-40B4-BE49-F238E27FC236}">
                <a16:creationId xmlns:a16="http://schemas.microsoft.com/office/drawing/2014/main" id="{0B7A7625-D26D-49F9-9258-27430697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7" name="diagram-357">
            <a:extLst xmlns:a="http://schemas.openxmlformats.org/drawingml/2006/main">
              <a:ext uri="{FF2B5EF4-FFF2-40B4-BE49-F238E27FC236}">
                <a16:creationId xmlns:a16="http://schemas.microsoft.com/office/drawing/2014/main" id="{7DA2F115-4427-408A-8098-A703BD0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Copilot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suggestions</a:t>
            </a:r>
          </a:p>
        </p:txBody>
      </p:sp>
      <p:sp>
        <p:nvSpPr>
          <p:cNvPr id="8" name="diagram-358">
            <a:extLst xmlns:a="http://schemas.openxmlformats.org/drawingml/2006/main">
              <a:ext uri="{FF2B5EF4-FFF2-40B4-BE49-F238E27FC236}">
                <a16:creationId xmlns:a16="http://schemas.microsoft.com/office/drawing/2014/main" id="{42112A5F-A7EC-464F-AD1C-AAEB55F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>
            <a:noFill/>
          </a:ln>
        </p:spPr>
      </p:sp>
      <p:sp>
        <p:nvSpPr>
          <p:cNvPr id="9" name="diagram-359">
            <a:extLst xmlns:a="http://schemas.openxmlformats.org/drawingml/2006/main">
              <a:ext uri="{FF2B5EF4-FFF2-40B4-BE49-F238E27FC236}">
                <a16:creationId xmlns:a16="http://schemas.microsoft.com/office/drawing/2014/main" id="{976CFDC5-5084-44F5-9F83-DA061237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33875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Human decision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on every item</a:t>
            </a:r>
          </a:p>
        </p:txBody>
      </p:sp>
      <p:sp>
        <p:nvSpPr>
          <p:cNvPr id="10" name="diagram-360">
            <a:extLst xmlns:a="http://schemas.openxmlformats.org/drawingml/2006/main">
              <a:ext uri="{FF2B5EF4-FFF2-40B4-BE49-F238E27FC236}">
                <a16:creationId xmlns:a16="http://schemas.microsoft.com/office/drawing/2014/main" id="{FBA37F45-4D81-42D9-88A7-FC4EE74D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1" name="diagram-361">
            <a:extLst xmlns:a="http://schemas.openxmlformats.org/drawingml/2006/main">
              <a:ext uri="{FF2B5EF4-FFF2-40B4-BE49-F238E27FC236}">
                <a16:creationId xmlns:a16="http://schemas.microsoft.com/office/drawing/2014/main" id="{10831528-8352-49F6-917B-E27C59A2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33875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Apply up to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two changes</a:t>
            </a:r>
          </a:p>
        </p:txBody>
      </p:sp>
      <p:sp>
        <p:nvSpPr>
          <p:cNvPr id="12" name="diagram-362">
            <a:extLst xmlns:a="http://schemas.openxmlformats.org/drawingml/2006/main">
              <a:ext uri="{FF2B5EF4-FFF2-40B4-BE49-F238E27FC236}">
                <a16:creationId xmlns:a16="http://schemas.microsoft.com/office/drawing/2014/main" id="{29358006-962F-4E1A-905E-2AA6E66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3" name="diagram-363">
            <a:extLst xmlns:a="http://schemas.openxmlformats.org/drawingml/2006/main">
              <a:ext uri="{FF2B5EF4-FFF2-40B4-BE49-F238E27FC236}">
                <a16:creationId xmlns:a16="http://schemas.microsoft.com/office/drawing/2014/main" id="{A8722E43-14A8-4F07-8C23-6A18847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Handover</a:t>
            </a:r>
          </a:p>
          <a:p xmlns:a="http://schemas.openxmlformats.org/drawingml/2006/main">
            <a:pPr>
              <a:defRPr sz="2025" b="1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and open questions</a:t>
            </a:r>
          </a:p>
        </p:txBody>
      </p:sp>
      <p:cxnSp>
        <p:nvCxnSpPr>
          <p:cNvPr id="33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2809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72375" y="2809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667875" y="32861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572375" y="4667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905250" y="4667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BA"/>
            </a:solidFill>
            <a:tailEnd type="triangle" w="med" len="med"/>
          </a:ln>
        </p:spPr>
      </p:cxnSp>
      <p:sp>
        <p:nvSpPr>
          <p:cNvPr id="19" name="diagram-364">
            <a:extLst xmlns:a="http://schemas.openxmlformats.org/drawingml/2006/main">
              <a:ext uri="{FF2B5EF4-FFF2-40B4-BE49-F238E27FC236}">
                <a16:creationId xmlns:a16="http://schemas.microsoft.com/office/drawing/2014/main" id="{03ABC069-D9FD-481C-86AC-485E2E7E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Adopt / Adapt / Verify / Reject</a:t>
            </a:r>
          </a:p>
        </p:txBody>
      </p:sp>
    </p:spTree>
    <p:extLst>
      <p:ext uri="{BB962C8B-B14F-4D97-AF65-F5344CB8AC3E}">
        <p14:creationId xmlns:p14="http://schemas.microsoft.com/office/powerpoint/2010/main" val="19349355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365">
            <a:extLst xmlns:a="http://schemas.openxmlformats.org/drawingml/2006/main">
              <a:ext uri="{FF2B5EF4-FFF2-40B4-BE49-F238E27FC236}">
                <a16:creationId xmlns:a16="http://schemas.microsoft.com/office/drawing/2014/main" id="{FE338EFB-65D0-4625-A763-104AA4B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5 · PRACTICE 3</a:t>
            </a:r>
          </a:p>
        </p:txBody>
      </p:sp>
      <p:sp>
        <p:nvSpPr>
          <p:cNvPr id="2" name="diagram-366">
            <a:extLst xmlns:a="http://schemas.openxmlformats.org/drawingml/2006/main">
              <a:ext uri="{FF2B5EF4-FFF2-40B4-BE49-F238E27FC236}">
                <a16:creationId xmlns:a16="http://schemas.microsoft.com/office/drawing/2014/main" id="{3874E556-A9D5-4917-9C64-19ABCB78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A structured review request</a:t>
            </a:r>
          </a:p>
        </p:txBody>
      </p:sp>
      <p:sp>
        <p:nvSpPr>
          <p:cNvPr id="3" name="diagram-367">
            <a:extLst xmlns:a="http://schemas.openxmlformats.org/drawingml/2006/main">
              <a:ext uri="{FF2B5EF4-FFF2-40B4-BE49-F238E27FC236}">
                <a16:creationId xmlns:a16="http://schemas.microsoft.com/office/drawing/2014/main" id="{EF9B1054-F264-4F82-BB64-587D560E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diagram-368">
            <a:extLst xmlns:a="http://schemas.openxmlformats.org/drawingml/2006/main">
              <a:ext uri="{FF2B5EF4-FFF2-40B4-BE49-F238E27FC236}">
                <a16:creationId xmlns:a16="http://schemas.microsoft.com/office/drawing/2014/main" id="{16E7E41E-1156-444F-9811-30F0BB93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Goal</a:t>
            </a:r>
          </a:p>
        </p:txBody>
      </p:sp>
      <p:sp>
        <p:nvSpPr>
          <p:cNvPr id="5" name="diagram-369">
            <a:extLst xmlns:a="http://schemas.openxmlformats.org/drawingml/2006/main">
              <a:ext uri="{FF2B5EF4-FFF2-40B4-BE49-F238E27FC236}">
                <a16:creationId xmlns:a16="http://schemas.microsoft.com/office/drawing/2014/main" id="{02019BCC-5E7F-47F2-BBBB-EDCE026B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What should the review achieve?</a:t>
            </a:r>
          </a:p>
        </p:txBody>
      </p:sp>
      <p:sp>
        <p:nvSpPr>
          <p:cNvPr id="6" name="diagram-370">
            <a:extLst xmlns:a="http://schemas.openxmlformats.org/drawingml/2006/main">
              <a:ext uri="{FF2B5EF4-FFF2-40B4-BE49-F238E27FC236}">
                <a16:creationId xmlns:a16="http://schemas.microsoft.com/office/drawing/2014/main" id="{7929FBD4-22C5-477C-B1E4-866EAAAA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7" name="diagram-371">
            <a:extLst xmlns:a="http://schemas.openxmlformats.org/drawingml/2006/main">
              <a:ext uri="{FF2B5EF4-FFF2-40B4-BE49-F238E27FC236}">
                <a16:creationId xmlns:a16="http://schemas.microsoft.com/office/drawing/2014/main" id="{F951AF4E-A804-4BA0-AA88-466E68F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Context</a:t>
            </a:r>
          </a:p>
        </p:txBody>
      </p:sp>
      <p:sp>
        <p:nvSpPr>
          <p:cNvPr id="8" name="diagram-372">
            <a:extLst xmlns:a="http://schemas.openxmlformats.org/drawingml/2006/main">
              <a:ext uri="{FF2B5EF4-FFF2-40B4-BE49-F238E27FC236}">
                <a16:creationId xmlns:a16="http://schemas.microsoft.com/office/drawing/2014/main" id="{EF73CA0B-9E36-4DB3-A15B-CDF3CA3E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What situation and limits apply?</a:t>
            </a:r>
          </a:p>
        </p:txBody>
      </p:sp>
      <p:sp>
        <p:nvSpPr>
          <p:cNvPr id="9" name="diagram-373">
            <a:extLst xmlns:a="http://schemas.openxmlformats.org/drawingml/2006/main">
              <a:ext uri="{FF2B5EF4-FFF2-40B4-BE49-F238E27FC236}">
                <a16:creationId xmlns:a16="http://schemas.microsoft.com/office/drawing/2014/main" id="{C0FDDAB1-6492-48DA-AE07-E521A863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0" name="diagram-374">
            <a:extLst xmlns:a="http://schemas.openxmlformats.org/drawingml/2006/main">
              <a:ext uri="{FF2B5EF4-FFF2-40B4-BE49-F238E27FC236}">
                <a16:creationId xmlns:a16="http://schemas.microsoft.com/office/drawing/2014/main" id="{62301F6C-69B1-4CD0-92CD-CF49B95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Source</a:t>
            </a:r>
          </a:p>
        </p:txBody>
      </p:sp>
      <p:sp>
        <p:nvSpPr>
          <p:cNvPr id="11" name="diagram-375">
            <a:extLst xmlns:a="http://schemas.openxmlformats.org/drawingml/2006/main">
              <a:ext uri="{FF2B5EF4-FFF2-40B4-BE49-F238E27FC236}">
                <a16:creationId xmlns:a16="http://schemas.microsoft.com/office/drawing/2014/main" id="{21F28C1F-67C0-49B0-AA2A-A7E48069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What tested evidence is supplied?</a:t>
            </a:r>
          </a:p>
        </p:txBody>
      </p:sp>
      <p:sp>
        <p:nvSpPr>
          <p:cNvPr id="12" name="diagram-376">
            <a:extLst xmlns:a="http://schemas.openxmlformats.org/drawingml/2006/main">
              <a:ext uri="{FF2B5EF4-FFF2-40B4-BE49-F238E27FC236}">
                <a16:creationId xmlns:a16="http://schemas.microsoft.com/office/drawing/2014/main" id="{723FFAA3-CF93-4995-8343-C60EABFE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3" name="diagram-377">
            <a:extLst xmlns:a="http://schemas.openxmlformats.org/drawingml/2006/main">
              <a:ext uri="{FF2B5EF4-FFF2-40B4-BE49-F238E27FC236}">
                <a16:creationId xmlns:a16="http://schemas.microsoft.com/office/drawing/2014/main" id="{8C6BC0EB-9131-4334-986A-66C7E8A2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Expectation</a:t>
            </a:r>
          </a:p>
        </p:txBody>
      </p:sp>
      <p:sp>
        <p:nvSpPr>
          <p:cNvPr id="14" name="diagram-378">
            <a:extLst xmlns:a="http://schemas.openxmlformats.org/drawingml/2006/main">
              <a:ext uri="{FF2B5EF4-FFF2-40B4-BE49-F238E27FC236}">
                <a16:creationId xmlns:a16="http://schemas.microsoft.com/office/drawing/2014/main" id="{34244314-8980-49DC-9C36-275B08E3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623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Maximum four traceable items</a:t>
            </a:r>
          </a:p>
        </p:txBody>
      </p:sp>
    </p:spTree>
    <p:extLst>
      <p:ext uri="{BB962C8B-B14F-4D97-AF65-F5344CB8AC3E}">
        <p14:creationId xmlns:p14="http://schemas.microsoft.com/office/powerpoint/2010/main" val="11008559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diagram-379">
            <a:extLst xmlns:a="http://schemas.openxmlformats.org/drawingml/2006/main">
              <a:ext uri="{FF2B5EF4-FFF2-40B4-BE49-F238E27FC236}">
                <a16:creationId xmlns:a16="http://schemas.microsoft.com/office/drawing/2014/main" id="{33866DA0-DD06-41E8-A4EE-3403D307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EXERCISE 5 · PRACTICES 4–6</a:t>
            </a:r>
          </a:p>
        </p:txBody>
      </p:sp>
      <p:sp>
        <p:nvSpPr>
          <p:cNvPr id="2" name="diagram-380">
            <a:extLst xmlns:a="http://schemas.openxmlformats.org/drawingml/2006/main">
              <a:ext uri="{FF2B5EF4-FFF2-40B4-BE49-F238E27FC236}">
                <a16:creationId xmlns:a16="http://schemas.microsoft.com/office/drawing/2014/main" id="{1F9B80E7-34C3-4379-88E4-790D7103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Review decisions and handover</a:t>
            </a:r>
          </a:p>
        </p:txBody>
      </p:sp>
      <p:sp>
        <p:nvSpPr>
          <p:cNvPr id="3" name="diagram-381">
            <a:extLst xmlns:a="http://schemas.openxmlformats.org/drawingml/2006/main">
              <a:ext uri="{FF2B5EF4-FFF2-40B4-BE49-F238E27FC236}">
                <a16:creationId xmlns:a16="http://schemas.microsoft.com/office/drawing/2014/main" id="{74A842E2-1F48-41CE-A5EB-D98B7DE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Adopt</a:t>
            </a:r>
          </a:p>
        </p:txBody>
      </p:sp>
      <p:sp>
        <p:nvSpPr>
          <p:cNvPr id="4" name="diagram-382">
            <a:extLst xmlns:a="http://schemas.openxmlformats.org/drawingml/2006/main">
              <a:ext uri="{FF2B5EF4-FFF2-40B4-BE49-F238E27FC236}">
                <a16:creationId xmlns:a16="http://schemas.microsoft.com/office/drawing/2014/main" id="{FF35F47D-A5EB-41E2-A89C-2046A4CA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Supported and useful as written</a:t>
            </a:r>
          </a:p>
        </p:txBody>
      </p:sp>
      <p:sp>
        <p:nvSpPr>
          <p:cNvPr id="5" name="diagram-383">
            <a:extLst xmlns:a="http://schemas.openxmlformats.org/drawingml/2006/main">
              <a:ext uri="{FF2B5EF4-FFF2-40B4-BE49-F238E27FC236}">
                <a16:creationId xmlns:a16="http://schemas.microsoft.com/office/drawing/2014/main" id="{72C71CAE-DBD4-4AB2-AC8A-2AF40E9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Adapt</a:t>
            </a:r>
          </a:p>
        </p:txBody>
      </p:sp>
      <p:sp>
        <p:nvSpPr>
          <p:cNvPr id="6" name="diagram-384">
            <a:extLst xmlns:a="http://schemas.openxmlformats.org/drawingml/2006/main">
              <a:ext uri="{FF2B5EF4-FFF2-40B4-BE49-F238E27FC236}">
                <a16:creationId xmlns:a16="http://schemas.microsoft.com/office/drawing/2014/main" id="{083DC89F-A4C5-4EAD-8D07-222F19CF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Useful after modification</a:t>
            </a:r>
          </a:p>
        </p:txBody>
      </p:sp>
      <p:sp>
        <p:nvSpPr>
          <p:cNvPr id="7" name="diagram-385">
            <a:extLst xmlns:a="http://schemas.openxmlformats.org/drawingml/2006/main">
              <a:ext uri="{FF2B5EF4-FFF2-40B4-BE49-F238E27FC236}">
                <a16:creationId xmlns:a16="http://schemas.microsoft.com/office/drawing/2014/main" id="{1A753E7F-B333-4AE2-B01A-93926F57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Verify</a:t>
            </a:r>
          </a:p>
        </p:txBody>
      </p:sp>
      <p:sp>
        <p:nvSpPr>
          <p:cNvPr id="8" name="diagram-386">
            <a:extLst xmlns:a="http://schemas.openxmlformats.org/drawingml/2006/main">
              <a:ext uri="{FF2B5EF4-FFF2-40B4-BE49-F238E27FC236}">
                <a16:creationId xmlns:a16="http://schemas.microsoft.com/office/drawing/2014/main" id="{19283082-36FF-4907-B32F-CEC4F9E7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 responsible person must confirm</a:t>
            </a:r>
          </a:p>
        </p:txBody>
      </p:sp>
      <p:sp>
        <p:nvSpPr>
          <p:cNvPr id="9" name="diagram-387">
            <a:extLst xmlns:a="http://schemas.openxmlformats.org/drawingml/2006/main">
              <a:ext uri="{FF2B5EF4-FFF2-40B4-BE49-F238E27FC236}">
                <a16:creationId xmlns:a16="http://schemas.microsoft.com/office/drawing/2014/main" id="{C275059B-B8E4-478D-A3B0-E6A4E22D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6D1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B76D13"/>
                </a:solidFill>
                <a:latin typeface="Tahoma"/>
                <a:ea typeface="Tahoma"/>
                <a:cs typeface="Tahoma"/>
              </a:rPr>
              <a:t>Reject</a:t>
            </a:r>
          </a:p>
        </p:txBody>
      </p:sp>
      <p:sp>
        <p:nvSpPr>
          <p:cNvPr id="10" name="diagram-388">
            <a:extLst xmlns:a="http://schemas.openxmlformats.org/drawingml/2006/main">
              <a:ext uri="{FF2B5EF4-FFF2-40B4-BE49-F238E27FC236}">
                <a16:creationId xmlns:a16="http://schemas.microsoft.com/office/drawing/2014/main" id="{673D84DE-88F0-4F40-AB64-746A9A3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Unsupported or outside scope</a:t>
            </a:r>
          </a:p>
        </p:txBody>
      </p:sp>
      <p:sp>
        <p:nvSpPr>
          <p:cNvPr id="11" name="diagram-389">
            <a:extLst xmlns:a="http://schemas.openxmlformats.org/drawingml/2006/main">
              <a:ext uri="{FF2B5EF4-FFF2-40B4-BE49-F238E27FC236}">
                <a16:creationId xmlns:a16="http://schemas.microsoft.com/office/drawing/2014/main" id="{6BB590F7-38E1-4D83-AB63-B3F27A43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 w="0">
            <a:noFill/>
          </a:ln>
        </p:spPr>
      </p:sp>
      <p:sp>
        <p:nvSpPr>
          <p:cNvPr id="12" name="diagram-390">
            <a:extLst xmlns:a="http://schemas.openxmlformats.org/drawingml/2006/main">
              <a:ext uri="{FF2B5EF4-FFF2-40B4-BE49-F238E27FC236}">
                <a16:creationId xmlns:a16="http://schemas.microsoft.com/office/drawing/2014/main" id="{256A23EF-5E42-4938-B78E-8AFABAD2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Judge every item</a:t>
            </a:r>
          </a:p>
        </p:txBody>
      </p:sp>
      <p:sp>
        <p:nvSpPr>
          <p:cNvPr id="13" name="diagram-391">
            <a:extLst xmlns:a="http://schemas.openxmlformats.org/drawingml/2006/main">
              <a:ext uri="{FF2B5EF4-FFF2-40B4-BE49-F238E27FC236}">
                <a16:creationId xmlns:a16="http://schemas.microsoft.com/office/drawing/2014/main" id="{1165C185-FBFA-48A7-B578-3E8C913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7 min</a:t>
            </a:r>
          </a:p>
        </p:txBody>
      </p:sp>
      <p:sp>
        <p:nvSpPr>
          <p:cNvPr id="14" name="diagram-392">
            <a:extLst xmlns:a="http://schemas.openxmlformats.org/drawingml/2006/main">
              <a:ext uri="{FF2B5EF4-FFF2-40B4-BE49-F238E27FC236}">
                <a16:creationId xmlns:a16="http://schemas.microsoft.com/office/drawing/2014/main" id="{409543FA-4610-40C1-8177-F594EC8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Apply ≤2 changes</a:t>
            </a:r>
          </a:p>
        </p:txBody>
      </p:sp>
      <p:sp>
        <p:nvSpPr>
          <p:cNvPr id="15" name="diagram-393">
            <a:extLst xmlns:a="http://schemas.openxmlformats.org/drawingml/2006/main">
              <a:ext uri="{FF2B5EF4-FFF2-40B4-BE49-F238E27FC236}">
                <a16:creationId xmlns:a16="http://schemas.microsoft.com/office/drawing/2014/main" id="{EE5A537F-C9DA-4A1E-839E-D3235E47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91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5 min</a:t>
            </a:r>
          </a:p>
        </p:txBody>
      </p:sp>
      <p:sp>
        <p:nvSpPr>
          <p:cNvPr id="16" name="diagram-394">
            <a:extLst xmlns:a="http://schemas.openxmlformats.org/drawingml/2006/main">
              <a:ext uri="{FF2B5EF4-FFF2-40B4-BE49-F238E27FC236}">
                <a16:creationId xmlns:a16="http://schemas.microsoft.com/office/drawing/2014/main" id="{72ABAE14-A785-47EC-9260-6BFC7223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101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Complete handover</a:t>
            </a:r>
          </a:p>
        </p:txBody>
      </p:sp>
      <p:sp>
        <p:nvSpPr>
          <p:cNvPr id="17" name="diagram-395">
            <a:extLst xmlns:a="http://schemas.openxmlformats.org/drawingml/2006/main">
              <a:ext uri="{FF2B5EF4-FFF2-40B4-BE49-F238E27FC236}">
                <a16:creationId xmlns:a16="http://schemas.microsoft.com/office/drawing/2014/main" id="{A4A28C3E-523E-4E2D-9752-D111FE80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91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7 min</a:t>
            </a:r>
          </a:p>
        </p:txBody>
      </p:sp>
    </p:spTree>
    <p:extLst>
      <p:ext uri="{BB962C8B-B14F-4D97-AF65-F5344CB8AC3E}">
        <p14:creationId xmlns:p14="http://schemas.microsoft.com/office/powerpoint/2010/main" val="6338189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agram-396">
            <a:extLst xmlns:a="http://schemas.openxmlformats.org/drawingml/2006/main">
              <a:ext uri="{FF2B5EF4-FFF2-40B4-BE49-F238E27FC236}">
                <a16:creationId xmlns:a16="http://schemas.microsoft.com/office/drawing/2014/main" id="{F654DF92-FD46-4E3B-9312-3D879F78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Outputs and next steps</a:t>
            </a:r>
          </a:p>
        </p:txBody>
      </p:sp>
      <p:sp>
        <p:nvSpPr>
          <p:cNvPr id="2" name="diagram-397">
            <a:extLst xmlns:a="http://schemas.openxmlformats.org/drawingml/2006/main">
              <a:ext uri="{FF2B5EF4-FFF2-40B4-BE49-F238E27FC236}">
                <a16:creationId xmlns:a16="http://schemas.microsoft.com/office/drawing/2014/main" id="{091A4F12-AD4D-4F7D-85B7-9F40DAA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Selected opportunity</a:t>
            </a:r>
          </a:p>
        </p:txBody>
      </p:sp>
      <p:sp>
        <p:nvSpPr>
          <p:cNvPr id="3" name="diagram-398">
            <a:extLst xmlns:a="http://schemas.openxmlformats.org/drawingml/2006/main">
              <a:ext uri="{FF2B5EF4-FFF2-40B4-BE49-F238E27FC236}">
                <a16:creationId xmlns:a16="http://schemas.microsoft.com/office/drawing/2014/main" id="{C4771EEC-4C93-429A-B214-6FF0669A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Tested Blueprint</a:t>
            </a:r>
          </a:p>
        </p:txBody>
      </p:sp>
      <p:sp>
        <p:nvSpPr>
          <p:cNvPr id="4" name="diagram-399">
            <a:extLst xmlns:a="http://schemas.openxmlformats.org/drawingml/2006/main">
              <a:ext uri="{FF2B5EF4-FFF2-40B4-BE49-F238E27FC236}">
                <a16:creationId xmlns:a16="http://schemas.microsoft.com/office/drawing/2014/main" id="{1A1EDFBC-A435-4A74-878C-5FC67D7C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Human-reviewed decision record</a:t>
            </a:r>
          </a:p>
        </p:txBody>
      </p:sp>
      <p:sp>
        <p:nvSpPr>
          <p:cNvPr id="5" name="diagram-400">
            <a:extLst xmlns:a="http://schemas.openxmlformats.org/drawingml/2006/main">
              <a:ext uri="{FF2B5EF4-FFF2-40B4-BE49-F238E27FC236}">
                <a16:creationId xmlns:a16="http://schemas.microsoft.com/office/drawing/2014/main" id="{C102AA3D-EEA9-432D-8E36-96D6668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Handover Card</a:t>
            </a:r>
          </a:p>
        </p:txBody>
      </p:sp>
      <p:sp>
        <p:nvSpPr>
          <p:cNvPr id="6" name="diagram-401">
            <a:extLst xmlns:a="http://schemas.openxmlformats.org/drawingml/2006/main">
              <a:ext uri="{FF2B5EF4-FFF2-40B4-BE49-F238E27FC236}">
                <a16:creationId xmlns:a16="http://schemas.microsoft.com/office/drawing/2014/main" id="{9CF7ED2C-31FE-4F01-BAD3-D75FF93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What will you discuss, with whom, and when?</a:t>
            </a:r>
          </a:p>
        </p:txBody>
      </p:sp>
    </p:spTree>
    <p:extLst>
      <p:ext uri="{BB962C8B-B14F-4D97-AF65-F5344CB8AC3E}">
        <p14:creationId xmlns:p14="http://schemas.microsoft.com/office/powerpoint/2010/main" val="246596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2026-09-17T15:56:22.4260000Z</dcterms:created>
  <dcterms:modified xsi:type="dcterms:W3CDTF">2026-09-17T15:56:22.4260000Z</dcterms:modified>
</coreProperties>
</file>
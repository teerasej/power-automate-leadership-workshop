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665dfc901314ea8" /><Relationship Type="http://schemas.openxmlformats.org/officeDocument/2006/relationships/extended-properties" Target="/docProps/app.xml" Id="R5a47440935fe462e" /><Relationship Type="http://schemas.openxmlformats.org/officeDocument/2006/relationships/officeDocument" Target="/ppt/presentation.xml" Id="Rc2286856efee4f2d" /></Relationships>
</file>

<file path=ppt/presentation.xml><?xml version="1.0" encoding="utf-8"?>
<p:presentation xmlns:p="http://schemas.openxmlformats.org/presentationml/2006/main">
  <p:sldMasterIdLst>
    <p:sldMasterId xmlns:r="http://schemas.openxmlformats.org/officeDocument/2006/relationships" id="2147483648" r:id="R380c2cb188454925"/>
  </p:sldMasterIdLst>
  <p:notesMasterIdLst>
    <p:notesMasterId xmlns:r="http://schemas.openxmlformats.org/officeDocument/2006/relationships" r:id="R1abfc82978294091"/>
  </p:notesMasterIdLst>
  <p:sldIdLst>
    <p:sldId xmlns:r="http://schemas.openxmlformats.org/officeDocument/2006/relationships" id="256" r:id="R1d0cfdf8e23e49dd"/>
    <p:sldId xmlns:r="http://schemas.openxmlformats.org/officeDocument/2006/relationships" id="257" r:id="Rbdd61d4a2d9c43e0"/>
    <p:sldId xmlns:r="http://schemas.openxmlformats.org/officeDocument/2006/relationships" id="258" r:id="R070d54648dce410f"/>
    <p:sldId xmlns:r="http://schemas.openxmlformats.org/officeDocument/2006/relationships" id="259" r:id="R31ab427c80124b12"/>
    <p:sldId xmlns:r="http://schemas.openxmlformats.org/officeDocument/2006/relationships" id="260" r:id="R4c638edbc0074d85"/>
    <p:sldId xmlns:r="http://schemas.openxmlformats.org/officeDocument/2006/relationships" id="261" r:id="R8c0689fe440b4419"/>
    <p:sldId xmlns:r="http://schemas.openxmlformats.org/officeDocument/2006/relationships" id="262" r:id="Rf66c553fecd7430e"/>
    <p:sldId xmlns:r="http://schemas.openxmlformats.org/officeDocument/2006/relationships" id="263" r:id="Rac01fd73e18440e6"/>
    <p:sldId xmlns:r="http://schemas.openxmlformats.org/officeDocument/2006/relationships" id="264" r:id="R5c56e3f1043b438a"/>
    <p:sldId xmlns:r="http://schemas.openxmlformats.org/officeDocument/2006/relationships" id="265" r:id="Ra24f379314e14c9f"/>
    <p:sldId xmlns:r="http://schemas.openxmlformats.org/officeDocument/2006/relationships" id="266" r:id="Rdf9c70890b774877"/>
    <p:sldId xmlns:r="http://schemas.openxmlformats.org/officeDocument/2006/relationships" id="267" r:id="Rc3539c5be64344b7"/>
    <p:sldId xmlns:r="http://schemas.openxmlformats.org/officeDocument/2006/relationships" id="268" r:id="R0ee67db65d5e4c2b"/>
    <p:sldId xmlns:r="http://schemas.openxmlformats.org/officeDocument/2006/relationships" id="269" r:id="Ra5be4eb1e832449d"/>
    <p:sldId xmlns:r="http://schemas.openxmlformats.org/officeDocument/2006/relationships" id="270" r:id="R4490d7ad8c544a43"/>
    <p:sldId xmlns:r="http://schemas.openxmlformats.org/officeDocument/2006/relationships" id="271" r:id="R4e35ade516124749"/>
    <p:sldId xmlns:r="http://schemas.openxmlformats.org/officeDocument/2006/relationships" id="272" r:id="Re8540b16d39545c9"/>
    <p:sldId xmlns:r="http://schemas.openxmlformats.org/officeDocument/2006/relationships" id="273" r:id="Rfbc2ad16ac664a3c"/>
    <p:sldId xmlns:r="http://schemas.openxmlformats.org/officeDocument/2006/relationships" id="274" r:id="R269e89bb653049e5"/>
    <p:sldId xmlns:r="http://schemas.openxmlformats.org/officeDocument/2006/relationships" id="275" r:id="Rd80140f9d265494c"/>
    <p:sldId xmlns:r="http://schemas.openxmlformats.org/officeDocument/2006/relationships" id="276" r:id="Ra310703a49c94b1e"/>
    <p:sldId xmlns:r="http://schemas.openxmlformats.org/officeDocument/2006/relationships" id="277" r:id="R05f9e0a1f3e540c6"/>
    <p:sldId xmlns:r="http://schemas.openxmlformats.org/officeDocument/2006/relationships" id="278" r:id="R72144f3ea0304ee4"/>
    <p:sldId xmlns:r="http://schemas.openxmlformats.org/officeDocument/2006/relationships" id="279" r:id="R865108a2e1b9418b"/>
    <p:sldId xmlns:r="http://schemas.openxmlformats.org/officeDocument/2006/relationships" id="280" r:id="R314a9c896e754dd9"/>
    <p:sldId xmlns:r="http://schemas.openxmlformats.org/officeDocument/2006/relationships" id="281" r:id="R90dc7f84cb8a4213"/>
    <p:sldId xmlns:r="http://schemas.openxmlformats.org/officeDocument/2006/relationships" id="282" r:id="R17bf8c10f73e4885"/>
    <p:sldId xmlns:r="http://schemas.openxmlformats.org/officeDocument/2006/relationships" id="283" r:id="R6bfc46200e314f2d"/>
    <p:sldId xmlns:r="http://schemas.openxmlformats.org/officeDocument/2006/relationships" id="284" r:id="R4d6b66ac55904ea2"/>
    <p:sldId xmlns:r="http://schemas.openxmlformats.org/officeDocument/2006/relationships" id="285" r:id="R03ff37c468f24686"/>
    <p:sldId xmlns:r="http://schemas.openxmlformats.org/officeDocument/2006/relationships" id="286" r:id="R7643eab98c3a41e6"/>
    <p:sldId xmlns:r="http://schemas.openxmlformats.org/officeDocument/2006/relationships" id="287" r:id="R2568a98a527a4327"/>
    <p:sldId xmlns:r="http://schemas.openxmlformats.org/officeDocument/2006/relationships" id="288" r:id="R99020ad31ef24b6e"/>
    <p:sldId xmlns:r="http://schemas.openxmlformats.org/officeDocument/2006/relationships" id="289" r:id="Rb9737853aef8432b"/>
    <p:sldId xmlns:r="http://schemas.openxmlformats.org/officeDocument/2006/relationships" id="290" r:id="Rdee14e4e1bba444d"/>
    <p:sldId xmlns:r="http://schemas.openxmlformats.org/officeDocument/2006/relationships" id="291" r:id="R3090ad33a8dc403f"/>
    <p:sldId xmlns:r="http://schemas.openxmlformats.org/officeDocument/2006/relationships" id="292" r:id="R2f25dee96eb543cc"/>
    <p:sldId xmlns:r="http://schemas.openxmlformats.org/officeDocument/2006/relationships" id="293" r:id="Rd093243eb7744fa0"/>
    <p:sldId xmlns:r="http://schemas.openxmlformats.org/officeDocument/2006/relationships" id="294" r:id="R92041b0174e74e0d"/>
    <p:sldId xmlns:r="http://schemas.openxmlformats.org/officeDocument/2006/relationships" id="295" r:id="R7583cdc026e14e8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0bc191bf5d461b" /><Relationship Type="http://schemas.openxmlformats.org/officeDocument/2006/relationships/slideMaster" Target="/ppt/slideMasters/slideMaster1.xml" Id="R380c2cb188454925" /><Relationship Type="http://schemas.openxmlformats.org/officeDocument/2006/relationships/notesMaster" Target="/ppt/notesMasters/notesMaster1.xml" Id="R1abfc82978294091" /><Relationship Type="http://schemas.openxmlformats.org/officeDocument/2006/relationships/presProps" Target="/ppt/presProps.xml" Id="R98cc95653b704790" /><Relationship Type="http://schemas.openxmlformats.org/officeDocument/2006/relationships/tableStyles" Target="/ppt/tableStyles.xml" Id="R5cba3973de564299" /><Relationship Type="http://schemas.openxmlformats.org/officeDocument/2006/relationships/slide" Target="/ppt/slides/slide1.xml" Id="R1d0cfdf8e23e49dd" /><Relationship Type="http://schemas.openxmlformats.org/officeDocument/2006/relationships/slide" Target="/ppt/slides/slide2.xml" Id="Rbdd61d4a2d9c43e0" /><Relationship Type="http://schemas.openxmlformats.org/officeDocument/2006/relationships/slide" Target="/ppt/slides/slide3.xml" Id="R070d54648dce410f" /><Relationship Type="http://schemas.openxmlformats.org/officeDocument/2006/relationships/slide" Target="/ppt/slides/slide4.xml" Id="R31ab427c80124b12" /><Relationship Type="http://schemas.openxmlformats.org/officeDocument/2006/relationships/slide" Target="/ppt/slides/slide5.xml" Id="R4c638edbc0074d85" /><Relationship Type="http://schemas.openxmlformats.org/officeDocument/2006/relationships/slide" Target="/ppt/slides/slide6.xml" Id="R8c0689fe440b4419" /><Relationship Type="http://schemas.openxmlformats.org/officeDocument/2006/relationships/slide" Target="/ppt/slides/slide7.xml" Id="Rf66c553fecd7430e" /><Relationship Type="http://schemas.openxmlformats.org/officeDocument/2006/relationships/slide" Target="/ppt/slides/slide8.xml" Id="Rac01fd73e18440e6" /><Relationship Type="http://schemas.openxmlformats.org/officeDocument/2006/relationships/slide" Target="/ppt/slides/slide9.xml" Id="R5c56e3f1043b438a" /><Relationship Type="http://schemas.openxmlformats.org/officeDocument/2006/relationships/slide" Target="/ppt/slides/slide10.xml" Id="Ra24f379314e14c9f" /><Relationship Type="http://schemas.openxmlformats.org/officeDocument/2006/relationships/slide" Target="/ppt/slides/slide11.xml" Id="Rdf9c70890b774877" /><Relationship Type="http://schemas.openxmlformats.org/officeDocument/2006/relationships/slide" Target="/ppt/slides/slide12.xml" Id="Rc3539c5be64344b7" /><Relationship Type="http://schemas.openxmlformats.org/officeDocument/2006/relationships/slide" Target="/ppt/slides/slide13.xml" Id="R0ee67db65d5e4c2b" /><Relationship Type="http://schemas.openxmlformats.org/officeDocument/2006/relationships/slide" Target="/ppt/slides/slide14.xml" Id="Ra5be4eb1e832449d" /><Relationship Type="http://schemas.openxmlformats.org/officeDocument/2006/relationships/slide" Target="/ppt/slides/slide15.xml" Id="R4490d7ad8c544a43" /><Relationship Type="http://schemas.openxmlformats.org/officeDocument/2006/relationships/slide" Target="/ppt/slides/slide16.xml" Id="R4e35ade516124749" /><Relationship Type="http://schemas.openxmlformats.org/officeDocument/2006/relationships/slide" Target="/ppt/slides/slide17.xml" Id="Re8540b16d39545c9" /><Relationship Type="http://schemas.openxmlformats.org/officeDocument/2006/relationships/slide" Target="/ppt/slides/slide18.xml" Id="Rfbc2ad16ac664a3c" /><Relationship Type="http://schemas.openxmlformats.org/officeDocument/2006/relationships/slide" Target="/ppt/slides/slide19.xml" Id="R269e89bb653049e5" /><Relationship Type="http://schemas.openxmlformats.org/officeDocument/2006/relationships/slide" Target="/ppt/slides/slide20.xml" Id="Rd80140f9d265494c" /><Relationship Type="http://schemas.openxmlformats.org/officeDocument/2006/relationships/slide" Target="/ppt/slides/slide21.xml" Id="Ra310703a49c94b1e" /><Relationship Type="http://schemas.openxmlformats.org/officeDocument/2006/relationships/slide" Target="/ppt/slides/slide22.xml" Id="R05f9e0a1f3e540c6" /><Relationship Type="http://schemas.openxmlformats.org/officeDocument/2006/relationships/slide" Target="/ppt/slides/slide23.xml" Id="R72144f3ea0304ee4" /><Relationship Type="http://schemas.openxmlformats.org/officeDocument/2006/relationships/slide" Target="/ppt/slides/slide24.xml" Id="R865108a2e1b9418b" /><Relationship Type="http://schemas.openxmlformats.org/officeDocument/2006/relationships/slide" Target="/ppt/slides/slide25.xml" Id="R314a9c896e754dd9" /><Relationship Type="http://schemas.openxmlformats.org/officeDocument/2006/relationships/slide" Target="/ppt/slides/slide26.xml" Id="R90dc7f84cb8a4213" /><Relationship Type="http://schemas.openxmlformats.org/officeDocument/2006/relationships/slide" Target="/ppt/slides/slide27.xml" Id="R17bf8c10f73e4885" /><Relationship Type="http://schemas.openxmlformats.org/officeDocument/2006/relationships/slide" Target="/ppt/slides/slide28.xml" Id="R6bfc46200e314f2d" /><Relationship Type="http://schemas.openxmlformats.org/officeDocument/2006/relationships/slide" Target="/ppt/slides/slide29.xml" Id="R4d6b66ac55904ea2" /><Relationship Type="http://schemas.openxmlformats.org/officeDocument/2006/relationships/slide" Target="/ppt/slides/slide30.xml" Id="R03ff37c468f24686" /><Relationship Type="http://schemas.openxmlformats.org/officeDocument/2006/relationships/slide" Target="/ppt/slides/slide31.xml" Id="R7643eab98c3a41e6" /><Relationship Type="http://schemas.openxmlformats.org/officeDocument/2006/relationships/slide" Target="/ppt/slides/slide32.xml" Id="R2568a98a527a4327" /><Relationship Type="http://schemas.openxmlformats.org/officeDocument/2006/relationships/slide" Target="/ppt/slides/slide33.xml" Id="R99020ad31ef24b6e" /><Relationship Type="http://schemas.openxmlformats.org/officeDocument/2006/relationships/slide" Target="/ppt/slides/slide34.xml" Id="Rb9737853aef8432b" /><Relationship Type="http://schemas.openxmlformats.org/officeDocument/2006/relationships/slide" Target="/ppt/slides/slide35.xml" Id="Rdee14e4e1bba444d" /><Relationship Type="http://schemas.openxmlformats.org/officeDocument/2006/relationships/slide" Target="/ppt/slides/slide36.xml" Id="R3090ad33a8dc403f" /><Relationship Type="http://schemas.openxmlformats.org/officeDocument/2006/relationships/slide" Target="/ppt/slides/slide37.xml" Id="R2f25dee96eb543cc" /><Relationship Type="http://schemas.openxmlformats.org/officeDocument/2006/relationships/slide" Target="/ppt/slides/slide38.xml" Id="Rd093243eb7744fa0" /><Relationship Type="http://schemas.openxmlformats.org/officeDocument/2006/relationships/slide" Target="/ppt/slides/slide39.xml" Id="R92041b0174e74e0d" /><Relationship Type="http://schemas.openxmlformats.org/officeDocument/2006/relationships/slide" Target="/ppt/slides/slide40.xml" Id="R7583cdc026e14e8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a23c07872744c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e91a3d3dbd44a44" /><Relationship Type="http://schemas.openxmlformats.org/officeDocument/2006/relationships/notesMaster" Target="/ppt/notesMasters/notesMaster1.xml" Id="R1a2cd9ffaace47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2577be1a57a4f11" /><Relationship Type="http://schemas.openxmlformats.org/officeDocument/2006/relationships/notesMaster" Target="/ppt/notesMasters/notesMaster1.xml" Id="Rf3a9286235884d1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6dcf1152d874e34" /><Relationship Type="http://schemas.openxmlformats.org/officeDocument/2006/relationships/notesMaster" Target="/ppt/notesMasters/notesMaster1.xml" Id="R27e52de7bbdf453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59a90062b0431a" /><Relationship Type="http://schemas.openxmlformats.org/officeDocument/2006/relationships/notesMaster" Target="/ppt/notesMasters/notesMaster1.xml" Id="R732740fd26994d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be8876eeb4844aaf" /><Relationship Type="http://schemas.openxmlformats.org/officeDocument/2006/relationships/notesMaster" Target="/ppt/notesMasters/notesMaster1.xml" Id="Ra138d5b9722f4d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4c177d77f764e8e" /><Relationship Type="http://schemas.openxmlformats.org/officeDocument/2006/relationships/notesMaster" Target="/ppt/notesMasters/notesMaster1.xml" Id="Rd0eab5f860ef4442" /></Relationships>
</file>

<file path=ppt/notesSlides/_rels/notesSlide7.xml.rels>&#65279;<?xml version="1.0" encoding="utf-8"?><Relationships xmlns="http://schemas.openxmlformats.org/package/2006/relationships"><Relationship Type="http://schemas.openxmlformats.org/officeDocument/2006/relationships/slide" Target="/ppt/slides/slide7.xml" Id="Ra4e11686365247f9" /><Relationship Type="http://schemas.openxmlformats.org/officeDocument/2006/relationships/notesMaster" Target="/ppt/notesMasters/notesMaster1.xml" Id="Rd15da33792634e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e97f6b3039410a" /><Relationship Type="http://schemas.openxmlformats.org/officeDocument/2006/relationships/notesMaster" Target="/ppt/notesMasters/notesMaster1.xml" Id="Ra285de39d1494b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db6bf56c8d4357" /><Relationship Type="http://schemas.openxmlformats.org/officeDocument/2006/relationships/notesMaster" Target="/ppt/notesMasters/notesMaster1.xml" Id="R4569aaefa63848a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cfac3385bb14328" /><Relationship Type="http://schemas.openxmlformats.org/officeDocument/2006/relationships/notesMaster" Target="/ppt/notesMasters/notesMaster1.xml" Id="R4b17e89b40cf4ce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54b5b5741654915" /><Relationship Type="http://schemas.openxmlformats.org/officeDocument/2006/relationships/notesMaster" Target="/ppt/notesMasters/notesMaster1.xml" Id="R513eae994149428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80d1f3e4eeb497e" /><Relationship Type="http://schemas.openxmlformats.org/officeDocument/2006/relationships/notesMaster" Target="/ppt/notesMasters/notesMaster1.xml" Id="Rccaf2c00158d499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934bcb748af4674" /><Relationship Type="http://schemas.openxmlformats.org/officeDocument/2006/relationships/notesMaster" Target="/ppt/notesMasters/notesMaster1.xml" Id="R0fd9ca0680614fc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9bb3a41ecaf4b0b" /><Relationship Type="http://schemas.openxmlformats.org/officeDocument/2006/relationships/notesMaster" Target="/ppt/notesMasters/notesMaster1.xml" Id="R0c524f1efd9344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8b98f722be34d29" /><Relationship Type="http://schemas.openxmlformats.org/officeDocument/2006/relationships/notesMaster" Target="/ppt/notesMasters/notesMaster1.xml" Id="R6045834db4b342a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1fcfe8dfe5643f1" /><Relationship Type="http://schemas.openxmlformats.org/officeDocument/2006/relationships/notesMaster" Target="/ppt/notesMasters/notesMaster1.xml" Id="R8e3288423dac476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cd06b6a0d964005" /><Relationship Type="http://schemas.openxmlformats.org/officeDocument/2006/relationships/notesMaster" Target="/ppt/notesMasters/notesMaster1.xml" Id="R82ff8de0fed345a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ce4309539934ab1" /><Relationship Type="http://schemas.openxmlformats.org/officeDocument/2006/relationships/notesMaster" Target="/ppt/notesMasters/notesMaster1.xml" Id="R13f8535a80454ec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03dc9264be4f89" /><Relationship Type="http://schemas.openxmlformats.org/officeDocument/2006/relationships/notesMaster" Target="/ppt/notesMasters/notesMaster1.xml" Id="Ra7eb17ca277c4d8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7dce0dc089149f1" /><Relationship Type="http://schemas.openxmlformats.org/officeDocument/2006/relationships/notesMaster" Target="/ppt/notesMasters/notesMaster1.xml" Id="R9fc2e9718bd2487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cd1c6c20075455b" /><Relationship Type="http://schemas.openxmlformats.org/officeDocument/2006/relationships/notesMaster" Target="/ppt/notesMasters/notesMaster1.xml" Id="R9ec6a95ab0e740b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d1a2fe0dcd64f0e" /><Relationship Type="http://schemas.openxmlformats.org/officeDocument/2006/relationships/notesMaster" Target="/ppt/notesMasters/notesMaster1.xml" Id="R52ed03fc71dd426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8912a8e007e4504" /><Relationship Type="http://schemas.openxmlformats.org/officeDocument/2006/relationships/notesMaster" Target="/ppt/notesMasters/notesMaster1.xml" Id="R084272edaf5d469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daa3ef6fc344130" /><Relationship Type="http://schemas.openxmlformats.org/officeDocument/2006/relationships/notesMaster" Target="/ppt/notesMasters/notesMaster1.xml" Id="R0cceb6572c12454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befc06425734783" /><Relationship Type="http://schemas.openxmlformats.org/officeDocument/2006/relationships/notesMaster" Target="/ppt/notesMasters/notesMaster1.xml" Id="R681a6c239eaf441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9b22e1eb02240d2" /><Relationship Type="http://schemas.openxmlformats.org/officeDocument/2006/relationships/notesMaster" Target="/ppt/notesMasters/notesMaster1.xml" Id="R4289ccbf4d19424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d18b05d99814cbd" /><Relationship Type="http://schemas.openxmlformats.org/officeDocument/2006/relationships/notesMaster" Target="/ppt/notesMasters/notesMaster1.xml" Id="R1a0df3c3e488490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658d14fae9e4c15" /><Relationship Type="http://schemas.openxmlformats.org/officeDocument/2006/relationships/notesMaster" Target="/ppt/notesMasters/notesMaster1.xml" Id="Rf152c3cf426f402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b867d54ed374578" /><Relationship Type="http://schemas.openxmlformats.org/officeDocument/2006/relationships/notesMaster" Target="/ppt/notesMasters/notesMaster1.xml" Id="R2c96648f101a467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ae70a36c48a4849" /><Relationship Type="http://schemas.openxmlformats.org/officeDocument/2006/relationships/notesMaster" Target="/ppt/notesMasters/notesMaster1.xml" Id="Rb3b6f9759bd9401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492400a73c941f8" /><Relationship Type="http://schemas.openxmlformats.org/officeDocument/2006/relationships/notesMaster" Target="/ppt/notesMasters/notesMaster1.xml" Id="Rb54c71c17b99463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0ee094873f847f9" /><Relationship Type="http://schemas.openxmlformats.org/officeDocument/2006/relationships/notesMaster" Target="/ppt/notesMasters/notesMaster1.xml" Id="R2c6b848f6a4b436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897b8c8f3a14298" /><Relationship Type="http://schemas.openxmlformats.org/officeDocument/2006/relationships/notesMaster" Target="/ppt/notesMasters/notesMaster1.xml" Id="Rb0a5bc78f47a430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217eaca217a4f46" /><Relationship Type="http://schemas.openxmlformats.org/officeDocument/2006/relationships/notesMaster" Target="/ppt/notesMasters/notesMaster1.xml" Id="Ra7927a9f8aa2410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bb0c4a35fea49c2" /><Relationship Type="http://schemas.openxmlformats.org/officeDocument/2006/relationships/notesMaster" Target="/ppt/notesMasters/notesMaster1.xml" Id="R66dfbe51962d4c8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fb2360c4c204f1d" /><Relationship Type="http://schemas.openxmlformats.org/officeDocument/2006/relationships/notesMaster" Target="/ppt/notesMasters/notesMaster1.xml" Id="R4daa2cd4dcca43a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7ba5f0e961c425b" /><Relationship Type="http://schemas.openxmlformats.org/officeDocument/2006/relationships/notesMaster" Target="/ppt/notesMasters/notesMaster1.xml" Id="R8699c88ec73a41a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46218ffda4b4092" /><Relationship Type="http://schemas.openxmlformats.org/officeDocument/2006/relationships/notesMaster" Target="/ppt/notesMasters/notesMaster1.xml" Id="R706ad0e14add4d9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f85025659cf4803" /><Relationship Type="http://schemas.openxmlformats.org/officeDocument/2006/relationships/notesMaster" Target="/ppt/notesMasters/notesMaster1.xml" Id="R8f540f9656a9461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b4cccbf60d64622" /><Relationship Type="http://schemas.openxmlformats.org/officeDocument/2006/relationships/notesMaster" Target="/ppt/notesMasters/notesMaster1.xml" Id="Raae47ffa405449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09:00–09:05; 5 minutes.</a:t>
            </a:r>
          </a:p>
          <a:p xmlns:a="http://schemas.openxmlformats.org/drawingml/2006/main">
            <a:r>
              <a:t/>
            </a:r>
          </a:p>
          <a:p xmlns:a="http://schemas.openxmlformats.org/drawingml/2006/main">
            <a:r>
              <a:t>Think of one repetitive task. Work in groups of 4–6. Begin with discussion and paper design; use Copilot Chat only at the end, after the paper tests.</a:t>
            </a:r>
          </a:p>
          <a:p xmlns:a="http://schemas.openxmlformats.org/drawingml/2006/main">
            <a:r>
              <a:t/>
            </a:r>
          </a:p>
          <a:p xmlns:a="http://schemas.openxmlformats.org/drawingml/2006/main">
            <a:r>
              <a:t>Learning content: Strategic Automation Leadership / Batch 1</a:t>
            </a:r>
          </a:p>
          <a:p xmlns:a="http://schemas.openxmlformats.org/drawingml/2006/main">
            <a:r>
              <a:t/>
            </a:r>
          </a:p>
          <a:p xmlns:a="http://schemas.openxmlformats.org/drawingml/2006/main">
            <a:r>
              <a:t>Visual explanation: Power Automate for leaders. Strategic Automation Leadership. Batch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09:05–09:10; 5 minutes.</a:t>
            </a:r>
          </a:p>
          <a:p xmlns:a="http://schemas.openxmlformats.org/drawingml/2006/main">
            <a:r>
              <a:t/>
            </a:r>
          </a:p>
          <a:p xmlns:a="http://schemas.openxmlformats.org/drawingml/2006/main">
            <a:r>
              <a:t>Connect available pre-survey findings to the day without exposing individual responses. If findings are unavailable, use the fictional training-request case. Carry one safe scenario through all five Exercises. The day contains three Modules, four Delivery blocks, five Exercises, and focused Practices.</a:t>
            </a:r>
          </a:p>
          <a:p xmlns:a="http://schemas.openxmlformats.org/drawingml/2006/main">
            <a:r>
              <a:t/>
            </a:r>
          </a:p>
          <a:p xmlns:a="http://schemas.openxmlformats.org/drawingml/2006/main">
            <a:r>
              <a:t>Learning content: One justified opportunity / A paper-tested Workflow Blueprint / A human-reviewed decision record / A Leadership Handover Card</a:t>
            </a:r>
          </a:p>
          <a:p xmlns:a="http://schemas.openxmlformats.org/drawingml/2006/main">
            <a:r>
              <a:t/>
            </a:r>
          </a:p>
          <a:p xmlns:a="http://schemas.openxmlformats.org/drawingml/2006/main">
            <a:r>
              <a:t>Visual explanation: Your end-of-day outputs. One justified opportunity. A paper-tested Workflow Blueprint. A human-reviewed decision record. A Leadership Handover Card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09:10–09:15; 5 minutes.</a:t>
            </a:r>
          </a:p>
          <a:p xmlns:a="http://schemas.openxmlformats.org/drawingml/2006/main">
            <a:r>
              <a:t/>
            </a:r>
          </a:p>
          <a:p xmlns:a="http://schemas.openxmlformats.org/drawingml/2006/main">
            <a:r>
              <a:t>Power Automate supports workflows across connected services. This workshop focuses on cloud-flow concepts. The proposed process still needs suitable data, permissions, connections, and responsible people.</a:t>
            </a:r>
          </a:p>
          <a:p xmlns:a="http://schemas.openxmlformats.org/drawingml/2006/main">
            <a:r>
              <a:t/>
            </a:r>
          </a:p>
          <a:p xmlns:a="http://schemas.openxmlformats.org/drawingml/2006/main">
            <a:r>
              <a:t>Learning content: A start event / Steps governed by agreed rules / An outcome that can be checked</a:t>
            </a:r>
          </a:p>
          <a:p xmlns:a="http://schemas.openxmlformats.org/drawingml/2006/main">
            <a:r>
              <a:t/>
            </a:r>
          </a:p>
          <a:p xmlns:a="http://schemas.openxmlformats.org/drawingml/2006/main">
            <a:r>
              <a:t>Visual explanation: Power Automate in everyday work. A start event. Steps governed by agreed rules. An outcome that can be checked</a:t>
            </a:r>
          </a:p>
          <a:p xmlns:a="http://schemas.openxmlformats.org/drawingml/2006/main">
            <a:r>
              <a:t/>
            </a:r>
          </a:p>
          <a:p xmlns:a="http://schemas.openxmlformats.org/drawingml/2006/main">
            <a:r>
              <a:t>Source: https://learn.microsoft.com/en-us/power-automate/triggers-introduction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09:15–09:17; 2 minutes.</a:t>
            </a:r>
          </a:p>
          <a:p xmlns:a="http://schemas.openxmlformats.org/drawingml/2006/main">
            <a:r>
              <a:t/>
            </a:r>
          </a:p>
          <a:p xmlns:a="http://schemas.openxmlformats.org/drawingml/2006/main">
            <a:r>
              <a:t>A repeatable recipe helps coordinate work. An allergy exception needs a responsible person to check the details. Use the analogy to distinguish an agreed rule from business judgement.</a:t>
            </a:r>
          </a:p>
          <a:p xmlns:a="http://schemas.openxmlformats.org/drawingml/2006/main">
            <a:r>
              <a:t/>
            </a:r>
          </a:p>
          <a:p xmlns:a="http://schemas.openxmlformats.org/drawingml/2006/main">
            <a:r>
              <a:t>Learning content: Which tasks follow a recipe? / Which exceptions need a person?</a:t>
            </a:r>
          </a:p>
          <a:p xmlns:a="http://schemas.openxmlformats.org/drawingml/2006/main">
            <a:r>
              <a:t/>
            </a:r>
          </a:p>
          <a:p xmlns:a="http://schemas.openxmlformats.org/drawingml/2006/main">
            <a:r>
              <a:t>Visual explanation: A kitchen analogy. Which tasks follow a recipe?. Which exceptions need a person?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09:17–09:20; 3 minutes.</a:t>
            </a:r>
          </a:p>
          <a:p xmlns:a="http://schemas.openxmlformats.org/drawingml/2006/main">
            <a:r>
              <a:t/>
            </a:r>
          </a:p>
          <a:p xmlns:a="http://schemas.openxmlformats.org/drawingml/2006/main">
            <a:r>
              <a:t>The AI-generated fictional kitchen image illustrates a chef checking an order before serving it. It is not a photograph of a real workshop. Connect this to checking missing information before routing a request.</a:t>
            </a:r>
          </a:p>
          <a:p xmlns:a="http://schemas.openxmlformats.org/drawingml/2006/main">
            <a:r>
              <a:t/>
            </a:r>
          </a:p>
          <a:p xmlns:a="http://schemas.openxmlformats.org/drawingml/2006/main">
            <a:r>
              <a:t>Learning content: Routine steps can follow rules / Exceptions need an accountable person</a:t>
            </a:r>
          </a:p>
          <a:p xmlns:a="http://schemas.openxmlformats.org/drawingml/2006/main">
            <a:r>
              <a:t/>
            </a:r>
          </a:p>
          <a:p xmlns:a="http://schemas.openxmlformats.org/drawingml/2006/main">
            <a:r>
              <a:t>Visual explanation: People check exceptions. Routine steps can follow rules. Exceptions need an accountable person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09:20–09:25; 5 minutes.</a:t>
            </a:r>
          </a:p>
          <a:p xmlns:a="http://schemas.openxmlformats.org/drawingml/2006/main">
            <a:r>
              <a:t/>
            </a:r>
          </a:p>
          <a:p xmlns:a="http://schemas.openxmlformats.org/drawingml/2006/main">
            <a:r>
              <a:t>These are examples of tasks available through suitable services and connectors. They do not prove that a particular organisation has enabled the required connections or permissions.</a:t>
            </a:r>
          </a:p>
          <a:p xmlns:a="http://schemas.openxmlformats.org/drawingml/2006/main">
            <a:r>
              <a:t/>
            </a:r>
          </a:p>
          <a:p xmlns:a="http://schemas.openxmlformats.org/drawingml/2006/main">
            <a:r>
              <a:t>Learning content: Route requests / Send notifications / Update information</a:t>
            </a:r>
          </a:p>
          <a:p xmlns:a="http://schemas.openxmlformats.org/drawingml/2006/main">
            <a:r>
              <a:t/>
            </a:r>
          </a:p>
          <a:p xmlns:a="http://schemas.openxmlformats.org/drawingml/2006/main">
            <a:r>
              <a:t>Visual explanation: Common workflow tasks. Route requests. Send notifications. Update information</a:t>
            </a:r>
          </a:p>
          <a:p xmlns:a="http://schemas.openxmlformats.org/drawingml/2006/main">
            <a:r>
              <a:t/>
            </a:r>
          </a:p>
          <a:p xmlns:a="http://schemas.openxmlformats.org/drawingml/2006/main">
            <a:r>
              <a:t>Source: https://learn.microsoft.com/en-us/power-automate/triggers-introduction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09:25–09:30; 5 minutes.</a:t>
            </a:r>
          </a:p>
          <a:p xmlns:a="http://schemas.openxmlformats.org/drawingml/2006/main">
            <a:r>
              <a:t/>
            </a:r>
          </a:p>
          <a:p xmlns:a="http://schemas.openxmlformats.org/drawingml/2006/main">
            <a:r>
              <a:t>In this workshop, the manager retains the approval decision. Automation may route the request and communicate the decision once available. It does not replace the accountable role.</a:t>
            </a:r>
          </a:p>
          <a:p xmlns:a="http://schemas.openxmlformats.org/drawingml/2006/main">
            <a:r>
              <a:t/>
            </a:r>
          </a:p>
          <a:p xmlns:a="http://schemas.openxmlformats.org/drawingml/2006/main">
            <a:r>
              <a:t>Learning content: Systems carry out configured steps / People own business decisions / Verify access and information</a:t>
            </a:r>
          </a:p>
          <a:p xmlns:a="http://schemas.openxmlformats.org/drawingml/2006/main">
            <a:r>
              <a:t/>
            </a:r>
          </a:p>
          <a:p xmlns:a="http://schemas.openxmlformats.org/drawingml/2006/main">
            <a:r>
              <a:t>Visual explanation: Rules and human judgement. Systems carry out configured steps. People own business decisions. Verify access and information</a:t>
            </a:r>
          </a:p>
          <a:p xmlns:a="http://schemas.openxmlformats.org/drawingml/2006/main">
            <a:r>
              <a:t/>
            </a:r>
          </a:p>
          <a:p xmlns:a="http://schemas.openxmlformats.org/drawingml/2006/main">
            <a:r>
              <a:t>Source: https://learn.microsoft.com/en-us/power-automate/get-started-approvals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09:30–09:35; 5 minutes.</a:t>
            </a:r>
          </a:p>
          <a:p xmlns:a="http://schemas.openxmlformats.org/drawingml/2006/main">
            <a:r>
              <a:t/>
            </a:r>
          </a:p>
          <a:p xmlns:a="http://schemas.openxmlformats.org/drawingml/2006/main">
            <a:r>
              <a:t>Project and read the complete simplified case aloud. Participants do not open a file. The process is fictional and supports rehearsal; it is not a live tenant demonstration.</a:t>
            </a:r>
          </a:p>
          <a:p xmlns:a="http://schemas.openxmlformats.org/drawingml/2006/main">
            <a:r>
              <a:t/>
            </a:r>
          </a:p>
          <a:p xmlns:a="http://schemas.openxmlformats.org/drawingml/2006/main">
            <a:r>
              <a:t>Learning content: Requester submits required details / Coordinator checks completeness / Coordinator records the request / Manager approves or rejects / Coordinator notifies the requester</a:t>
            </a:r>
          </a:p>
          <a:p xmlns:a="http://schemas.openxmlformats.org/drawingml/2006/main">
            <a:r>
              <a:t/>
            </a:r>
          </a:p>
          <a:p xmlns:a="http://schemas.openxmlformats.org/drawingml/2006/main">
            <a:r>
              <a:t>Visual explanation: The fictional training request. Requester submits required details. Coordinator checks completeness. Coordinator records the request. Manager approves or rejects. Coordinator notifies the requester</a:t>
            </a:r>
          </a:p>
          <a:p xmlns:a="http://schemas.openxmlformats.org/drawingml/2006/main">
            <a:r>
              <a:t/>
            </a:r>
          </a:p>
          <a:p xmlns:a="http://schemas.openxmlformats.org/drawingml/2006/main">
            <a:r>
              <a:t>Participant instruction: exercises/01-understand-automation/README.md</a:t>
            </a:r>
          </a:p>
          <a:p xmlns:a="http://schemas.openxmlformats.org/drawingml/2006/main">
            <a:r>
              <a:t/>
            </a:r>
          </a:p>
          <a:p xmlns:a="http://schemas.openxmlformats.org/drawingml/2006/main">
            <a:r>
              <a:t>Source: https://learn.microsoft.com/en-us/power-automate/get-started-approvals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09:35–09:50; 15 minutes.</a:t>
            </a:r>
          </a:p>
          <a:p xmlns:a="http://schemas.openxmlformats.org/drawingml/2006/main">
            <a:r>
              <a:t/>
            </a:r>
          </a:p>
          <a:p xmlns:a="http://schemas.openxmlformats.org/drawingml/2006/main">
            <a:r>
              <a:t>Exercise 1 Practice 1. Ask each group to fold one A4 sheet into four areas, then add one expected benefit at the bottom. The four areas capture the current repeated step, possible system support, the human decision, and a check with an owner. Label the benefit as expected, not measured.</a:t>
            </a:r>
          </a:p>
          <a:p xmlns:a="http://schemas.openxmlformats.org/drawingml/2006/main">
            <a:r>
              <a:t/>
            </a:r>
          </a:p>
          <a:p xmlns:a="http://schemas.openxmlformats.org/drawingml/2006/main">
            <a:r>
              <a:t>Learning content: Current repeated step / System could support / Human decision / Check before trial / Expected benefit</a:t>
            </a:r>
          </a:p>
          <a:p xmlns:a="http://schemas.openxmlformats.org/drawingml/2006/main">
            <a:r>
              <a:t/>
            </a:r>
          </a:p>
          <a:p xmlns:a="http://schemas.openxmlformats.org/drawingml/2006/main">
            <a:r>
              <a:t>Visual explanation: The A4 before-and-after canvas. Current repeated step. System could support. Human decision. Check before trial. Expected benefit</a:t>
            </a:r>
          </a:p>
          <a:p xmlns:a="http://schemas.openxmlformats.org/drawingml/2006/main">
            <a:r>
              <a:t/>
            </a:r>
          </a:p>
          <a:p xmlns:a="http://schemas.openxmlformats.org/drawingml/2006/main">
            <a:r>
              <a:t>Participant instruction: exercises/01-understand-automation/README.md</a:t>
            </a:r>
          </a:p>
          <a:p xmlns:a="http://schemas.openxmlformats.org/drawingml/2006/main">
            <a:r>
              <a:t/>
            </a:r>
          </a:p>
          <a:p xmlns:a="http://schemas.openxmlformats.org/drawingml/2006/main">
            <a:r>
              <a:t>Source: https://learn.microsoft.com/en-us/power-automate/get-started-approvals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09:50–10:00; 10 minutes.</a:t>
            </a:r>
          </a:p>
          <a:p xmlns:a="http://schemas.openxmlformats.org/drawingml/2006/main">
            <a:r>
              <a:t/>
            </a:r>
          </a:p>
          <a:p xmlns:a="http://schemas.openxmlformats.org/drawingml/2006/main">
            <a:r>
              <a:t>Exercise 1 Practice 2, first 10 minutes. Project and read each prompt aloud. Groups write A, B, and C on separate sticky notes and place them in one of three flipchart columns. Require one reason for each placement.</a:t>
            </a:r>
          </a:p>
          <a:p xmlns:a="http://schemas.openxmlformats.org/drawingml/2006/main">
            <a:r>
              <a:t/>
            </a:r>
          </a:p>
          <a:p xmlns:a="http://schemas.openxmlformats.org/drawingml/2006/main">
            <a:r>
              <a:t>Learning content: A: Notify on arrival through an authorised connection / B: Decide suitability where exceptions have no fixed rules / C: Request a missing date using an agreed rule</a:t>
            </a:r>
          </a:p>
          <a:p xmlns:a="http://schemas.openxmlformats.org/drawingml/2006/main">
            <a:r>
              <a:t/>
            </a:r>
          </a:p>
          <a:p xmlns:a="http://schemas.openxmlformats.org/drawingml/2006/main">
            <a:r>
              <a:t>Visual explanation: Scenario prompts A–C. A: Notify on arrival through an authorised connection. B: Decide suitability where exceptions have no fixed rules. C: Request a missing date using an agreed rule</a:t>
            </a:r>
          </a:p>
          <a:p xmlns:a="http://schemas.openxmlformats.org/drawingml/2006/main">
            <a:r>
              <a:t/>
            </a:r>
          </a:p>
          <a:p xmlns:a="http://schemas.openxmlformats.org/drawingml/2006/main">
            <a:r>
              <a:t>Participant instruction: exercises/01-understand-automation/README.md</a:t>
            </a:r>
          </a:p>
          <a:p xmlns:a="http://schemas.openxmlformats.org/drawingml/2006/main">
            <a:r>
              <a:t/>
            </a:r>
          </a:p>
          <a:p xmlns:a="http://schemas.openxmlformats.org/drawingml/2006/main">
            <a:r>
              <a:t>Source: https://learn.microsoft.com/en-us/power-automate/get-started-approvals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10:00–10:10; 10 minutes.</a:t>
            </a:r>
          </a:p>
          <a:p xmlns:a="http://schemas.openxmlformats.org/drawingml/2006/main">
            <a:r>
              <a:t/>
            </a:r>
          </a:p>
          <a:p xmlns:a="http://schemas.openxmlformats.org/drawingml/2006/main">
            <a:r>
              <a:t>Exercise 1 Practice 2, second 10 minutes. Project and read each prompt aloud. Groups place D, E, and F, add reasons, and name a verification owner wherever information is missing. Sending an approval request and approving it are different events.</a:t>
            </a:r>
          </a:p>
          <a:p xmlns:a="http://schemas.openxmlformats.org/drawingml/2006/main">
            <a:r>
              <a:t/>
            </a:r>
          </a:p>
          <a:p xmlns:a="http://schemas.openxmlformats.org/drawingml/2006/main">
            <a:r>
              <a:t>Learning content: D: Connect a system when access is unknown / E: Remind an agreed recipient at an agreed time / F: Say approved before the manager decides</a:t>
            </a:r>
          </a:p>
          <a:p xmlns:a="http://schemas.openxmlformats.org/drawingml/2006/main">
            <a:r>
              <a:t/>
            </a:r>
          </a:p>
          <a:p xmlns:a="http://schemas.openxmlformats.org/drawingml/2006/main">
            <a:r>
              <a:t>Visual explanation: Scenario prompts D–F. D: Connect a system when access is unknown. E: Remind an agreed recipient at an agreed time. F: Say approved before the manager decides</a:t>
            </a:r>
          </a:p>
          <a:p xmlns:a="http://schemas.openxmlformats.org/drawingml/2006/main">
            <a:r>
              <a:t/>
            </a:r>
          </a:p>
          <a:p xmlns:a="http://schemas.openxmlformats.org/drawingml/2006/main">
            <a:r>
              <a:t>Participant instruction: exercises/01-understand-automation/README.md</a:t>
            </a:r>
          </a:p>
          <a:p xmlns:a="http://schemas.openxmlformats.org/drawingml/2006/main">
            <a:r>
              <a:t/>
            </a:r>
          </a:p>
          <a:p xmlns:a="http://schemas.openxmlformats.org/drawingml/2006/main">
            <a:r>
              <a:t>Source: https://learn.microsoft.com/en-us/power-automate/get-started-approvals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10:10–10:25; 15 minutes.</a:t>
            </a:r>
          </a:p>
          <a:p xmlns:a="http://schemas.openxmlformats.org/drawingml/2006/main">
            <a:r>
              <a:t/>
            </a:r>
          </a:p>
          <a:p xmlns:a="http://schemas.openxmlformats.org/drawingml/2006/main">
            <a:r>
              <a:t>Separate product facts from tenant readiness and business policy. Record unknowns with a responsible role instead of guessing.</a:t>
            </a:r>
          </a:p>
          <a:p xmlns:a="http://schemas.openxmlformats.org/drawingml/2006/main">
            <a:r>
              <a:t/>
            </a:r>
          </a:p>
          <a:p xmlns:a="http://schemas.openxmlformats.org/drawingml/2006/main">
            <a:r>
              <a:t>Learning content: What could the system support? / Which rule or detail remains unclear? / What must the process owner or IT confirm?</a:t>
            </a:r>
          </a:p>
          <a:p xmlns:a="http://schemas.openxmlformats.org/drawingml/2006/main">
            <a:r>
              <a:t/>
            </a:r>
          </a:p>
          <a:p xmlns:a="http://schemas.openxmlformats.org/drawingml/2006/main">
            <a:r>
              <a:t>Visual explanation: Questions from the groups. What could the system support?. Which rule or detail remains unclear?. What must the process owner or IT confirm?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1; 10:25–10:30; 5 minutes.</a:t>
            </a:r>
          </a:p>
          <a:p xmlns:a="http://schemas.openxmlformats.org/drawingml/2006/main">
            <a:r>
              <a:t/>
            </a:r>
          </a:p>
          <a:p xmlns:a="http://schemas.openxmlformats.org/drawingml/2006/main">
            <a:r>
              <a:t>Describe one potential benefit and one boundary. Break from 10:30 to 10:45.</a:t>
            </a:r>
          </a:p>
          <a:p xmlns:a="http://schemas.openxmlformats.org/drawingml/2006/main">
            <a:r>
              <a:t/>
            </a:r>
          </a:p>
          <a:p xmlns:a="http://schemas.openxmlformats.org/drawingml/2006/main">
            <a:r>
              <a:t>Learning content: Systems support repeatable rules / People retain accountability / After the break: test your understanding</a:t>
            </a:r>
          </a:p>
          <a:p xmlns:a="http://schemas.openxmlformats.org/drawingml/2006/main">
            <a:r>
              <a:t/>
            </a:r>
          </a:p>
          <a:p xmlns:a="http://schemas.openxmlformats.org/drawingml/2006/main">
            <a:r>
              <a:t>Visual explanation: Block 1 checkpoint. Systems support repeatable rules. People retain accountability. After the break: test your understanding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2; 10:45–11:00; 15 minutes.</a:t>
            </a:r>
          </a:p>
          <a:p xmlns:a="http://schemas.openxmlformats.org/drawingml/2006/main">
            <a:r>
              <a:t/>
            </a:r>
          </a:p>
          <a:p xmlns:a="http://schemas.openxmlformats.org/drawingml/2006/main">
            <a:r>
              <a:t>Exercise 1 Practice 3. Each participant answers the three projected questions on separate sticky notes, compares with a partner, and revises the reasoning. This is a formative check rather than the full pre/post assessment.</a:t>
            </a:r>
          </a:p>
          <a:p xmlns:a="http://schemas.openxmlformats.org/drawingml/2006/main">
            <a:r>
              <a:t/>
            </a:r>
          </a:p>
          <a:p xmlns:a="http://schemas.openxmlformats.org/drawingml/2006/main">
            <a:r>
              <a:t>Learning content: Routine copying or undefined exceptions? / Do reminders alone remove a delay? / What must be checked before connecting a system?</a:t>
            </a:r>
          </a:p>
          <a:p xmlns:a="http://schemas.openxmlformats.org/drawingml/2006/main">
            <a:r>
              <a:t/>
            </a:r>
          </a:p>
          <a:p xmlns:a="http://schemas.openxmlformats.org/drawingml/2006/main">
            <a:r>
              <a:t>Visual explanation: Knowledge check. Routine copying or undefined exceptions?. Do reminders alone remove a delay?. What must be checked before connecting a system?</a:t>
            </a:r>
          </a:p>
          <a:p xmlns:a="http://schemas.openxmlformats.org/drawingml/2006/main">
            <a:r>
              <a:t/>
            </a:r>
          </a:p>
          <a:p xmlns:a="http://schemas.openxmlformats.org/drawingml/2006/main">
            <a:r>
              <a:t>Participant instruction: exercises/01-understand-automation/README.md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2; 11:00–11:05; 5 minutes.</a:t>
            </a:r>
          </a:p>
          <a:p xmlns:a="http://schemas.openxmlformats.org/drawingml/2006/main">
            <a:r>
              <a:t/>
            </a:r>
          </a:p>
          <a:p xmlns:a="http://schemas.openxmlformats.org/drawingml/2006/main">
            <a:r>
              <a:t>Complete the knowledge check on the second A4 sheet. Each group records one supported fact and one open question with the role that must verify it. Demystifying Power Automate ends at 11:05, after 110 teaching minutes.</a:t>
            </a:r>
          </a:p>
          <a:p xmlns:a="http://schemas.openxmlformats.org/drawingml/2006/main">
            <a:r>
              <a:t/>
            </a:r>
          </a:p>
          <a:p xmlns:a="http://schemas.openxmlformats.org/drawingml/2006/main">
            <a:r>
              <a:t>Learning content: Known fact / Open question / Verification owner</a:t>
            </a:r>
          </a:p>
          <a:p xmlns:a="http://schemas.openxmlformats.org/drawingml/2006/main">
            <a:r>
              <a:t/>
            </a:r>
          </a:p>
          <a:p xmlns:a="http://schemas.openxmlformats.org/drawingml/2006/main">
            <a:r>
              <a:t>Visual explanation: Known facts and open questions. Known fact. Open question. Verification owner</a:t>
            </a:r>
          </a:p>
          <a:p xmlns:a="http://schemas.openxmlformats.org/drawingml/2006/main">
            <a:r>
              <a:t/>
            </a:r>
          </a:p>
          <a:p xmlns:a="http://schemas.openxmlformats.org/drawingml/2006/main">
            <a:r>
              <a:t>Source: https://learn.microsoft.com/en-us/power-automate/get-started-approvals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2; 11:05–11:08; 3 minutes.</a:t>
            </a:r>
          </a:p>
          <a:p xmlns:a="http://schemas.openxmlformats.org/drawingml/2006/main">
            <a:r>
              <a:t/>
            </a:r>
          </a:p>
          <a:p xmlns:a="http://schemas.openxmlformats.org/drawingml/2006/main">
            <a:r>
              <a:t>Understand the current process before proposing technology. A delay may reflect unclear decision criteria, not simply a missing notification.</a:t>
            </a:r>
          </a:p>
          <a:p xmlns:a="http://schemas.openxmlformats.org/drawingml/2006/main">
            <a:r>
              <a:t/>
            </a:r>
          </a:p>
          <a:p xmlns:a="http://schemas.openxmlformats.org/drawingml/2006/main">
            <a:r>
              <a:t>Learning content: Map the work as it happens / Show handovers and waiting / Connect pain points to evidence</a:t>
            </a:r>
          </a:p>
          <a:p xmlns:a="http://schemas.openxmlformats.org/drawingml/2006/main">
            <a:r>
              <a:t/>
            </a:r>
          </a:p>
          <a:p xmlns:a="http://schemas.openxmlformats.org/drawingml/2006/main">
            <a:r>
              <a:t>Visual explanation: Unlocking Operational Bottlenecks. Map the work as it happens. Show handovers and waiting. Connect pain points to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2; 11:08–11:15; 7 minutes.</a:t>
            </a:r>
          </a:p>
          <a:p xmlns:a="http://schemas.openxmlformats.org/drawingml/2006/main">
            <a:r>
              <a:t/>
            </a:r>
          </a:p>
          <a:p xmlns:a="http://schemas.openxmlformats.org/drawingml/2006/main">
            <a:r>
              <a:t>The diagram shows the fictional current process. The waiting points are investigation prompts, not a claim that automation will solve every delay.</a:t>
            </a:r>
          </a:p>
          <a:p xmlns:a="http://schemas.openxmlformats.org/drawingml/2006/main">
            <a:r>
              <a:t/>
            </a:r>
          </a:p>
          <a:p xmlns:a="http://schemas.openxmlformats.org/drawingml/2006/main">
            <a:r>
              <a:t>Learning content: Missing information blocks progress / Waiting for a decision is a separate issue / Locate the problem before proposing a solution</a:t>
            </a:r>
          </a:p>
          <a:p xmlns:a="http://schemas.openxmlformats.org/drawingml/2006/main">
            <a:r>
              <a:t/>
            </a:r>
          </a:p>
          <a:p xmlns:a="http://schemas.openxmlformats.org/drawingml/2006/main">
            <a:r>
              <a:t>Visual explanation: Where requests wait. Missing information blocks progress. Waiting for a decision is a separate issue. Locate the problem before proposing a 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2; 11:15–11:30; 15 minutes.</a:t>
            </a:r>
          </a:p>
          <a:p xmlns:a="http://schemas.openxmlformats.org/drawingml/2006/main">
            <a:r>
              <a:t/>
            </a:r>
          </a:p>
          <a:p xmlns:a="http://schemas.openxmlformats.org/drawingml/2006/main">
            <a:r>
              <a:t>Exercise 2 Practice 1. Use ordinary sticky notes, one action per note. Require the information or status received and passed on at every handover. Do not introduce Flow cards during current-process mapping.</a:t>
            </a:r>
          </a:p>
          <a:p xmlns:a="http://schemas.openxmlformats.org/drawingml/2006/main">
            <a:r>
              <a:t/>
            </a:r>
          </a:p>
          <a:p xmlns:a="http://schemas.openxmlformats.org/drawingml/2006/main">
            <a:r>
              <a:t>Learning content: Agree the start and end / Map 5–8 steps / Show information or status at each handover / Name each responsible role</a:t>
            </a:r>
          </a:p>
          <a:p xmlns:a="http://schemas.openxmlformats.org/drawingml/2006/main">
            <a:r>
              <a:t/>
            </a:r>
          </a:p>
          <a:p xmlns:a="http://schemas.openxmlformats.org/drawingml/2006/main">
            <a:r>
              <a:t>Visual explanation: Current-process map. Agree the start and end. Map 5–8 steps. Show information or status at each handover. Name each responsible role</a:t>
            </a:r>
          </a:p>
          <a:p xmlns:a="http://schemas.openxmlformats.org/drawingml/2006/main">
            <a:r>
              <a:t/>
            </a:r>
          </a:p>
          <a:p xmlns:a="http://schemas.openxmlformats.org/drawingml/2006/main">
            <a:r>
              <a:t>Participant instruction: exercises/02-map-work-friction/README.md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2; 11:30–11:50; 20 minutes.</a:t>
            </a:r>
          </a:p>
          <a:p xmlns:a="http://schemas.openxmlformats.org/drawingml/2006/main">
            <a:r>
              <a:t/>
            </a:r>
          </a:p>
          <a:p xmlns:a="http://schemas.openxmlformats.org/drawingml/2006/main">
            <a:r>
              <a:t>Exercise 2 Practice 2. Attach each friction point to a step, impact, and evidence or open question. Discuss process conditions rather than blaming people.</a:t>
            </a:r>
          </a:p>
          <a:p xmlns:a="http://schemas.openxmlformats.org/drawingml/2006/main">
            <a:r>
              <a:t/>
            </a:r>
          </a:p>
          <a:p xmlns:a="http://schemas.openxmlformats.org/drawingml/2006/main">
            <a:r>
              <a:t>Learning content: Repeated work and waiting / Missing information / Unclear ownership</a:t>
            </a:r>
          </a:p>
          <a:p xmlns:a="http://schemas.openxmlformats.org/drawingml/2006/main">
            <a:r>
              <a:t/>
            </a:r>
          </a:p>
          <a:p xmlns:a="http://schemas.openxmlformats.org/drawingml/2006/main">
            <a:r>
              <a:t>Visual explanation: Four types of friction. Repeated work and waiting. Missing information. Unclear ownership</a:t>
            </a:r>
          </a:p>
          <a:p xmlns:a="http://schemas.openxmlformats.org/drawingml/2006/main">
            <a:r>
              <a:t/>
            </a:r>
          </a:p>
          <a:p xmlns:a="http://schemas.openxmlformats.org/drawingml/2006/main">
            <a:r>
              <a:t>Participant instruction: exercises/02-map-work-friction/README.md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2; 11:50–11:55; 5 minutes.</a:t>
            </a:r>
          </a:p>
          <a:p xmlns:a="http://schemas.openxmlformats.org/drawingml/2006/main">
            <a:r>
              <a:t/>
            </a:r>
          </a:p>
          <a:p xmlns:a="http://schemas.openxmlformats.org/drawingml/2006/main">
            <a:r>
              <a:t>Exercise 2 Practice 3. Record pain points A, B, and C for comparison after lunch.</a:t>
            </a:r>
          </a:p>
          <a:p xmlns:a="http://schemas.openxmlformats.org/drawingml/2006/main">
            <a:r>
              <a:t/>
            </a:r>
          </a:p>
          <a:p xmlns:a="http://schemas.openxmlformats.org/drawingml/2006/main">
            <a:r>
              <a:t>Learning content: Choose three locations on the map / Name what gets stuck and where / Keep the map as evidence</a:t>
            </a:r>
          </a:p>
          <a:p xmlns:a="http://schemas.openxmlformats.org/drawingml/2006/main">
            <a:r>
              <a:t/>
            </a:r>
          </a:p>
          <a:p xmlns:a="http://schemas.openxmlformats.org/drawingml/2006/main">
            <a:r>
              <a:t>Visual explanation: Three pain points to compare. Choose three locations on the map. Name what gets stuck and where. Keep the map as evidence</a:t>
            </a:r>
          </a:p>
          <a:p xmlns:a="http://schemas.openxmlformats.org/drawingml/2006/main">
            <a:r>
              <a:t/>
            </a:r>
          </a:p>
          <a:p xmlns:a="http://schemas.openxmlformats.org/drawingml/2006/main">
            <a:r>
              <a:t>Participant instruction: exercises/02-map-work-friction/README.md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2; 11:55–12:00; 5 minutes.</a:t>
            </a:r>
          </a:p>
          <a:p xmlns:a="http://schemas.openxmlformats.org/drawingml/2006/main">
            <a:r>
              <a:t/>
            </a:r>
          </a:p>
          <a:p xmlns:a="http://schemas.openxmlformats.org/drawingml/2006/main">
            <a:r>
              <a:t>Keep the current map visible. Lunch is 12:00–13:00.</a:t>
            </a:r>
          </a:p>
          <a:p xmlns:a="http://schemas.openxmlformats.org/drawingml/2006/main">
            <a:r>
              <a:t/>
            </a:r>
          </a:p>
          <a:p xmlns:a="http://schemas.openxmlformats.org/drawingml/2006/main">
            <a:r>
              <a:t>Learning content: One current-process map / Three evidence-linked pain points / After lunch: select one opportunity</a:t>
            </a:r>
          </a:p>
          <a:p xmlns:a="http://schemas.openxmlformats.org/drawingml/2006/main">
            <a:r>
              <a:t/>
            </a:r>
          </a:p>
          <a:p xmlns:a="http://schemas.openxmlformats.org/drawingml/2006/main">
            <a:r>
              <a:t>Visual explanation: Block 2 checkpoint. One current-process map. Three evidence-linked pain points. After lunch: select one opportunity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13:00–13:10; 10 minutes.</a:t>
            </a:r>
          </a:p>
          <a:p xmlns:a="http://schemas.openxmlformats.org/drawingml/2006/main">
            <a:r>
              <a:t/>
            </a:r>
          </a:p>
          <a:p xmlns:a="http://schemas.openxmlformats.org/drawingml/2006/main">
            <a:r>
              <a:t>Screen each candidate before scoring. Sensitive or restricted data, material harm, unstable rules, frequent unowned exceptions, or missing ownership prevents workshop progression. A high expected benefit never overrides the gate.</a:t>
            </a:r>
          </a:p>
          <a:p xmlns:a="http://schemas.openxmlformats.org/drawingml/2006/main">
            <a:r>
              <a:t/>
            </a:r>
          </a:p>
          <a:p xmlns:a="http://schemas.openxmlformats.org/drawingml/2006/main">
            <a:r>
              <a:t>Learning content: Proceed to compare / Explore after validation / Do not progress in this workshop</a:t>
            </a:r>
          </a:p>
          <a:p xmlns:a="http://schemas.openxmlformats.org/drawingml/2006/main">
            <a:r>
              <a:t/>
            </a:r>
          </a:p>
          <a:p xmlns:a="http://schemas.openxmlformats.org/drawingml/2006/main">
            <a:r>
              <a:t>Visual explanation: Opportunity readiness gate. Proceed to compare. Explore after validation. Do not progress in this workshop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13:10–13:30; 20 minutes.</a:t>
            </a:r>
          </a:p>
          <a:p xmlns:a="http://schemas.openxmlformats.org/drawingml/2006/main">
            <a:r>
              <a:t/>
            </a:r>
          </a:p>
          <a:p xmlns:a="http://schemas.openxmlformats.org/drawingml/2006/main">
            <a:r>
              <a:t>Exercise 3 Practices 1–2. Apply the readiness gate first, then compare eligible candidates. The score supports discussion rather than proving ROI. For equal scores, prefer smaller scope, lower effort, and clearer ownership.</a:t>
            </a:r>
          </a:p>
          <a:p xmlns:a="http://schemas.openxmlformats.org/drawingml/2006/main">
            <a:r>
              <a:t/>
            </a:r>
          </a:p>
          <a:p xmlns:a="http://schemas.openxmlformats.org/drawingml/2006/main">
            <a:r>
              <a:t>Learning content: Impact, frequency, readiness: 1–3 / Effort: Low / Medium / High / Record reasons and uncertainty</a:t>
            </a:r>
          </a:p>
          <a:p xmlns:a="http://schemas.openxmlformats.org/drawingml/2006/main">
            <a:r>
              <a:t/>
            </a:r>
          </a:p>
          <a:p xmlns:a="http://schemas.openxmlformats.org/drawingml/2006/main">
            <a:r>
              <a:t>Visual explanation: Compare eligible opportunities. Impact, frequency, readiness: 1–3. Effort: Low / Medium / High. Record reasons and uncertainty</a:t>
            </a:r>
          </a:p>
          <a:p xmlns:a="http://schemas.openxmlformats.org/drawingml/2006/main">
            <a:r>
              <a:t/>
            </a:r>
          </a:p>
          <a:p xmlns:a="http://schemas.openxmlformats.org/drawingml/2006/main">
            <a:r>
              <a:t>Participant instruction: exercises/03-prioritize-opportunity/README.md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13:30–13:40; 10 minutes.</a:t>
            </a:r>
          </a:p>
          <a:p xmlns:a="http://schemas.openxmlformats.org/drawingml/2006/main">
            <a:r>
              <a:t/>
            </a:r>
          </a:p>
          <a:p xmlns:a="http://schemas.openxmlformats.org/drawingml/2006/main">
            <a:r>
              <a:t>Complete Exercise 3 Practice 1 by naming the selected opportunity, start, end, owner, and open checks. Start Worksheet 6C with the problem, scope, and owner.</a:t>
            </a:r>
          </a:p>
          <a:p xmlns:a="http://schemas.openxmlformats.org/drawingml/2006/main">
            <a:r>
              <a:t/>
            </a:r>
          </a:p>
          <a:p xmlns:a="http://schemas.openxmlformats.org/drawingml/2006/main">
            <a:r>
              <a:t>Learning content: Start event / Work to change / End outcome and process owner</a:t>
            </a:r>
          </a:p>
          <a:p xmlns:a="http://schemas.openxmlformats.org/drawingml/2006/main">
            <a:r>
              <a:t/>
            </a:r>
          </a:p>
          <a:p xmlns:a="http://schemas.openxmlformats.org/drawingml/2006/main">
            <a:r>
              <a:t>Visual explanation: A manageable boundary. Start event. Work to change. End outcome and process owner</a:t>
            </a:r>
          </a:p>
          <a:p xmlns:a="http://schemas.openxmlformats.org/drawingml/2006/main">
            <a:r>
              <a:t/>
            </a:r>
          </a:p>
          <a:p xmlns:a="http://schemas.openxmlformats.org/drawingml/2006/main">
            <a:r>
              <a:t>Participant instruction: exercises/03-prioritize-opportunity/README.md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13:40–13:50; 10 minutes.</a:t>
            </a:r>
          </a:p>
          <a:p xmlns:a="http://schemas.openxmlformats.org/drawingml/2006/main">
            <a:r>
              <a:t/>
            </a:r>
          </a:p>
          <a:p xmlns:a="http://schemas.openxmlformats.org/drawingml/2006/main">
            <a:r>
              <a:t>Exercise 3 Practice 2. Explain for two minutes and take questions for two minutes; swap roles, then use two minutes to refine the scope.</a:t>
            </a:r>
          </a:p>
          <a:p xmlns:a="http://schemas.openxmlformats.org/drawingml/2006/main">
            <a:r>
              <a:t/>
            </a:r>
          </a:p>
          <a:p xmlns:a="http://schemas.openxmlformats.org/drawingml/2006/main">
            <a:r>
              <a:t>Learning content: Explain the opportunity and evidence / Ask about scope, owner, and unknowns / Refine the boundary</a:t>
            </a:r>
          </a:p>
          <a:p xmlns:a="http://schemas.openxmlformats.org/drawingml/2006/main">
            <a:r>
              <a:t/>
            </a:r>
          </a:p>
          <a:p xmlns:a="http://schemas.openxmlformats.org/drawingml/2006/main">
            <a:r>
              <a:t>Visual explanation: Peer scope review. Explain the opportunity and evidence. Ask about scope, owner, and unknowns. Refine the boundary</a:t>
            </a:r>
          </a:p>
          <a:p xmlns:a="http://schemas.openxmlformats.org/drawingml/2006/main">
            <a:r>
              <a:t/>
            </a:r>
          </a:p>
          <a:p xmlns:a="http://schemas.openxmlformats.org/drawingml/2006/main">
            <a:r>
              <a:t>Participant instruction: exercises/03-prioritize-opportunity/README.md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13:50–13:55; 5 minutes.</a:t>
            </a:r>
          </a:p>
          <a:p xmlns:a="http://schemas.openxmlformats.org/drawingml/2006/main">
            <a:r>
              <a:t/>
            </a:r>
          </a:p>
          <a:p xmlns:a="http://schemas.openxmlformats.org/drawingml/2006/main">
            <a:r>
              <a:t>Confirm the selected opportunity. Unlocking Operational Bottlenecks ends at 13:55, after 110 teaching minutes.</a:t>
            </a:r>
          </a:p>
          <a:p xmlns:a="http://schemas.openxmlformats.org/drawingml/2006/main">
            <a:r>
              <a:t/>
            </a:r>
          </a:p>
          <a:p xmlns:a="http://schemas.openxmlformats.org/drawingml/2006/main">
            <a:r>
              <a:t>Learning content: One evidence-based opportunity / A clear boundary and owner / Carry the same opportunity forward</a:t>
            </a:r>
          </a:p>
          <a:p xmlns:a="http://schemas.openxmlformats.org/drawingml/2006/main">
            <a:r>
              <a:t/>
            </a:r>
          </a:p>
          <a:p xmlns:a="http://schemas.openxmlformats.org/drawingml/2006/main">
            <a:r>
              <a:t>Visual explanation: The selected bottleneck. One evidence-based opportunity. A clear boundary and owner. Carry the same opportunity forward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13:55–13:59; 4 minutes.</a:t>
            </a:r>
          </a:p>
          <a:p xmlns:a="http://schemas.openxmlformats.org/drawingml/2006/main">
            <a:r>
              <a:t/>
            </a:r>
          </a:p>
          <a:p xmlns:a="http://schemas.openxmlformats.org/drawingml/2006/main">
            <a:r>
              <a:t>Open Module 3 with the physical-card visual. The next slides introduce Trigger, Action, connector, Condition, human decision, and owned exceptions one concept at a time.</a:t>
            </a:r>
          </a:p>
          <a:p xmlns:a="http://schemas.openxmlformats.org/drawingml/2006/main">
            <a:r>
              <a:t/>
            </a:r>
          </a:p>
          <a:p xmlns:a="http://schemas.openxmlformats.org/drawingml/2006/main">
            <a:r>
              <a:t>Learning content: Steps, decisions, and exceptions</a:t>
            </a:r>
          </a:p>
          <a:p xmlns:a="http://schemas.openxmlformats.org/drawingml/2006/main">
            <a:r>
              <a:t/>
            </a:r>
          </a:p>
          <a:p xmlns:a="http://schemas.openxmlformats.org/drawingml/2006/main">
            <a:r>
              <a:t>Visual explanation: Strategic Workflow Blueprinting. Steps, decisions, and exceptions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13:59–14:03; 4 minutes.</a:t>
            </a:r>
          </a:p>
          <a:p xmlns:a="http://schemas.openxmlformats.org/drawingml/2006/main">
            <a:r>
              <a:t/>
            </a:r>
          </a:p>
          <a:p xmlns:a="http://schemas.openxmlformats.org/drawingml/2006/main">
            <a:r>
              <a:t>A cloud flow can start from an event, manual start, or schedule. Think of a connector as a way to contact another service, not a key that grants access to everything. A real implementation needs valid connections and appropriate permissions.</a:t>
            </a:r>
          </a:p>
          <a:p xmlns:a="http://schemas.openxmlformats.org/drawingml/2006/main">
            <a:r>
              <a:t/>
            </a:r>
          </a:p>
          <a:p xmlns:a="http://schemas.openxmlformats.org/drawingml/2006/main">
            <a:r>
              <a:t>Learning content: A Trigger starts the flow / An Action performs a step / A connector exposes service operations</a:t>
            </a:r>
          </a:p>
          <a:p xmlns:a="http://schemas.openxmlformats.org/drawingml/2006/main">
            <a:r>
              <a:t/>
            </a:r>
          </a:p>
          <a:p xmlns:a="http://schemas.openxmlformats.org/drawingml/2006/main">
            <a:r>
              <a:t>Visual explanation: Triggers, Actions, and connectors. A Trigger starts the flow. An Action performs a step. A connector exposes service operations</a:t>
            </a:r>
          </a:p>
          <a:p xmlns:a="http://schemas.openxmlformats.org/drawingml/2006/main">
            <a:r>
              <a:t/>
            </a:r>
          </a:p>
          <a:p xmlns:a="http://schemas.openxmlformats.org/drawingml/2006/main">
            <a:r>
              <a:t>Source: https://learn.microsoft.com/en-us/power-automate/triggers-introduction</a:t>
            </a:r>
          </a:p>
          <a:p xmlns:a="http://schemas.openxmlformats.org/drawingml/2006/main">
            <a:r>
              <a:t/>
            </a:r>
          </a:p>
          <a:p xmlns:a="http://schemas.openxmlformats.org/drawingml/2006/main">
            <a:r>
              <a:t>Source: https://learn.microsoft.com/en-us/connectors/overview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14:03–14:07; 4 minutes.</a:t>
            </a:r>
          </a:p>
          <a:p xmlns:a="http://schemas.openxmlformats.org/drawingml/2006/main">
            <a:r>
              <a:t/>
            </a:r>
          </a:p>
          <a:p xmlns:a="http://schemas.openxmlformats.org/drawingml/2006/main">
            <a:r>
              <a:t>A Condition branches according to a true/false result. A person makes the approval or rejection decision. Yes/No labels here express the conceptual rule, not an exact UI sequence. Both decision outcomes need an explicit next route.</a:t>
            </a:r>
          </a:p>
          <a:p xmlns:a="http://schemas.openxmlformats.org/drawingml/2006/main">
            <a:r>
              <a:t/>
            </a:r>
          </a:p>
          <a:p xmlns:a="http://schemas.openxmlformats.org/drawingml/2006/main">
            <a:r>
              <a:t>Learning content: Check details against an agreed rule / Human owner approves or rejects / Both outcomes reach notification or owned follow-up</a:t>
            </a:r>
          </a:p>
          <a:p xmlns:a="http://schemas.openxmlformats.org/drawingml/2006/main">
            <a:r>
              <a:t/>
            </a:r>
          </a:p>
          <a:p xmlns:a="http://schemas.openxmlformats.org/drawingml/2006/main">
            <a:r>
              <a:t>Visual explanation: Conditions and human decisions. Check details against an agreed rule. Human owner approves or rejects. Both outcomes reach notification or owned follow-up</a:t>
            </a:r>
          </a:p>
          <a:p xmlns:a="http://schemas.openxmlformats.org/drawingml/2006/main">
            <a:r>
              <a:t/>
            </a:r>
          </a:p>
          <a:p xmlns:a="http://schemas.openxmlformats.org/drawingml/2006/main">
            <a:r>
              <a:t>Source: https://learn.microsoft.com/en-us/power-automate/get-started-approvals</a:t>
            </a:r>
          </a:p>
          <a:p xmlns:a="http://schemas.openxmlformats.org/drawingml/2006/main">
            <a:r>
              <a:t/>
            </a:r>
          </a:p>
          <a:p xmlns:a="http://schemas.openxmlformats.org/drawingml/2006/main">
            <a:r>
              <a:t>Source: https://learn.microsoft.com/en-us/power-automate/add-condition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14:07–14:10; 3 minutes.</a:t>
            </a:r>
          </a:p>
          <a:p xmlns:a="http://schemas.openxmlformats.org/drawingml/2006/main">
            <a:r>
              <a:t/>
            </a:r>
          </a:p>
          <a:p xmlns:a="http://schemas.openxmlformats.org/drawingml/2006/main">
            <a:r>
              <a:t>Review the components before the physical-card exercise. Show both approval and rejection outcomes before adding exception routes. The diagram is conceptual and does not validate connector availability or tenant readiness.</a:t>
            </a:r>
          </a:p>
          <a:p xmlns:a="http://schemas.openxmlformats.org/drawingml/2006/main">
            <a:r>
              <a:t/>
            </a:r>
          </a:p>
          <a:p xmlns:a="http://schemas.openxmlformats.org/drawingml/2006/main">
            <a:r>
              <a:t>Learning content: Trigger and Actions / Condition outcomes / Human approval or rejection / Owned exception routes</a:t>
            </a:r>
          </a:p>
          <a:p xmlns:a="http://schemas.openxmlformats.org/drawingml/2006/main">
            <a:r>
              <a:t/>
            </a:r>
          </a:p>
          <a:p xmlns:a="http://schemas.openxmlformats.org/drawingml/2006/main">
            <a:r>
              <a:t>Visual explanation: Workflow Blueprint anatomy. Trigger and Actions. Condition outcomes. Human approval or rejection. Owned exception routes</a:t>
            </a:r>
          </a:p>
          <a:p xmlns:a="http://schemas.openxmlformats.org/drawingml/2006/main">
            <a:r>
              <a:t/>
            </a:r>
          </a:p>
          <a:p xmlns:a="http://schemas.openxmlformats.org/drawingml/2006/main">
            <a:r>
              <a:t>Source: https://learn.microsoft.com/en-us/power-automate/triggers-introduction</a:t>
            </a:r>
          </a:p>
          <a:p xmlns:a="http://schemas.openxmlformats.org/drawingml/2006/main">
            <a:r>
              <a:t/>
            </a:r>
          </a:p>
          <a:p xmlns:a="http://schemas.openxmlformats.org/drawingml/2006/main">
            <a:r>
              <a:t>Source: https://learn.microsoft.com/en-us/power-automate/get-started-approvals</a:t>
            </a:r>
          </a:p>
          <a:p xmlns:a="http://schemas.openxmlformats.org/drawingml/2006/main">
            <a:r>
              <a:t/>
            </a:r>
          </a:p>
          <a:p xmlns:a="http://schemas.openxmlformats.org/drawingml/2006/main">
            <a:r>
              <a:t>Source: https://learn.microsoft.com/en-us/power-automate/add-condition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14:10–14:25; 15 minutes.</a:t>
            </a:r>
          </a:p>
          <a:p xmlns:a="http://schemas.openxmlformats.org/drawingml/2006/main">
            <a:r>
              <a:t/>
            </a:r>
          </a:p>
          <a:p xmlns:a="http://schemas.openxmlformats.org/drawingml/2006/main">
            <a:r>
              <a:t>Exercise 4 Practice 1. Use the printed cards supplied separately. Use sticky notes for repeated or missing steps and unknowns. Show the correction visibly: Start and wait for an approval is an Action after a valid Trigger despite the printed Trigger label. Leave the original card unchanged.</a:t>
            </a:r>
          </a:p>
          <a:p xmlns:a="http://schemas.openxmlformats.org/drawingml/2006/main">
            <a:r>
              <a:t/>
            </a:r>
          </a:p>
          <a:p xmlns:a="http://schemas.openxmlformats.org/drawingml/2006/main">
            <a:r>
              <a:t>Learning content: Choose a suitable Trigger / Arrange cards and sticky notes / Add an outcome and explain the path / `Start and wait for an approval` is an Action</a:t>
            </a:r>
          </a:p>
          <a:p xmlns:a="http://schemas.openxmlformats.org/drawingml/2006/main">
            <a:r>
              <a:t/>
            </a:r>
          </a:p>
          <a:p xmlns:a="http://schemas.openxmlformats.org/drawingml/2006/main">
            <a:r>
              <a:t>Visual explanation: Flow cards: the normal path. Choose a suitable Trigger. Arrange cards and sticky notes. Add an outcome and explain the path. `Start and wait for an approval` is an Action</a:t>
            </a:r>
          </a:p>
          <a:p xmlns:a="http://schemas.openxmlformats.org/drawingml/2006/main">
            <a:r>
              <a:t/>
            </a:r>
          </a:p>
          <a:p xmlns:a="http://schemas.openxmlformats.org/drawingml/2006/main">
            <a:r>
              <a:t>Participant instruction: exercises/04-workflow-blueprint/README.md</a:t>
            </a:r>
          </a:p>
          <a:p xmlns:a="http://schemas.openxmlformats.org/drawingml/2006/main">
            <a:r>
              <a:t/>
            </a:r>
          </a:p>
          <a:p xmlns:a="http://schemas.openxmlformats.org/drawingml/2006/main">
            <a:r>
              <a:t>Source: https://learn.microsoft.com/en-us/power-automate/triggers-introduction</a:t>
            </a:r>
          </a:p>
          <a:p xmlns:a="http://schemas.openxmlformats.org/drawingml/2006/main">
            <a:r>
              <a:t/>
            </a:r>
          </a:p>
          <a:p xmlns:a="http://schemas.openxmlformats.org/drawingml/2006/main">
            <a:r>
              <a:t>Source: https://learn.microsoft.com/en-us/power-automate/get-started-approvals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3; 14:25–14:30; 5 minutes.</a:t>
            </a:r>
          </a:p>
          <a:p xmlns:a="http://schemas.openxmlformats.org/drawingml/2006/main">
            <a:r>
              <a:t/>
            </a:r>
          </a:p>
          <a:p xmlns:a="http://schemas.openxmlformats.org/drawingml/2006/main">
            <a:r>
              <a:t>Another participant should be able to explain the normal path. The draft is intentionally incomplete. Leave it in place during the 14:30–14:45 break.</a:t>
            </a:r>
          </a:p>
          <a:p xmlns:a="http://schemas.openxmlformats.org/drawingml/2006/main">
            <a:r>
              <a:t/>
            </a:r>
          </a:p>
          <a:p xmlns:a="http://schemas.openxmlformats.org/drawingml/2006/main">
            <a:r>
              <a:t>Learning content: One selected opportunity / A visible Trigger-to-outcome path / After the break: people and exceptions</a:t>
            </a:r>
          </a:p>
          <a:p xmlns:a="http://schemas.openxmlformats.org/drawingml/2006/main">
            <a:r>
              <a:t/>
            </a:r>
          </a:p>
          <a:p xmlns:a="http://schemas.openxmlformats.org/drawingml/2006/main">
            <a:r>
              <a:t>Visual explanation: Block 3 checkpoint. One selected opportunity. A visible Trigger-to-outcome path. After the break: people and exceptions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4; 14:45–15:05; 20 minutes.</a:t>
            </a:r>
          </a:p>
          <a:p xmlns:a="http://schemas.openxmlformats.org/drawingml/2006/main">
            <a:r>
              <a:t/>
            </a:r>
          </a:p>
          <a:p xmlns:a="http://schemas.openxmlformats.org/drawingml/2006/main">
            <a:r>
              <a:t>Exercise 4 Practices 2–3. First add owners and human checkpoints. Then add a Condition only where an agreed rule genuinely creates branches. Give missing-information, rejection, and stalled-work routes separate owners. Keep the supplied cards unchanged.</a:t>
            </a:r>
          </a:p>
          <a:p xmlns:a="http://schemas.openxmlformats.org/drawingml/2006/main">
            <a:r>
              <a:t/>
            </a:r>
          </a:p>
          <a:p xmlns:a="http://schemas.openxmlformats.org/drawingml/2006/main">
            <a:r>
              <a:t>Learning content: Name owners and human checkpoints / Show justified branches and both outcomes / Own missing-information, rejection, and stalled-work routes</a:t>
            </a:r>
          </a:p>
          <a:p xmlns:a="http://schemas.openxmlformats.org/drawingml/2006/main">
            <a:r>
              <a:t/>
            </a:r>
          </a:p>
          <a:p xmlns:a="http://schemas.openxmlformats.org/drawingml/2006/main">
            <a:r>
              <a:t>Visual explanation: Flow cards: people and exceptions. Name owners and human checkpoints. Show justified branches and both outcomes. Own missing-information, rejection, and stalled-work routes</a:t>
            </a:r>
          </a:p>
          <a:p xmlns:a="http://schemas.openxmlformats.org/drawingml/2006/main">
            <a:r>
              <a:t/>
            </a:r>
          </a:p>
          <a:p xmlns:a="http://schemas.openxmlformats.org/drawingml/2006/main">
            <a:r>
              <a:t>Participant instruction: exercises/04-workflow-blueprint/README.md</a:t>
            </a:r>
          </a:p>
          <a:p xmlns:a="http://schemas.openxmlformats.org/drawingml/2006/main">
            <a:r>
              <a:t/>
            </a:r>
          </a:p>
          <a:p xmlns:a="http://schemas.openxmlformats.org/drawingml/2006/main">
            <a:r>
              <a:t>Source: https://learn.microsoft.com/en-us/power-automate/get-started-approvals</a:t>
            </a:r>
          </a:p>
          <a:p xmlns:a="http://schemas.openxmlformats.org/drawingml/2006/main">
            <a:r>
              <a:t/>
            </a:r>
          </a:p>
          <a:p xmlns:a="http://schemas.openxmlformats.org/drawingml/2006/main">
            <a:r>
              <a:t>Source: https://learn.microsoft.com/en-us/power-automate/add-condition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4; 15:05–15:20; 15 minutes.</a:t>
            </a:r>
          </a:p>
          <a:p xmlns:a="http://schemas.openxmlformats.org/drawingml/2006/main">
            <a:r>
              <a:t/>
            </a:r>
          </a:p>
          <a:p xmlns:a="http://schemas.openxmlformats.org/drawingml/2006/main">
            <a:r>
              <a:t>Exercise 4 Practice 3. Follow only visible cards or notes. Record a gap before changing the design, then repeat the affected path. Both cases must reach a clear outcome or an owned escalation. This is a paper test, not a tenant test.</a:t>
            </a:r>
          </a:p>
          <a:p xmlns:a="http://schemas.openxmlformats.org/drawingml/2006/main">
            <a:r>
              <a:t/>
            </a:r>
          </a:p>
          <a:p xmlns:a="http://schemas.openxmlformats.org/drawingml/2006/main">
            <a:r>
              <a:t>Learning content: R-101: normal path / R-102 or R-103: exception path / Record gaps, revise, and retest</a:t>
            </a:r>
          </a:p>
          <a:p xmlns:a="http://schemas.openxmlformats.org/drawingml/2006/main">
            <a:r>
              <a:t/>
            </a:r>
          </a:p>
          <a:p xmlns:a="http://schemas.openxmlformats.org/drawingml/2006/main">
            <a:r>
              <a:t>Visual explanation: Walk-test two cases. R-101: normal path. R-102 or R-103: exception path. Record gaps, revise, and retest</a:t>
            </a:r>
          </a:p>
          <a:p xmlns:a="http://schemas.openxmlformats.org/drawingml/2006/main">
            <a:r>
              <a:t/>
            </a:r>
          </a:p>
          <a:p xmlns:a="http://schemas.openxmlformats.org/drawingml/2006/main">
            <a:r>
              <a:t>Participant instruction: exercises/04-workflow-blueprint/README.md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4; 15:20–15:25; 5 minutes.</a:t>
            </a:r>
          </a:p>
          <a:p xmlns:a="http://schemas.openxmlformats.org/drawingml/2006/main">
            <a:r>
              <a:t/>
            </a:r>
          </a:p>
          <a:p xmlns:a="http://schemas.openxmlformats.org/drawingml/2006/main">
            <a:r>
              <a:t>Exercise 5 Practice 1. Transcribe the tested Blueprint into Worksheet 6A. Use fictional or sanitised text and remove prohibited information. Do not upload card photographs.</a:t>
            </a:r>
          </a:p>
          <a:p xmlns:a="http://schemas.openxmlformats.org/drawingml/2006/main">
            <a:r>
              <a:t/>
            </a:r>
          </a:p>
          <a:p xmlns:a="http://schemas.openxmlformats.org/drawingml/2006/main">
            <a:r>
              <a:t>Learning content: Problem and intended outcome / Steps, branches, and human decisions / Assumptions and verification questions</a:t>
            </a:r>
          </a:p>
          <a:p xmlns:a="http://schemas.openxmlformats.org/drawingml/2006/main">
            <a:r>
              <a:t/>
            </a:r>
          </a:p>
          <a:p xmlns:a="http://schemas.openxmlformats.org/drawingml/2006/main">
            <a:r>
              <a:t>Visual explanation: Text for Copilot review. Problem and intended outcome. Steps, branches, and human decisions. Assumptions and verification questions</a:t>
            </a:r>
          </a:p>
          <a:p xmlns:a="http://schemas.openxmlformats.org/drawingml/2006/main">
            <a:r>
              <a:t/>
            </a:r>
          </a:p>
          <a:p xmlns:a="http://schemas.openxmlformats.org/drawingml/2006/main">
            <a:r>
              <a:t>Participant instruction: exercises/05-leadership-handover/README.md</a:t>
            </a:r>
          </a:p>
          <a:p xmlns:a="http://schemas.openxmlformats.org/drawingml/2006/main">
            <a:r>
              <a:t/>
            </a:r>
          </a:p>
          <a:p xmlns:a="http://schemas.openxmlformats.org/drawingml/2006/main">
            <a:r>
              <a:t>Source: https://learn.microsoft.com/en-us/copilot/overview</a:t>
            </a:r>
          </a:p>
          <a:p xmlns:a="http://schemas.openxmlformats.org/drawingml/2006/main">
            <a:r>
              <a:t/>
            </a:r>
          </a:p>
          <a:p xmlns:a="http://schemas.openxmlformats.org/drawingml/2006/main">
            <a:r>
              <a:t>Source: https://learn.microsoft.com/en-us/copilot/privacy-and-protections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4; 15:25–15:27; 2 minutes.</a:t>
            </a:r>
          </a:p>
          <a:p xmlns:a="http://schemas.openxmlformats.org/drawingml/2006/main">
            <a:r>
              <a:t/>
            </a:r>
          </a:p>
          <a:p xmlns:a="http://schemas.openxmlformats.org/drawingml/2006/main">
            <a:r>
              <a:t>Use the 2D document-review scene to position Copilot Chat as a second reader, not an approver. Its suggestions may be wrong or unsuitable, and it cannot certify readiness through a text review. Current Microsoft documentation uses Microsoft Copilot Chat for the experience previously called Microsoft 365 Copilot Chat.</a:t>
            </a:r>
          </a:p>
          <a:p xmlns:a="http://schemas.openxmlformats.org/drawingml/2006/main">
            <a:r>
              <a:t/>
            </a:r>
          </a:p>
          <a:p xmlns:a="http://schemas.openxmlformats.org/drawingml/2006/main">
            <a:r>
              <a:t>Learning content: Reviews the safe brief / Surfaces gaps and verification questions / People judge every item</a:t>
            </a:r>
          </a:p>
          <a:p xmlns:a="http://schemas.openxmlformats.org/drawingml/2006/main">
            <a:r>
              <a:t/>
            </a:r>
          </a:p>
          <a:p xmlns:a="http://schemas.openxmlformats.org/drawingml/2006/main">
            <a:r>
              <a:t>Visual explanation: Copilot as a second reader. Reviews the safe brief. Surfaces gaps and verification questions. People judge every item</a:t>
            </a:r>
          </a:p>
          <a:p xmlns:a="http://schemas.openxmlformats.org/drawingml/2006/main">
            <a:r>
              <a:t/>
            </a:r>
          </a:p>
          <a:p xmlns:a="http://schemas.openxmlformats.org/drawingml/2006/main">
            <a:r>
              <a:t>Participant instruction: exercises/05-leadership-handover/README.md</a:t>
            </a:r>
          </a:p>
          <a:p xmlns:a="http://schemas.openxmlformats.org/drawingml/2006/main">
            <a:r>
              <a:t/>
            </a:r>
          </a:p>
          <a:p xmlns:a="http://schemas.openxmlformats.org/drawingml/2006/main">
            <a:r>
              <a:t>Source: https://learn.microsoft.com/en-us/copilot/overview</a:t>
            </a:r>
          </a:p>
          <a:p xmlns:a="http://schemas.openxmlformats.org/drawingml/2006/main">
            <a:r>
              <a:t/>
            </a:r>
          </a:p>
          <a:p xmlns:a="http://schemas.openxmlformats.org/drawingml/2006/main">
            <a:r>
              <a:t>Source: https://learn.microsoft.com/en-us/copilot/privacy-and-protections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4; 15:27–15:30; 3 minutes.</a:t>
            </a:r>
          </a:p>
          <a:p xmlns:a="http://schemas.openxmlformats.org/drawingml/2006/main">
            <a:r>
              <a:t/>
            </a:r>
          </a:p>
          <a:p xmlns:a="http://schemas.openxmlformats.org/drawingml/2006/main">
            <a:r>
              <a:t>Follow the visual path from the tested paper draft to safe text, Copilot suggestions, human decisions, limited changes, and handover. The diagram includes no automatic deployment.</a:t>
            </a:r>
          </a:p>
          <a:p xmlns:a="http://schemas.openxmlformats.org/drawingml/2006/main">
            <a:r>
              <a:t/>
            </a:r>
          </a:p>
          <a:p xmlns:a="http://schemas.openxmlformats.org/drawingml/2006/main">
            <a:r>
              <a:t>Learning content: Paper test before AI review / A decision for every suggestion / No more than two changes</a:t>
            </a:r>
          </a:p>
          <a:p xmlns:a="http://schemas.openxmlformats.org/drawingml/2006/main">
            <a:r>
              <a:t/>
            </a:r>
          </a:p>
          <a:p xmlns:a="http://schemas.openxmlformats.org/drawingml/2006/main">
            <a:r>
              <a:t>Visual explanation: Human judgement after Copilot. Paper test before AI review. A decision for every suggestion. No more than two changes</a:t>
            </a:r>
          </a:p>
          <a:p xmlns:a="http://schemas.openxmlformats.org/drawingml/2006/main">
            <a:r>
              <a:t/>
            </a:r>
          </a:p>
          <a:p xmlns:a="http://schemas.openxmlformats.org/drawingml/2006/main">
            <a:r>
              <a:t>Source: https://learn.microsoft.com/en-us/copilot/overview</a:t>
            </a:r>
          </a:p>
          <a:p xmlns:a="http://schemas.openxmlformats.org/drawingml/2006/main">
            <a:r>
              <a:t/>
            </a:r>
          </a:p>
          <a:p xmlns:a="http://schemas.openxmlformats.org/drawingml/2006/main">
            <a:r>
              <a:t>Source: https://learn.microsoft.com/en-us/copilot/privacy-and-protections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4; 15:30–15:40; 10 minutes.</a:t>
            </a:r>
          </a:p>
          <a:p xmlns:a="http://schemas.openxmlformats.org/drawingml/2006/main">
            <a:r>
              <a:t/>
            </a:r>
          </a:p>
          <a:p xmlns:a="http://schemas.openxmlformats.org/drawingml/2006/main">
            <a:r>
              <a:t>Exercise 5 Practice 3. Use Goal, Context, Source, and Expectation. Choose either live Copilot Chat or the labelled facilitator fallback. Request at most four items and separate suggestions from matters requiring process-owner or IT confirmation.</a:t>
            </a:r>
          </a:p>
          <a:p xmlns:a="http://schemas.openxmlformats.org/drawingml/2006/main">
            <a:r>
              <a:t/>
            </a:r>
          </a:p>
          <a:p xmlns:a="http://schemas.openxmlformats.org/drawingml/2006/main">
            <a:r>
              <a:t>Learning content: Goal and Context / Source / Expectation: maximum four items</a:t>
            </a:r>
          </a:p>
          <a:p xmlns:a="http://schemas.openxmlformats.org/drawingml/2006/main">
            <a:r>
              <a:t/>
            </a:r>
          </a:p>
          <a:p xmlns:a="http://schemas.openxmlformats.org/drawingml/2006/main">
            <a:r>
              <a:t>Visual explanation: A structured review request. Goal and Context. Source. Expectation: maximum four items</a:t>
            </a:r>
          </a:p>
          <a:p xmlns:a="http://schemas.openxmlformats.org/drawingml/2006/main">
            <a:r>
              <a:t/>
            </a:r>
          </a:p>
          <a:p xmlns:a="http://schemas.openxmlformats.org/drawingml/2006/main">
            <a:r>
              <a:t>Participant instruction: exercises/05-leadership-handover/README.md</a:t>
            </a:r>
          </a:p>
          <a:p xmlns:a="http://schemas.openxmlformats.org/drawingml/2006/main">
            <a:r>
              <a:t/>
            </a:r>
          </a:p>
          <a:p xmlns:a="http://schemas.openxmlformats.org/drawingml/2006/main">
            <a:r>
              <a:t>Source: https://learn.microsoft.com/en-us/copilot/overview</a:t>
            </a:r>
          </a:p>
          <a:p xmlns:a="http://schemas.openxmlformats.org/drawingml/2006/main">
            <a:r>
              <a:t/>
            </a:r>
          </a:p>
          <a:p xmlns:a="http://schemas.openxmlformats.org/drawingml/2006/main">
            <a:r>
              <a:t>Source: https://learn.microsoft.com/en-us/copilot/privacy-and-protections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4; 15:40–15:57; 17 minutes.</a:t>
            </a:r>
          </a:p>
          <a:p xmlns:a="http://schemas.openxmlformats.org/drawingml/2006/main">
            <a:r>
              <a:t/>
            </a:r>
          </a:p>
          <a:p xmlns:a="http://schemas.openxmlformats.org/drawingml/2006/main">
            <a:r>
              <a:t>Exercise 5 Practices 4–6. The full 37 minutes are safe brief 5, mindset 5, review 8, judgement 7, changes 5, and handover 7. Record a decision and reason for every item before applying no more than two changes. Complete owner, baseline, people affected, support needs, next decision, and follow-up date.</a:t>
            </a:r>
          </a:p>
          <a:p xmlns:a="http://schemas.openxmlformats.org/drawingml/2006/main">
            <a:r>
              <a:t/>
            </a:r>
          </a:p>
          <a:p xmlns:a="http://schemas.openxmlformats.org/drawingml/2006/main">
            <a:r>
              <a:t>Learning content: Judge every item: 7 minutes / Apply no more than two changes: 5 minutes / Complete the Handover Card: 7 minutes</a:t>
            </a:r>
          </a:p>
          <a:p xmlns:a="http://schemas.openxmlformats.org/drawingml/2006/main">
            <a:r>
              <a:t/>
            </a:r>
          </a:p>
          <a:p xmlns:a="http://schemas.openxmlformats.org/drawingml/2006/main">
            <a:r>
              <a:t>Visual explanation: Review decisions and handover. Judge every item: 7 minutes. Apply no more than two changes: 5 minutes. Complete the Handover Card: 7 minutes</a:t>
            </a:r>
          </a:p>
          <a:p xmlns:a="http://schemas.openxmlformats.org/drawingml/2006/main">
            <a:r>
              <a:t/>
            </a:r>
          </a:p>
          <a:p xmlns:a="http://schemas.openxmlformats.org/drawingml/2006/main">
            <a:r>
              <a:t>Participant instruction: exercises/05-leadership-handover/README.md</a:t>
            </a:r>
          </a:p>
          <a:p xmlns:a="http://schemas.openxmlformats.org/drawingml/2006/main">
            <a:r>
              <a:t/>
            </a:r>
          </a:p>
          <a:p xmlns:a="http://schemas.openxmlformats.org/drawingml/2006/main">
            <a:r>
              <a:t>Source: https://learn.microsoft.com/en-us/copilot/overview</a:t>
            </a:r>
          </a:p>
          <a:p xmlns:a="http://schemas.openxmlformats.org/drawingml/2006/main">
            <a:r>
              <a:t/>
            </a:r>
          </a:p>
          <a:p xmlns:a="http://schemas.openxmlformats.org/drawingml/2006/main">
            <a:r>
              <a:t>Source: https://learn.microsoft.com/en-us/copilot/privacy-and-protections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 4; 15:57–16:00; 3 minutes.</a:t>
            </a:r>
          </a:p>
          <a:p xmlns:a="http://schemas.openxmlformats.org/drawingml/2006/main">
            <a:r>
              <a:t/>
            </a:r>
          </a:p>
          <a:p xmlns:a="http://schemas.openxmlformats.org/drawingml/2006/main">
            <a:r>
              <a:t>Complete Worksheet 7 with a concrete workplace follow-up: what, with whom, and when. The design still needs review and authorisation before any live trial. Finish at 16:00.</a:t>
            </a:r>
          </a:p>
          <a:p xmlns:a="http://schemas.openxmlformats.org/drawingml/2006/main">
            <a:r>
              <a:t/>
            </a:r>
          </a:p>
          <a:p xmlns:a="http://schemas.openxmlformats.org/drawingml/2006/main">
            <a:r>
              <a:t>Learning content: One opportunity and tested Blueprint / A human-reviewed decision record / A Handover Card with a clear next decision</a:t>
            </a:r>
          </a:p>
          <a:p xmlns:a="http://schemas.openxmlformats.org/drawingml/2006/main">
            <a:r>
              <a:t/>
            </a:r>
          </a:p>
          <a:p xmlns:a="http://schemas.openxmlformats.org/drawingml/2006/main">
            <a:r>
              <a:t>Visual explanation: Outputs and next steps. One opportunity and tested Blueprint. A human-reviewed decision record. A Handover Card with a clear next decision</a:t>
            </a:r>
          </a:p>
          <a:p xmlns:a="http://schemas.openxmlformats.org/drawingml/2006/main">
            <a:r>
              <a:t/>
            </a:r>
          </a:p>
          <a:p xmlns:a="http://schemas.openxmlformats.org/drawingml/2006/main">
            <a:r>
              <a:t>Source: https://learn.microsoft.com/en-us/copilot/overview</a:t>
            </a:r>
          </a:p>
          <a:p xmlns:a="http://schemas.openxmlformats.org/drawingml/2006/main">
            <a:r>
              <a:t/>
            </a:r>
          </a:p>
          <a:p xmlns:a="http://schemas.openxmlformats.org/drawingml/2006/main">
            <a:r>
              <a:t>Source: https://learn.microsoft.com/en-us/copilot/privacy-and-protections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260c34892b940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f2099b673154822" /><Relationship Type="http://schemas.openxmlformats.org/officeDocument/2006/relationships/slideLayout" Target="/ppt/slideLayouts/slideLayout1.xml" Id="R90b99a51b61b43f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0b99a51b61b43f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95afc04be46470e" /><Relationship Type="http://schemas.openxmlformats.org/officeDocument/2006/relationships/image" Target="/ppt/media/image.png" Id="R280ec098e32945d8" /><Relationship Type="http://schemas.openxmlformats.org/officeDocument/2006/relationships/notesSlide" Target="/ppt/notesSlides/notesSlide1.xml" Id="Rdcb079c86cf349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bac11b9ca3043c1" /><Relationship Type="http://schemas.openxmlformats.org/officeDocument/2006/relationships/notesSlide" Target="/ppt/notesSlides/notesSlide2.xml" Id="Ra8279d3cae0b4a2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381b7d28ab14571" /><Relationship Type="http://schemas.openxmlformats.org/officeDocument/2006/relationships/notesSlide" Target="/ppt/notesSlides/notesSlide3.xml" Id="R3c8cd4bdf6834dd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36dc501a48d43dc" /><Relationship Type="http://schemas.openxmlformats.org/officeDocument/2006/relationships/notesSlide" Target="/ppt/notesSlides/notesSlide4.xml" Id="R0cac129abf6748a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bfb8a7eda344135" /><Relationship Type="http://schemas.openxmlformats.org/officeDocument/2006/relationships/image" Target="/ppt/media/image2.png" Id="R004448d5cb1e4251" /><Relationship Type="http://schemas.openxmlformats.org/officeDocument/2006/relationships/notesSlide" Target="/ppt/notesSlides/notesSlide5.xml" Id="R288836499e414c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514c1625012434a" /><Relationship Type="http://schemas.openxmlformats.org/officeDocument/2006/relationships/notesSlide" Target="/ppt/notesSlides/notesSlide6.xml" Id="R79b941175a26441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2590523df514df9" /><Relationship Type="http://schemas.openxmlformats.org/officeDocument/2006/relationships/notesSlide" Target="/ppt/notesSlides/notesSlide7.xml" Id="R084e80da75f04c4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ba6315f7c844bb1" /><Relationship Type="http://schemas.openxmlformats.org/officeDocument/2006/relationships/notesSlide" Target="/ppt/notesSlides/notesSlide8.xml" Id="R9618bdf73d0741c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daf1b0d240c44ef" /><Relationship Type="http://schemas.openxmlformats.org/officeDocument/2006/relationships/notesSlide" Target="/ppt/notesSlides/notesSlide9.xml" Id="Rbbd75ea76b2242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b5270a042554a99" /><Relationship Type="http://schemas.openxmlformats.org/officeDocument/2006/relationships/notesSlide" Target="/ppt/notesSlides/notesSlide10.xml" Id="R1a4db7c9d0f441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f5d22f60d24048" /><Relationship Type="http://schemas.openxmlformats.org/officeDocument/2006/relationships/notesSlide" Target="/ppt/notesSlides/notesSlide11.xml" Id="R14b654f3557440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c9839e2ff764a77" /><Relationship Type="http://schemas.openxmlformats.org/officeDocument/2006/relationships/notesSlide" Target="/ppt/notesSlides/notesSlide12.xml" Id="R31d174e79dfc462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1359636464941b6" /><Relationship Type="http://schemas.openxmlformats.org/officeDocument/2006/relationships/notesSlide" Target="/ppt/notesSlides/notesSlide13.xml" Id="R188c64013a9e4e9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2bafc89ae7f40b5" /><Relationship Type="http://schemas.openxmlformats.org/officeDocument/2006/relationships/notesSlide" Target="/ppt/notesSlides/notesSlide14.xml" Id="Re37501be4b184c8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307d048587f4d19" /><Relationship Type="http://schemas.openxmlformats.org/officeDocument/2006/relationships/notesSlide" Target="/ppt/notesSlides/notesSlide15.xml" Id="R5f27408601c9406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8d999a4e40446cb" /><Relationship Type="http://schemas.openxmlformats.org/officeDocument/2006/relationships/image" Target="/ppt/media/image3.png" Id="Rfc8a3cb97be44521" /><Relationship Type="http://schemas.openxmlformats.org/officeDocument/2006/relationships/notesSlide" Target="/ppt/notesSlides/notesSlide16.xml" Id="R0949899d5bf3415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8827436c7d946e4" /><Relationship Type="http://schemas.openxmlformats.org/officeDocument/2006/relationships/notesSlide" Target="/ppt/notesSlides/notesSlide17.xml" Id="R54afa253b06a446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9650686b4b9449e" /><Relationship Type="http://schemas.openxmlformats.org/officeDocument/2006/relationships/notesSlide" Target="/ppt/notesSlides/notesSlide18.xml" Id="Refd3637291ca42e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dfae654b07c4260" /><Relationship Type="http://schemas.openxmlformats.org/officeDocument/2006/relationships/notesSlide" Target="/ppt/notesSlides/notesSlide19.xml" Id="R444852c4278445e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fe9f43d48f64a16" /><Relationship Type="http://schemas.openxmlformats.org/officeDocument/2006/relationships/notesSlide" Target="/ppt/notesSlides/notesSlide20.xml" Id="Rbf324aafd5b14a2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1dbf95425a44181" /><Relationship Type="http://schemas.openxmlformats.org/officeDocument/2006/relationships/notesSlide" Target="/ppt/notesSlides/notesSlide21.xml" Id="Rdff3e5dd0da846d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5daff3cca5945b3" /><Relationship Type="http://schemas.openxmlformats.org/officeDocument/2006/relationships/notesSlide" Target="/ppt/notesSlides/notesSlide22.xml" Id="Rf1f162a967f34f7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8420dbc21ad43e4" /><Relationship Type="http://schemas.openxmlformats.org/officeDocument/2006/relationships/notesSlide" Target="/ppt/notesSlides/notesSlide23.xml" Id="R4f8b2cab2bd441d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7157fc2125e42fb" /><Relationship Type="http://schemas.openxmlformats.org/officeDocument/2006/relationships/notesSlide" Target="/ppt/notesSlides/notesSlide24.xml" Id="R456b4ee8a0d04a0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262c639cac14aa8" /><Relationship Type="http://schemas.openxmlformats.org/officeDocument/2006/relationships/notesSlide" Target="/ppt/notesSlides/notesSlide25.xml" Id="R0ae789f4909f4f5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d77b583f9494291" /><Relationship Type="http://schemas.openxmlformats.org/officeDocument/2006/relationships/notesSlide" Target="/ppt/notesSlides/notesSlide26.xml" Id="R83fc0e6a475e447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5ed7880583846a5" /><Relationship Type="http://schemas.openxmlformats.org/officeDocument/2006/relationships/image" Target="/ppt/media/image4.png" Id="R6d0f695a6bf643c3" /><Relationship Type="http://schemas.openxmlformats.org/officeDocument/2006/relationships/notesSlide" Target="/ppt/notesSlides/notesSlide27.xml" Id="R9cf5f7f743ff414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614b546368e4b1c" /><Relationship Type="http://schemas.openxmlformats.org/officeDocument/2006/relationships/notesSlide" Target="/ppt/notesSlides/notesSlide28.xml" Id="R7523f2f0cec34d4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6028c59355e4670" /><Relationship Type="http://schemas.openxmlformats.org/officeDocument/2006/relationships/notesSlide" Target="/ppt/notesSlides/notesSlide29.xml" Id="R052cd129559649d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96c3dc0ed944309" /><Relationship Type="http://schemas.openxmlformats.org/officeDocument/2006/relationships/notesSlide" Target="/ppt/notesSlides/notesSlide30.xml" Id="Re7bf64b9477446c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90341decb884def" /><Relationship Type="http://schemas.openxmlformats.org/officeDocument/2006/relationships/notesSlide" Target="/ppt/notesSlides/notesSlide31.xml" Id="R06c197929c53424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c2bf2565d5e34c66" /><Relationship Type="http://schemas.openxmlformats.org/officeDocument/2006/relationships/notesSlide" Target="/ppt/notesSlides/notesSlide32.xml" Id="Rfc69ac8e47a6421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90e4a2c9286448bf" /><Relationship Type="http://schemas.openxmlformats.org/officeDocument/2006/relationships/notesSlide" Target="/ppt/notesSlides/notesSlide33.xml" Id="Rad158b09179e4cc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9b85220f61814a3a" /><Relationship Type="http://schemas.openxmlformats.org/officeDocument/2006/relationships/notesSlide" Target="/ppt/notesSlides/notesSlide34.xml" Id="R8e162dbfdda440b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e70a9da3a4004dd4" /><Relationship Type="http://schemas.openxmlformats.org/officeDocument/2006/relationships/notesSlide" Target="/ppt/notesSlides/notesSlide35.xml" Id="Rdfc890e812e042c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1c3065d7a21e442c" /><Relationship Type="http://schemas.openxmlformats.org/officeDocument/2006/relationships/image" Target="/ppt/media/image5.png" Id="R412cace77f864dcb" /><Relationship Type="http://schemas.openxmlformats.org/officeDocument/2006/relationships/notesSlide" Target="/ppt/notesSlides/notesSlide36.xml" Id="R22059b12b2bd467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5946b7af7334c69" /><Relationship Type="http://schemas.openxmlformats.org/officeDocument/2006/relationships/notesSlide" Target="/ppt/notesSlides/notesSlide37.xml" Id="Rfa027e8fac56434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5e95599a85844e5" /><Relationship Type="http://schemas.openxmlformats.org/officeDocument/2006/relationships/notesSlide" Target="/ppt/notesSlides/notesSlide38.xml" Id="R8f72f508764a429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9cca754a6d84464" /><Relationship Type="http://schemas.openxmlformats.org/officeDocument/2006/relationships/notesSlide" Target="/ppt/notesSlides/notesSlide39.xml" Id="R480ac578920e460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2687a56ef6154b6a" /><Relationship Type="http://schemas.openxmlformats.org/officeDocument/2006/relationships/notesSlide" Target="/ppt/notesSlides/notesSlide40.xml" Id="R4b55b965a6454784" /></Relationships>
</file>

<file path=ppt/slides/slide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pic>
        <p:nvPicPr>
          <p:cNvPr id="5" name="Workshop team designing a workflow" descr="Fictional 2D editorial illustration of three colleagues arranging a workflow together on a whiteboard."/>
          <p:cNvPicPr>
            <a:picLocks xmlns:a="http://schemas.openxmlformats.org/drawingml/2006/main" noChangeAspect="1"/>
          </p:cNvPicPr>
          <p:nvPr/>
        </p:nvPicPr>
        <p:blipFill>
          <a:blip xmlns:r="http://schemas.openxmlformats.org/officeDocument/2006/relationships" xmlns:a="http://schemas.openxmlformats.org/drawingml/2006/main" r:embed="R280ec098e32945d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iagram-0">
            <a:extLst xmlns:a="http://schemas.openxmlformats.org/drawingml/2006/main">
              <a:ext uri="{FF2B5EF4-FFF2-40B4-BE49-F238E27FC236}">
                <a16:creationId xmlns:a16="http://schemas.microsoft.com/office/drawing/2014/main" id="{250193C1-AAA2-4784-BF3C-EB68B28F0D9E}"/>
              </a:ext>
            </a:extLst>
          </p:cNvPr>
          <p:cNvSpPr>
            <a:spLocks xmlns:a="http://schemas.openxmlformats.org/drawingml/2006/main" noGrp="1"/>
          </p:cNvSpPr>
          <p:nvPr/>
        </p:nvSpPr>
        <p:spPr>
          <a:xfrm xmlns:a="http://schemas.openxmlformats.org/drawingml/2006/main">
            <a:off x="619125" y="952500"/>
            <a:ext cx="6858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102D50"/>
                </a:solidFill>
                <a:latin typeface="Tahoma"/>
                <a:ea typeface="Tahoma"/>
                <a:cs typeface="Tahoma"/>
              </a:defRPr>
            </a:pPr>
            <a:r>
              <a:rPr sz="4350" b="1">
                <a:solidFill>
                  <a:srgbClr val="102D50"/>
                </a:solidFill>
                <a:latin typeface="Tahoma"/>
                <a:ea typeface="Tahoma"/>
                <a:cs typeface="Tahoma"/>
              </a:rPr>
              <a:t>Power Automate</a:t>
            </a:r>
          </a:p>
          <a:p xmlns:a="http://schemas.openxmlformats.org/drawingml/2006/main">
            <a:pPr>
              <a:defRPr sz="4350" b="1">
                <a:solidFill>
                  <a:srgbClr val="102D50"/>
                </a:solidFill>
                <a:latin typeface="Tahoma"/>
                <a:ea typeface="Tahoma"/>
                <a:cs typeface="Tahoma"/>
              </a:defRPr>
            </a:pPr>
            <a:r>
              <a:rPr sz="4350" b="1">
                <a:solidFill>
                  <a:srgbClr val="102D50"/>
                </a:solidFill>
                <a:latin typeface="Tahoma"/>
                <a:ea typeface="Tahoma"/>
                <a:cs typeface="Tahoma"/>
              </a:rPr>
              <a:t>for leaders</a:t>
            </a:r>
          </a:p>
        </p:txBody>
      </p:sp>
      <p:sp>
        <p:nvSpPr>
          <p:cNvPr id="3" name="diagram-1">
            <a:extLst xmlns:a="http://schemas.openxmlformats.org/drawingml/2006/main">
              <a:ext uri="{FF2B5EF4-FFF2-40B4-BE49-F238E27FC236}">
                <a16:creationId xmlns:a16="http://schemas.microsoft.com/office/drawing/2014/main" id="{C145A856-16B5-4841-A93C-D151A63819F9}"/>
              </a:ext>
            </a:extLst>
          </p:cNvPr>
          <p:cNvSpPr>
            <a:spLocks xmlns:a="http://schemas.openxmlformats.org/drawingml/2006/main" noGrp="1"/>
          </p:cNvSpPr>
          <p:nvPr/>
        </p:nvSpPr>
        <p:spPr>
          <a:xfrm xmlns:a="http://schemas.openxmlformats.org/drawingml/2006/main">
            <a:off x="666750" y="3238500"/>
            <a:ext cx="628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24B"/>
                </a:solidFill>
                <a:latin typeface="Tahoma"/>
                <a:ea typeface="Tahoma"/>
                <a:cs typeface="Tahoma"/>
              </a:defRPr>
            </a:pPr>
            <a:r>
              <a:rPr sz="2100" b="0">
                <a:solidFill>
                  <a:srgbClr val="18324B"/>
                </a:solidFill>
                <a:latin typeface="Tahoma"/>
                <a:ea typeface="Tahoma"/>
                <a:cs typeface="Tahoma"/>
              </a:rPr>
              <a:t>Strategic Automation Leadership</a:t>
            </a:r>
          </a:p>
        </p:txBody>
      </p:sp>
      <p:sp>
        <p:nvSpPr>
          <p:cNvPr id="4" name="diagram-2">
            <a:extLst xmlns:a="http://schemas.openxmlformats.org/drawingml/2006/main">
              <a:ext uri="{FF2B5EF4-FFF2-40B4-BE49-F238E27FC236}">
                <a16:creationId xmlns:a16="http://schemas.microsoft.com/office/drawing/2014/main" id="{A345CB31-53C4-4436-AC76-55E2E02CF141}"/>
              </a:ext>
            </a:extLst>
          </p:cNvPr>
          <p:cNvSpPr>
            <a:spLocks xmlns:a="http://schemas.openxmlformats.org/drawingml/2006/main" noGrp="1"/>
          </p:cNvSpPr>
          <p:nvPr/>
        </p:nvSpPr>
        <p:spPr>
          <a:xfrm xmlns:a="http://schemas.openxmlformats.org/drawingml/2006/main">
            <a:off x="666750" y="5572125"/>
            <a:ext cx="628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B80"/>
                </a:solidFill>
                <a:latin typeface="Tahoma"/>
                <a:ea typeface="Tahoma"/>
                <a:cs typeface="Tahoma"/>
              </a:defRPr>
            </a:pPr>
            <a:r>
              <a:rPr sz="1800" b="0">
                <a:solidFill>
                  <a:srgbClr val="536B80"/>
                </a:solidFill>
                <a:latin typeface="Tahoma"/>
                <a:ea typeface="Tahoma"/>
                <a:cs typeface="Tahoma"/>
              </a:rPr>
              <a:t>Batch 1     09:00–16:00</a:t>
            </a:r>
          </a:p>
        </p:txBody>
      </p:sp>
    </p:spTree>
    <p:extLst>
      <p:ext uri="{BB962C8B-B14F-4D97-AF65-F5344CB8AC3E}">
        <p14:creationId xmlns:p14="http://schemas.microsoft.com/office/powerpoint/2010/main" val="1545841108"/>
      </p:ext>
    </p:extLst>
  </p:cSld>
</p:sld>
</file>

<file path=ppt/slides/slide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5" name="diagram-3">
            <a:extLst xmlns:a="http://schemas.openxmlformats.org/drawingml/2006/main">
              <a:ext uri="{FF2B5EF4-FFF2-40B4-BE49-F238E27FC236}">
                <a16:creationId xmlns:a16="http://schemas.microsoft.com/office/drawing/2014/main" id="{B15D6232-D3D1-4727-A22D-64A18169C135}"/>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Your end-of-day outputs</a:t>
            </a:r>
          </a:p>
        </p:txBody>
      </p:sp>
      <p:sp>
        <p:nvSpPr>
          <p:cNvPr id="2" name="diagram-4">
            <a:extLst xmlns:a="http://schemas.openxmlformats.org/drawingml/2006/main">
              <a:ext uri="{FF2B5EF4-FFF2-40B4-BE49-F238E27FC236}">
                <a16:creationId xmlns:a16="http://schemas.microsoft.com/office/drawing/2014/main" id="{05B2F961-164E-45E0-B4D2-C875AD37A1A7}"/>
              </a:ext>
            </a:extLst>
          </p:cNvPr>
          <p:cNvSpPr>
            <a:spLocks xmlns:a="http://schemas.openxmlformats.org/drawingml/2006/main" noGrp="1"/>
          </p:cNvSpPr>
          <p:nvPr/>
        </p:nvSpPr>
        <p:spPr>
          <a:xfrm xmlns:a="http://schemas.openxmlformats.org/drawingml/2006/main">
            <a:off x="762000" y="2762250"/>
            <a:ext cx="2347913"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3" name="diagram-5">
            <a:extLst xmlns:a="http://schemas.openxmlformats.org/drawingml/2006/main">
              <a:ext uri="{FF2B5EF4-FFF2-40B4-BE49-F238E27FC236}">
                <a16:creationId xmlns:a16="http://schemas.microsoft.com/office/drawing/2014/main" id="{D3A2BF77-AAE8-4A0A-AAB8-4D4AA52B586A}"/>
              </a:ext>
            </a:extLst>
          </p:cNvPr>
          <p:cNvSpPr>
            <a:spLocks xmlns:a="http://schemas.openxmlformats.org/drawingml/2006/main" noGrp="1"/>
          </p:cNvSpPr>
          <p:nvPr/>
        </p:nvSpPr>
        <p:spPr>
          <a:xfrm xmlns:a="http://schemas.openxmlformats.org/drawingml/2006/main">
            <a:off x="933450" y="2905125"/>
            <a:ext cx="2005013"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Select an</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opportunity</a:t>
            </a:r>
          </a:p>
        </p:txBody>
      </p:sp>
      <p:sp>
        <p:nvSpPr>
          <p:cNvPr id="4" name="diagram-6">
            <a:extLst xmlns:a="http://schemas.openxmlformats.org/drawingml/2006/main">
              <a:ext uri="{FF2B5EF4-FFF2-40B4-BE49-F238E27FC236}">
                <a16:creationId xmlns:a16="http://schemas.microsoft.com/office/drawing/2014/main" id="{BCD74B0A-1AB9-4498-AEDE-1B050B7DB4B3}"/>
              </a:ext>
            </a:extLst>
          </p:cNvPr>
          <p:cNvSpPr>
            <a:spLocks xmlns:a="http://schemas.openxmlformats.org/drawingml/2006/main" noGrp="1"/>
          </p:cNvSpPr>
          <p:nvPr/>
        </p:nvSpPr>
        <p:spPr>
          <a:xfrm xmlns:a="http://schemas.openxmlformats.org/drawingml/2006/main">
            <a:off x="3471863" y="2762250"/>
            <a:ext cx="2347913"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7">
            <a:extLst xmlns:a="http://schemas.openxmlformats.org/drawingml/2006/main">
              <a:ext uri="{FF2B5EF4-FFF2-40B4-BE49-F238E27FC236}">
                <a16:creationId xmlns:a16="http://schemas.microsoft.com/office/drawing/2014/main" id="{FF0A6186-129D-4422-A1CE-49F27E97C11A}"/>
              </a:ext>
            </a:extLst>
          </p:cNvPr>
          <p:cNvSpPr>
            <a:spLocks xmlns:a="http://schemas.openxmlformats.org/drawingml/2006/main" noGrp="1"/>
          </p:cNvSpPr>
          <p:nvPr/>
        </p:nvSpPr>
        <p:spPr>
          <a:xfrm xmlns:a="http://schemas.openxmlformats.org/drawingml/2006/main">
            <a:off x="3643313" y="2905125"/>
            <a:ext cx="2005013"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Test the</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Blueprint</a:t>
            </a:r>
          </a:p>
        </p:txBody>
      </p:sp>
      <p:cxnSp>
        <p:nvCxnSpPr>
          <p:cNvPr id="20" name=""/>
          <p:cNvCxnSpPr>
            <a:stCxn xmlns:a="http://schemas.openxmlformats.org/drawingml/2006/main" id="2" idx="3"/>
            <a:endCxn xmlns:a="http://schemas.openxmlformats.org/drawingml/2006/main" id="4" idx="1"/>
          </p:cNvCxnSpPr>
          <p:nvPr/>
        </p:nvCxnSpPr>
        <p:spPr>
          <a:xfrm xmlns:a="http://schemas.openxmlformats.org/drawingml/2006/main">
            <a:off x="3109913" y="323850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7" name="diagram-8">
            <a:extLst xmlns:a="http://schemas.openxmlformats.org/drawingml/2006/main">
              <a:ext uri="{FF2B5EF4-FFF2-40B4-BE49-F238E27FC236}">
                <a16:creationId xmlns:a16="http://schemas.microsoft.com/office/drawing/2014/main" id="{54EE7CD7-6C27-495C-A1B8-ED55B4096DA2}"/>
              </a:ext>
            </a:extLst>
          </p:cNvPr>
          <p:cNvSpPr>
            <a:spLocks xmlns:a="http://schemas.openxmlformats.org/drawingml/2006/main" noGrp="1"/>
          </p:cNvSpPr>
          <p:nvPr/>
        </p:nvSpPr>
        <p:spPr>
          <a:xfrm xmlns:a="http://schemas.openxmlformats.org/drawingml/2006/main">
            <a:off x="6181725" y="2762250"/>
            <a:ext cx="2347913"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8" name="diagram-9">
            <a:extLst xmlns:a="http://schemas.openxmlformats.org/drawingml/2006/main">
              <a:ext uri="{FF2B5EF4-FFF2-40B4-BE49-F238E27FC236}">
                <a16:creationId xmlns:a16="http://schemas.microsoft.com/office/drawing/2014/main" id="{D77820C9-7D8A-48E7-A5A0-26C040FFBB37}"/>
              </a:ext>
            </a:extLst>
          </p:cNvPr>
          <p:cNvSpPr>
            <a:spLocks xmlns:a="http://schemas.openxmlformats.org/drawingml/2006/main" noGrp="1"/>
          </p:cNvSpPr>
          <p:nvPr/>
        </p:nvSpPr>
        <p:spPr>
          <a:xfrm xmlns:a="http://schemas.openxmlformats.org/drawingml/2006/main">
            <a:off x="6353175" y="2905125"/>
            <a:ext cx="2005013"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Review with</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Copilot</a:t>
            </a:r>
          </a:p>
        </p:txBody>
      </p:sp>
      <p:cxnSp>
        <p:nvCxnSpPr>
          <p:cNvPr id="23" name=""/>
          <p:cNvCxnSpPr>
            <a:stCxn xmlns:a="http://schemas.openxmlformats.org/drawingml/2006/main" id="4" idx="3"/>
            <a:endCxn xmlns:a="http://schemas.openxmlformats.org/drawingml/2006/main" id="7" idx="1"/>
          </p:cNvCxnSpPr>
          <p:nvPr/>
        </p:nvCxnSpPr>
        <p:spPr>
          <a:xfrm xmlns:a="http://schemas.openxmlformats.org/drawingml/2006/main">
            <a:off x="5819776" y="3238500"/>
            <a:ext cx="361949"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0" name="diagram-10">
            <a:extLst xmlns:a="http://schemas.openxmlformats.org/drawingml/2006/main">
              <a:ext uri="{FF2B5EF4-FFF2-40B4-BE49-F238E27FC236}">
                <a16:creationId xmlns:a16="http://schemas.microsoft.com/office/drawing/2014/main" id="{6682733B-CA12-4F1C-908E-D3FDA92B0281}"/>
              </a:ext>
            </a:extLst>
          </p:cNvPr>
          <p:cNvSpPr>
            <a:spLocks xmlns:a="http://schemas.openxmlformats.org/drawingml/2006/main" noGrp="1"/>
          </p:cNvSpPr>
          <p:nvPr/>
        </p:nvSpPr>
        <p:spPr>
          <a:xfrm xmlns:a="http://schemas.openxmlformats.org/drawingml/2006/main">
            <a:off x="8891588" y="2762250"/>
            <a:ext cx="2347913"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1" name="diagram-11">
            <a:extLst xmlns:a="http://schemas.openxmlformats.org/drawingml/2006/main">
              <a:ext uri="{FF2B5EF4-FFF2-40B4-BE49-F238E27FC236}">
                <a16:creationId xmlns:a16="http://schemas.microsoft.com/office/drawing/2014/main" id="{C5522132-15BC-4E02-8237-C1CDBC6DE9C9}"/>
              </a:ext>
            </a:extLst>
          </p:cNvPr>
          <p:cNvSpPr>
            <a:spLocks xmlns:a="http://schemas.openxmlformats.org/drawingml/2006/main" noGrp="1"/>
          </p:cNvSpPr>
          <p:nvPr/>
        </p:nvSpPr>
        <p:spPr>
          <a:xfrm xmlns:a="http://schemas.openxmlformats.org/drawingml/2006/main">
            <a:off x="9063038" y="2905125"/>
            <a:ext cx="2005013"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Prepare the</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handover</a:t>
            </a:r>
          </a:p>
        </p:txBody>
      </p:sp>
      <p:cxnSp>
        <p:nvCxnSpPr>
          <p:cNvPr id="26" name=""/>
          <p:cNvCxnSpPr>
            <a:stCxn xmlns:a="http://schemas.openxmlformats.org/drawingml/2006/main" id="7" idx="3"/>
            <a:endCxn xmlns:a="http://schemas.openxmlformats.org/drawingml/2006/main" id="10" idx="1"/>
          </p:cNvCxnSpPr>
          <p:nvPr/>
        </p:nvCxnSpPr>
        <p:spPr>
          <a:xfrm xmlns:a="http://schemas.openxmlformats.org/drawingml/2006/main">
            <a:off x="8529638" y="323850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3" name="diagram-12">
            <a:extLst xmlns:a="http://schemas.openxmlformats.org/drawingml/2006/main">
              <a:ext uri="{FF2B5EF4-FFF2-40B4-BE49-F238E27FC236}">
                <a16:creationId xmlns:a16="http://schemas.microsoft.com/office/drawing/2014/main" id="{AF82E332-A1E0-4959-BD20-FA80B314A969}"/>
              </a:ext>
            </a:extLst>
          </p:cNvPr>
          <p:cNvSpPr>
            <a:spLocks xmlns:a="http://schemas.openxmlformats.org/drawingml/2006/main" noGrp="1"/>
          </p:cNvSpPr>
          <p:nvPr/>
        </p:nvSpPr>
        <p:spPr>
          <a:xfrm xmlns:a="http://schemas.openxmlformats.org/drawingml/2006/main">
            <a:off x="762000" y="5000625"/>
            <a:ext cx="4905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4FBA"/>
                </a:solidFill>
                <a:latin typeface="Tahoma"/>
                <a:ea typeface="Tahoma"/>
                <a:cs typeface="Tahoma"/>
              </a:defRPr>
            </a:pPr>
            <a:r>
              <a:rPr sz="1875" b="1">
                <a:solidFill>
                  <a:srgbClr val="174FBA"/>
                </a:solidFill>
                <a:latin typeface="Tahoma"/>
                <a:ea typeface="Tahoma"/>
                <a:cs typeface="Tahoma"/>
              </a:rPr>
              <a:t>Use available pre-survey findings</a:t>
            </a:r>
          </a:p>
        </p:txBody>
      </p:sp>
      <p:sp>
        <p:nvSpPr>
          <p:cNvPr id="14" name="diagram-13">
            <a:extLst xmlns:a="http://schemas.openxmlformats.org/drawingml/2006/main">
              <a:ext uri="{FF2B5EF4-FFF2-40B4-BE49-F238E27FC236}">
                <a16:creationId xmlns:a16="http://schemas.microsoft.com/office/drawing/2014/main" id="{0495650F-E34A-43BE-B847-56D635EB5B43}"/>
              </a:ext>
            </a:extLst>
          </p:cNvPr>
          <p:cNvSpPr>
            <a:spLocks xmlns:a="http://schemas.openxmlformats.org/drawingml/2006/main" noGrp="1"/>
          </p:cNvSpPr>
          <p:nvPr/>
        </p:nvSpPr>
        <p:spPr>
          <a:xfrm xmlns:a="http://schemas.openxmlformats.org/drawingml/2006/main">
            <a:off x="6334125" y="5000625"/>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76D13"/>
                </a:solidFill>
                <a:latin typeface="Tahoma"/>
                <a:ea typeface="Tahoma"/>
                <a:cs typeface="Tahoma"/>
              </a:defRPr>
            </a:pPr>
            <a:r>
              <a:rPr sz="1875" b="1">
                <a:solidFill>
                  <a:srgbClr val="B76D13"/>
                </a:solidFill>
                <a:latin typeface="Tahoma"/>
                <a:ea typeface="Tahoma"/>
                <a:cs typeface="Tahoma"/>
              </a:rPr>
              <a:t>No findings? Use the fictional case</a:t>
            </a:r>
          </a:p>
        </p:txBody>
      </p:sp>
    </p:spTree>
    <p:extLst>
      <p:ext uri="{BB962C8B-B14F-4D97-AF65-F5344CB8AC3E}">
        <p14:creationId xmlns:p14="http://schemas.microsoft.com/office/powerpoint/2010/main" val="2017127326"/>
      </p:ext>
    </p:extLst>
  </p:cSld>
</p:sld>
</file>

<file path=ppt/slides/slide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diagram-14">
            <a:extLst xmlns:a="http://schemas.openxmlformats.org/drawingml/2006/main">
              <a:ext uri="{FF2B5EF4-FFF2-40B4-BE49-F238E27FC236}">
                <a16:creationId xmlns:a16="http://schemas.microsoft.com/office/drawing/2014/main" id="{8EF41076-C127-4ED8-8174-689049B75189}"/>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Power Automate in everyday work</a:t>
            </a:r>
          </a:p>
        </p:txBody>
      </p:sp>
      <p:sp>
        <p:nvSpPr>
          <p:cNvPr id="2" name="diagram-15">
            <a:extLst xmlns:a="http://schemas.openxmlformats.org/drawingml/2006/main">
              <a:ext uri="{FF2B5EF4-FFF2-40B4-BE49-F238E27FC236}">
                <a16:creationId xmlns:a16="http://schemas.microsoft.com/office/drawing/2014/main" id="{0EF7247D-F65A-4E4A-9795-FEE811B5DDF1}"/>
              </a:ext>
            </a:extLst>
          </p:cNvPr>
          <p:cNvSpPr>
            <a:spLocks xmlns:a="http://schemas.openxmlformats.org/drawingml/2006/main" noGrp="1"/>
          </p:cNvSpPr>
          <p:nvPr/>
        </p:nvSpPr>
        <p:spPr>
          <a:xfrm xmlns:a="http://schemas.openxmlformats.org/drawingml/2006/main">
            <a:off x="762000" y="2857500"/>
            <a:ext cx="325120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3" name="diagram-16">
            <a:extLst xmlns:a="http://schemas.openxmlformats.org/drawingml/2006/main">
              <a:ext uri="{FF2B5EF4-FFF2-40B4-BE49-F238E27FC236}">
                <a16:creationId xmlns:a16="http://schemas.microsoft.com/office/drawing/2014/main" id="{8616130D-E83A-4C42-A05C-7D594986F07E}"/>
              </a:ext>
            </a:extLst>
          </p:cNvPr>
          <p:cNvSpPr>
            <a:spLocks xmlns:a="http://schemas.openxmlformats.org/drawingml/2006/main" noGrp="1"/>
          </p:cNvSpPr>
          <p:nvPr/>
        </p:nvSpPr>
        <p:spPr>
          <a:xfrm xmlns:a="http://schemas.openxmlformats.org/drawingml/2006/main">
            <a:off x="933450" y="3000375"/>
            <a:ext cx="2908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Start event</a:t>
            </a:r>
          </a:p>
        </p:txBody>
      </p:sp>
      <p:sp>
        <p:nvSpPr>
          <p:cNvPr id="4" name="diagram-17">
            <a:extLst xmlns:a="http://schemas.openxmlformats.org/drawingml/2006/main">
              <a:ext uri="{FF2B5EF4-FFF2-40B4-BE49-F238E27FC236}">
                <a16:creationId xmlns:a16="http://schemas.microsoft.com/office/drawing/2014/main" id="{0A73A859-8F27-430D-B8A8-36E0D87F43D5}"/>
              </a:ext>
            </a:extLst>
          </p:cNvPr>
          <p:cNvSpPr>
            <a:spLocks xmlns:a="http://schemas.openxmlformats.org/drawingml/2006/main" noGrp="1"/>
          </p:cNvSpPr>
          <p:nvPr/>
        </p:nvSpPr>
        <p:spPr>
          <a:xfrm xmlns:a="http://schemas.openxmlformats.org/drawingml/2006/main">
            <a:off x="4375150" y="2857500"/>
            <a:ext cx="325120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18">
            <a:extLst xmlns:a="http://schemas.openxmlformats.org/drawingml/2006/main">
              <a:ext uri="{FF2B5EF4-FFF2-40B4-BE49-F238E27FC236}">
                <a16:creationId xmlns:a16="http://schemas.microsoft.com/office/drawing/2014/main" id="{CA3233D9-C8DC-4627-8122-80B5F763C3E4}"/>
              </a:ext>
            </a:extLst>
          </p:cNvPr>
          <p:cNvSpPr>
            <a:spLocks xmlns:a="http://schemas.openxmlformats.org/drawingml/2006/main" noGrp="1"/>
          </p:cNvSpPr>
          <p:nvPr/>
        </p:nvSpPr>
        <p:spPr>
          <a:xfrm xmlns:a="http://schemas.openxmlformats.org/drawingml/2006/main">
            <a:off x="4546600" y="3000375"/>
            <a:ext cx="2908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Steps and rules</a:t>
            </a:r>
          </a:p>
        </p:txBody>
      </p:sp>
      <p:cxnSp>
        <p:nvCxnSpPr>
          <p:cNvPr id="16" name=""/>
          <p:cNvCxnSpPr>
            <a:stCxn xmlns:a="http://schemas.openxmlformats.org/drawingml/2006/main" id="2" idx="3"/>
            <a:endCxn xmlns:a="http://schemas.openxmlformats.org/drawingml/2006/main" id="4" idx="1"/>
          </p:cNvCxnSpPr>
          <p:nvPr/>
        </p:nvCxnSpPr>
        <p:spPr>
          <a:xfrm xmlns:a="http://schemas.openxmlformats.org/drawingml/2006/main">
            <a:off x="4013200" y="333375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7" name="diagram-19">
            <a:extLst xmlns:a="http://schemas.openxmlformats.org/drawingml/2006/main">
              <a:ext uri="{FF2B5EF4-FFF2-40B4-BE49-F238E27FC236}">
                <a16:creationId xmlns:a16="http://schemas.microsoft.com/office/drawing/2014/main" id="{03327067-BC1B-4C0C-A5F8-D067C72DF754}"/>
              </a:ext>
            </a:extLst>
          </p:cNvPr>
          <p:cNvSpPr>
            <a:spLocks xmlns:a="http://schemas.openxmlformats.org/drawingml/2006/main" noGrp="1"/>
          </p:cNvSpPr>
          <p:nvPr/>
        </p:nvSpPr>
        <p:spPr>
          <a:xfrm xmlns:a="http://schemas.openxmlformats.org/drawingml/2006/main">
            <a:off x="7988300" y="2857500"/>
            <a:ext cx="325120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8" name="diagram-20">
            <a:extLst xmlns:a="http://schemas.openxmlformats.org/drawingml/2006/main">
              <a:ext uri="{FF2B5EF4-FFF2-40B4-BE49-F238E27FC236}">
                <a16:creationId xmlns:a16="http://schemas.microsoft.com/office/drawing/2014/main" id="{7D9FA56E-7A60-49BF-A50D-F32583ED048D}"/>
              </a:ext>
            </a:extLst>
          </p:cNvPr>
          <p:cNvSpPr>
            <a:spLocks xmlns:a="http://schemas.openxmlformats.org/drawingml/2006/main" noGrp="1"/>
          </p:cNvSpPr>
          <p:nvPr/>
        </p:nvSpPr>
        <p:spPr>
          <a:xfrm xmlns:a="http://schemas.openxmlformats.org/drawingml/2006/main">
            <a:off x="8159750" y="3000375"/>
            <a:ext cx="2908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Checkable outcome</a:t>
            </a:r>
          </a:p>
        </p:txBody>
      </p:sp>
      <p:cxnSp>
        <p:nvCxnSpPr>
          <p:cNvPr id="19" name=""/>
          <p:cNvCxnSpPr>
            <a:stCxn xmlns:a="http://schemas.openxmlformats.org/drawingml/2006/main" id="4" idx="3"/>
            <a:endCxn xmlns:a="http://schemas.openxmlformats.org/drawingml/2006/main" id="7" idx="1"/>
          </p:cNvCxnSpPr>
          <p:nvPr/>
        </p:nvCxnSpPr>
        <p:spPr>
          <a:xfrm xmlns:a="http://schemas.openxmlformats.org/drawingml/2006/main">
            <a:off x="7626350" y="333375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0" name="diagram-21">
            <a:extLst xmlns:a="http://schemas.openxmlformats.org/drawingml/2006/main">
              <a:ext uri="{FF2B5EF4-FFF2-40B4-BE49-F238E27FC236}">
                <a16:creationId xmlns:a16="http://schemas.microsoft.com/office/drawing/2014/main" id="{C7AA53C6-48E9-4D23-9383-B57BB7BE15DD}"/>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Power Automate runs configured workflow steps</a:t>
            </a:r>
          </a:p>
        </p:txBody>
      </p:sp>
    </p:spTree>
    <p:extLst>
      <p:ext uri="{BB962C8B-B14F-4D97-AF65-F5344CB8AC3E}">
        <p14:creationId xmlns:p14="http://schemas.microsoft.com/office/powerpoint/2010/main" val="1588191476"/>
      </p:ext>
    </p:extLst>
  </p:cSld>
</p:sld>
</file>

<file path=ppt/slides/slide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4" name="diagram-22">
            <a:extLst xmlns:a="http://schemas.openxmlformats.org/drawingml/2006/main">
              <a:ext uri="{FF2B5EF4-FFF2-40B4-BE49-F238E27FC236}">
                <a16:creationId xmlns:a16="http://schemas.microsoft.com/office/drawing/2014/main" id="{E12318AE-4879-4D73-A6BF-0A3B6CF1EAD0}"/>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A kitchen analogy</a:t>
            </a:r>
          </a:p>
        </p:txBody>
      </p:sp>
      <p:sp>
        <p:nvSpPr>
          <p:cNvPr id="2" name="diagram-23">
            <a:extLst xmlns:a="http://schemas.openxmlformats.org/drawingml/2006/main">
              <a:ext uri="{FF2B5EF4-FFF2-40B4-BE49-F238E27FC236}">
                <a16:creationId xmlns:a16="http://schemas.microsoft.com/office/drawing/2014/main" id="{6EFCD670-F354-4651-B932-C6BACF597ED4}"/>
              </a:ext>
            </a:extLst>
          </p:cNvPr>
          <p:cNvSpPr>
            <a:spLocks xmlns:a="http://schemas.openxmlformats.org/drawingml/2006/main" noGrp="1"/>
          </p:cNvSpPr>
          <p:nvPr/>
        </p:nvSpPr>
        <p:spPr>
          <a:xfrm xmlns:a="http://schemas.openxmlformats.org/drawingml/2006/main">
            <a:off x="809625" y="2428875"/>
            <a:ext cx="10287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02D50"/>
                </a:solidFill>
                <a:latin typeface="Tahoma"/>
                <a:ea typeface="Tahoma"/>
                <a:cs typeface="Tahoma"/>
              </a:defRPr>
            </a:pPr>
            <a:r>
              <a:rPr sz="3900" b="1">
                <a:solidFill>
                  <a:srgbClr val="102D50"/>
                </a:solidFill>
                <a:latin typeface="Tahoma"/>
                <a:ea typeface="Tahoma"/>
                <a:cs typeface="Tahoma"/>
              </a:rPr>
              <a:t>With a clear recipe,</a:t>
            </a:r>
          </a:p>
          <a:p xmlns:a="http://schemas.openxmlformats.org/drawingml/2006/main">
            <a:pPr>
              <a:defRPr sz="3900" b="1">
                <a:solidFill>
                  <a:srgbClr val="102D50"/>
                </a:solidFill>
                <a:latin typeface="Tahoma"/>
                <a:ea typeface="Tahoma"/>
                <a:cs typeface="Tahoma"/>
              </a:defRPr>
            </a:pPr>
            <a:r>
              <a:rPr sz="3900" b="1">
                <a:solidFill>
                  <a:srgbClr val="102D50"/>
                </a:solidFill>
                <a:latin typeface="Tahoma"/>
                <a:ea typeface="Tahoma"/>
                <a:cs typeface="Tahoma"/>
              </a:rPr>
              <a:t>which tasks can repeat?</a:t>
            </a:r>
          </a:p>
        </p:txBody>
      </p:sp>
      <p:sp>
        <p:nvSpPr>
          <p:cNvPr id="3" name="diagram-24">
            <a:extLst xmlns:a="http://schemas.openxmlformats.org/drawingml/2006/main">
              <a:ext uri="{FF2B5EF4-FFF2-40B4-BE49-F238E27FC236}">
                <a16:creationId xmlns:a16="http://schemas.microsoft.com/office/drawing/2014/main" id="{C933EB5B-19CA-4870-9BF5-A2A3D15BA33A}"/>
              </a:ext>
            </a:extLst>
          </p:cNvPr>
          <p:cNvSpPr>
            <a:spLocks xmlns:a="http://schemas.openxmlformats.org/drawingml/2006/main" noGrp="1"/>
          </p:cNvSpPr>
          <p:nvPr/>
        </p:nvSpPr>
        <p:spPr>
          <a:xfrm xmlns:a="http://schemas.openxmlformats.org/drawingml/2006/main">
            <a:off x="809625" y="4667250"/>
            <a:ext cx="1038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B76D13"/>
                </a:solidFill>
                <a:latin typeface="Tahoma"/>
                <a:ea typeface="Tahoma"/>
                <a:cs typeface="Tahoma"/>
              </a:defRPr>
            </a:pPr>
            <a:r>
              <a:rPr sz="2550" b="0">
                <a:solidFill>
                  <a:srgbClr val="B76D13"/>
                </a:solidFill>
                <a:latin typeface="Tahoma"/>
                <a:ea typeface="Tahoma"/>
                <a:cs typeface="Tahoma"/>
              </a:rPr>
              <a:t>Who checks an allergy exception?</a:t>
            </a:r>
          </a:p>
        </p:txBody>
      </p:sp>
    </p:spTree>
    <p:extLst>
      <p:ext uri="{BB962C8B-B14F-4D97-AF65-F5344CB8AC3E}">
        <p14:creationId xmlns:p14="http://schemas.microsoft.com/office/powerpoint/2010/main" val="1731384962"/>
      </p:ext>
    </p:extLst>
  </p:cSld>
</p:sld>
</file>

<file path=ppt/slides/slide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pic>
        <p:nvPicPr>
          <p:cNvPr id="4" name="Chef checking an exception" descr="2D editorial illustration of a chef checking a dietary exception before serving a meal."/>
          <p:cNvPicPr>
            <a:picLocks xmlns:a="http://schemas.openxmlformats.org/drawingml/2006/main" noChangeAspect="1"/>
          </p:cNvPicPr>
          <p:nvPr/>
        </p:nvPicPr>
        <p:blipFill>
          <a:blip xmlns:r="http://schemas.openxmlformats.org/officeDocument/2006/relationships" xmlns:a="http://schemas.openxmlformats.org/drawingml/2006/main" r:embed="R004448d5cb1e425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iagram-25">
            <a:extLst xmlns:a="http://schemas.openxmlformats.org/drawingml/2006/main">
              <a:ext uri="{FF2B5EF4-FFF2-40B4-BE49-F238E27FC236}">
                <a16:creationId xmlns:a16="http://schemas.microsoft.com/office/drawing/2014/main" id="{51E26D8F-DD73-4884-AD50-610477197F04}"/>
              </a:ext>
            </a:extLst>
          </p:cNvPr>
          <p:cNvSpPr>
            <a:spLocks xmlns:a="http://schemas.openxmlformats.org/drawingml/2006/main" noGrp="1"/>
          </p:cNvSpPr>
          <p:nvPr/>
        </p:nvSpPr>
        <p:spPr>
          <a:xfrm xmlns:a="http://schemas.openxmlformats.org/drawingml/2006/main">
            <a:off x="571500" y="1952625"/>
            <a:ext cx="4191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00" b="1">
                <a:solidFill>
                  <a:srgbClr val="FFFFFF"/>
                </a:solidFill>
                <a:latin typeface="Tahoma"/>
                <a:ea typeface="Tahoma"/>
                <a:cs typeface="Tahoma"/>
              </a:defRPr>
            </a:pPr>
            <a:r>
              <a:rPr sz="4200" b="1">
                <a:solidFill>
                  <a:srgbClr val="FFFFFF"/>
                </a:solidFill>
                <a:latin typeface="Tahoma"/>
                <a:ea typeface="Tahoma"/>
                <a:cs typeface="Tahoma"/>
              </a:rPr>
              <a:t>People check</a:t>
            </a:r>
          </a:p>
          <a:p xmlns:a="http://schemas.openxmlformats.org/drawingml/2006/main">
            <a:pPr>
              <a:defRPr sz="4200" b="1">
                <a:solidFill>
                  <a:srgbClr val="FFFFFF"/>
                </a:solidFill>
                <a:latin typeface="Tahoma"/>
                <a:ea typeface="Tahoma"/>
                <a:cs typeface="Tahoma"/>
              </a:defRPr>
            </a:pPr>
            <a:r>
              <a:rPr sz="4200" b="1">
                <a:solidFill>
                  <a:srgbClr val="FFFFFF"/>
                </a:solidFill>
                <a:latin typeface="Tahoma"/>
                <a:ea typeface="Tahoma"/>
                <a:cs typeface="Tahoma"/>
              </a:rPr>
              <a:t>exceptions</a:t>
            </a:r>
          </a:p>
        </p:txBody>
      </p:sp>
      <p:sp>
        <p:nvSpPr>
          <p:cNvPr id="3" name="diagram-26">
            <a:extLst xmlns:a="http://schemas.openxmlformats.org/drawingml/2006/main">
              <a:ext uri="{FF2B5EF4-FFF2-40B4-BE49-F238E27FC236}">
                <a16:creationId xmlns:a16="http://schemas.microsoft.com/office/drawing/2014/main" id="{5D69AEE5-8BD9-4A57-AB02-7A6FC6AC078C}"/>
              </a:ext>
            </a:extLst>
          </p:cNvPr>
          <p:cNvSpPr>
            <a:spLocks xmlns:a="http://schemas.openxmlformats.org/drawingml/2006/main" noGrp="1"/>
          </p:cNvSpPr>
          <p:nvPr/>
        </p:nvSpPr>
        <p:spPr>
          <a:xfrm xmlns:a="http://schemas.openxmlformats.org/drawingml/2006/main">
            <a:off x="619125" y="4095750"/>
            <a:ext cx="4000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7E7F5"/>
                </a:solidFill>
                <a:latin typeface="Tahoma"/>
                <a:ea typeface="Tahoma"/>
                <a:cs typeface="Tahoma"/>
              </a:defRPr>
            </a:pPr>
            <a:r>
              <a:rPr sz="2025" b="0">
                <a:solidFill>
                  <a:srgbClr val="D7E7F5"/>
                </a:solidFill>
                <a:latin typeface="Tahoma"/>
                <a:ea typeface="Tahoma"/>
                <a:cs typeface="Tahoma"/>
              </a:rPr>
              <a:t>Routine steps follow rules.</a:t>
            </a:r>
          </a:p>
          <a:p xmlns:a="http://schemas.openxmlformats.org/drawingml/2006/main">
            <a:pPr>
              <a:defRPr sz="2025" b="0">
                <a:solidFill>
                  <a:srgbClr val="D7E7F5"/>
                </a:solidFill>
                <a:latin typeface="Tahoma"/>
                <a:ea typeface="Tahoma"/>
                <a:cs typeface="Tahoma"/>
              </a:defRPr>
            </a:pPr>
            <a:r>
              <a:rPr sz="2025" b="0">
                <a:solidFill>
                  <a:srgbClr val="D7E7F5"/>
                </a:solidFill>
                <a:latin typeface="Tahoma"/>
                <a:ea typeface="Tahoma"/>
                <a:cs typeface="Tahoma"/>
              </a:rPr>
              <a:t>A responsible person checks exceptions.</a:t>
            </a:r>
          </a:p>
        </p:txBody>
      </p:sp>
    </p:spTree>
    <p:extLst>
      <p:ext uri="{BB962C8B-B14F-4D97-AF65-F5344CB8AC3E}">
        <p14:creationId xmlns:p14="http://schemas.microsoft.com/office/powerpoint/2010/main" val="1116276469"/>
      </p:ext>
    </p:extLst>
  </p:cSld>
</p:sld>
</file>

<file path=ppt/slides/slide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diagram-27">
            <a:extLst xmlns:a="http://schemas.openxmlformats.org/drawingml/2006/main">
              <a:ext uri="{FF2B5EF4-FFF2-40B4-BE49-F238E27FC236}">
                <a16:creationId xmlns:a16="http://schemas.microsoft.com/office/drawing/2014/main" id="{70848778-54F4-4ADA-8BED-0FDED75577D6}"/>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Common workflow tasks</a:t>
            </a:r>
          </a:p>
        </p:txBody>
      </p:sp>
      <p:sp>
        <p:nvSpPr>
          <p:cNvPr id="2" name="diagram-28">
            <a:extLst xmlns:a="http://schemas.openxmlformats.org/drawingml/2006/main">
              <a:ext uri="{FF2B5EF4-FFF2-40B4-BE49-F238E27FC236}">
                <a16:creationId xmlns:a16="http://schemas.microsoft.com/office/drawing/2014/main" id="{AA775DBA-0F56-4412-97A6-05F15917E6B3}"/>
              </a:ext>
            </a:extLst>
          </p:cNvPr>
          <p:cNvSpPr>
            <a:spLocks xmlns:a="http://schemas.openxmlformats.org/drawingml/2006/main" noGrp="1"/>
          </p:cNvSpPr>
          <p:nvPr/>
        </p:nvSpPr>
        <p:spPr>
          <a:xfrm xmlns:a="http://schemas.openxmlformats.org/drawingml/2006/main">
            <a:off x="762000" y="2476500"/>
            <a:ext cx="285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174FBA"/>
                </a:solidFill>
                <a:latin typeface="Tahoma"/>
                <a:ea typeface="Tahoma"/>
                <a:cs typeface="Tahoma"/>
              </a:defRPr>
            </a:pPr>
            <a:r>
              <a:rPr sz="4650" b="1">
                <a:solidFill>
                  <a:srgbClr val="174FBA"/>
                </a:solidFill>
                <a:latin typeface="Tahoma"/>
                <a:ea typeface="Tahoma"/>
                <a:cs typeface="Tahoma"/>
              </a:rPr>
              <a:t>01</a:t>
            </a:r>
          </a:p>
        </p:txBody>
      </p:sp>
      <p:sp>
        <p:nvSpPr>
          <p:cNvPr id="3" name="diagram-29">
            <a:extLst xmlns:a="http://schemas.openxmlformats.org/drawingml/2006/main">
              <a:ext uri="{FF2B5EF4-FFF2-40B4-BE49-F238E27FC236}">
                <a16:creationId xmlns:a16="http://schemas.microsoft.com/office/drawing/2014/main" id="{AAB58D61-632E-4231-9682-62EDCE83E994}"/>
              </a:ext>
            </a:extLst>
          </p:cNvPr>
          <p:cNvSpPr>
            <a:spLocks xmlns:a="http://schemas.openxmlformats.org/drawingml/2006/main" noGrp="1"/>
          </p:cNvSpPr>
          <p:nvPr/>
        </p:nvSpPr>
        <p:spPr>
          <a:xfrm xmlns:a="http://schemas.openxmlformats.org/drawingml/2006/main">
            <a:off x="762000" y="34766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02D50"/>
                </a:solidFill>
                <a:latin typeface="Tahoma"/>
                <a:ea typeface="Tahoma"/>
                <a:cs typeface="Tahoma"/>
              </a:defRPr>
            </a:pPr>
            <a:r>
              <a:rPr sz="2625" b="1">
                <a:solidFill>
                  <a:srgbClr val="102D50"/>
                </a:solidFill>
                <a:latin typeface="Tahoma"/>
                <a:ea typeface="Tahoma"/>
                <a:cs typeface="Tahoma"/>
              </a:rPr>
              <a:t>Route requests</a:t>
            </a:r>
          </a:p>
        </p:txBody>
      </p:sp>
      <p:sp>
        <p:nvSpPr>
          <p:cNvPr id="4" name="diagram-30">
            <a:extLst xmlns:a="http://schemas.openxmlformats.org/drawingml/2006/main">
              <a:ext uri="{FF2B5EF4-FFF2-40B4-BE49-F238E27FC236}">
                <a16:creationId xmlns:a16="http://schemas.microsoft.com/office/drawing/2014/main" id="{A4470E3B-6D50-4A49-B6C0-9C8A3E71DD54}"/>
              </a:ext>
            </a:extLst>
          </p:cNvPr>
          <p:cNvSpPr>
            <a:spLocks xmlns:a="http://schemas.openxmlformats.org/drawingml/2006/main" noGrp="1"/>
          </p:cNvSpPr>
          <p:nvPr/>
        </p:nvSpPr>
        <p:spPr>
          <a:xfrm xmlns:a="http://schemas.openxmlformats.org/drawingml/2006/main">
            <a:off x="762000" y="4286250"/>
            <a:ext cx="323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80"/>
                </a:solidFill>
                <a:latin typeface="Tahoma"/>
                <a:ea typeface="Tahoma"/>
                <a:cs typeface="Tahoma"/>
              </a:defRPr>
            </a:pPr>
            <a:r>
              <a:rPr sz="2025" b="0">
                <a:solidFill>
                  <a:srgbClr val="536B80"/>
                </a:solidFill>
                <a:latin typeface="Tahoma"/>
                <a:ea typeface="Tahoma"/>
                <a:cs typeface="Tahoma"/>
              </a:rPr>
              <a:t>To the responsible person</a:t>
            </a:r>
          </a:p>
        </p:txBody>
      </p:sp>
      <p:sp>
        <p:nvSpPr>
          <p:cNvPr id="5" name="diagram-31">
            <a:extLst xmlns:a="http://schemas.openxmlformats.org/drawingml/2006/main">
              <a:ext uri="{FF2B5EF4-FFF2-40B4-BE49-F238E27FC236}">
                <a16:creationId xmlns:a16="http://schemas.microsoft.com/office/drawing/2014/main" id="{49A44198-19F5-4319-A691-499707FD766F}"/>
              </a:ext>
            </a:extLst>
          </p:cNvPr>
          <p:cNvSpPr>
            <a:spLocks xmlns:a="http://schemas.openxmlformats.org/drawingml/2006/main" noGrp="1"/>
          </p:cNvSpPr>
          <p:nvPr/>
        </p:nvSpPr>
        <p:spPr>
          <a:xfrm xmlns:a="http://schemas.openxmlformats.org/drawingml/2006/main">
            <a:off x="4381500" y="2476500"/>
            <a:ext cx="285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174FBA"/>
                </a:solidFill>
                <a:latin typeface="Tahoma"/>
                <a:ea typeface="Tahoma"/>
                <a:cs typeface="Tahoma"/>
              </a:defRPr>
            </a:pPr>
            <a:r>
              <a:rPr sz="4650" b="1">
                <a:solidFill>
                  <a:srgbClr val="174FBA"/>
                </a:solidFill>
                <a:latin typeface="Tahoma"/>
                <a:ea typeface="Tahoma"/>
                <a:cs typeface="Tahoma"/>
              </a:rPr>
              <a:t>02</a:t>
            </a:r>
          </a:p>
        </p:txBody>
      </p:sp>
      <p:sp>
        <p:nvSpPr>
          <p:cNvPr id="6" name="diagram-32">
            <a:extLst xmlns:a="http://schemas.openxmlformats.org/drawingml/2006/main">
              <a:ext uri="{FF2B5EF4-FFF2-40B4-BE49-F238E27FC236}">
                <a16:creationId xmlns:a16="http://schemas.microsoft.com/office/drawing/2014/main" id="{0E00FB7F-4457-4BC8-AD75-1074F50333AF}"/>
              </a:ext>
            </a:extLst>
          </p:cNvPr>
          <p:cNvSpPr>
            <a:spLocks xmlns:a="http://schemas.openxmlformats.org/drawingml/2006/main" noGrp="1"/>
          </p:cNvSpPr>
          <p:nvPr/>
        </p:nvSpPr>
        <p:spPr>
          <a:xfrm xmlns:a="http://schemas.openxmlformats.org/drawingml/2006/main">
            <a:off x="4381500" y="34766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02D50"/>
                </a:solidFill>
                <a:latin typeface="Tahoma"/>
                <a:ea typeface="Tahoma"/>
                <a:cs typeface="Tahoma"/>
              </a:defRPr>
            </a:pPr>
            <a:r>
              <a:rPr sz="2625" b="1">
                <a:solidFill>
                  <a:srgbClr val="102D50"/>
                </a:solidFill>
                <a:latin typeface="Tahoma"/>
                <a:ea typeface="Tahoma"/>
                <a:cs typeface="Tahoma"/>
              </a:rPr>
              <a:t>Send notifications</a:t>
            </a:r>
          </a:p>
        </p:txBody>
      </p:sp>
      <p:sp>
        <p:nvSpPr>
          <p:cNvPr id="7" name="diagram-33">
            <a:extLst xmlns:a="http://schemas.openxmlformats.org/drawingml/2006/main">
              <a:ext uri="{FF2B5EF4-FFF2-40B4-BE49-F238E27FC236}">
                <a16:creationId xmlns:a16="http://schemas.microsoft.com/office/drawing/2014/main" id="{72313F0C-910E-4C74-87FF-17DA37A686BF}"/>
              </a:ext>
            </a:extLst>
          </p:cNvPr>
          <p:cNvSpPr>
            <a:spLocks xmlns:a="http://schemas.openxmlformats.org/drawingml/2006/main" noGrp="1"/>
          </p:cNvSpPr>
          <p:nvPr/>
        </p:nvSpPr>
        <p:spPr>
          <a:xfrm xmlns:a="http://schemas.openxmlformats.org/drawingml/2006/main">
            <a:off x="4381500" y="4286250"/>
            <a:ext cx="323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80"/>
                </a:solidFill>
                <a:latin typeface="Tahoma"/>
                <a:ea typeface="Tahoma"/>
                <a:cs typeface="Tahoma"/>
              </a:defRPr>
            </a:pPr>
            <a:r>
              <a:rPr sz="2025" b="0">
                <a:solidFill>
                  <a:srgbClr val="536B80"/>
                </a:solidFill>
                <a:latin typeface="Tahoma"/>
                <a:ea typeface="Tahoma"/>
                <a:cs typeface="Tahoma"/>
              </a:rPr>
              <a:t>Under agreed rules</a:t>
            </a:r>
          </a:p>
        </p:txBody>
      </p:sp>
      <p:sp>
        <p:nvSpPr>
          <p:cNvPr id="8" name="diagram-34">
            <a:extLst xmlns:a="http://schemas.openxmlformats.org/drawingml/2006/main">
              <a:ext uri="{FF2B5EF4-FFF2-40B4-BE49-F238E27FC236}">
                <a16:creationId xmlns:a16="http://schemas.microsoft.com/office/drawing/2014/main" id="{9863BA2B-CDE1-4BCE-AA59-FB668E4D8D6F}"/>
              </a:ext>
            </a:extLst>
          </p:cNvPr>
          <p:cNvSpPr>
            <a:spLocks xmlns:a="http://schemas.openxmlformats.org/drawingml/2006/main" noGrp="1"/>
          </p:cNvSpPr>
          <p:nvPr/>
        </p:nvSpPr>
        <p:spPr>
          <a:xfrm xmlns:a="http://schemas.openxmlformats.org/drawingml/2006/main">
            <a:off x="8001000" y="2476500"/>
            <a:ext cx="285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174FBA"/>
                </a:solidFill>
                <a:latin typeface="Tahoma"/>
                <a:ea typeface="Tahoma"/>
                <a:cs typeface="Tahoma"/>
              </a:defRPr>
            </a:pPr>
            <a:r>
              <a:rPr sz="4650" b="1">
                <a:solidFill>
                  <a:srgbClr val="174FBA"/>
                </a:solidFill>
                <a:latin typeface="Tahoma"/>
                <a:ea typeface="Tahoma"/>
                <a:cs typeface="Tahoma"/>
              </a:rPr>
              <a:t>03</a:t>
            </a:r>
          </a:p>
        </p:txBody>
      </p:sp>
      <p:sp>
        <p:nvSpPr>
          <p:cNvPr id="9" name="diagram-35">
            <a:extLst xmlns:a="http://schemas.openxmlformats.org/drawingml/2006/main">
              <a:ext uri="{FF2B5EF4-FFF2-40B4-BE49-F238E27FC236}">
                <a16:creationId xmlns:a16="http://schemas.microsoft.com/office/drawing/2014/main" id="{828D0141-E6F7-4615-9055-3BE639981C1B}"/>
              </a:ext>
            </a:extLst>
          </p:cNvPr>
          <p:cNvSpPr>
            <a:spLocks xmlns:a="http://schemas.openxmlformats.org/drawingml/2006/main" noGrp="1"/>
          </p:cNvSpPr>
          <p:nvPr/>
        </p:nvSpPr>
        <p:spPr>
          <a:xfrm xmlns:a="http://schemas.openxmlformats.org/drawingml/2006/main">
            <a:off x="8001000" y="34766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02D50"/>
                </a:solidFill>
                <a:latin typeface="Tahoma"/>
                <a:ea typeface="Tahoma"/>
                <a:cs typeface="Tahoma"/>
              </a:defRPr>
            </a:pPr>
            <a:r>
              <a:rPr sz="2625" b="1">
                <a:solidFill>
                  <a:srgbClr val="102D50"/>
                </a:solidFill>
                <a:latin typeface="Tahoma"/>
                <a:ea typeface="Tahoma"/>
                <a:cs typeface="Tahoma"/>
              </a:rPr>
              <a:t>Update records</a:t>
            </a:r>
          </a:p>
        </p:txBody>
      </p:sp>
      <p:sp>
        <p:nvSpPr>
          <p:cNvPr id="10" name="diagram-36">
            <a:extLst xmlns:a="http://schemas.openxmlformats.org/drawingml/2006/main">
              <a:ext uri="{FF2B5EF4-FFF2-40B4-BE49-F238E27FC236}">
                <a16:creationId xmlns:a16="http://schemas.microsoft.com/office/drawing/2014/main" id="{4DA22B14-8B99-46DE-9BC4-170EBCFBD2E6}"/>
              </a:ext>
            </a:extLst>
          </p:cNvPr>
          <p:cNvSpPr>
            <a:spLocks xmlns:a="http://schemas.openxmlformats.org/drawingml/2006/main" noGrp="1"/>
          </p:cNvSpPr>
          <p:nvPr/>
        </p:nvSpPr>
        <p:spPr>
          <a:xfrm xmlns:a="http://schemas.openxmlformats.org/drawingml/2006/main">
            <a:off x="8001000" y="4286250"/>
            <a:ext cx="323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80"/>
                </a:solidFill>
                <a:latin typeface="Tahoma"/>
                <a:ea typeface="Tahoma"/>
                <a:cs typeface="Tahoma"/>
              </a:defRPr>
            </a:pPr>
            <a:r>
              <a:rPr sz="2025" b="0">
                <a:solidFill>
                  <a:srgbClr val="536B80"/>
                </a:solidFill>
                <a:latin typeface="Tahoma"/>
                <a:ea typeface="Tahoma"/>
                <a:cs typeface="Tahoma"/>
              </a:rPr>
              <a:t>Through supported services</a:t>
            </a:r>
          </a:p>
        </p:txBody>
      </p:sp>
    </p:spTree>
    <p:extLst>
      <p:ext uri="{BB962C8B-B14F-4D97-AF65-F5344CB8AC3E}">
        <p14:creationId xmlns:p14="http://schemas.microsoft.com/office/powerpoint/2010/main" val="1671007883"/>
      </p:ext>
    </p:extLst>
  </p:cSld>
</p:sld>
</file>

<file path=ppt/slides/slide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0" name="diagram-37">
            <a:extLst xmlns:a="http://schemas.openxmlformats.org/drawingml/2006/main">
              <a:ext uri="{FF2B5EF4-FFF2-40B4-BE49-F238E27FC236}">
                <a16:creationId xmlns:a16="http://schemas.microsoft.com/office/drawing/2014/main" id="{93A4C53F-F715-44E5-A9F0-1D162F73C6DC}"/>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Rules and human judgement</a:t>
            </a:r>
          </a:p>
        </p:txBody>
      </p:sp>
      <p:sp>
        <p:nvSpPr>
          <p:cNvPr id="2" name="diagram-38">
            <a:extLst xmlns:a="http://schemas.openxmlformats.org/drawingml/2006/main">
              <a:ext uri="{FF2B5EF4-FFF2-40B4-BE49-F238E27FC236}">
                <a16:creationId xmlns:a16="http://schemas.microsoft.com/office/drawing/2014/main" id="{6848A49A-17EE-4F37-8757-5D4FE3C9E309}"/>
              </a:ext>
            </a:extLst>
          </p:cNvPr>
          <p:cNvSpPr>
            <a:spLocks xmlns:a="http://schemas.openxmlformats.org/drawingml/2006/main" noGrp="1"/>
          </p:cNvSpPr>
          <p:nvPr/>
        </p:nvSpPr>
        <p:spPr>
          <a:xfrm xmlns:a="http://schemas.openxmlformats.org/drawingml/2006/main">
            <a:off x="5905500" y="2190750"/>
            <a:ext cx="19050" cy="28098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3" name="diagram-39">
            <a:extLst xmlns:a="http://schemas.openxmlformats.org/drawingml/2006/main">
              <a:ext uri="{FF2B5EF4-FFF2-40B4-BE49-F238E27FC236}">
                <a16:creationId xmlns:a16="http://schemas.microsoft.com/office/drawing/2014/main" id="{C954378D-9447-494A-8391-892B7673DAC4}"/>
              </a:ext>
            </a:extLst>
          </p:cNvPr>
          <p:cNvSpPr>
            <a:spLocks xmlns:a="http://schemas.openxmlformats.org/drawingml/2006/main" noGrp="1"/>
          </p:cNvSpPr>
          <p:nvPr/>
        </p:nvSpPr>
        <p:spPr>
          <a:xfrm xmlns:a="http://schemas.openxmlformats.org/drawingml/2006/main">
            <a:off x="762000" y="214312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4FBA"/>
                </a:solidFill>
                <a:latin typeface="Tahoma"/>
                <a:ea typeface="Tahoma"/>
                <a:cs typeface="Tahoma"/>
              </a:defRPr>
            </a:pPr>
            <a:r>
              <a:rPr sz="2850" b="1">
                <a:solidFill>
                  <a:srgbClr val="174FBA"/>
                </a:solidFill>
                <a:latin typeface="Tahoma"/>
                <a:ea typeface="Tahoma"/>
                <a:cs typeface="Tahoma"/>
              </a:rPr>
              <a:t>Systems follow rules</a:t>
            </a:r>
          </a:p>
        </p:txBody>
      </p:sp>
      <p:sp>
        <p:nvSpPr>
          <p:cNvPr id="4" name="diagram-40">
            <a:extLst xmlns:a="http://schemas.openxmlformats.org/drawingml/2006/main">
              <a:ext uri="{FF2B5EF4-FFF2-40B4-BE49-F238E27FC236}">
                <a16:creationId xmlns:a16="http://schemas.microsoft.com/office/drawing/2014/main" id="{17F2403C-F740-4519-9B9E-71E216522204}"/>
              </a:ext>
            </a:extLst>
          </p:cNvPr>
          <p:cNvSpPr>
            <a:spLocks xmlns:a="http://schemas.openxmlformats.org/drawingml/2006/main" noGrp="1"/>
          </p:cNvSpPr>
          <p:nvPr/>
        </p:nvSpPr>
        <p:spPr>
          <a:xfrm xmlns:a="http://schemas.openxmlformats.org/drawingml/2006/main">
            <a:off x="6572250" y="214312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B76D13"/>
                </a:solidFill>
                <a:latin typeface="Tahoma"/>
                <a:ea typeface="Tahoma"/>
                <a:cs typeface="Tahoma"/>
              </a:defRPr>
            </a:pPr>
            <a:r>
              <a:rPr sz="2850" b="1">
                <a:solidFill>
                  <a:srgbClr val="B76D13"/>
                </a:solidFill>
                <a:latin typeface="Tahoma"/>
                <a:ea typeface="Tahoma"/>
                <a:cs typeface="Tahoma"/>
              </a:rPr>
              <a:t>People use judgement</a:t>
            </a:r>
          </a:p>
        </p:txBody>
      </p:sp>
      <p:sp>
        <p:nvSpPr>
          <p:cNvPr id="5" name="diagram-41">
            <a:extLst xmlns:a="http://schemas.openxmlformats.org/drawingml/2006/main">
              <a:ext uri="{FF2B5EF4-FFF2-40B4-BE49-F238E27FC236}">
                <a16:creationId xmlns:a16="http://schemas.microsoft.com/office/drawing/2014/main" id="{DD47718E-8C75-4980-A396-33C18D3D9F20}"/>
              </a:ext>
            </a:extLst>
          </p:cNvPr>
          <p:cNvSpPr>
            <a:spLocks xmlns:a="http://schemas.openxmlformats.org/drawingml/2006/main" noGrp="1"/>
          </p:cNvSpPr>
          <p:nvPr/>
        </p:nvSpPr>
        <p:spPr>
          <a:xfrm xmlns:a="http://schemas.openxmlformats.org/drawingml/2006/main">
            <a:off x="762000" y="304800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24B"/>
                </a:solidFill>
                <a:latin typeface="Tahoma"/>
                <a:ea typeface="Tahoma"/>
                <a:cs typeface="Tahoma"/>
              </a:defRPr>
            </a:pPr>
            <a:r>
              <a:rPr sz="2175" b="0">
                <a:solidFill>
                  <a:srgbClr val="18324B"/>
                </a:solidFill>
                <a:latin typeface="Tahoma"/>
                <a:ea typeface="Tahoma"/>
                <a:cs typeface="Tahoma"/>
              </a:rPr>
              <a:t>Route information</a:t>
            </a:r>
          </a:p>
        </p:txBody>
      </p:sp>
      <p:sp>
        <p:nvSpPr>
          <p:cNvPr id="6" name="diagram-42">
            <a:extLst xmlns:a="http://schemas.openxmlformats.org/drawingml/2006/main">
              <a:ext uri="{FF2B5EF4-FFF2-40B4-BE49-F238E27FC236}">
                <a16:creationId xmlns:a16="http://schemas.microsoft.com/office/drawing/2014/main" id="{C6B6BAFD-9ABA-4159-9DBF-72696A1FB7DD}"/>
              </a:ext>
            </a:extLst>
          </p:cNvPr>
          <p:cNvSpPr>
            <a:spLocks xmlns:a="http://schemas.openxmlformats.org/drawingml/2006/main" noGrp="1"/>
          </p:cNvSpPr>
          <p:nvPr/>
        </p:nvSpPr>
        <p:spPr>
          <a:xfrm xmlns:a="http://schemas.openxmlformats.org/drawingml/2006/main">
            <a:off x="762000" y="371475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24B"/>
                </a:solidFill>
                <a:latin typeface="Tahoma"/>
                <a:ea typeface="Tahoma"/>
                <a:cs typeface="Tahoma"/>
              </a:defRPr>
            </a:pPr>
            <a:r>
              <a:rPr sz="2175" b="0">
                <a:solidFill>
                  <a:srgbClr val="18324B"/>
                </a:solidFill>
                <a:latin typeface="Tahoma"/>
                <a:ea typeface="Tahoma"/>
                <a:cs typeface="Tahoma"/>
              </a:rPr>
              <a:t>Notify and follow up</a:t>
            </a:r>
          </a:p>
        </p:txBody>
      </p:sp>
      <p:sp>
        <p:nvSpPr>
          <p:cNvPr id="7" name="diagram-43">
            <a:extLst xmlns:a="http://schemas.openxmlformats.org/drawingml/2006/main">
              <a:ext uri="{FF2B5EF4-FFF2-40B4-BE49-F238E27FC236}">
                <a16:creationId xmlns:a16="http://schemas.microsoft.com/office/drawing/2014/main" id="{93F2A5F2-D2FC-4F05-A6FE-710AF8811789}"/>
              </a:ext>
            </a:extLst>
          </p:cNvPr>
          <p:cNvSpPr>
            <a:spLocks xmlns:a="http://schemas.openxmlformats.org/drawingml/2006/main" noGrp="1"/>
          </p:cNvSpPr>
          <p:nvPr/>
        </p:nvSpPr>
        <p:spPr>
          <a:xfrm xmlns:a="http://schemas.openxmlformats.org/drawingml/2006/main">
            <a:off x="6572250" y="304800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24B"/>
                </a:solidFill>
                <a:latin typeface="Tahoma"/>
                <a:ea typeface="Tahoma"/>
                <a:cs typeface="Tahoma"/>
              </a:defRPr>
            </a:pPr>
            <a:r>
              <a:rPr sz="2175" b="0">
                <a:solidFill>
                  <a:srgbClr val="18324B"/>
                </a:solidFill>
                <a:latin typeface="Tahoma"/>
                <a:ea typeface="Tahoma"/>
                <a:cs typeface="Tahoma"/>
              </a:rPr>
              <a:t>Make business decisions</a:t>
            </a:r>
          </a:p>
        </p:txBody>
      </p:sp>
      <p:sp>
        <p:nvSpPr>
          <p:cNvPr id="8" name="diagram-44">
            <a:extLst xmlns:a="http://schemas.openxmlformats.org/drawingml/2006/main">
              <a:ext uri="{FF2B5EF4-FFF2-40B4-BE49-F238E27FC236}">
                <a16:creationId xmlns:a16="http://schemas.microsoft.com/office/drawing/2014/main" id="{E3D4A464-A71C-42F9-837B-4E0897B9E42B}"/>
              </a:ext>
            </a:extLst>
          </p:cNvPr>
          <p:cNvSpPr>
            <a:spLocks xmlns:a="http://schemas.openxmlformats.org/drawingml/2006/main" noGrp="1"/>
          </p:cNvSpPr>
          <p:nvPr/>
        </p:nvSpPr>
        <p:spPr>
          <a:xfrm xmlns:a="http://schemas.openxmlformats.org/drawingml/2006/main">
            <a:off x="6572250" y="371475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24B"/>
                </a:solidFill>
                <a:latin typeface="Tahoma"/>
                <a:ea typeface="Tahoma"/>
                <a:cs typeface="Tahoma"/>
              </a:defRPr>
            </a:pPr>
            <a:r>
              <a:rPr sz="2175" b="0">
                <a:solidFill>
                  <a:srgbClr val="18324B"/>
                </a:solidFill>
                <a:latin typeface="Tahoma"/>
                <a:ea typeface="Tahoma"/>
                <a:cs typeface="Tahoma"/>
              </a:rPr>
              <a:t>Check results and own outcomes</a:t>
            </a:r>
          </a:p>
        </p:txBody>
      </p:sp>
      <p:sp>
        <p:nvSpPr>
          <p:cNvPr id="9" name="diagram-45">
            <a:extLst xmlns:a="http://schemas.openxmlformats.org/drawingml/2006/main">
              <a:ext uri="{FF2B5EF4-FFF2-40B4-BE49-F238E27FC236}">
                <a16:creationId xmlns:a16="http://schemas.microsoft.com/office/drawing/2014/main" id="{FBDC2377-FCB8-4B91-8DE4-6F047A8D8DD3}"/>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Information, permissions, and connections must be ready</a:t>
            </a:r>
          </a:p>
        </p:txBody>
      </p:sp>
    </p:spTree>
    <p:extLst>
      <p:ext uri="{BB962C8B-B14F-4D97-AF65-F5344CB8AC3E}">
        <p14:creationId xmlns:p14="http://schemas.microsoft.com/office/powerpoint/2010/main" val="1442116585"/>
      </p:ext>
    </p:extLst>
  </p:cSld>
</p:sld>
</file>

<file path=ppt/slides/slide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22" name="diagram-46">
            <a:extLst xmlns:a="http://schemas.openxmlformats.org/drawingml/2006/main">
              <a:ext uri="{FF2B5EF4-FFF2-40B4-BE49-F238E27FC236}">
                <a16:creationId xmlns:a16="http://schemas.microsoft.com/office/drawing/2014/main" id="{B624DE2E-2486-475A-BDE4-F28D86710BFB}"/>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1 · PRACTICE 1</a:t>
            </a:r>
          </a:p>
        </p:txBody>
      </p:sp>
      <p:sp>
        <p:nvSpPr>
          <p:cNvPr id="2" name="diagram-47">
            <a:extLst xmlns:a="http://schemas.openxmlformats.org/drawingml/2006/main">
              <a:ext uri="{FF2B5EF4-FFF2-40B4-BE49-F238E27FC236}">
                <a16:creationId xmlns:a16="http://schemas.microsoft.com/office/drawing/2014/main" id="{47C88A3B-391E-4C3C-A05C-9E2377238FAE}"/>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The fictional training request</a:t>
            </a:r>
          </a:p>
        </p:txBody>
      </p:sp>
      <p:sp>
        <p:nvSpPr>
          <p:cNvPr id="3" name="diagram-48">
            <a:extLst xmlns:a="http://schemas.openxmlformats.org/drawingml/2006/main">
              <a:ext uri="{FF2B5EF4-FFF2-40B4-BE49-F238E27FC236}">
                <a16:creationId xmlns:a16="http://schemas.microsoft.com/office/drawing/2014/main" id="{66CF73A5-8D57-46E8-A143-DEB2300656B4}"/>
              </a:ext>
            </a:extLst>
          </p:cNvPr>
          <p:cNvSpPr>
            <a:spLocks xmlns:a="http://schemas.openxmlformats.org/drawingml/2006/main" noGrp="1"/>
          </p:cNvSpPr>
          <p:nvPr/>
        </p:nvSpPr>
        <p:spPr>
          <a:xfrm xmlns:a="http://schemas.openxmlformats.org/drawingml/2006/main">
            <a:off x="666750" y="2905125"/>
            <a:ext cx="1619250" cy="8572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4" name="diagram-49">
            <a:extLst xmlns:a="http://schemas.openxmlformats.org/drawingml/2006/main">
              <a:ext uri="{FF2B5EF4-FFF2-40B4-BE49-F238E27FC236}">
                <a16:creationId xmlns:a16="http://schemas.microsoft.com/office/drawing/2014/main" id="{923C6A14-0872-4122-B671-77AFB08AE53F}"/>
              </a:ext>
            </a:extLst>
          </p:cNvPr>
          <p:cNvSpPr>
            <a:spLocks xmlns:a="http://schemas.openxmlformats.org/drawingml/2006/main" noGrp="1"/>
          </p:cNvSpPr>
          <p:nvPr/>
        </p:nvSpPr>
        <p:spPr>
          <a:xfrm xmlns:a="http://schemas.openxmlformats.org/drawingml/2006/main">
            <a:off x="838200" y="3048000"/>
            <a:ext cx="12763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Submit</a:t>
            </a:r>
          </a:p>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details</a:t>
            </a:r>
          </a:p>
        </p:txBody>
      </p:sp>
      <p:sp>
        <p:nvSpPr>
          <p:cNvPr id="5" name="diagram-50">
            <a:extLst xmlns:a="http://schemas.openxmlformats.org/drawingml/2006/main">
              <a:ext uri="{FF2B5EF4-FFF2-40B4-BE49-F238E27FC236}">
                <a16:creationId xmlns:a16="http://schemas.microsoft.com/office/drawing/2014/main" id="{876B8A79-736B-42BD-BF37-E41795BB5D8C}"/>
              </a:ext>
            </a:extLst>
          </p:cNvPr>
          <p:cNvSpPr>
            <a:spLocks xmlns:a="http://schemas.openxmlformats.org/drawingml/2006/main" noGrp="1"/>
          </p:cNvSpPr>
          <p:nvPr/>
        </p:nvSpPr>
        <p:spPr>
          <a:xfrm xmlns:a="http://schemas.openxmlformats.org/drawingml/2006/main">
            <a:off x="2714625" y="2905125"/>
            <a:ext cx="1809750" cy="8572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6" name="diagram-51">
            <a:extLst xmlns:a="http://schemas.openxmlformats.org/drawingml/2006/main">
              <a:ext uri="{FF2B5EF4-FFF2-40B4-BE49-F238E27FC236}">
                <a16:creationId xmlns:a16="http://schemas.microsoft.com/office/drawing/2014/main" id="{540C8271-7CA7-4DCD-81E1-DE18E15E283D}"/>
              </a:ext>
            </a:extLst>
          </p:cNvPr>
          <p:cNvSpPr>
            <a:spLocks xmlns:a="http://schemas.openxmlformats.org/drawingml/2006/main" noGrp="1"/>
          </p:cNvSpPr>
          <p:nvPr/>
        </p:nvSpPr>
        <p:spPr>
          <a:xfrm xmlns:a="http://schemas.openxmlformats.org/drawingml/2006/main">
            <a:off x="2886075" y="3048000"/>
            <a:ext cx="14668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Check required</a:t>
            </a:r>
          </a:p>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details</a:t>
            </a:r>
          </a:p>
        </p:txBody>
      </p:sp>
      <p:cxnSp>
        <p:nvCxnSpPr>
          <p:cNvPr id="28" name=""/>
          <p:cNvCxnSpPr>
            <a:stCxn xmlns:a="http://schemas.openxmlformats.org/drawingml/2006/main" id="3" idx="3"/>
            <a:endCxn xmlns:a="http://schemas.openxmlformats.org/drawingml/2006/main" id="5" idx="1"/>
          </p:cNvCxnSpPr>
          <p:nvPr/>
        </p:nvCxnSpPr>
        <p:spPr>
          <a:xfrm xmlns:a="http://schemas.openxmlformats.org/drawingml/2006/main">
            <a:off x="2286000" y="333375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8" name="diagram-52">
            <a:extLst xmlns:a="http://schemas.openxmlformats.org/drawingml/2006/main">
              <a:ext uri="{FF2B5EF4-FFF2-40B4-BE49-F238E27FC236}">
                <a16:creationId xmlns:a16="http://schemas.microsoft.com/office/drawing/2014/main" id="{88B786EC-E1BD-4019-85BB-EC82C84973E9}"/>
              </a:ext>
            </a:extLst>
          </p:cNvPr>
          <p:cNvSpPr>
            <a:spLocks xmlns:a="http://schemas.openxmlformats.org/drawingml/2006/main" noGrp="1"/>
          </p:cNvSpPr>
          <p:nvPr/>
        </p:nvSpPr>
        <p:spPr>
          <a:xfrm xmlns:a="http://schemas.openxmlformats.org/drawingml/2006/main">
            <a:off x="4953000" y="2905125"/>
            <a:ext cx="1619250" cy="8572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9" name="diagram-53">
            <a:extLst xmlns:a="http://schemas.openxmlformats.org/drawingml/2006/main">
              <a:ext uri="{FF2B5EF4-FFF2-40B4-BE49-F238E27FC236}">
                <a16:creationId xmlns:a16="http://schemas.microsoft.com/office/drawing/2014/main" id="{B42FDC3A-C857-49A3-A40D-4A3762D1DA6E}"/>
              </a:ext>
            </a:extLst>
          </p:cNvPr>
          <p:cNvSpPr>
            <a:spLocks xmlns:a="http://schemas.openxmlformats.org/drawingml/2006/main" noGrp="1"/>
          </p:cNvSpPr>
          <p:nvPr/>
        </p:nvSpPr>
        <p:spPr>
          <a:xfrm xmlns:a="http://schemas.openxmlformats.org/drawingml/2006/main">
            <a:off x="5124450" y="3048000"/>
            <a:ext cx="12763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Record</a:t>
            </a:r>
          </a:p>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request</a:t>
            </a:r>
          </a:p>
        </p:txBody>
      </p:sp>
      <p:cxnSp>
        <p:nvCxnSpPr>
          <p:cNvPr id="31" name=""/>
          <p:cNvCxnSpPr>
            <a:stCxn xmlns:a="http://schemas.openxmlformats.org/drawingml/2006/main" id="5" idx="3"/>
            <a:endCxn xmlns:a="http://schemas.openxmlformats.org/drawingml/2006/main" id="8" idx="1"/>
          </p:cNvCxnSpPr>
          <p:nvPr/>
        </p:nvCxnSpPr>
        <p:spPr>
          <a:xfrm xmlns:a="http://schemas.openxmlformats.org/drawingml/2006/main">
            <a:off x="4524375" y="333375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1" name="diagram-54">
            <a:extLst xmlns:a="http://schemas.openxmlformats.org/drawingml/2006/main">
              <a:ext uri="{FF2B5EF4-FFF2-40B4-BE49-F238E27FC236}">
                <a16:creationId xmlns:a16="http://schemas.microsoft.com/office/drawing/2014/main" id="{10D9991B-B50C-4714-ADD5-041B38BEBA86}"/>
              </a:ext>
            </a:extLst>
          </p:cNvPr>
          <p:cNvSpPr>
            <a:spLocks xmlns:a="http://schemas.openxmlformats.org/drawingml/2006/main" noGrp="1"/>
          </p:cNvSpPr>
          <p:nvPr/>
        </p:nvSpPr>
        <p:spPr>
          <a:xfrm xmlns:a="http://schemas.openxmlformats.org/drawingml/2006/main">
            <a:off x="7000875" y="2905125"/>
            <a:ext cx="1714500" cy="857250"/>
          </a:xfrm>
          <a:prstGeom xmlns:a="http://schemas.openxmlformats.org/drawingml/2006/main" prst="rect">
            <a:avLst/>
          </a:prstGeom>
          <a:solidFill xmlns:a="http://schemas.openxmlformats.org/drawingml/2006/main">
            <a:srgbClr val="FFF0D9"/>
          </a:solidFill>
          <a:ln xmlns:a="http://schemas.openxmlformats.org/drawingml/2006/main" w="0">
            <a:noFill/>
          </a:ln>
        </p:spPr>
      </p:sp>
      <p:sp>
        <p:nvSpPr>
          <p:cNvPr id="12" name="diagram-55">
            <a:extLst xmlns:a="http://schemas.openxmlformats.org/drawingml/2006/main">
              <a:ext uri="{FF2B5EF4-FFF2-40B4-BE49-F238E27FC236}">
                <a16:creationId xmlns:a16="http://schemas.microsoft.com/office/drawing/2014/main" id="{08918980-D5F9-4F68-9576-C5B240A09A50}"/>
              </a:ext>
            </a:extLst>
          </p:cNvPr>
          <p:cNvSpPr>
            <a:spLocks xmlns:a="http://schemas.openxmlformats.org/drawingml/2006/main" noGrp="1"/>
          </p:cNvSpPr>
          <p:nvPr/>
        </p:nvSpPr>
        <p:spPr>
          <a:xfrm xmlns:a="http://schemas.openxmlformats.org/drawingml/2006/main">
            <a:off x="7172325" y="3048000"/>
            <a:ext cx="1371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Approve</a:t>
            </a:r>
          </a:p>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or reject</a:t>
            </a:r>
          </a:p>
        </p:txBody>
      </p:sp>
      <p:cxnSp>
        <p:nvCxnSpPr>
          <p:cNvPr id="34" name=""/>
          <p:cNvCxnSpPr>
            <a:stCxn xmlns:a="http://schemas.openxmlformats.org/drawingml/2006/main" id="8" idx="3"/>
            <a:endCxn xmlns:a="http://schemas.openxmlformats.org/drawingml/2006/main" id="11" idx="1"/>
          </p:cNvCxnSpPr>
          <p:nvPr/>
        </p:nvCxnSpPr>
        <p:spPr>
          <a:xfrm xmlns:a="http://schemas.openxmlformats.org/drawingml/2006/main">
            <a:off x="6572250" y="333375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4" name="diagram-56">
            <a:extLst xmlns:a="http://schemas.openxmlformats.org/drawingml/2006/main">
              <a:ext uri="{FF2B5EF4-FFF2-40B4-BE49-F238E27FC236}">
                <a16:creationId xmlns:a16="http://schemas.microsoft.com/office/drawing/2014/main" id="{4DE3A66A-97A6-4854-B11F-3CB67244D911}"/>
              </a:ext>
            </a:extLst>
          </p:cNvPr>
          <p:cNvSpPr>
            <a:spLocks xmlns:a="http://schemas.openxmlformats.org/drawingml/2006/main" noGrp="1"/>
          </p:cNvSpPr>
          <p:nvPr/>
        </p:nvSpPr>
        <p:spPr>
          <a:xfrm xmlns:a="http://schemas.openxmlformats.org/drawingml/2006/main">
            <a:off x="9144000" y="2905125"/>
            <a:ext cx="1714500" cy="8572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5" name="diagram-57">
            <a:extLst xmlns:a="http://schemas.openxmlformats.org/drawingml/2006/main">
              <a:ext uri="{FF2B5EF4-FFF2-40B4-BE49-F238E27FC236}">
                <a16:creationId xmlns:a16="http://schemas.microsoft.com/office/drawing/2014/main" id="{E176676C-C21E-43B8-8A2A-FB6FAB04BA85}"/>
              </a:ext>
            </a:extLst>
          </p:cNvPr>
          <p:cNvSpPr>
            <a:spLocks xmlns:a="http://schemas.openxmlformats.org/drawingml/2006/main" noGrp="1"/>
          </p:cNvSpPr>
          <p:nvPr/>
        </p:nvSpPr>
        <p:spPr>
          <a:xfrm xmlns:a="http://schemas.openxmlformats.org/drawingml/2006/main">
            <a:off x="9315450" y="3048000"/>
            <a:ext cx="1371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Notify</a:t>
            </a:r>
          </a:p>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requester</a:t>
            </a:r>
          </a:p>
        </p:txBody>
      </p:sp>
      <p:cxnSp>
        <p:nvCxnSpPr>
          <p:cNvPr id="37" name=""/>
          <p:cNvCxnSpPr>
            <a:stCxn xmlns:a="http://schemas.openxmlformats.org/drawingml/2006/main" id="11" idx="3"/>
            <a:endCxn xmlns:a="http://schemas.openxmlformats.org/drawingml/2006/main" id="14" idx="1"/>
          </p:cNvCxnSpPr>
          <p:nvPr/>
        </p:nvCxnSpPr>
        <p:spPr>
          <a:xfrm xmlns:a="http://schemas.openxmlformats.org/drawingml/2006/main">
            <a:off x="8715375" y="333375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7" name="diagram-58">
            <a:extLst xmlns:a="http://schemas.openxmlformats.org/drawingml/2006/main">
              <a:ext uri="{FF2B5EF4-FFF2-40B4-BE49-F238E27FC236}">
                <a16:creationId xmlns:a16="http://schemas.microsoft.com/office/drawing/2014/main" id="{EA197AF7-5ED9-4F94-9936-2E826B3429E7}"/>
              </a:ext>
            </a:extLst>
          </p:cNvPr>
          <p:cNvSpPr>
            <a:spLocks xmlns:a="http://schemas.openxmlformats.org/drawingml/2006/main" noGrp="1"/>
          </p:cNvSpPr>
          <p:nvPr/>
        </p:nvSpPr>
        <p:spPr>
          <a:xfrm xmlns:a="http://schemas.openxmlformats.org/drawingml/2006/main">
            <a:off x="666750" y="2238375"/>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4FBA"/>
                </a:solidFill>
                <a:latin typeface="Tahoma"/>
                <a:ea typeface="Tahoma"/>
                <a:cs typeface="Tahoma"/>
              </a:defRPr>
            </a:pPr>
            <a:r>
              <a:rPr sz="1500" b="1">
                <a:solidFill>
                  <a:srgbClr val="174FBA"/>
                </a:solidFill>
                <a:latin typeface="Tahoma"/>
                <a:ea typeface="Tahoma"/>
                <a:cs typeface="Tahoma"/>
              </a:rPr>
              <a:t>Requester</a:t>
            </a:r>
          </a:p>
        </p:txBody>
      </p:sp>
      <p:sp>
        <p:nvSpPr>
          <p:cNvPr id="18" name="diagram-59">
            <a:extLst xmlns:a="http://schemas.openxmlformats.org/drawingml/2006/main">
              <a:ext uri="{FF2B5EF4-FFF2-40B4-BE49-F238E27FC236}">
                <a16:creationId xmlns:a16="http://schemas.microsoft.com/office/drawing/2014/main" id="{1A2472ED-AC85-4F87-B387-05249985B4CF}"/>
              </a:ext>
            </a:extLst>
          </p:cNvPr>
          <p:cNvSpPr>
            <a:spLocks xmlns:a="http://schemas.openxmlformats.org/drawingml/2006/main" noGrp="1"/>
          </p:cNvSpPr>
          <p:nvPr/>
        </p:nvSpPr>
        <p:spPr>
          <a:xfrm xmlns:a="http://schemas.openxmlformats.org/drawingml/2006/main">
            <a:off x="2905125" y="2238375"/>
            <a:ext cx="3762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4FBA"/>
                </a:solidFill>
                <a:latin typeface="Tahoma"/>
                <a:ea typeface="Tahoma"/>
                <a:cs typeface="Tahoma"/>
              </a:defRPr>
            </a:pPr>
            <a:r>
              <a:rPr sz="1500" b="1">
                <a:solidFill>
                  <a:srgbClr val="174FBA"/>
                </a:solidFill>
                <a:latin typeface="Tahoma"/>
                <a:ea typeface="Tahoma"/>
                <a:cs typeface="Tahoma"/>
              </a:rPr>
              <a:t>Coordinator</a:t>
            </a:r>
          </a:p>
        </p:txBody>
      </p:sp>
      <p:sp>
        <p:nvSpPr>
          <p:cNvPr id="19" name="diagram-60">
            <a:extLst xmlns:a="http://schemas.openxmlformats.org/drawingml/2006/main">
              <a:ext uri="{FF2B5EF4-FFF2-40B4-BE49-F238E27FC236}">
                <a16:creationId xmlns:a16="http://schemas.microsoft.com/office/drawing/2014/main" id="{A32F65D0-B2E6-4533-9FB1-2AE1ADA4D6CB}"/>
              </a:ext>
            </a:extLst>
          </p:cNvPr>
          <p:cNvSpPr>
            <a:spLocks xmlns:a="http://schemas.openxmlformats.org/drawingml/2006/main" noGrp="1"/>
          </p:cNvSpPr>
          <p:nvPr/>
        </p:nvSpPr>
        <p:spPr>
          <a:xfrm xmlns:a="http://schemas.openxmlformats.org/drawingml/2006/main">
            <a:off x="7143750" y="2238375"/>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76D13"/>
                </a:solidFill>
                <a:latin typeface="Tahoma"/>
                <a:ea typeface="Tahoma"/>
                <a:cs typeface="Tahoma"/>
              </a:defRPr>
            </a:pPr>
            <a:r>
              <a:rPr sz="1500" b="1">
                <a:solidFill>
                  <a:srgbClr val="B76D13"/>
                </a:solidFill>
                <a:latin typeface="Tahoma"/>
                <a:ea typeface="Tahoma"/>
                <a:cs typeface="Tahoma"/>
              </a:rPr>
              <a:t>Manager</a:t>
            </a:r>
          </a:p>
        </p:txBody>
      </p:sp>
      <p:sp>
        <p:nvSpPr>
          <p:cNvPr id="20" name="diagram-61">
            <a:extLst xmlns:a="http://schemas.openxmlformats.org/drawingml/2006/main">
              <a:ext uri="{FF2B5EF4-FFF2-40B4-BE49-F238E27FC236}">
                <a16:creationId xmlns:a16="http://schemas.microsoft.com/office/drawing/2014/main" id="{7362D8AF-6B8C-4934-8BBC-F9E466F640EA}"/>
              </a:ext>
            </a:extLst>
          </p:cNvPr>
          <p:cNvSpPr>
            <a:spLocks xmlns:a="http://schemas.openxmlformats.org/drawingml/2006/main" noGrp="1"/>
          </p:cNvSpPr>
          <p:nvPr/>
        </p:nvSpPr>
        <p:spPr>
          <a:xfrm xmlns:a="http://schemas.openxmlformats.org/drawingml/2006/main">
            <a:off x="9286875" y="223837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4FBA"/>
                </a:solidFill>
                <a:latin typeface="Tahoma"/>
                <a:ea typeface="Tahoma"/>
                <a:cs typeface="Tahoma"/>
              </a:defRPr>
            </a:pPr>
            <a:r>
              <a:rPr sz="1500" b="1">
                <a:solidFill>
                  <a:srgbClr val="174FBA"/>
                </a:solidFill>
                <a:latin typeface="Tahoma"/>
                <a:ea typeface="Tahoma"/>
                <a:cs typeface="Tahoma"/>
              </a:rPr>
              <a:t>Coordinator</a:t>
            </a:r>
          </a:p>
        </p:txBody>
      </p:sp>
      <p:sp>
        <p:nvSpPr>
          <p:cNvPr id="21" name="diagram-62">
            <a:extLst xmlns:a="http://schemas.openxmlformats.org/drawingml/2006/main">
              <a:ext uri="{FF2B5EF4-FFF2-40B4-BE49-F238E27FC236}">
                <a16:creationId xmlns:a16="http://schemas.microsoft.com/office/drawing/2014/main" id="{2D1B0A2D-7A17-4D33-9AC9-F1DEE5B6FF37}"/>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The coordinator checks missing details; the manager owns the business decision.</a:t>
            </a:r>
          </a:p>
        </p:txBody>
      </p:sp>
    </p:spTree>
    <p:extLst>
      <p:ext uri="{BB962C8B-B14F-4D97-AF65-F5344CB8AC3E}">
        <p14:creationId xmlns:p14="http://schemas.microsoft.com/office/powerpoint/2010/main" val="2016136859"/>
      </p:ext>
    </p:extLst>
  </p:cSld>
</p:sld>
</file>

<file path=ppt/slides/slide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diagram-63">
            <a:extLst xmlns:a="http://schemas.openxmlformats.org/drawingml/2006/main">
              <a:ext uri="{FF2B5EF4-FFF2-40B4-BE49-F238E27FC236}">
                <a16:creationId xmlns:a16="http://schemas.microsoft.com/office/drawing/2014/main" id="{5A36FEA9-D915-4225-B1CD-D85C1022713B}"/>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1 · PRACTICE 1</a:t>
            </a:r>
          </a:p>
        </p:txBody>
      </p:sp>
      <p:sp>
        <p:nvSpPr>
          <p:cNvPr id="2" name="diagram-64">
            <a:extLst xmlns:a="http://schemas.openxmlformats.org/drawingml/2006/main">
              <a:ext uri="{FF2B5EF4-FFF2-40B4-BE49-F238E27FC236}">
                <a16:creationId xmlns:a16="http://schemas.microsoft.com/office/drawing/2014/main" id="{8FFB8C57-89B2-424D-802A-EFCD8836B4C4}"/>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The A4 before-and-after canvas</a:t>
            </a:r>
          </a:p>
        </p:txBody>
      </p:sp>
      <p:sp>
        <p:nvSpPr>
          <p:cNvPr id="3" name="diagram-65">
            <a:extLst xmlns:a="http://schemas.openxmlformats.org/drawingml/2006/main">
              <a:ext uri="{FF2B5EF4-FFF2-40B4-BE49-F238E27FC236}">
                <a16:creationId xmlns:a16="http://schemas.microsoft.com/office/drawing/2014/main" id="{A86FB645-F958-47F7-BE51-7CEBF5391117}"/>
              </a:ext>
            </a:extLst>
          </p:cNvPr>
          <p:cNvSpPr>
            <a:spLocks xmlns:a="http://schemas.openxmlformats.org/drawingml/2006/main" noGrp="1"/>
          </p:cNvSpPr>
          <p:nvPr/>
        </p:nvSpPr>
        <p:spPr>
          <a:xfrm xmlns:a="http://schemas.openxmlformats.org/drawingml/2006/main">
            <a:off x="762000" y="2095500"/>
            <a:ext cx="10572750" cy="3333750"/>
          </a:xfrm>
          <a:prstGeom xmlns:a="http://schemas.openxmlformats.org/drawingml/2006/main" prst="rect">
            <a:avLst/>
          </a:prstGeom>
          <a:solidFill xmlns:a="http://schemas.openxmlformats.org/drawingml/2006/main">
            <a:srgbClr val="FFFFFF"/>
          </a:solidFill>
          <a:ln xmlns:a="http://schemas.openxmlformats.org/drawingml/2006/main" w="19050">
            <a:solidFill>
              <a:srgbClr val="174FBA"/>
            </a:solidFill>
          </a:ln>
        </p:spPr>
      </p:sp>
      <p:sp>
        <p:nvSpPr>
          <p:cNvPr id="4" name="diagram-66">
            <a:extLst xmlns:a="http://schemas.openxmlformats.org/drawingml/2006/main">
              <a:ext uri="{FF2B5EF4-FFF2-40B4-BE49-F238E27FC236}">
                <a16:creationId xmlns:a16="http://schemas.microsoft.com/office/drawing/2014/main" id="{DD5E4FBB-501F-455A-A116-81E1DE6AB5AD}"/>
              </a:ext>
            </a:extLst>
          </p:cNvPr>
          <p:cNvSpPr>
            <a:spLocks xmlns:a="http://schemas.openxmlformats.org/drawingml/2006/main" noGrp="1"/>
          </p:cNvSpPr>
          <p:nvPr/>
        </p:nvSpPr>
        <p:spPr>
          <a:xfrm xmlns:a="http://schemas.openxmlformats.org/drawingml/2006/main">
            <a:off x="6048375" y="2095500"/>
            <a:ext cx="19050" cy="33337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67">
            <a:extLst xmlns:a="http://schemas.openxmlformats.org/drawingml/2006/main">
              <a:ext uri="{FF2B5EF4-FFF2-40B4-BE49-F238E27FC236}">
                <a16:creationId xmlns:a16="http://schemas.microsoft.com/office/drawing/2014/main" id="{F7636C4A-7E3E-4538-A054-0D008C4A8CD0}"/>
              </a:ext>
            </a:extLst>
          </p:cNvPr>
          <p:cNvSpPr>
            <a:spLocks xmlns:a="http://schemas.openxmlformats.org/drawingml/2006/main" noGrp="1"/>
          </p:cNvSpPr>
          <p:nvPr/>
        </p:nvSpPr>
        <p:spPr>
          <a:xfrm xmlns:a="http://schemas.openxmlformats.org/drawingml/2006/main">
            <a:off x="762000" y="3762375"/>
            <a:ext cx="10572750" cy="19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6" name="diagram-68">
            <a:extLst xmlns:a="http://schemas.openxmlformats.org/drawingml/2006/main">
              <a:ext uri="{FF2B5EF4-FFF2-40B4-BE49-F238E27FC236}">
                <a16:creationId xmlns:a16="http://schemas.microsoft.com/office/drawing/2014/main" id="{7D54D954-DE74-4F19-8714-A153BA352081}"/>
              </a:ext>
            </a:extLst>
          </p:cNvPr>
          <p:cNvSpPr>
            <a:spLocks xmlns:a="http://schemas.openxmlformats.org/drawingml/2006/main" noGrp="1"/>
          </p:cNvSpPr>
          <p:nvPr/>
        </p:nvSpPr>
        <p:spPr>
          <a:xfrm xmlns:a="http://schemas.openxmlformats.org/drawingml/2006/main">
            <a:off x="1000125" y="2333625"/>
            <a:ext cx="4619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02D50"/>
                </a:solidFill>
                <a:latin typeface="Tahoma"/>
                <a:ea typeface="Tahoma"/>
                <a:cs typeface="Tahoma"/>
              </a:defRPr>
            </a:pPr>
            <a:r>
              <a:rPr sz="2025" b="1">
                <a:solidFill>
                  <a:srgbClr val="102D50"/>
                </a:solidFill>
                <a:latin typeface="Tahoma"/>
                <a:ea typeface="Tahoma"/>
                <a:cs typeface="Tahoma"/>
              </a:rPr>
              <a:t>Current repeated step</a:t>
            </a:r>
          </a:p>
        </p:txBody>
      </p:sp>
      <p:sp>
        <p:nvSpPr>
          <p:cNvPr id="7" name="diagram-69">
            <a:extLst xmlns:a="http://schemas.openxmlformats.org/drawingml/2006/main">
              <a:ext uri="{FF2B5EF4-FFF2-40B4-BE49-F238E27FC236}">
                <a16:creationId xmlns:a16="http://schemas.microsoft.com/office/drawing/2014/main" id="{F9FEA2EF-EE6F-478E-9560-7E01BD7A8E24}"/>
              </a:ext>
            </a:extLst>
          </p:cNvPr>
          <p:cNvSpPr>
            <a:spLocks xmlns:a="http://schemas.openxmlformats.org/drawingml/2006/main" noGrp="1"/>
          </p:cNvSpPr>
          <p:nvPr/>
        </p:nvSpPr>
        <p:spPr>
          <a:xfrm xmlns:a="http://schemas.openxmlformats.org/drawingml/2006/main">
            <a:off x="6286500" y="2333625"/>
            <a:ext cx="4619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4FBA"/>
                </a:solidFill>
                <a:latin typeface="Tahoma"/>
                <a:ea typeface="Tahoma"/>
                <a:cs typeface="Tahoma"/>
              </a:defRPr>
            </a:pPr>
            <a:r>
              <a:rPr sz="2025" b="1">
                <a:solidFill>
                  <a:srgbClr val="174FBA"/>
                </a:solidFill>
                <a:latin typeface="Tahoma"/>
                <a:ea typeface="Tahoma"/>
                <a:cs typeface="Tahoma"/>
              </a:rPr>
              <a:t>System could support</a:t>
            </a:r>
          </a:p>
        </p:txBody>
      </p:sp>
      <p:sp>
        <p:nvSpPr>
          <p:cNvPr id="8" name="diagram-70">
            <a:extLst xmlns:a="http://schemas.openxmlformats.org/drawingml/2006/main">
              <a:ext uri="{FF2B5EF4-FFF2-40B4-BE49-F238E27FC236}">
                <a16:creationId xmlns:a16="http://schemas.microsoft.com/office/drawing/2014/main" id="{33D37AD2-9E18-4E2C-86DC-C8770BD88A1C}"/>
              </a:ext>
            </a:extLst>
          </p:cNvPr>
          <p:cNvSpPr>
            <a:spLocks xmlns:a="http://schemas.openxmlformats.org/drawingml/2006/main" noGrp="1"/>
          </p:cNvSpPr>
          <p:nvPr/>
        </p:nvSpPr>
        <p:spPr>
          <a:xfrm xmlns:a="http://schemas.openxmlformats.org/drawingml/2006/main">
            <a:off x="1000125" y="4000500"/>
            <a:ext cx="4619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02D50"/>
                </a:solidFill>
                <a:latin typeface="Tahoma"/>
                <a:ea typeface="Tahoma"/>
                <a:cs typeface="Tahoma"/>
              </a:defRPr>
            </a:pPr>
            <a:r>
              <a:rPr sz="2025" b="1">
                <a:solidFill>
                  <a:srgbClr val="102D50"/>
                </a:solidFill>
                <a:latin typeface="Tahoma"/>
                <a:ea typeface="Tahoma"/>
                <a:cs typeface="Tahoma"/>
              </a:rPr>
              <a:t>Human decision</a:t>
            </a:r>
          </a:p>
        </p:txBody>
      </p:sp>
      <p:sp>
        <p:nvSpPr>
          <p:cNvPr id="9" name="diagram-71">
            <a:extLst xmlns:a="http://schemas.openxmlformats.org/drawingml/2006/main">
              <a:ext uri="{FF2B5EF4-FFF2-40B4-BE49-F238E27FC236}">
                <a16:creationId xmlns:a16="http://schemas.microsoft.com/office/drawing/2014/main" id="{B3BE34D5-6256-4E06-AF05-62625A233056}"/>
              </a:ext>
            </a:extLst>
          </p:cNvPr>
          <p:cNvSpPr>
            <a:spLocks xmlns:a="http://schemas.openxmlformats.org/drawingml/2006/main" noGrp="1"/>
          </p:cNvSpPr>
          <p:nvPr/>
        </p:nvSpPr>
        <p:spPr>
          <a:xfrm xmlns:a="http://schemas.openxmlformats.org/drawingml/2006/main">
            <a:off x="6286500" y="4000500"/>
            <a:ext cx="4619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B76D13"/>
                </a:solidFill>
                <a:latin typeface="Tahoma"/>
                <a:ea typeface="Tahoma"/>
                <a:cs typeface="Tahoma"/>
              </a:defRPr>
            </a:pPr>
            <a:r>
              <a:rPr sz="2025" b="1">
                <a:solidFill>
                  <a:srgbClr val="B76D13"/>
                </a:solidFill>
                <a:latin typeface="Tahoma"/>
                <a:ea typeface="Tahoma"/>
                <a:cs typeface="Tahoma"/>
              </a:rPr>
              <a:t>Check before trial</a:t>
            </a:r>
          </a:p>
        </p:txBody>
      </p:sp>
      <p:sp>
        <p:nvSpPr>
          <p:cNvPr id="10" name="diagram-72">
            <a:extLst xmlns:a="http://schemas.openxmlformats.org/drawingml/2006/main">
              <a:ext uri="{FF2B5EF4-FFF2-40B4-BE49-F238E27FC236}">
                <a16:creationId xmlns:a16="http://schemas.microsoft.com/office/drawing/2014/main" id="{D3861449-39AD-4ED3-8BC6-D33663A973D4}"/>
              </a:ext>
            </a:extLst>
          </p:cNvPr>
          <p:cNvSpPr>
            <a:spLocks xmlns:a="http://schemas.openxmlformats.org/drawingml/2006/main" noGrp="1"/>
          </p:cNvSpPr>
          <p:nvPr/>
        </p:nvSpPr>
        <p:spPr>
          <a:xfrm xmlns:a="http://schemas.openxmlformats.org/drawingml/2006/main">
            <a:off x="1000125" y="561975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B80"/>
                </a:solidFill>
                <a:latin typeface="Tahoma"/>
                <a:ea typeface="Tahoma"/>
                <a:cs typeface="Tahoma"/>
              </a:defRPr>
            </a:pPr>
            <a:r>
              <a:rPr sz="1875" b="0">
                <a:solidFill>
                  <a:srgbClr val="536B80"/>
                </a:solidFill>
                <a:latin typeface="Tahoma"/>
                <a:ea typeface="Tahoma"/>
                <a:cs typeface="Tahoma"/>
              </a:rPr>
              <a:t>Expected benefit: ____________________________________</a:t>
            </a:r>
          </a:p>
        </p:txBody>
      </p:sp>
    </p:spTree>
    <p:extLst>
      <p:ext uri="{BB962C8B-B14F-4D97-AF65-F5344CB8AC3E}">
        <p14:creationId xmlns:p14="http://schemas.microsoft.com/office/powerpoint/2010/main" val="1909125303"/>
      </p:ext>
    </p:extLst>
  </p:cSld>
</p:sld>
</file>

<file path=ppt/slides/slide1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2" name="diagram-73">
            <a:extLst xmlns:a="http://schemas.openxmlformats.org/drawingml/2006/main">
              <a:ext uri="{FF2B5EF4-FFF2-40B4-BE49-F238E27FC236}">
                <a16:creationId xmlns:a16="http://schemas.microsoft.com/office/drawing/2014/main" id="{7F56FC28-6AF5-4ABF-A0D3-30C3B74E58F3}"/>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1 · PRACTICE 2</a:t>
            </a:r>
          </a:p>
        </p:txBody>
      </p:sp>
      <p:sp>
        <p:nvSpPr>
          <p:cNvPr id="2" name="diagram-74">
            <a:extLst xmlns:a="http://schemas.openxmlformats.org/drawingml/2006/main">
              <a:ext uri="{FF2B5EF4-FFF2-40B4-BE49-F238E27FC236}">
                <a16:creationId xmlns:a16="http://schemas.microsoft.com/office/drawing/2014/main" id="{53ACEE91-8ECF-4C2C-9718-DE41A8D83B53}"/>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Scenario prompts A–C</a:t>
            </a:r>
          </a:p>
        </p:txBody>
      </p:sp>
      <p:sp>
        <p:nvSpPr>
          <p:cNvPr id="3" name="diagram-75">
            <a:extLst xmlns:a="http://schemas.openxmlformats.org/drawingml/2006/main">
              <a:ext uri="{FF2B5EF4-FFF2-40B4-BE49-F238E27FC236}">
                <a16:creationId xmlns:a16="http://schemas.microsoft.com/office/drawing/2014/main" id="{AEABF875-5EA1-4CC8-8EA3-8140A884217B}"/>
              </a:ext>
            </a:extLst>
          </p:cNvPr>
          <p:cNvSpPr>
            <a:spLocks xmlns:a="http://schemas.openxmlformats.org/drawingml/2006/main" noGrp="1"/>
          </p:cNvSpPr>
          <p:nvPr/>
        </p:nvSpPr>
        <p:spPr>
          <a:xfrm xmlns:a="http://schemas.openxmlformats.org/drawingml/2006/main">
            <a:off x="809625" y="2095500"/>
            <a:ext cx="61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A</a:t>
            </a:r>
          </a:p>
        </p:txBody>
      </p:sp>
      <p:sp>
        <p:nvSpPr>
          <p:cNvPr id="4" name="diagram-76">
            <a:extLst xmlns:a="http://schemas.openxmlformats.org/drawingml/2006/main">
              <a:ext uri="{FF2B5EF4-FFF2-40B4-BE49-F238E27FC236}">
                <a16:creationId xmlns:a16="http://schemas.microsoft.com/office/drawing/2014/main" id="{C15CF332-752C-4907-9E54-A1420F103297}"/>
              </a:ext>
            </a:extLst>
          </p:cNvPr>
          <p:cNvSpPr>
            <a:spLocks xmlns:a="http://schemas.openxmlformats.org/drawingml/2006/main" noGrp="1"/>
          </p:cNvSpPr>
          <p:nvPr/>
        </p:nvSpPr>
        <p:spPr>
          <a:xfrm xmlns:a="http://schemas.openxmlformats.org/drawingml/2006/main">
            <a:off x="1571625" y="2095500"/>
            <a:ext cx="9525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D50"/>
                </a:solidFill>
                <a:latin typeface="Tahoma"/>
                <a:ea typeface="Tahoma"/>
                <a:cs typeface="Tahoma"/>
              </a:defRPr>
            </a:pPr>
            <a:r>
              <a:rPr sz="2100" b="0">
                <a:solidFill>
                  <a:srgbClr val="102D50"/>
                </a:solidFill>
                <a:latin typeface="Tahoma"/>
                <a:ea typeface="Tahoma"/>
                <a:cs typeface="Tahoma"/>
              </a:rPr>
              <a:t>Notify on arrival through an authorised connection</a:t>
            </a:r>
          </a:p>
        </p:txBody>
      </p:sp>
      <p:sp>
        <p:nvSpPr>
          <p:cNvPr id="5" name="diagram-77">
            <a:extLst xmlns:a="http://schemas.openxmlformats.org/drawingml/2006/main">
              <a:ext uri="{FF2B5EF4-FFF2-40B4-BE49-F238E27FC236}">
                <a16:creationId xmlns:a16="http://schemas.microsoft.com/office/drawing/2014/main" id="{615D6ED2-F21E-4FCE-936B-838E784D08AF}"/>
              </a:ext>
            </a:extLst>
          </p:cNvPr>
          <p:cNvSpPr>
            <a:spLocks xmlns:a="http://schemas.openxmlformats.org/drawingml/2006/main" noGrp="1"/>
          </p:cNvSpPr>
          <p:nvPr/>
        </p:nvSpPr>
        <p:spPr>
          <a:xfrm xmlns:a="http://schemas.openxmlformats.org/drawingml/2006/main">
            <a:off x="1571625" y="2971800"/>
            <a:ext cx="9525000" cy="19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6" name="diagram-78">
            <a:extLst xmlns:a="http://schemas.openxmlformats.org/drawingml/2006/main">
              <a:ext uri="{FF2B5EF4-FFF2-40B4-BE49-F238E27FC236}">
                <a16:creationId xmlns:a16="http://schemas.microsoft.com/office/drawing/2014/main" id="{5E7CFD97-0D62-408E-B57B-1300CB8D2CE9}"/>
              </a:ext>
            </a:extLst>
          </p:cNvPr>
          <p:cNvSpPr>
            <a:spLocks xmlns:a="http://schemas.openxmlformats.org/drawingml/2006/main" noGrp="1"/>
          </p:cNvSpPr>
          <p:nvPr/>
        </p:nvSpPr>
        <p:spPr>
          <a:xfrm xmlns:a="http://schemas.openxmlformats.org/drawingml/2006/main">
            <a:off x="809625" y="3219450"/>
            <a:ext cx="61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B76D13"/>
                </a:solidFill>
                <a:latin typeface="Tahoma"/>
                <a:ea typeface="Tahoma"/>
                <a:cs typeface="Tahoma"/>
              </a:defRPr>
            </a:pPr>
            <a:r>
              <a:rPr sz="3000" b="1">
                <a:solidFill>
                  <a:srgbClr val="B76D13"/>
                </a:solidFill>
                <a:latin typeface="Tahoma"/>
                <a:ea typeface="Tahoma"/>
                <a:cs typeface="Tahoma"/>
              </a:rPr>
              <a:t>B</a:t>
            </a:r>
          </a:p>
        </p:txBody>
      </p:sp>
      <p:sp>
        <p:nvSpPr>
          <p:cNvPr id="7" name="diagram-79">
            <a:extLst xmlns:a="http://schemas.openxmlformats.org/drawingml/2006/main">
              <a:ext uri="{FF2B5EF4-FFF2-40B4-BE49-F238E27FC236}">
                <a16:creationId xmlns:a16="http://schemas.microsoft.com/office/drawing/2014/main" id="{3DCF37CF-5151-46E4-8C2D-9645A2F5F701}"/>
              </a:ext>
            </a:extLst>
          </p:cNvPr>
          <p:cNvSpPr>
            <a:spLocks xmlns:a="http://schemas.openxmlformats.org/drawingml/2006/main" noGrp="1"/>
          </p:cNvSpPr>
          <p:nvPr/>
        </p:nvSpPr>
        <p:spPr>
          <a:xfrm xmlns:a="http://schemas.openxmlformats.org/drawingml/2006/main">
            <a:off x="1571625" y="3219450"/>
            <a:ext cx="9525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02D50"/>
                </a:solidFill>
                <a:latin typeface="Tahoma"/>
                <a:ea typeface="Tahoma"/>
                <a:cs typeface="Tahoma"/>
              </a:defRPr>
            </a:pPr>
            <a:r>
              <a:rPr sz="2100" b="1">
                <a:solidFill>
                  <a:srgbClr val="102D50"/>
                </a:solidFill>
                <a:latin typeface="Tahoma"/>
                <a:ea typeface="Tahoma"/>
                <a:cs typeface="Tahoma"/>
              </a:rPr>
              <a:t>Decide suitability where exceptions have no fixed rules</a:t>
            </a:r>
          </a:p>
        </p:txBody>
      </p:sp>
      <p:sp>
        <p:nvSpPr>
          <p:cNvPr id="8" name="diagram-80">
            <a:extLst xmlns:a="http://schemas.openxmlformats.org/drawingml/2006/main">
              <a:ext uri="{FF2B5EF4-FFF2-40B4-BE49-F238E27FC236}">
                <a16:creationId xmlns:a16="http://schemas.microsoft.com/office/drawing/2014/main" id="{F19240D4-6297-461B-BBC2-6518059B8F6F}"/>
              </a:ext>
            </a:extLst>
          </p:cNvPr>
          <p:cNvSpPr>
            <a:spLocks xmlns:a="http://schemas.openxmlformats.org/drawingml/2006/main" noGrp="1"/>
          </p:cNvSpPr>
          <p:nvPr/>
        </p:nvSpPr>
        <p:spPr>
          <a:xfrm xmlns:a="http://schemas.openxmlformats.org/drawingml/2006/main">
            <a:off x="1571625" y="4095750"/>
            <a:ext cx="9525000" cy="19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9" name="diagram-81">
            <a:extLst xmlns:a="http://schemas.openxmlformats.org/drawingml/2006/main">
              <a:ext uri="{FF2B5EF4-FFF2-40B4-BE49-F238E27FC236}">
                <a16:creationId xmlns:a16="http://schemas.microsoft.com/office/drawing/2014/main" id="{F81EB7F4-5DFB-4DB5-88EE-113D6F408F47}"/>
              </a:ext>
            </a:extLst>
          </p:cNvPr>
          <p:cNvSpPr>
            <a:spLocks xmlns:a="http://schemas.openxmlformats.org/drawingml/2006/main" noGrp="1"/>
          </p:cNvSpPr>
          <p:nvPr/>
        </p:nvSpPr>
        <p:spPr>
          <a:xfrm xmlns:a="http://schemas.openxmlformats.org/drawingml/2006/main">
            <a:off x="809625" y="4343400"/>
            <a:ext cx="61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C</a:t>
            </a:r>
          </a:p>
        </p:txBody>
      </p:sp>
      <p:sp>
        <p:nvSpPr>
          <p:cNvPr id="10" name="diagram-82">
            <a:extLst xmlns:a="http://schemas.openxmlformats.org/drawingml/2006/main">
              <a:ext uri="{FF2B5EF4-FFF2-40B4-BE49-F238E27FC236}">
                <a16:creationId xmlns:a16="http://schemas.microsoft.com/office/drawing/2014/main" id="{E3396AA5-6D60-4901-B585-0AC4570CE9F6}"/>
              </a:ext>
            </a:extLst>
          </p:cNvPr>
          <p:cNvSpPr>
            <a:spLocks xmlns:a="http://schemas.openxmlformats.org/drawingml/2006/main" noGrp="1"/>
          </p:cNvSpPr>
          <p:nvPr/>
        </p:nvSpPr>
        <p:spPr>
          <a:xfrm xmlns:a="http://schemas.openxmlformats.org/drawingml/2006/main">
            <a:off x="1571625" y="4343400"/>
            <a:ext cx="9525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D50"/>
                </a:solidFill>
                <a:latin typeface="Tahoma"/>
                <a:ea typeface="Tahoma"/>
                <a:cs typeface="Tahoma"/>
              </a:defRPr>
            </a:pPr>
            <a:r>
              <a:rPr sz="2100" b="0">
                <a:solidFill>
                  <a:srgbClr val="102D50"/>
                </a:solidFill>
                <a:latin typeface="Tahoma"/>
                <a:ea typeface="Tahoma"/>
                <a:cs typeface="Tahoma"/>
              </a:rPr>
              <a:t>Request a missing date using an agreed rule</a:t>
            </a:r>
          </a:p>
        </p:txBody>
      </p:sp>
      <p:sp>
        <p:nvSpPr>
          <p:cNvPr id="11" name="diagram-83">
            <a:extLst xmlns:a="http://schemas.openxmlformats.org/drawingml/2006/main">
              <a:ext uri="{FF2B5EF4-FFF2-40B4-BE49-F238E27FC236}">
                <a16:creationId xmlns:a16="http://schemas.microsoft.com/office/drawing/2014/main" id="{51CCB2A7-E062-402A-A6FD-6548549062A1}"/>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Write one sticky note per letter. Place it in a flipchart column and add a reason.</a:t>
            </a:r>
          </a:p>
        </p:txBody>
      </p:sp>
    </p:spTree>
    <p:extLst>
      <p:ext uri="{BB962C8B-B14F-4D97-AF65-F5344CB8AC3E}">
        <p14:creationId xmlns:p14="http://schemas.microsoft.com/office/powerpoint/2010/main" val="478143787"/>
      </p:ext>
    </p:extLst>
  </p:cSld>
</p:sld>
</file>

<file path=ppt/slides/slide1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2" name="diagram-84">
            <a:extLst xmlns:a="http://schemas.openxmlformats.org/drawingml/2006/main">
              <a:ext uri="{FF2B5EF4-FFF2-40B4-BE49-F238E27FC236}">
                <a16:creationId xmlns:a16="http://schemas.microsoft.com/office/drawing/2014/main" id="{6F54E50C-5851-4DBB-949A-AB2D013A2C7C}"/>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1 · PRACTICE 2</a:t>
            </a:r>
          </a:p>
        </p:txBody>
      </p:sp>
      <p:sp>
        <p:nvSpPr>
          <p:cNvPr id="2" name="diagram-85">
            <a:extLst xmlns:a="http://schemas.openxmlformats.org/drawingml/2006/main">
              <a:ext uri="{FF2B5EF4-FFF2-40B4-BE49-F238E27FC236}">
                <a16:creationId xmlns:a16="http://schemas.microsoft.com/office/drawing/2014/main" id="{A17D614C-B66C-4E0E-BE52-970FB94E91EB}"/>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Scenario prompts D–F</a:t>
            </a:r>
          </a:p>
        </p:txBody>
      </p:sp>
      <p:sp>
        <p:nvSpPr>
          <p:cNvPr id="3" name="diagram-86">
            <a:extLst xmlns:a="http://schemas.openxmlformats.org/drawingml/2006/main">
              <a:ext uri="{FF2B5EF4-FFF2-40B4-BE49-F238E27FC236}">
                <a16:creationId xmlns:a16="http://schemas.microsoft.com/office/drawing/2014/main" id="{6FB330E3-BBF9-47D7-959D-730949F26FD7}"/>
              </a:ext>
            </a:extLst>
          </p:cNvPr>
          <p:cNvSpPr>
            <a:spLocks xmlns:a="http://schemas.openxmlformats.org/drawingml/2006/main" noGrp="1"/>
          </p:cNvSpPr>
          <p:nvPr/>
        </p:nvSpPr>
        <p:spPr>
          <a:xfrm xmlns:a="http://schemas.openxmlformats.org/drawingml/2006/main">
            <a:off x="809625" y="2095500"/>
            <a:ext cx="61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D</a:t>
            </a:r>
          </a:p>
        </p:txBody>
      </p:sp>
      <p:sp>
        <p:nvSpPr>
          <p:cNvPr id="4" name="diagram-87">
            <a:extLst xmlns:a="http://schemas.openxmlformats.org/drawingml/2006/main">
              <a:ext uri="{FF2B5EF4-FFF2-40B4-BE49-F238E27FC236}">
                <a16:creationId xmlns:a16="http://schemas.microsoft.com/office/drawing/2014/main" id="{2F036C5E-5867-40F3-8270-15B30049612C}"/>
              </a:ext>
            </a:extLst>
          </p:cNvPr>
          <p:cNvSpPr>
            <a:spLocks xmlns:a="http://schemas.openxmlformats.org/drawingml/2006/main" noGrp="1"/>
          </p:cNvSpPr>
          <p:nvPr/>
        </p:nvSpPr>
        <p:spPr>
          <a:xfrm xmlns:a="http://schemas.openxmlformats.org/drawingml/2006/main">
            <a:off x="1571625" y="2095500"/>
            <a:ext cx="9525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D50"/>
                </a:solidFill>
                <a:latin typeface="Tahoma"/>
                <a:ea typeface="Tahoma"/>
                <a:cs typeface="Tahoma"/>
              </a:defRPr>
            </a:pPr>
            <a:r>
              <a:rPr sz="2100" b="0">
                <a:solidFill>
                  <a:srgbClr val="102D50"/>
                </a:solidFill>
                <a:latin typeface="Tahoma"/>
                <a:ea typeface="Tahoma"/>
                <a:cs typeface="Tahoma"/>
              </a:rPr>
              <a:t>Connect a system when access is unknown</a:t>
            </a:r>
          </a:p>
        </p:txBody>
      </p:sp>
      <p:sp>
        <p:nvSpPr>
          <p:cNvPr id="5" name="diagram-88">
            <a:extLst xmlns:a="http://schemas.openxmlformats.org/drawingml/2006/main">
              <a:ext uri="{FF2B5EF4-FFF2-40B4-BE49-F238E27FC236}">
                <a16:creationId xmlns:a16="http://schemas.microsoft.com/office/drawing/2014/main" id="{DAD440F9-2138-4D7D-B09F-190E98E2CB00}"/>
              </a:ext>
            </a:extLst>
          </p:cNvPr>
          <p:cNvSpPr>
            <a:spLocks xmlns:a="http://schemas.openxmlformats.org/drawingml/2006/main" noGrp="1"/>
          </p:cNvSpPr>
          <p:nvPr/>
        </p:nvSpPr>
        <p:spPr>
          <a:xfrm xmlns:a="http://schemas.openxmlformats.org/drawingml/2006/main">
            <a:off x="1571625" y="2971800"/>
            <a:ext cx="9525000" cy="19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6" name="diagram-89">
            <a:extLst xmlns:a="http://schemas.openxmlformats.org/drawingml/2006/main">
              <a:ext uri="{FF2B5EF4-FFF2-40B4-BE49-F238E27FC236}">
                <a16:creationId xmlns:a16="http://schemas.microsoft.com/office/drawing/2014/main" id="{A51C4290-0122-4F3F-AE45-18B0647E488C}"/>
              </a:ext>
            </a:extLst>
          </p:cNvPr>
          <p:cNvSpPr>
            <a:spLocks xmlns:a="http://schemas.openxmlformats.org/drawingml/2006/main" noGrp="1"/>
          </p:cNvSpPr>
          <p:nvPr/>
        </p:nvSpPr>
        <p:spPr>
          <a:xfrm xmlns:a="http://schemas.openxmlformats.org/drawingml/2006/main">
            <a:off x="809625" y="3219450"/>
            <a:ext cx="61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B76D13"/>
                </a:solidFill>
                <a:latin typeface="Tahoma"/>
                <a:ea typeface="Tahoma"/>
                <a:cs typeface="Tahoma"/>
              </a:defRPr>
            </a:pPr>
            <a:r>
              <a:rPr sz="3000" b="1">
                <a:solidFill>
                  <a:srgbClr val="B76D13"/>
                </a:solidFill>
                <a:latin typeface="Tahoma"/>
                <a:ea typeface="Tahoma"/>
                <a:cs typeface="Tahoma"/>
              </a:rPr>
              <a:t>E</a:t>
            </a:r>
          </a:p>
        </p:txBody>
      </p:sp>
      <p:sp>
        <p:nvSpPr>
          <p:cNvPr id="7" name="diagram-90">
            <a:extLst xmlns:a="http://schemas.openxmlformats.org/drawingml/2006/main">
              <a:ext uri="{FF2B5EF4-FFF2-40B4-BE49-F238E27FC236}">
                <a16:creationId xmlns:a16="http://schemas.microsoft.com/office/drawing/2014/main" id="{B475B846-792A-47EA-B091-7F65173F45CD}"/>
              </a:ext>
            </a:extLst>
          </p:cNvPr>
          <p:cNvSpPr>
            <a:spLocks xmlns:a="http://schemas.openxmlformats.org/drawingml/2006/main" noGrp="1"/>
          </p:cNvSpPr>
          <p:nvPr/>
        </p:nvSpPr>
        <p:spPr>
          <a:xfrm xmlns:a="http://schemas.openxmlformats.org/drawingml/2006/main">
            <a:off x="1571625" y="3219450"/>
            <a:ext cx="9525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02D50"/>
                </a:solidFill>
                <a:latin typeface="Tahoma"/>
                <a:ea typeface="Tahoma"/>
                <a:cs typeface="Tahoma"/>
              </a:defRPr>
            </a:pPr>
            <a:r>
              <a:rPr sz="2100" b="1">
                <a:solidFill>
                  <a:srgbClr val="102D50"/>
                </a:solidFill>
                <a:latin typeface="Tahoma"/>
                <a:ea typeface="Tahoma"/>
                <a:cs typeface="Tahoma"/>
              </a:rPr>
              <a:t>Remind an agreed recipient at an agreed time</a:t>
            </a:r>
          </a:p>
        </p:txBody>
      </p:sp>
      <p:sp>
        <p:nvSpPr>
          <p:cNvPr id="8" name="diagram-91">
            <a:extLst xmlns:a="http://schemas.openxmlformats.org/drawingml/2006/main">
              <a:ext uri="{FF2B5EF4-FFF2-40B4-BE49-F238E27FC236}">
                <a16:creationId xmlns:a16="http://schemas.microsoft.com/office/drawing/2014/main" id="{277D1497-4DD7-4AA2-B17D-09FE96EC94B2}"/>
              </a:ext>
            </a:extLst>
          </p:cNvPr>
          <p:cNvSpPr>
            <a:spLocks xmlns:a="http://schemas.openxmlformats.org/drawingml/2006/main" noGrp="1"/>
          </p:cNvSpPr>
          <p:nvPr/>
        </p:nvSpPr>
        <p:spPr>
          <a:xfrm xmlns:a="http://schemas.openxmlformats.org/drawingml/2006/main">
            <a:off x="1571625" y="4095750"/>
            <a:ext cx="9525000" cy="19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9" name="diagram-92">
            <a:extLst xmlns:a="http://schemas.openxmlformats.org/drawingml/2006/main">
              <a:ext uri="{FF2B5EF4-FFF2-40B4-BE49-F238E27FC236}">
                <a16:creationId xmlns:a16="http://schemas.microsoft.com/office/drawing/2014/main" id="{96927E2F-65AD-4AAC-B4B7-39D60CE8EA19}"/>
              </a:ext>
            </a:extLst>
          </p:cNvPr>
          <p:cNvSpPr>
            <a:spLocks xmlns:a="http://schemas.openxmlformats.org/drawingml/2006/main" noGrp="1"/>
          </p:cNvSpPr>
          <p:nvPr/>
        </p:nvSpPr>
        <p:spPr>
          <a:xfrm xmlns:a="http://schemas.openxmlformats.org/drawingml/2006/main">
            <a:off x="809625" y="4343400"/>
            <a:ext cx="619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F</a:t>
            </a:r>
          </a:p>
        </p:txBody>
      </p:sp>
      <p:sp>
        <p:nvSpPr>
          <p:cNvPr id="10" name="diagram-93">
            <a:extLst xmlns:a="http://schemas.openxmlformats.org/drawingml/2006/main">
              <a:ext uri="{FF2B5EF4-FFF2-40B4-BE49-F238E27FC236}">
                <a16:creationId xmlns:a16="http://schemas.microsoft.com/office/drawing/2014/main" id="{B6824F1B-8C9B-4A6B-9CAF-75FB7DA74579}"/>
              </a:ext>
            </a:extLst>
          </p:cNvPr>
          <p:cNvSpPr>
            <a:spLocks xmlns:a="http://schemas.openxmlformats.org/drawingml/2006/main" noGrp="1"/>
          </p:cNvSpPr>
          <p:nvPr/>
        </p:nvSpPr>
        <p:spPr>
          <a:xfrm xmlns:a="http://schemas.openxmlformats.org/drawingml/2006/main">
            <a:off x="1571625" y="4343400"/>
            <a:ext cx="9525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D50"/>
                </a:solidFill>
                <a:latin typeface="Tahoma"/>
                <a:ea typeface="Tahoma"/>
                <a:cs typeface="Tahoma"/>
              </a:defRPr>
            </a:pPr>
            <a:r>
              <a:rPr sz="2100" b="0">
                <a:solidFill>
                  <a:srgbClr val="102D50"/>
                </a:solidFill>
                <a:latin typeface="Tahoma"/>
                <a:ea typeface="Tahoma"/>
                <a:cs typeface="Tahoma"/>
              </a:rPr>
              <a:t>Say approved before the manager decides</a:t>
            </a:r>
          </a:p>
        </p:txBody>
      </p:sp>
      <p:sp>
        <p:nvSpPr>
          <p:cNvPr id="11" name="diagram-94">
            <a:extLst xmlns:a="http://schemas.openxmlformats.org/drawingml/2006/main">
              <a:ext uri="{FF2B5EF4-FFF2-40B4-BE49-F238E27FC236}">
                <a16:creationId xmlns:a16="http://schemas.microsoft.com/office/drawing/2014/main" id="{0394B6BB-17D0-4F16-8A41-6ABA3AF26D67}"/>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Write one sticky note per letter. Place it in a flipchart column and add a reason.</a:t>
            </a:r>
          </a:p>
        </p:txBody>
      </p:sp>
    </p:spTree>
    <p:extLst>
      <p:ext uri="{BB962C8B-B14F-4D97-AF65-F5344CB8AC3E}">
        <p14:creationId xmlns:p14="http://schemas.microsoft.com/office/powerpoint/2010/main" val="612558994"/>
      </p:ext>
    </p:extLst>
  </p:cSld>
</p:sld>
</file>

<file path=ppt/slides/slide1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8" name="diagram-95">
            <a:extLst xmlns:a="http://schemas.openxmlformats.org/drawingml/2006/main">
              <a:ext uri="{FF2B5EF4-FFF2-40B4-BE49-F238E27FC236}">
                <a16:creationId xmlns:a16="http://schemas.microsoft.com/office/drawing/2014/main" id="{76D31A74-B75F-4911-B11C-8316F4D76CBB}"/>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Questions from the groups</a:t>
            </a:r>
          </a:p>
        </p:txBody>
      </p:sp>
      <p:sp>
        <p:nvSpPr>
          <p:cNvPr id="2" name="diagram-96">
            <a:extLst xmlns:a="http://schemas.openxmlformats.org/drawingml/2006/main">
              <a:ext uri="{FF2B5EF4-FFF2-40B4-BE49-F238E27FC236}">
                <a16:creationId xmlns:a16="http://schemas.microsoft.com/office/drawing/2014/main" id="{EACB7690-2D8C-4C7F-8CD3-A03A355A6D72}"/>
              </a:ext>
            </a:extLst>
          </p:cNvPr>
          <p:cNvSpPr>
            <a:spLocks xmlns:a="http://schemas.openxmlformats.org/drawingml/2006/main" noGrp="1"/>
          </p:cNvSpPr>
          <p:nvPr/>
        </p:nvSpPr>
        <p:spPr>
          <a:xfrm xmlns:a="http://schemas.openxmlformats.org/drawingml/2006/main">
            <a:off x="762000" y="23812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01</a:t>
            </a:r>
          </a:p>
        </p:txBody>
      </p:sp>
      <p:sp>
        <p:nvSpPr>
          <p:cNvPr id="3" name="diagram-97">
            <a:extLst xmlns:a="http://schemas.openxmlformats.org/drawingml/2006/main">
              <a:ext uri="{FF2B5EF4-FFF2-40B4-BE49-F238E27FC236}">
                <a16:creationId xmlns:a16="http://schemas.microsoft.com/office/drawing/2014/main" id="{63C0C4CB-5BD7-46DE-965A-1F3466FF964E}"/>
              </a:ext>
            </a:extLst>
          </p:cNvPr>
          <p:cNvSpPr>
            <a:spLocks xmlns:a="http://schemas.openxmlformats.org/drawingml/2006/main" noGrp="1"/>
          </p:cNvSpPr>
          <p:nvPr/>
        </p:nvSpPr>
        <p:spPr>
          <a:xfrm xmlns:a="http://schemas.openxmlformats.org/drawingml/2006/main">
            <a:off x="1905000" y="2419350"/>
            <a:ext cx="919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8324B"/>
                </a:solidFill>
                <a:latin typeface="Tahoma"/>
                <a:ea typeface="Tahoma"/>
                <a:cs typeface="Tahoma"/>
              </a:defRPr>
            </a:pPr>
            <a:r>
              <a:rPr sz="2325" b="0">
                <a:solidFill>
                  <a:srgbClr val="18324B"/>
                </a:solidFill>
                <a:latin typeface="Tahoma"/>
                <a:ea typeface="Tahoma"/>
                <a:cs typeface="Tahoma"/>
              </a:rPr>
              <a:t>What could the system support?</a:t>
            </a:r>
          </a:p>
        </p:txBody>
      </p:sp>
      <p:sp>
        <p:nvSpPr>
          <p:cNvPr id="4" name="diagram-98">
            <a:extLst xmlns:a="http://schemas.openxmlformats.org/drawingml/2006/main">
              <a:ext uri="{FF2B5EF4-FFF2-40B4-BE49-F238E27FC236}">
                <a16:creationId xmlns:a16="http://schemas.microsoft.com/office/drawing/2014/main" id="{BDFCD632-A331-4BFF-A102-AE58E9ED256A}"/>
              </a:ext>
            </a:extLst>
          </p:cNvPr>
          <p:cNvSpPr>
            <a:spLocks xmlns:a="http://schemas.openxmlformats.org/drawingml/2006/main" noGrp="1"/>
          </p:cNvSpPr>
          <p:nvPr/>
        </p:nvSpPr>
        <p:spPr>
          <a:xfrm xmlns:a="http://schemas.openxmlformats.org/drawingml/2006/main">
            <a:off x="762000" y="34290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02</a:t>
            </a:r>
          </a:p>
        </p:txBody>
      </p:sp>
      <p:sp>
        <p:nvSpPr>
          <p:cNvPr id="5" name="diagram-99">
            <a:extLst xmlns:a="http://schemas.openxmlformats.org/drawingml/2006/main">
              <a:ext uri="{FF2B5EF4-FFF2-40B4-BE49-F238E27FC236}">
                <a16:creationId xmlns:a16="http://schemas.microsoft.com/office/drawing/2014/main" id="{564466FE-1A96-4043-9D07-114C22A9792A}"/>
              </a:ext>
            </a:extLst>
          </p:cNvPr>
          <p:cNvSpPr>
            <a:spLocks xmlns:a="http://schemas.openxmlformats.org/drawingml/2006/main" noGrp="1"/>
          </p:cNvSpPr>
          <p:nvPr/>
        </p:nvSpPr>
        <p:spPr>
          <a:xfrm xmlns:a="http://schemas.openxmlformats.org/drawingml/2006/main">
            <a:off x="1905000" y="3467100"/>
            <a:ext cx="919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8324B"/>
                </a:solidFill>
                <a:latin typeface="Tahoma"/>
                <a:ea typeface="Tahoma"/>
                <a:cs typeface="Tahoma"/>
              </a:defRPr>
            </a:pPr>
            <a:r>
              <a:rPr sz="2325" b="0">
                <a:solidFill>
                  <a:srgbClr val="18324B"/>
                </a:solidFill>
                <a:latin typeface="Tahoma"/>
                <a:ea typeface="Tahoma"/>
                <a:cs typeface="Tahoma"/>
              </a:rPr>
              <a:t>Which rule or detail remains unclear?</a:t>
            </a:r>
          </a:p>
        </p:txBody>
      </p:sp>
      <p:sp>
        <p:nvSpPr>
          <p:cNvPr id="6" name="diagram-100">
            <a:extLst xmlns:a="http://schemas.openxmlformats.org/drawingml/2006/main">
              <a:ext uri="{FF2B5EF4-FFF2-40B4-BE49-F238E27FC236}">
                <a16:creationId xmlns:a16="http://schemas.microsoft.com/office/drawing/2014/main" id="{D7A78141-A157-45F2-9793-F644A4AF7786}"/>
              </a:ext>
            </a:extLst>
          </p:cNvPr>
          <p:cNvSpPr>
            <a:spLocks xmlns:a="http://schemas.openxmlformats.org/drawingml/2006/main" noGrp="1"/>
          </p:cNvSpPr>
          <p:nvPr/>
        </p:nvSpPr>
        <p:spPr>
          <a:xfrm xmlns:a="http://schemas.openxmlformats.org/drawingml/2006/main">
            <a:off x="762000" y="44767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03</a:t>
            </a:r>
          </a:p>
        </p:txBody>
      </p:sp>
      <p:sp>
        <p:nvSpPr>
          <p:cNvPr id="7" name="diagram-101">
            <a:extLst xmlns:a="http://schemas.openxmlformats.org/drawingml/2006/main">
              <a:ext uri="{FF2B5EF4-FFF2-40B4-BE49-F238E27FC236}">
                <a16:creationId xmlns:a16="http://schemas.microsoft.com/office/drawing/2014/main" id="{C635E38B-42F2-4B0F-9175-D818759513E2}"/>
              </a:ext>
            </a:extLst>
          </p:cNvPr>
          <p:cNvSpPr>
            <a:spLocks xmlns:a="http://schemas.openxmlformats.org/drawingml/2006/main" noGrp="1"/>
          </p:cNvSpPr>
          <p:nvPr/>
        </p:nvSpPr>
        <p:spPr>
          <a:xfrm xmlns:a="http://schemas.openxmlformats.org/drawingml/2006/main">
            <a:off x="1905000" y="4514850"/>
            <a:ext cx="919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8324B"/>
                </a:solidFill>
                <a:latin typeface="Tahoma"/>
                <a:ea typeface="Tahoma"/>
                <a:cs typeface="Tahoma"/>
              </a:defRPr>
            </a:pPr>
            <a:r>
              <a:rPr sz="2325" b="0">
                <a:solidFill>
                  <a:srgbClr val="18324B"/>
                </a:solidFill>
                <a:latin typeface="Tahoma"/>
                <a:ea typeface="Tahoma"/>
                <a:cs typeface="Tahoma"/>
              </a:rPr>
              <a:t>What must the process owner or IT confirm?</a:t>
            </a:r>
          </a:p>
        </p:txBody>
      </p:sp>
    </p:spTree>
    <p:extLst>
      <p:ext uri="{BB962C8B-B14F-4D97-AF65-F5344CB8AC3E}">
        <p14:creationId xmlns:p14="http://schemas.microsoft.com/office/powerpoint/2010/main" val="371837789"/>
      </p:ext>
    </p:extLst>
  </p:cSld>
</p:sld>
</file>

<file path=ppt/slides/slide13.xml><?xml version="1.0" encoding="utf-8"?>
<p:sld xmlns:p="http://schemas.openxmlformats.org/presentationml/2006/main">
  <p:cSld>
    <p:bg>
      <p:bgPr>
        <a:solidFill xmlns:a="http://schemas.openxmlformats.org/drawingml/2006/main">
          <a:srgbClr val="102D50"/>
        </a:solidFill>
      </p:bgPr>
    </p:bg>
    <p:spTree>
      <p:nvGrpSpPr>
        <p:cNvPr id="1" name=""/>
        <p:cNvGrpSpPr/>
        <p:nvPr/>
      </p:nvGrpSpPr>
      <p:grpSpPr>
        <a:xfrm xmlns:a="http://schemas.openxmlformats.org/drawingml/2006/main"/>
      </p:grpSpPr>
      <p:sp>
        <p:nvSpPr>
          <p:cNvPr id="5" name="diagram-102">
            <a:extLst xmlns:a="http://schemas.openxmlformats.org/drawingml/2006/main">
              <a:ext uri="{FF2B5EF4-FFF2-40B4-BE49-F238E27FC236}">
                <a16:creationId xmlns:a16="http://schemas.microsoft.com/office/drawing/2014/main" id="{1FD35C68-7A9E-4632-8D33-34C74D854F0A}"/>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FFFFFF"/>
                </a:solidFill>
                <a:latin typeface="Tahoma"/>
                <a:ea typeface="Tahoma"/>
                <a:cs typeface="Tahoma"/>
              </a:defRPr>
            </a:pPr>
            <a:r>
              <a:rPr sz="3225" b="1">
                <a:solidFill>
                  <a:srgbClr val="FFFFFF"/>
                </a:solidFill>
                <a:latin typeface="Tahoma"/>
                <a:ea typeface="Tahoma"/>
                <a:cs typeface="Tahoma"/>
              </a:rPr>
              <a:t>Block 1 checkpoint</a:t>
            </a:r>
          </a:p>
        </p:txBody>
      </p:sp>
      <p:sp>
        <p:nvSpPr>
          <p:cNvPr id="2" name="diagram-103">
            <a:extLst xmlns:a="http://schemas.openxmlformats.org/drawingml/2006/main">
              <a:ext uri="{FF2B5EF4-FFF2-40B4-BE49-F238E27FC236}">
                <a16:creationId xmlns:a16="http://schemas.microsoft.com/office/drawing/2014/main" id="{0F7CD55D-00AE-4E44-8D39-F95DCB92304F}"/>
              </a:ext>
            </a:extLst>
          </p:cNvPr>
          <p:cNvSpPr>
            <a:spLocks xmlns:a="http://schemas.openxmlformats.org/drawingml/2006/main" noGrp="1"/>
          </p:cNvSpPr>
          <p:nvPr/>
        </p:nvSpPr>
        <p:spPr>
          <a:xfrm xmlns:a="http://schemas.openxmlformats.org/drawingml/2006/main">
            <a:off x="762000" y="2428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Tahoma"/>
                <a:ea typeface="Tahoma"/>
                <a:cs typeface="Tahoma"/>
              </a:defRPr>
            </a:pPr>
            <a:r>
              <a:rPr sz="3150" b="1">
                <a:solidFill>
                  <a:srgbClr val="FFFFFF"/>
                </a:solidFill>
                <a:latin typeface="Tahoma"/>
                <a:ea typeface="Tahoma"/>
                <a:cs typeface="Tahoma"/>
              </a:rPr>
              <a:t>Systems support repeatable rules</a:t>
            </a:r>
          </a:p>
        </p:txBody>
      </p:sp>
      <p:sp>
        <p:nvSpPr>
          <p:cNvPr id="3" name="diagram-104">
            <a:extLst xmlns:a="http://schemas.openxmlformats.org/drawingml/2006/main">
              <a:ext uri="{FF2B5EF4-FFF2-40B4-BE49-F238E27FC236}">
                <a16:creationId xmlns:a16="http://schemas.microsoft.com/office/drawing/2014/main" id="{8D54DCC1-8DB2-45E7-AE95-B5440E595D3C}"/>
              </a:ext>
            </a:extLst>
          </p:cNvPr>
          <p:cNvSpPr>
            <a:spLocks xmlns:a="http://schemas.openxmlformats.org/drawingml/2006/main" noGrp="1"/>
          </p:cNvSpPr>
          <p:nvPr/>
        </p:nvSpPr>
        <p:spPr>
          <a:xfrm xmlns:a="http://schemas.openxmlformats.org/drawingml/2006/main">
            <a:off x="762000" y="366712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FFFFFF"/>
                </a:solidFill>
                <a:latin typeface="Tahoma"/>
                <a:ea typeface="Tahoma"/>
                <a:cs typeface="Tahoma"/>
              </a:defRPr>
            </a:pPr>
            <a:r>
              <a:rPr sz="2550" b="0">
                <a:solidFill>
                  <a:srgbClr val="FFFFFF"/>
                </a:solidFill>
                <a:latin typeface="Tahoma"/>
                <a:ea typeface="Tahoma"/>
                <a:cs typeface="Tahoma"/>
              </a:rPr>
              <a:t>People retain accountability</a:t>
            </a:r>
          </a:p>
        </p:txBody>
      </p:sp>
      <p:sp>
        <p:nvSpPr>
          <p:cNvPr id="4" name="diagram-105">
            <a:extLst xmlns:a="http://schemas.openxmlformats.org/drawingml/2006/main">
              <a:ext uri="{FF2B5EF4-FFF2-40B4-BE49-F238E27FC236}">
                <a16:creationId xmlns:a16="http://schemas.microsoft.com/office/drawing/2014/main" id="{DEA4BB87-EACC-4500-866C-9AA366AE7A2F}"/>
              </a:ext>
            </a:extLst>
          </p:cNvPr>
          <p:cNvSpPr>
            <a:spLocks xmlns:a="http://schemas.openxmlformats.org/drawingml/2006/main" noGrp="1"/>
          </p:cNvSpPr>
          <p:nvPr/>
        </p:nvSpPr>
        <p:spPr>
          <a:xfrm xmlns:a="http://schemas.openxmlformats.org/drawingml/2006/main">
            <a:off x="762000" y="51911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BCAE8"/>
                </a:solidFill>
                <a:latin typeface="Tahoma"/>
                <a:ea typeface="Tahoma"/>
                <a:cs typeface="Tahoma"/>
              </a:defRPr>
            </a:pPr>
            <a:r>
              <a:rPr sz="2175" b="0">
                <a:solidFill>
                  <a:srgbClr val="ABCAE8"/>
                </a:solidFill>
                <a:latin typeface="Tahoma"/>
                <a:ea typeface="Tahoma"/>
                <a:cs typeface="Tahoma"/>
              </a:rPr>
              <a:t>After the break: test your understanding</a:t>
            </a:r>
          </a:p>
        </p:txBody>
      </p:sp>
    </p:spTree>
    <p:extLst>
      <p:ext uri="{BB962C8B-B14F-4D97-AF65-F5344CB8AC3E}">
        <p14:creationId xmlns:p14="http://schemas.microsoft.com/office/powerpoint/2010/main" val="359191887"/>
      </p:ext>
    </p:extLst>
  </p:cSld>
</p:sld>
</file>

<file path=ppt/slides/slide1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diagram-106">
            <a:extLst xmlns:a="http://schemas.openxmlformats.org/drawingml/2006/main">
              <a:ext uri="{FF2B5EF4-FFF2-40B4-BE49-F238E27FC236}">
                <a16:creationId xmlns:a16="http://schemas.microsoft.com/office/drawing/2014/main" id="{E0CCF70F-F4C7-452A-A468-8541D6637524}"/>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1 · PRACTICE 3</a:t>
            </a:r>
          </a:p>
        </p:txBody>
      </p:sp>
      <p:sp>
        <p:nvSpPr>
          <p:cNvPr id="2" name="diagram-107">
            <a:extLst xmlns:a="http://schemas.openxmlformats.org/drawingml/2006/main">
              <a:ext uri="{FF2B5EF4-FFF2-40B4-BE49-F238E27FC236}">
                <a16:creationId xmlns:a16="http://schemas.microsoft.com/office/drawing/2014/main" id="{E8D05042-33F8-49A5-8036-2ADFF1C06AB6}"/>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Knowledge check</a:t>
            </a:r>
          </a:p>
        </p:txBody>
      </p:sp>
      <p:sp>
        <p:nvSpPr>
          <p:cNvPr id="3" name="diagram-108">
            <a:extLst xmlns:a="http://schemas.openxmlformats.org/drawingml/2006/main">
              <a:ext uri="{FF2B5EF4-FFF2-40B4-BE49-F238E27FC236}">
                <a16:creationId xmlns:a16="http://schemas.microsoft.com/office/drawing/2014/main" id="{65971E80-42B7-4D3F-BF01-2D003AECD2C6}"/>
              </a:ext>
            </a:extLst>
          </p:cNvPr>
          <p:cNvSpPr>
            <a:spLocks xmlns:a="http://schemas.openxmlformats.org/drawingml/2006/main" noGrp="1"/>
          </p:cNvSpPr>
          <p:nvPr/>
        </p:nvSpPr>
        <p:spPr>
          <a:xfrm xmlns:a="http://schemas.openxmlformats.org/drawingml/2006/main">
            <a:off x="762000" y="23812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01</a:t>
            </a:r>
          </a:p>
        </p:txBody>
      </p:sp>
      <p:sp>
        <p:nvSpPr>
          <p:cNvPr id="4" name="diagram-109">
            <a:extLst xmlns:a="http://schemas.openxmlformats.org/drawingml/2006/main">
              <a:ext uri="{FF2B5EF4-FFF2-40B4-BE49-F238E27FC236}">
                <a16:creationId xmlns:a16="http://schemas.microsoft.com/office/drawing/2014/main" id="{D7ED183C-1F96-4FD7-B10E-7D59303A4FC9}"/>
              </a:ext>
            </a:extLst>
          </p:cNvPr>
          <p:cNvSpPr>
            <a:spLocks xmlns:a="http://schemas.openxmlformats.org/drawingml/2006/main" noGrp="1"/>
          </p:cNvSpPr>
          <p:nvPr/>
        </p:nvSpPr>
        <p:spPr>
          <a:xfrm xmlns:a="http://schemas.openxmlformats.org/drawingml/2006/main">
            <a:off x="1905000" y="2419350"/>
            <a:ext cx="919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8324B"/>
                </a:solidFill>
                <a:latin typeface="Tahoma"/>
                <a:ea typeface="Tahoma"/>
                <a:cs typeface="Tahoma"/>
              </a:defRPr>
            </a:pPr>
            <a:r>
              <a:rPr sz="2325" b="0">
                <a:solidFill>
                  <a:srgbClr val="18324B"/>
                </a:solidFill>
                <a:latin typeface="Tahoma"/>
                <a:ea typeface="Tahoma"/>
                <a:cs typeface="Tahoma"/>
              </a:rPr>
              <a:t>Routine copying or undefined exceptions?</a:t>
            </a:r>
          </a:p>
        </p:txBody>
      </p:sp>
      <p:sp>
        <p:nvSpPr>
          <p:cNvPr id="5" name="diagram-110">
            <a:extLst xmlns:a="http://schemas.openxmlformats.org/drawingml/2006/main">
              <a:ext uri="{FF2B5EF4-FFF2-40B4-BE49-F238E27FC236}">
                <a16:creationId xmlns:a16="http://schemas.microsoft.com/office/drawing/2014/main" id="{2740CF7E-2742-4E4F-9E36-0A824A7B2E2C}"/>
              </a:ext>
            </a:extLst>
          </p:cNvPr>
          <p:cNvSpPr>
            <a:spLocks xmlns:a="http://schemas.openxmlformats.org/drawingml/2006/main" noGrp="1"/>
          </p:cNvSpPr>
          <p:nvPr/>
        </p:nvSpPr>
        <p:spPr>
          <a:xfrm xmlns:a="http://schemas.openxmlformats.org/drawingml/2006/main">
            <a:off x="762000" y="34290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02</a:t>
            </a:r>
          </a:p>
        </p:txBody>
      </p:sp>
      <p:sp>
        <p:nvSpPr>
          <p:cNvPr id="6" name="diagram-111">
            <a:extLst xmlns:a="http://schemas.openxmlformats.org/drawingml/2006/main">
              <a:ext uri="{FF2B5EF4-FFF2-40B4-BE49-F238E27FC236}">
                <a16:creationId xmlns:a16="http://schemas.microsoft.com/office/drawing/2014/main" id="{E18AF338-81D9-4319-AA1F-B7A331931CCE}"/>
              </a:ext>
            </a:extLst>
          </p:cNvPr>
          <p:cNvSpPr>
            <a:spLocks xmlns:a="http://schemas.openxmlformats.org/drawingml/2006/main" noGrp="1"/>
          </p:cNvSpPr>
          <p:nvPr/>
        </p:nvSpPr>
        <p:spPr>
          <a:xfrm xmlns:a="http://schemas.openxmlformats.org/drawingml/2006/main">
            <a:off x="1905000" y="3467100"/>
            <a:ext cx="919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8324B"/>
                </a:solidFill>
                <a:latin typeface="Tahoma"/>
                <a:ea typeface="Tahoma"/>
                <a:cs typeface="Tahoma"/>
              </a:defRPr>
            </a:pPr>
            <a:r>
              <a:rPr sz="2325" b="0">
                <a:solidFill>
                  <a:srgbClr val="18324B"/>
                </a:solidFill>
                <a:latin typeface="Tahoma"/>
                <a:ea typeface="Tahoma"/>
                <a:cs typeface="Tahoma"/>
              </a:rPr>
              <a:t>Do reminders alone remove a delay?</a:t>
            </a:r>
          </a:p>
        </p:txBody>
      </p:sp>
      <p:sp>
        <p:nvSpPr>
          <p:cNvPr id="7" name="diagram-112">
            <a:extLst xmlns:a="http://schemas.openxmlformats.org/drawingml/2006/main">
              <a:ext uri="{FF2B5EF4-FFF2-40B4-BE49-F238E27FC236}">
                <a16:creationId xmlns:a16="http://schemas.microsoft.com/office/drawing/2014/main" id="{2B9CC040-6662-484D-A59F-F28050702225}"/>
              </a:ext>
            </a:extLst>
          </p:cNvPr>
          <p:cNvSpPr>
            <a:spLocks xmlns:a="http://schemas.openxmlformats.org/drawingml/2006/main" noGrp="1"/>
          </p:cNvSpPr>
          <p:nvPr/>
        </p:nvSpPr>
        <p:spPr>
          <a:xfrm xmlns:a="http://schemas.openxmlformats.org/drawingml/2006/main">
            <a:off x="762000" y="447675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74FBA"/>
                </a:solidFill>
                <a:latin typeface="Tahoma"/>
                <a:ea typeface="Tahoma"/>
                <a:cs typeface="Tahoma"/>
              </a:defRPr>
            </a:pPr>
            <a:r>
              <a:rPr sz="3000" b="1">
                <a:solidFill>
                  <a:srgbClr val="174FBA"/>
                </a:solidFill>
                <a:latin typeface="Tahoma"/>
                <a:ea typeface="Tahoma"/>
                <a:cs typeface="Tahoma"/>
              </a:rPr>
              <a:t>03</a:t>
            </a:r>
          </a:p>
        </p:txBody>
      </p:sp>
      <p:sp>
        <p:nvSpPr>
          <p:cNvPr id="8" name="diagram-113">
            <a:extLst xmlns:a="http://schemas.openxmlformats.org/drawingml/2006/main">
              <a:ext uri="{FF2B5EF4-FFF2-40B4-BE49-F238E27FC236}">
                <a16:creationId xmlns:a16="http://schemas.microsoft.com/office/drawing/2014/main" id="{7BD95DBA-0D90-465F-B1FB-02E55B86B652}"/>
              </a:ext>
            </a:extLst>
          </p:cNvPr>
          <p:cNvSpPr>
            <a:spLocks xmlns:a="http://schemas.openxmlformats.org/drawingml/2006/main" noGrp="1"/>
          </p:cNvSpPr>
          <p:nvPr/>
        </p:nvSpPr>
        <p:spPr>
          <a:xfrm xmlns:a="http://schemas.openxmlformats.org/drawingml/2006/main">
            <a:off x="1905000" y="4514850"/>
            <a:ext cx="919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8324B"/>
                </a:solidFill>
                <a:latin typeface="Tahoma"/>
                <a:ea typeface="Tahoma"/>
                <a:cs typeface="Tahoma"/>
              </a:defRPr>
            </a:pPr>
            <a:r>
              <a:rPr sz="2325" b="0">
                <a:solidFill>
                  <a:srgbClr val="18324B"/>
                </a:solidFill>
                <a:latin typeface="Tahoma"/>
                <a:ea typeface="Tahoma"/>
                <a:cs typeface="Tahoma"/>
              </a:rPr>
              <a:t>What must be checked before connecting a system?</a:t>
            </a:r>
          </a:p>
        </p:txBody>
      </p:sp>
    </p:spTree>
    <p:extLst>
      <p:ext uri="{BB962C8B-B14F-4D97-AF65-F5344CB8AC3E}">
        <p14:creationId xmlns:p14="http://schemas.microsoft.com/office/powerpoint/2010/main" val="1387707811"/>
      </p:ext>
    </p:extLst>
  </p:cSld>
</p:sld>
</file>

<file path=ppt/slides/slide1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diagram-114">
            <a:extLst xmlns:a="http://schemas.openxmlformats.org/drawingml/2006/main">
              <a:ext uri="{FF2B5EF4-FFF2-40B4-BE49-F238E27FC236}">
                <a16:creationId xmlns:a16="http://schemas.microsoft.com/office/drawing/2014/main" id="{35BE9492-A19B-4A81-9D8C-F1A60FC1FDD5}"/>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Known facts and open questions</a:t>
            </a:r>
          </a:p>
        </p:txBody>
      </p:sp>
      <p:sp>
        <p:nvSpPr>
          <p:cNvPr id="2" name="diagram-115">
            <a:extLst xmlns:a="http://schemas.openxmlformats.org/drawingml/2006/main">
              <a:ext uri="{FF2B5EF4-FFF2-40B4-BE49-F238E27FC236}">
                <a16:creationId xmlns:a16="http://schemas.microsoft.com/office/drawing/2014/main" id="{8AADD193-F7F2-450C-B1EA-E203AD4230E7}"/>
              </a:ext>
            </a:extLst>
          </p:cNvPr>
          <p:cNvSpPr>
            <a:spLocks xmlns:a="http://schemas.openxmlformats.org/drawingml/2006/main" noGrp="1"/>
          </p:cNvSpPr>
          <p:nvPr/>
        </p:nvSpPr>
        <p:spPr>
          <a:xfrm xmlns:a="http://schemas.openxmlformats.org/drawingml/2006/main">
            <a:off x="762000" y="2095500"/>
            <a:ext cx="10572750" cy="3143250"/>
          </a:xfrm>
          <a:prstGeom xmlns:a="http://schemas.openxmlformats.org/drawingml/2006/main" prst="rect">
            <a:avLst/>
          </a:prstGeom>
          <a:solidFill xmlns:a="http://schemas.openxmlformats.org/drawingml/2006/main">
            <a:srgbClr val="FFFFFF"/>
          </a:solidFill>
          <a:ln xmlns:a="http://schemas.openxmlformats.org/drawingml/2006/main" w="19050">
            <a:solidFill>
              <a:srgbClr val="174FBA"/>
            </a:solidFill>
          </a:ln>
        </p:spPr>
      </p:sp>
      <p:sp>
        <p:nvSpPr>
          <p:cNvPr id="3" name="diagram-116">
            <a:extLst xmlns:a="http://schemas.openxmlformats.org/drawingml/2006/main">
              <a:ext uri="{FF2B5EF4-FFF2-40B4-BE49-F238E27FC236}">
                <a16:creationId xmlns:a16="http://schemas.microsoft.com/office/drawing/2014/main" id="{49A4EE09-9ED4-453E-A48A-DA77F6F94F1C}"/>
              </a:ext>
            </a:extLst>
          </p:cNvPr>
          <p:cNvSpPr>
            <a:spLocks xmlns:a="http://schemas.openxmlformats.org/drawingml/2006/main" noGrp="1"/>
          </p:cNvSpPr>
          <p:nvPr/>
        </p:nvSpPr>
        <p:spPr>
          <a:xfrm xmlns:a="http://schemas.openxmlformats.org/drawingml/2006/main">
            <a:off x="4238625" y="2095500"/>
            <a:ext cx="19050" cy="31432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4" name="diagram-117">
            <a:extLst xmlns:a="http://schemas.openxmlformats.org/drawingml/2006/main">
              <a:ext uri="{FF2B5EF4-FFF2-40B4-BE49-F238E27FC236}">
                <a16:creationId xmlns:a16="http://schemas.microsoft.com/office/drawing/2014/main" id="{11CD5F01-7140-41C2-8E5A-C090902DEC66}"/>
              </a:ext>
            </a:extLst>
          </p:cNvPr>
          <p:cNvSpPr>
            <a:spLocks xmlns:a="http://schemas.openxmlformats.org/drawingml/2006/main" noGrp="1"/>
          </p:cNvSpPr>
          <p:nvPr/>
        </p:nvSpPr>
        <p:spPr>
          <a:xfrm xmlns:a="http://schemas.openxmlformats.org/drawingml/2006/main">
            <a:off x="7810500" y="2095500"/>
            <a:ext cx="19050" cy="31432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118">
            <a:extLst xmlns:a="http://schemas.openxmlformats.org/drawingml/2006/main">
              <a:ext uri="{FF2B5EF4-FFF2-40B4-BE49-F238E27FC236}">
                <a16:creationId xmlns:a16="http://schemas.microsoft.com/office/drawing/2014/main" id="{825B3D34-76A3-4DF9-85AB-9E045AD9B51C}"/>
              </a:ext>
            </a:extLst>
          </p:cNvPr>
          <p:cNvSpPr>
            <a:spLocks xmlns:a="http://schemas.openxmlformats.org/drawingml/2006/main" noGrp="1"/>
          </p:cNvSpPr>
          <p:nvPr/>
        </p:nvSpPr>
        <p:spPr>
          <a:xfrm xmlns:a="http://schemas.openxmlformats.org/drawingml/2006/main">
            <a:off x="1000125" y="2381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4FBA"/>
                </a:solidFill>
                <a:latin typeface="Tahoma"/>
                <a:ea typeface="Tahoma"/>
                <a:cs typeface="Tahoma"/>
              </a:defRPr>
            </a:pPr>
            <a:r>
              <a:rPr sz="2325" b="1">
                <a:solidFill>
                  <a:srgbClr val="174FBA"/>
                </a:solidFill>
                <a:latin typeface="Tahoma"/>
                <a:ea typeface="Tahoma"/>
                <a:cs typeface="Tahoma"/>
              </a:rPr>
              <a:t>Known fact</a:t>
            </a:r>
          </a:p>
        </p:txBody>
      </p:sp>
      <p:sp>
        <p:nvSpPr>
          <p:cNvPr id="6" name="diagram-119">
            <a:extLst xmlns:a="http://schemas.openxmlformats.org/drawingml/2006/main">
              <a:ext uri="{FF2B5EF4-FFF2-40B4-BE49-F238E27FC236}">
                <a16:creationId xmlns:a16="http://schemas.microsoft.com/office/drawing/2014/main" id="{7C0CD324-1481-4A0C-B986-761F44CC5074}"/>
              </a:ext>
            </a:extLst>
          </p:cNvPr>
          <p:cNvSpPr>
            <a:spLocks xmlns:a="http://schemas.openxmlformats.org/drawingml/2006/main" noGrp="1"/>
          </p:cNvSpPr>
          <p:nvPr/>
        </p:nvSpPr>
        <p:spPr>
          <a:xfrm xmlns:a="http://schemas.openxmlformats.org/drawingml/2006/main">
            <a:off x="4524375" y="2381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02D50"/>
                </a:solidFill>
                <a:latin typeface="Tahoma"/>
                <a:ea typeface="Tahoma"/>
                <a:cs typeface="Tahoma"/>
              </a:defRPr>
            </a:pPr>
            <a:r>
              <a:rPr sz="2325" b="1">
                <a:solidFill>
                  <a:srgbClr val="102D50"/>
                </a:solidFill>
                <a:latin typeface="Tahoma"/>
                <a:ea typeface="Tahoma"/>
                <a:cs typeface="Tahoma"/>
              </a:rPr>
              <a:t>Open question</a:t>
            </a:r>
          </a:p>
        </p:txBody>
      </p:sp>
      <p:sp>
        <p:nvSpPr>
          <p:cNvPr id="7" name="diagram-120">
            <a:extLst xmlns:a="http://schemas.openxmlformats.org/drawingml/2006/main">
              <a:ext uri="{FF2B5EF4-FFF2-40B4-BE49-F238E27FC236}">
                <a16:creationId xmlns:a16="http://schemas.microsoft.com/office/drawing/2014/main" id="{705DFE2E-6642-463C-897D-48883D8A0FCA}"/>
              </a:ext>
            </a:extLst>
          </p:cNvPr>
          <p:cNvSpPr>
            <a:spLocks xmlns:a="http://schemas.openxmlformats.org/drawingml/2006/main" noGrp="1"/>
          </p:cNvSpPr>
          <p:nvPr/>
        </p:nvSpPr>
        <p:spPr>
          <a:xfrm xmlns:a="http://schemas.openxmlformats.org/drawingml/2006/main">
            <a:off x="8096250" y="23812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B76D13"/>
                </a:solidFill>
                <a:latin typeface="Tahoma"/>
                <a:ea typeface="Tahoma"/>
                <a:cs typeface="Tahoma"/>
              </a:defRPr>
            </a:pPr>
            <a:r>
              <a:rPr sz="2325" b="1">
                <a:solidFill>
                  <a:srgbClr val="B76D13"/>
                </a:solidFill>
                <a:latin typeface="Tahoma"/>
                <a:ea typeface="Tahoma"/>
                <a:cs typeface="Tahoma"/>
              </a:rPr>
              <a:t>Verification owner</a:t>
            </a:r>
          </a:p>
        </p:txBody>
      </p:sp>
      <p:sp>
        <p:nvSpPr>
          <p:cNvPr id="8" name="diagram-121">
            <a:extLst xmlns:a="http://schemas.openxmlformats.org/drawingml/2006/main">
              <a:ext uri="{FF2B5EF4-FFF2-40B4-BE49-F238E27FC236}">
                <a16:creationId xmlns:a16="http://schemas.microsoft.com/office/drawing/2014/main" id="{3CB57737-6410-4902-B7F5-04EC55913082}"/>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Use the second A4 sheet. Agree one supported fact and one owned question.</a:t>
            </a:r>
          </a:p>
        </p:txBody>
      </p:sp>
    </p:spTree>
    <p:extLst>
      <p:ext uri="{BB962C8B-B14F-4D97-AF65-F5344CB8AC3E}">
        <p14:creationId xmlns:p14="http://schemas.microsoft.com/office/powerpoint/2010/main" val="136713375"/>
      </p:ext>
    </p:extLst>
  </p:cSld>
</p:sld>
</file>

<file path=ppt/slides/slide16.xml><?xml version="1.0" encoding="utf-8"?>
<p:sld xmlns:p="http://schemas.openxmlformats.org/presentationml/2006/main">
  <p:cSld>
    <p:bg>
      <p:bgPr>
        <a:solidFill xmlns:a="http://schemas.openxmlformats.org/drawingml/2006/main">
          <a:srgbClr val="102D50"/>
        </a:solidFill>
      </p:bgPr>
    </p:bg>
    <p:spTree>
      <p:nvGrpSpPr>
        <p:cNvPr id="1" name=""/>
        <p:cNvGrpSpPr/>
        <p:nvPr/>
      </p:nvGrpSpPr>
      <p:grpSpPr>
        <a:xfrm xmlns:a="http://schemas.openxmlformats.org/drawingml/2006/main"/>
      </p:grpSpPr>
      <p:pic>
        <p:nvPicPr>
          <p:cNvPr id="5" name="Operational handover bottleneck" descr="2D editorial illustration of work accumulating at a handover between office teams."/>
          <p:cNvPicPr>
            <a:picLocks xmlns:a="http://schemas.openxmlformats.org/drawingml/2006/main" noChangeAspect="1"/>
          </p:cNvPicPr>
          <p:nvPr/>
        </p:nvPicPr>
        <p:blipFill>
          <a:blip xmlns:r="http://schemas.openxmlformats.org/officeDocument/2006/relationships" xmlns:a="http://schemas.openxmlformats.org/drawingml/2006/main" r:embed="Rfc8a3cb97be4452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iagram-122">
            <a:extLst xmlns:a="http://schemas.openxmlformats.org/drawingml/2006/main">
              <a:ext uri="{FF2B5EF4-FFF2-40B4-BE49-F238E27FC236}">
                <a16:creationId xmlns:a16="http://schemas.microsoft.com/office/drawing/2014/main" id="{45CBE3ED-71DB-4269-8E81-F5D49C573B7B}"/>
              </a:ext>
            </a:extLst>
          </p:cNvPr>
          <p:cNvSpPr>
            <a:spLocks xmlns:a="http://schemas.openxmlformats.org/drawingml/2006/main" noGrp="1"/>
          </p:cNvSpPr>
          <p:nvPr/>
        </p:nvSpPr>
        <p:spPr>
          <a:xfrm xmlns:a="http://schemas.openxmlformats.org/drawingml/2006/main">
            <a:off x="619125" y="10477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ABCAE8"/>
                </a:solidFill>
                <a:latin typeface="Tahoma"/>
                <a:ea typeface="Tahoma"/>
                <a:cs typeface="Tahoma"/>
              </a:defRPr>
            </a:pPr>
            <a:r>
              <a:rPr sz="1500" b="1">
                <a:solidFill>
                  <a:srgbClr val="ABCAE8"/>
                </a:solidFill>
                <a:latin typeface="Tahoma"/>
                <a:ea typeface="Tahoma"/>
                <a:cs typeface="Tahoma"/>
              </a:rPr>
              <a:t>MODULE 2</a:t>
            </a:r>
          </a:p>
        </p:txBody>
      </p:sp>
      <p:sp>
        <p:nvSpPr>
          <p:cNvPr id="3" name="diagram-123">
            <a:extLst xmlns:a="http://schemas.openxmlformats.org/drawingml/2006/main">
              <a:ext uri="{FF2B5EF4-FFF2-40B4-BE49-F238E27FC236}">
                <a16:creationId xmlns:a16="http://schemas.microsoft.com/office/drawing/2014/main" id="{E1FF753F-3EB9-4289-923D-42EA19A85E75}"/>
              </a:ext>
            </a:extLst>
          </p:cNvPr>
          <p:cNvSpPr>
            <a:spLocks xmlns:a="http://schemas.openxmlformats.org/drawingml/2006/main" noGrp="1"/>
          </p:cNvSpPr>
          <p:nvPr/>
        </p:nvSpPr>
        <p:spPr>
          <a:xfrm xmlns:a="http://schemas.openxmlformats.org/drawingml/2006/main">
            <a:off x="619125" y="1666875"/>
            <a:ext cx="4762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FFFFFF"/>
                </a:solidFill>
                <a:latin typeface="Tahoma"/>
                <a:ea typeface="Tahoma"/>
                <a:cs typeface="Tahoma"/>
              </a:defRPr>
            </a:pPr>
            <a:r>
              <a:rPr sz="3900" b="1">
                <a:solidFill>
                  <a:srgbClr val="FFFFFF"/>
                </a:solidFill>
                <a:latin typeface="Tahoma"/>
                <a:ea typeface="Tahoma"/>
                <a:cs typeface="Tahoma"/>
              </a:rPr>
              <a:t>Unlocking</a:t>
            </a:r>
          </a:p>
          <a:p xmlns:a="http://schemas.openxmlformats.org/drawingml/2006/main">
            <a:pPr>
              <a:defRPr sz="3900" b="1">
                <a:solidFill>
                  <a:srgbClr val="FFFFFF"/>
                </a:solidFill>
                <a:latin typeface="Tahoma"/>
                <a:ea typeface="Tahoma"/>
                <a:cs typeface="Tahoma"/>
              </a:defRPr>
            </a:pPr>
            <a:r>
              <a:rPr sz="3900" b="1">
                <a:solidFill>
                  <a:srgbClr val="FFFFFF"/>
                </a:solidFill>
                <a:latin typeface="Tahoma"/>
                <a:ea typeface="Tahoma"/>
                <a:cs typeface="Tahoma"/>
              </a:rPr>
              <a:t>Operational</a:t>
            </a:r>
          </a:p>
          <a:p xmlns:a="http://schemas.openxmlformats.org/drawingml/2006/main">
            <a:pPr>
              <a:defRPr sz="3900" b="1">
                <a:solidFill>
                  <a:srgbClr val="FFFFFF"/>
                </a:solidFill>
                <a:latin typeface="Tahoma"/>
                <a:ea typeface="Tahoma"/>
                <a:cs typeface="Tahoma"/>
              </a:defRPr>
            </a:pPr>
            <a:r>
              <a:rPr sz="3900" b="1">
                <a:solidFill>
                  <a:srgbClr val="FFFFFF"/>
                </a:solidFill>
                <a:latin typeface="Tahoma"/>
                <a:ea typeface="Tahoma"/>
                <a:cs typeface="Tahoma"/>
              </a:rPr>
              <a:t>Bottlenecks</a:t>
            </a:r>
          </a:p>
        </p:txBody>
      </p:sp>
      <p:sp>
        <p:nvSpPr>
          <p:cNvPr id="4" name="diagram-124">
            <a:extLst xmlns:a="http://schemas.openxmlformats.org/drawingml/2006/main">
              <a:ext uri="{FF2B5EF4-FFF2-40B4-BE49-F238E27FC236}">
                <a16:creationId xmlns:a16="http://schemas.microsoft.com/office/drawing/2014/main" id="{B38976C0-59AD-471A-B936-2F395E0A46A1}"/>
              </a:ext>
            </a:extLst>
          </p:cNvPr>
          <p:cNvSpPr>
            <a:spLocks xmlns:a="http://schemas.openxmlformats.org/drawingml/2006/main" noGrp="1"/>
          </p:cNvSpPr>
          <p:nvPr/>
        </p:nvSpPr>
        <p:spPr>
          <a:xfrm xmlns:a="http://schemas.openxmlformats.org/drawingml/2006/main">
            <a:off x="666750" y="4953000"/>
            <a:ext cx="4476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D7E7F5"/>
                </a:solidFill>
                <a:latin typeface="Tahoma"/>
                <a:ea typeface="Tahoma"/>
                <a:cs typeface="Tahoma"/>
              </a:defRPr>
            </a:pPr>
            <a:r>
              <a:rPr sz="1950" b="0">
                <a:solidFill>
                  <a:srgbClr val="D7E7F5"/>
                </a:solidFill>
                <a:latin typeface="Tahoma"/>
                <a:ea typeface="Tahoma"/>
                <a:cs typeface="Tahoma"/>
              </a:rPr>
              <a:t>Map the work before choosing a change</a:t>
            </a:r>
          </a:p>
        </p:txBody>
      </p:sp>
    </p:spTree>
    <p:extLst>
      <p:ext uri="{BB962C8B-B14F-4D97-AF65-F5344CB8AC3E}">
        <p14:creationId xmlns:p14="http://schemas.microsoft.com/office/powerpoint/2010/main" val="676585995"/>
      </p:ext>
    </p:extLst>
  </p:cSld>
</p:sld>
</file>

<file path=ppt/slides/slide1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9" name="diagram-125">
            <a:extLst xmlns:a="http://schemas.openxmlformats.org/drawingml/2006/main">
              <a:ext uri="{FF2B5EF4-FFF2-40B4-BE49-F238E27FC236}">
                <a16:creationId xmlns:a16="http://schemas.microsoft.com/office/drawing/2014/main" id="{E69CD4A6-1BA7-4B8E-B408-3ED0C9870E2A}"/>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Where requests wait</a:t>
            </a:r>
          </a:p>
        </p:txBody>
      </p:sp>
      <p:sp>
        <p:nvSpPr>
          <p:cNvPr id="2" name="diagram-126">
            <a:extLst xmlns:a="http://schemas.openxmlformats.org/drawingml/2006/main">
              <a:ext uri="{FF2B5EF4-FFF2-40B4-BE49-F238E27FC236}">
                <a16:creationId xmlns:a16="http://schemas.microsoft.com/office/drawing/2014/main" id="{CAF2FD9B-655F-41B5-B9D0-65235913E348}"/>
              </a:ext>
            </a:extLst>
          </p:cNvPr>
          <p:cNvSpPr>
            <a:spLocks xmlns:a="http://schemas.openxmlformats.org/drawingml/2006/main" noGrp="1"/>
          </p:cNvSpPr>
          <p:nvPr/>
        </p:nvSpPr>
        <p:spPr>
          <a:xfrm xmlns:a="http://schemas.openxmlformats.org/drawingml/2006/main">
            <a:off x="762000" y="2762250"/>
            <a:ext cx="180594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3" name="diagram-127">
            <a:extLst xmlns:a="http://schemas.openxmlformats.org/drawingml/2006/main">
              <a:ext uri="{FF2B5EF4-FFF2-40B4-BE49-F238E27FC236}">
                <a16:creationId xmlns:a16="http://schemas.microsoft.com/office/drawing/2014/main" id="{CFDED29E-EF1A-40B4-B09B-3E64298C531F}"/>
              </a:ext>
            </a:extLst>
          </p:cNvPr>
          <p:cNvSpPr>
            <a:spLocks xmlns:a="http://schemas.openxmlformats.org/drawingml/2006/main" noGrp="1"/>
          </p:cNvSpPr>
          <p:nvPr/>
        </p:nvSpPr>
        <p:spPr>
          <a:xfrm xmlns:a="http://schemas.openxmlformats.org/drawingml/2006/main">
            <a:off x="933450" y="2905125"/>
            <a:ext cx="146304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Receive request</a:t>
            </a:r>
          </a:p>
        </p:txBody>
      </p:sp>
      <p:sp>
        <p:nvSpPr>
          <p:cNvPr id="4" name="diagram-128">
            <a:extLst xmlns:a="http://schemas.openxmlformats.org/drawingml/2006/main">
              <a:ext uri="{FF2B5EF4-FFF2-40B4-BE49-F238E27FC236}">
                <a16:creationId xmlns:a16="http://schemas.microsoft.com/office/drawing/2014/main" id="{17DBBF07-AD15-4D64-9DEC-959BF1A15EF4}"/>
              </a:ext>
            </a:extLst>
          </p:cNvPr>
          <p:cNvSpPr>
            <a:spLocks xmlns:a="http://schemas.openxmlformats.org/drawingml/2006/main" noGrp="1"/>
          </p:cNvSpPr>
          <p:nvPr/>
        </p:nvSpPr>
        <p:spPr>
          <a:xfrm xmlns:a="http://schemas.openxmlformats.org/drawingml/2006/main">
            <a:off x="2929890" y="2762250"/>
            <a:ext cx="180594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129">
            <a:extLst xmlns:a="http://schemas.openxmlformats.org/drawingml/2006/main">
              <a:ext uri="{FF2B5EF4-FFF2-40B4-BE49-F238E27FC236}">
                <a16:creationId xmlns:a16="http://schemas.microsoft.com/office/drawing/2014/main" id="{24D5A0E7-2FB9-4896-B604-6C410F491BBB}"/>
              </a:ext>
            </a:extLst>
          </p:cNvPr>
          <p:cNvSpPr>
            <a:spLocks xmlns:a="http://schemas.openxmlformats.org/drawingml/2006/main" noGrp="1"/>
          </p:cNvSpPr>
          <p:nvPr/>
        </p:nvSpPr>
        <p:spPr>
          <a:xfrm xmlns:a="http://schemas.openxmlformats.org/drawingml/2006/main">
            <a:off x="3101340" y="2905125"/>
            <a:ext cx="146304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Check details</a:t>
            </a:r>
          </a:p>
        </p:txBody>
      </p:sp>
      <p:cxnSp>
        <p:nvCxnSpPr>
          <p:cNvPr id="24" name=""/>
          <p:cNvCxnSpPr>
            <a:stCxn xmlns:a="http://schemas.openxmlformats.org/drawingml/2006/main" id="2" idx="3"/>
            <a:endCxn xmlns:a="http://schemas.openxmlformats.org/drawingml/2006/main" id="4" idx="1"/>
          </p:cNvCxnSpPr>
          <p:nvPr/>
        </p:nvCxnSpPr>
        <p:spPr>
          <a:xfrm xmlns:a="http://schemas.openxmlformats.org/drawingml/2006/main">
            <a:off x="2567940" y="323850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7" name="diagram-130">
            <a:extLst xmlns:a="http://schemas.openxmlformats.org/drawingml/2006/main">
              <a:ext uri="{FF2B5EF4-FFF2-40B4-BE49-F238E27FC236}">
                <a16:creationId xmlns:a16="http://schemas.microsoft.com/office/drawing/2014/main" id="{FF1F635E-5BEB-4CE8-B900-20EC7C16B24E}"/>
              </a:ext>
            </a:extLst>
          </p:cNvPr>
          <p:cNvSpPr>
            <a:spLocks xmlns:a="http://schemas.openxmlformats.org/drawingml/2006/main" noGrp="1"/>
          </p:cNvSpPr>
          <p:nvPr/>
        </p:nvSpPr>
        <p:spPr>
          <a:xfrm xmlns:a="http://schemas.openxmlformats.org/drawingml/2006/main">
            <a:off x="5097780" y="2762250"/>
            <a:ext cx="180594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8" name="diagram-131">
            <a:extLst xmlns:a="http://schemas.openxmlformats.org/drawingml/2006/main">
              <a:ext uri="{FF2B5EF4-FFF2-40B4-BE49-F238E27FC236}">
                <a16:creationId xmlns:a16="http://schemas.microsoft.com/office/drawing/2014/main" id="{44F59F2E-53E8-484C-B0FA-17704B0305A1}"/>
              </a:ext>
            </a:extLst>
          </p:cNvPr>
          <p:cNvSpPr>
            <a:spLocks xmlns:a="http://schemas.openxmlformats.org/drawingml/2006/main" noGrp="1"/>
          </p:cNvSpPr>
          <p:nvPr/>
        </p:nvSpPr>
        <p:spPr>
          <a:xfrm xmlns:a="http://schemas.openxmlformats.org/drawingml/2006/main">
            <a:off x="5269230" y="2905125"/>
            <a:ext cx="146304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Register</a:t>
            </a:r>
          </a:p>
        </p:txBody>
      </p:sp>
      <p:cxnSp>
        <p:nvCxnSpPr>
          <p:cNvPr id="27" name=""/>
          <p:cNvCxnSpPr>
            <a:stCxn xmlns:a="http://schemas.openxmlformats.org/drawingml/2006/main" id="4" idx="3"/>
            <a:endCxn xmlns:a="http://schemas.openxmlformats.org/drawingml/2006/main" id="7" idx="1"/>
          </p:cNvCxnSpPr>
          <p:nvPr/>
        </p:nvCxnSpPr>
        <p:spPr>
          <a:xfrm xmlns:a="http://schemas.openxmlformats.org/drawingml/2006/main">
            <a:off x="4735830" y="323850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0" name="diagram-132">
            <a:extLst xmlns:a="http://schemas.openxmlformats.org/drawingml/2006/main">
              <a:ext uri="{FF2B5EF4-FFF2-40B4-BE49-F238E27FC236}">
                <a16:creationId xmlns:a16="http://schemas.microsoft.com/office/drawing/2014/main" id="{5ABBBA3C-BA55-4817-8FBB-644F2332C880}"/>
              </a:ext>
            </a:extLst>
          </p:cNvPr>
          <p:cNvSpPr>
            <a:spLocks xmlns:a="http://schemas.openxmlformats.org/drawingml/2006/main" noGrp="1"/>
          </p:cNvSpPr>
          <p:nvPr/>
        </p:nvSpPr>
        <p:spPr>
          <a:xfrm xmlns:a="http://schemas.openxmlformats.org/drawingml/2006/main">
            <a:off x="7265670" y="2762250"/>
            <a:ext cx="180594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1" name="diagram-133">
            <a:extLst xmlns:a="http://schemas.openxmlformats.org/drawingml/2006/main">
              <a:ext uri="{FF2B5EF4-FFF2-40B4-BE49-F238E27FC236}">
                <a16:creationId xmlns:a16="http://schemas.microsoft.com/office/drawing/2014/main" id="{9B8B2088-DBD7-43ED-9E6C-6FCFCB051EC3}"/>
              </a:ext>
            </a:extLst>
          </p:cNvPr>
          <p:cNvSpPr>
            <a:spLocks xmlns:a="http://schemas.openxmlformats.org/drawingml/2006/main" noGrp="1"/>
          </p:cNvSpPr>
          <p:nvPr/>
        </p:nvSpPr>
        <p:spPr>
          <a:xfrm xmlns:a="http://schemas.openxmlformats.org/drawingml/2006/main">
            <a:off x="7437120" y="2905125"/>
            <a:ext cx="146304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Await review</a:t>
            </a:r>
          </a:p>
        </p:txBody>
      </p:sp>
      <p:cxnSp>
        <p:nvCxnSpPr>
          <p:cNvPr id="30" name=""/>
          <p:cNvCxnSpPr>
            <a:stCxn xmlns:a="http://schemas.openxmlformats.org/drawingml/2006/main" id="7" idx="3"/>
            <a:endCxn xmlns:a="http://schemas.openxmlformats.org/drawingml/2006/main" id="10" idx="1"/>
          </p:cNvCxnSpPr>
          <p:nvPr/>
        </p:nvCxnSpPr>
        <p:spPr>
          <a:xfrm xmlns:a="http://schemas.openxmlformats.org/drawingml/2006/main">
            <a:off x="6903720" y="323850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3" name="diagram-134">
            <a:extLst xmlns:a="http://schemas.openxmlformats.org/drawingml/2006/main">
              <a:ext uri="{FF2B5EF4-FFF2-40B4-BE49-F238E27FC236}">
                <a16:creationId xmlns:a16="http://schemas.microsoft.com/office/drawing/2014/main" id="{F3922370-637B-4B20-A32F-A203A5F9B5BE}"/>
              </a:ext>
            </a:extLst>
          </p:cNvPr>
          <p:cNvSpPr>
            <a:spLocks xmlns:a="http://schemas.openxmlformats.org/drawingml/2006/main" noGrp="1"/>
          </p:cNvSpPr>
          <p:nvPr/>
        </p:nvSpPr>
        <p:spPr>
          <a:xfrm xmlns:a="http://schemas.openxmlformats.org/drawingml/2006/main">
            <a:off x="9433560" y="2762250"/>
            <a:ext cx="180594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4" name="diagram-135">
            <a:extLst xmlns:a="http://schemas.openxmlformats.org/drawingml/2006/main">
              <a:ext uri="{FF2B5EF4-FFF2-40B4-BE49-F238E27FC236}">
                <a16:creationId xmlns:a16="http://schemas.microsoft.com/office/drawing/2014/main" id="{FD5F76A3-C1AF-4B5B-A75B-2B27B1EEFF3C}"/>
              </a:ext>
            </a:extLst>
          </p:cNvPr>
          <p:cNvSpPr>
            <a:spLocks xmlns:a="http://schemas.openxmlformats.org/drawingml/2006/main" noGrp="1"/>
          </p:cNvSpPr>
          <p:nvPr/>
        </p:nvSpPr>
        <p:spPr>
          <a:xfrm xmlns:a="http://schemas.openxmlformats.org/drawingml/2006/main">
            <a:off x="9605010" y="2905125"/>
            <a:ext cx="146304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Notify outcome</a:t>
            </a:r>
          </a:p>
        </p:txBody>
      </p:sp>
      <p:cxnSp>
        <p:nvCxnSpPr>
          <p:cNvPr id="33" name=""/>
          <p:cNvCxnSpPr>
            <a:stCxn xmlns:a="http://schemas.openxmlformats.org/drawingml/2006/main" id="10" idx="3"/>
            <a:endCxn xmlns:a="http://schemas.openxmlformats.org/drawingml/2006/main" id="13" idx="1"/>
          </p:cNvCxnSpPr>
          <p:nvPr/>
        </p:nvCxnSpPr>
        <p:spPr>
          <a:xfrm xmlns:a="http://schemas.openxmlformats.org/drawingml/2006/main">
            <a:off x="9071610" y="323850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6" name="diagram-136">
            <a:extLst xmlns:a="http://schemas.openxmlformats.org/drawingml/2006/main">
              <a:ext uri="{FF2B5EF4-FFF2-40B4-BE49-F238E27FC236}">
                <a16:creationId xmlns:a16="http://schemas.microsoft.com/office/drawing/2014/main" id="{76436310-8C59-4CA4-99FF-64CB88075167}"/>
              </a:ext>
            </a:extLst>
          </p:cNvPr>
          <p:cNvSpPr>
            <a:spLocks xmlns:a="http://schemas.openxmlformats.org/drawingml/2006/main" noGrp="1"/>
          </p:cNvSpPr>
          <p:nvPr/>
        </p:nvSpPr>
        <p:spPr>
          <a:xfrm xmlns:a="http://schemas.openxmlformats.org/drawingml/2006/main">
            <a:off x="2876550" y="4143375"/>
            <a:ext cx="2286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B76D13"/>
                </a:solidFill>
                <a:latin typeface="Tahoma"/>
                <a:ea typeface="Tahoma"/>
                <a:cs typeface="Tahoma"/>
              </a:defRPr>
            </a:pPr>
            <a:r>
              <a:rPr sz="2400" b="1">
                <a:solidFill>
                  <a:srgbClr val="B76D13"/>
                </a:solidFill>
                <a:latin typeface="Tahoma"/>
                <a:ea typeface="Tahoma"/>
                <a:cs typeface="Tahoma"/>
              </a:rPr>
              <a:t>Missing details</a:t>
            </a:r>
          </a:p>
        </p:txBody>
      </p:sp>
      <p:sp>
        <p:nvSpPr>
          <p:cNvPr id="17" name="diagram-137">
            <a:extLst xmlns:a="http://schemas.openxmlformats.org/drawingml/2006/main">
              <a:ext uri="{FF2B5EF4-FFF2-40B4-BE49-F238E27FC236}">
                <a16:creationId xmlns:a16="http://schemas.microsoft.com/office/drawing/2014/main" id="{82224496-28B3-4621-BD12-1EC03DAFD656}"/>
              </a:ext>
            </a:extLst>
          </p:cNvPr>
          <p:cNvSpPr>
            <a:spLocks xmlns:a="http://schemas.openxmlformats.org/drawingml/2006/main" noGrp="1"/>
          </p:cNvSpPr>
          <p:nvPr/>
        </p:nvSpPr>
        <p:spPr>
          <a:xfrm xmlns:a="http://schemas.openxmlformats.org/drawingml/2006/main">
            <a:off x="7239000" y="4143375"/>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B76D13"/>
                </a:solidFill>
                <a:latin typeface="Tahoma"/>
                <a:ea typeface="Tahoma"/>
                <a:cs typeface="Tahoma"/>
              </a:defRPr>
            </a:pPr>
            <a:r>
              <a:rPr sz="2400" b="1">
                <a:solidFill>
                  <a:srgbClr val="B76D13"/>
                </a:solidFill>
                <a:latin typeface="Tahoma"/>
                <a:ea typeface="Tahoma"/>
                <a:cs typeface="Tahoma"/>
              </a:rPr>
              <a:t>Awaiting a decision</a:t>
            </a:r>
          </a:p>
        </p:txBody>
      </p:sp>
      <p:sp>
        <p:nvSpPr>
          <p:cNvPr id="18" name="diagram-138">
            <a:extLst xmlns:a="http://schemas.openxmlformats.org/drawingml/2006/main">
              <a:ext uri="{FF2B5EF4-FFF2-40B4-BE49-F238E27FC236}">
                <a16:creationId xmlns:a16="http://schemas.microsoft.com/office/drawing/2014/main" id="{14AFA127-BA05-421F-938C-0EB0EA3371C2}"/>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Evidence locates the problem before we choose a solution</a:t>
            </a:r>
          </a:p>
        </p:txBody>
      </p:sp>
    </p:spTree>
    <p:extLst>
      <p:ext uri="{BB962C8B-B14F-4D97-AF65-F5344CB8AC3E}">
        <p14:creationId xmlns:p14="http://schemas.microsoft.com/office/powerpoint/2010/main" val="709696949"/>
      </p:ext>
    </p:extLst>
  </p:cSld>
</p:sld>
</file>

<file path=ppt/slides/slide1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27" name="diagram-139">
            <a:extLst xmlns:a="http://schemas.openxmlformats.org/drawingml/2006/main">
              <a:ext uri="{FF2B5EF4-FFF2-40B4-BE49-F238E27FC236}">
                <a16:creationId xmlns:a16="http://schemas.microsoft.com/office/drawing/2014/main" id="{8C999CDF-9A47-4370-81D1-EC5AE426BD1D}"/>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2 · PRACTICE 1</a:t>
            </a:r>
          </a:p>
        </p:txBody>
      </p:sp>
      <p:sp>
        <p:nvSpPr>
          <p:cNvPr id="2" name="diagram-140">
            <a:extLst xmlns:a="http://schemas.openxmlformats.org/drawingml/2006/main">
              <a:ext uri="{FF2B5EF4-FFF2-40B4-BE49-F238E27FC236}">
                <a16:creationId xmlns:a16="http://schemas.microsoft.com/office/drawing/2014/main" id="{C5CA28CB-0299-4F7D-98AE-8D9B4CFA2187}"/>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Current-process map</a:t>
            </a:r>
          </a:p>
        </p:txBody>
      </p:sp>
      <p:sp>
        <p:nvSpPr>
          <p:cNvPr id="3" name="diagram-141">
            <a:extLst xmlns:a="http://schemas.openxmlformats.org/drawingml/2006/main">
              <a:ext uri="{FF2B5EF4-FFF2-40B4-BE49-F238E27FC236}">
                <a16:creationId xmlns:a16="http://schemas.microsoft.com/office/drawing/2014/main" id="{4D7B58A7-98ED-4642-9819-DF976C87E778}"/>
              </a:ext>
            </a:extLst>
          </p:cNvPr>
          <p:cNvSpPr>
            <a:spLocks xmlns:a="http://schemas.openxmlformats.org/drawingml/2006/main" noGrp="1"/>
          </p:cNvSpPr>
          <p:nvPr/>
        </p:nvSpPr>
        <p:spPr>
          <a:xfrm xmlns:a="http://schemas.openxmlformats.org/drawingml/2006/main">
            <a:off x="762000" y="2333625"/>
            <a:ext cx="2238375" cy="8763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4" name="diagram-142">
            <a:extLst xmlns:a="http://schemas.openxmlformats.org/drawingml/2006/main">
              <a:ext uri="{FF2B5EF4-FFF2-40B4-BE49-F238E27FC236}">
                <a16:creationId xmlns:a16="http://schemas.microsoft.com/office/drawing/2014/main" id="{6B94BDCD-A495-4738-A619-95656961A5B3}"/>
              </a:ext>
            </a:extLst>
          </p:cNvPr>
          <p:cNvSpPr>
            <a:spLocks xmlns:a="http://schemas.openxmlformats.org/drawingml/2006/main" noGrp="1"/>
          </p:cNvSpPr>
          <p:nvPr/>
        </p:nvSpPr>
        <p:spPr>
          <a:xfrm xmlns:a="http://schemas.openxmlformats.org/drawingml/2006/main">
            <a:off x="933450" y="2476500"/>
            <a:ext cx="1895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1  Start</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Role · info/status</a:t>
            </a:r>
          </a:p>
        </p:txBody>
      </p:sp>
      <p:sp>
        <p:nvSpPr>
          <p:cNvPr id="5" name="diagram-143">
            <a:extLst xmlns:a="http://schemas.openxmlformats.org/drawingml/2006/main">
              <a:ext uri="{FF2B5EF4-FFF2-40B4-BE49-F238E27FC236}">
                <a16:creationId xmlns:a16="http://schemas.microsoft.com/office/drawing/2014/main" id="{40A0BF2D-8F0B-4F6F-8DAC-01C5CC26EA60}"/>
              </a:ext>
            </a:extLst>
          </p:cNvPr>
          <p:cNvSpPr>
            <a:spLocks xmlns:a="http://schemas.openxmlformats.org/drawingml/2006/main" noGrp="1"/>
          </p:cNvSpPr>
          <p:nvPr/>
        </p:nvSpPr>
        <p:spPr>
          <a:xfrm xmlns:a="http://schemas.openxmlformats.org/drawingml/2006/main">
            <a:off x="3429000" y="2333625"/>
            <a:ext cx="2238375" cy="8763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6" name="diagram-144">
            <a:extLst xmlns:a="http://schemas.openxmlformats.org/drawingml/2006/main">
              <a:ext uri="{FF2B5EF4-FFF2-40B4-BE49-F238E27FC236}">
                <a16:creationId xmlns:a16="http://schemas.microsoft.com/office/drawing/2014/main" id="{B34880FC-8CFB-42D8-AF8B-FAE36F7D7AB3}"/>
              </a:ext>
            </a:extLst>
          </p:cNvPr>
          <p:cNvSpPr>
            <a:spLocks xmlns:a="http://schemas.openxmlformats.org/drawingml/2006/main" noGrp="1"/>
          </p:cNvSpPr>
          <p:nvPr/>
        </p:nvSpPr>
        <p:spPr>
          <a:xfrm xmlns:a="http://schemas.openxmlformats.org/drawingml/2006/main">
            <a:off x="3600450" y="2476500"/>
            <a:ext cx="1895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2</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Role · info/status</a:t>
            </a:r>
          </a:p>
        </p:txBody>
      </p:sp>
      <p:sp>
        <p:nvSpPr>
          <p:cNvPr id="7" name="diagram-145">
            <a:extLst xmlns:a="http://schemas.openxmlformats.org/drawingml/2006/main">
              <a:ext uri="{FF2B5EF4-FFF2-40B4-BE49-F238E27FC236}">
                <a16:creationId xmlns:a16="http://schemas.microsoft.com/office/drawing/2014/main" id="{E49CC442-B3CA-4014-8C33-D069F315194A}"/>
              </a:ext>
            </a:extLst>
          </p:cNvPr>
          <p:cNvSpPr>
            <a:spLocks xmlns:a="http://schemas.openxmlformats.org/drawingml/2006/main" noGrp="1"/>
          </p:cNvSpPr>
          <p:nvPr/>
        </p:nvSpPr>
        <p:spPr>
          <a:xfrm xmlns:a="http://schemas.openxmlformats.org/drawingml/2006/main">
            <a:off x="6096000" y="2333625"/>
            <a:ext cx="2238375" cy="8763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8" name="diagram-146">
            <a:extLst xmlns:a="http://schemas.openxmlformats.org/drawingml/2006/main">
              <a:ext uri="{FF2B5EF4-FFF2-40B4-BE49-F238E27FC236}">
                <a16:creationId xmlns:a16="http://schemas.microsoft.com/office/drawing/2014/main" id="{CD535838-C710-43ED-AE73-7F9D590D5B17}"/>
              </a:ext>
            </a:extLst>
          </p:cNvPr>
          <p:cNvSpPr>
            <a:spLocks xmlns:a="http://schemas.openxmlformats.org/drawingml/2006/main" noGrp="1"/>
          </p:cNvSpPr>
          <p:nvPr/>
        </p:nvSpPr>
        <p:spPr>
          <a:xfrm xmlns:a="http://schemas.openxmlformats.org/drawingml/2006/main">
            <a:off x="6267450" y="2476500"/>
            <a:ext cx="1895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3</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Role · info/status</a:t>
            </a:r>
          </a:p>
        </p:txBody>
      </p:sp>
      <p:sp>
        <p:nvSpPr>
          <p:cNvPr id="9" name="diagram-147">
            <a:extLst xmlns:a="http://schemas.openxmlformats.org/drawingml/2006/main">
              <a:ext uri="{FF2B5EF4-FFF2-40B4-BE49-F238E27FC236}">
                <a16:creationId xmlns:a16="http://schemas.microsoft.com/office/drawing/2014/main" id="{10FEEEBE-5810-49B3-B713-A2EDAAB0EC5D}"/>
              </a:ext>
            </a:extLst>
          </p:cNvPr>
          <p:cNvSpPr>
            <a:spLocks xmlns:a="http://schemas.openxmlformats.org/drawingml/2006/main" noGrp="1"/>
          </p:cNvSpPr>
          <p:nvPr/>
        </p:nvSpPr>
        <p:spPr>
          <a:xfrm xmlns:a="http://schemas.openxmlformats.org/drawingml/2006/main">
            <a:off x="8763000" y="2333625"/>
            <a:ext cx="2238375" cy="8763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0" name="diagram-148">
            <a:extLst xmlns:a="http://schemas.openxmlformats.org/drawingml/2006/main">
              <a:ext uri="{FF2B5EF4-FFF2-40B4-BE49-F238E27FC236}">
                <a16:creationId xmlns:a16="http://schemas.microsoft.com/office/drawing/2014/main" id="{F3B7DF09-26AA-43A6-B25C-EEB594E388EB}"/>
              </a:ext>
            </a:extLst>
          </p:cNvPr>
          <p:cNvSpPr>
            <a:spLocks xmlns:a="http://schemas.openxmlformats.org/drawingml/2006/main" noGrp="1"/>
          </p:cNvSpPr>
          <p:nvPr/>
        </p:nvSpPr>
        <p:spPr>
          <a:xfrm xmlns:a="http://schemas.openxmlformats.org/drawingml/2006/main">
            <a:off x="8934450" y="2476500"/>
            <a:ext cx="1895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4</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Role · info/status</a:t>
            </a:r>
          </a:p>
        </p:txBody>
      </p:sp>
      <p:sp>
        <p:nvSpPr>
          <p:cNvPr id="11" name="diagram-149">
            <a:extLst xmlns:a="http://schemas.openxmlformats.org/drawingml/2006/main">
              <a:ext uri="{FF2B5EF4-FFF2-40B4-BE49-F238E27FC236}">
                <a16:creationId xmlns:a16="http://schemas.microsoft.com/office/drawing/2014/main" id="{3F68EC90-7DCC-4562-9706-57C746A4D079}"/>
              </a:ext>
            </a:extLst>
          </p:cNvPr>
          <p:cNvSpPr>
            <a:spLocks xmlns:a="http://schemas.openxmlformats.org/drawingml/2006/main" noGrp="1"/>
          </p:cNvSpPr>
          <p:nvPr/>
        </p:nvSpPr>
        <p:spPr>
          <a:xfrm xmlns:a="http://schemas.openxmlformats.org/drawingml/2006/main">
            <a:off x="8763000" y="4095750"/>
            <a:ext cx="2238375" cy="876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diagram-150">
            <a:extLst xmlns:a="http://schemas.openxmlformats.org/drawingml/2006/main">
              <a:ext uri="{FF2B5EF4-FFF2-40B4-BE49-F238E27FC236}">
                <a16:creationId xmlns:a16="http://schemas.microsoft.com/office/drawing/2014/main" id="{84F0F656-2288-4642-AA85-5A0C270B537E}"/>
              </a:ext>
            </a:extLst>
          </p:cNvPr>
          <p:cNvSpPr>
            <a:spLocks xmlns:a="http://schemas.openxmlformats.org/drawingml/2006/main" noGrp="1"/>
          </p:cNvSpPr>
          <p:nvPr/>
        </p:nvSpPr>
        <p:spPr>
          <a:xfrm xmlns:a="http://schemas.openxmlformats.org/drawingml/2006/main">
            <a:off x="8934450" y="4238625"/>
            <a:ext cx="1895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5</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Role · info/status</a:t>
            </a:r>
          </a:p>
        </p:txBody>
      </p:sp>
      <p:sp>
        <p:nvSpPr>
          <p:cNvPr id="13" name="diagram-151">
            <a:extLst xmlns:a="http://schemas.openxmlformats.org/drawingml/2006/main">
              <a:ext uri="{FF2B5EF4-FFF2-40B4-BE49-F238E27FC236}">
                <a16:creationId xmlns:a16="http://schemas.microsoft.com/office/drawing/2014/main" id="{890BA487-0DF1-428C-A878-09ADBEE87677}"/>
              </a:ext>
            </a:extLst>
          </p:cNvPr>
          <p:cNvSpPr>
            <a:spLocks xmlns:a="http://schemas.openxmlformats.org/drawingml/2006/main" noGrp="1"/>
          </p:cNvSpPr>
          <p:nvPr/>
        </p:nvSpPr>
        <p:spPr>
          <a:xfrm xmlns:a="http://schemas.openxmlformats.org/drawingml/2006/main">
            <a:off x="6096000" y="4095750"/>
            <a:ext cx="2238375" cy="876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4" name="diagram-152">
            <a:extLst xmlns:a="http://schemas.openxmlformats.org/drawingml/2006/main">
              <a:ext uri="{FF2B5EF4-FFF2-40B4-BE49-F238E27FC236}">
                <a16:creationId xmlns:a16="http://schemas.microsoft.com/office/drawing/2014/main" id="{BD238C86-3F7E-47E2-B397-7C4E95BEC7FD}"/>
              </a:ext>
            </a:extLst>
          </p:cNvPr>
          <p:cNvSpPr>
            <a:spLocks xmlns:a="http://schemas.openxmlformats.org/drawingml/2006/main" noGrp="1"/>
          </p:cNvSpPr>
          <p:nvPr/>
        </p:nvSpPr>
        <p:spPr>
          <a:xfrm xmlns:a="http://schemas.openxmlformats.org/drawingml/2006/main">
            <a:off x="6267450" y="4238625"/>
            <a:ext cx="1895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6</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Role · info/status</a:t>
            </a:r>
          </a:p>
        </p:txBody>
      </p:sp>
      <p:sp>
        <p:nvSpPr>
          <p:cNvPr id="15" name="diagram-153">
            <a:extLst xmlns:a="http://schemas.openxmlformats.org/drawingml/2006/main">
              <a:ext uri="{FF2B5EF4-FFF2-40B4-BE49-F238E27FC236}">
                <a16:creationId xmlns:a16="http://schemas.microsoft.com/office/drawing/2014/main" id="{79FD7949-A69B-47C7-A5DB-5198A7A104C0}"/>
              </a:ext>
            </a:extLst>
          </p:cNvPr>
          <p:cNvSpPr>
            <a:spLocks xmlns:a="http://schemas.openxmlformats.org/drawingml/2006/main" noGrp="1"/>
          </p:cNvSpPr>
          <p:nvPr/>
        </p:nvSpPr>
        <p:spPr>
          <a:xfrm xmlns:a="http://schemas.openxmlformats.org/drawingml/2006/main">
            <a:off x="3429000" y="4095750"/>
            <a:ext cx="2238375" cy="876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diagram-154">
            <a:extLst xmlns:a="http://schemas.openxmlformats.org/drawingml/2006/main">
              <a:ext uri="{FF2B5EF4-FFF2-40B4-BE49-F238E27FC236}">
                <a16:creationId xmlns:a16="http://schemas.microsoft.com/office/drawing/2014/main" id="{6EAC1116-1F7C-4AD8-94E6-A81055957F08}"/>
              </a:ext>
            </a:extLst>
          </p:cNvPr>
          <p:cNvSpPr>
            <a:spLocks xmlns:a="http://schemas.openxmlformats.org/drawingml/2006/main" noGrp="1"/>
          </p:cNvSpPr>
          <p:nvPr/>
        </p:nvSpPr>
        <p:spPr>
          <a:xfrm xmlns:a="http://schemas.openxmlformats.org/drawingml/2006/main">
            <a:off x="3600450" y="4238625"/>
            <a:ext cx="1895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7</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Role · info/status</a:t>
            </a:r>
          </a:p>
        </p:txBody>
      </p:sp>
      <p:sp>
        <p:nvSpPr>
          <p:cNvPr id="17" name="diagram-155">
            <a:extLst xmlns:a="http://schemas.openxmlformats.org/drawingml/2006/main">
              <a:ext uri="{FF2B5EF4-FFF2-40B4-BE49-F238E27FC236}">
                <a16:creationId xmlns:a16="http://schemas.microsoft.com/office/drawing/2014/main" id="{2E8AF764-8BCF-49E7-A435-1A63000CB826}"/>
              </a:ext>
            </a:extLst>
          </p:cNvPr>
          <p:cNvSpPr>
            <a:spLocks xmlns:a="http://schemas.openxmlformats.org/drawingml/2006/main" noGrp="1"/>
          </p:cNvSpPr>
          <p:nvPr/>
        </p:nvSpPr>
        <p:spPr>
          <a:xfrm xmlns:a="http://schemas.openxmlformats.org/drawingml/2006/main">
            <a:off x="762000" y="4095750"/>
            <a:ext cx="2238375" cy="876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8" name="diagram-156">
            <a:extLst xmlns:a="http://schemas.openxmlformats.org/drawingml/2006/main">
              <a:ext uri="{FF2B5EF4-FFF2-40B4-BE49-F238E27FC236}">
                <a16:creationId xmlns:a16="http://schemas.microsoft.com/office/drawing/2014/main" id="{69AD181A-50E0-41DE-BDFA-617A2DA6D5A2}"/>
              </a:ext>
            </a:extLst>
          </p:cNvPr>
          <p:cNvSpPr>
            <a:spLocks xmlns:a="http://schemas.openxmlformats.org/drawingml/2006/main" noGrp="1"/>
          </p:cNvSpPr>
          <p:nvPr/>
        </p:nvSpPr>
        <p:spPr>
          <a:xfrm xmlns:a="http://schemas.openxmlformats.org/drawingml/2006/main">
            <a:off x="933450" y="4238625"/>
            <a:ext cx="18954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8  End</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Role · info/status</a:t>
            </a:r>
          </a:p>
        </p:txBody>
      </p:sp>
      <p:cxnSp>
        <p:nvCxnSpPr>
          <p:cNvPr id="45" name=""/>
          <p:cNvCxnSpPr>
            <a:stCxn xmlns:a="http://schemas.openxmlformats.org/drawingml/2006/main" id="3" idx="3"/>
            <a:endCxn xmlns:a="http://schemas.openxmlformats.org/drawingml/2006/main" id="5" idx="1"/>
          </p:cNvCxnSpPr>
          <p:nvPr/>
        </p:nvCxnSpPr>
        <p:spPr>
          <a:xfrm xmlns:a="http://schemas.openxmlformats.org/drawingml/2006/main">
            <a:off x="3000375" y="2771775"/>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46" name=""/>
          <p:cNvCxnSpPr>
            <a:stCxn xmlns:a="http://schemas.openxmlformats.org/drawingml/2006/main" id="5" idx="3"/>
            <a:endCxn xmlns:a="http://schemas.openxmlformats.org/drawingml/2006/main" id="7" idx="1"/>
          </p:cNvCxnSpPr>
          <p:nvPr/>
        </p:nvCxnSpPr>
        <p:spPr>
          <a:xfrm xmlns:a="http://schemas.openxmlformats.org/drawingml/2006/main">
            <a:off x="5667375" y="2771775"/>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47" name=""/>
          <p:cNvCxnSpPr>
            <a:stCxn xmlns:a="http://schemas.openxmlformats.org/drawingml/2006/main" id="7" idx="3"/>
            <a:endCxn xmlns:a="http://schemas.openxmlformats.org/drawingml/2006/main" id="9" idx="1"/>
          </p:cNvCxnSpPr>
          <p:nvPr/>
        </p:nvCxnSpPr>
        <p:spPr>
          <a:xfrm xmlns:a="http://schemas.openxmlformats.org/drawingml/2006/main">
            <a:off x="8334375" y="2771775"/>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48" name=""/>
          <p:cNvCxnSpPr>
            <a:stCxn xmlns:a="http://schemas.openxmlformats.org/drawingml/2006/main" id="9" idx="2"/>
            <a:endCxn xmlns:a="http://schemas.openxmlformats.org/drawingml/2006/main" id="11" idx="0"/>
          </p:cNvCxnSpPr>
          <p:nvPr/>
        </p:nvCxnSpPr>
        <p:spPr>
          <a:xfrm xmlns:a="http://schemas.openxmlformats.org/drawingml/2006/main">
            <a:off x="9882188" y="3209925"/>
            <a:ext cx="0" cy="885825"/>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49" name=""/>
          <p:cNvCxnSpPr>
            <a:stCxn xmlns:a="http://schemas.openxmlformats.org/drawingml/2006/main" id="11" idx="1"/>
            <a:endCxn xmlns:a="http://schemas.openxmlformats.org/drawingml/2006/main" id="13" idx="3"/>
          </p:cNvCxnSpPr>
          <p:nvPr/>
        </p:nvCxnSpPr>
        <p:spPr>
          <a:xfrm xmlns:a="http://schemas.openxmlformats.org/drawingml/2006/main" flipH="1">
            <a:off x="8334375" y="453390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50" name=""/>
          <p:cNvCxnSpPr>
            <a:stCxn xmlns:a="http://schemas.openxmlformats.org/drawingml/2006/main" id="13" idx="1"/>
            <a:endCxn xmlns:a="http://schemas.openxmlformats.org/drawingml/2006/main" id="15" idx="3"/>
          </p:cNvCxnSpPr>
          <p:nvPr/>
        </p:nvCxnSpPr>
        <p:spPr>
          <a:xfrm xmlns:a="http://schemas.openxmlformats.org/drawingml/2006/main" flipH="1">
            <a:off x="5667375" y="453390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51" name=""/>
          <p:cNvCxnSpPr>
            <a:stCxn xmlns:a="http://schemas.openxmlformats.org/drawingml/2006/main" id="15" idx="1"/>
            <a:endCxn xmlns:a="http://schemas.openxmlformats.org/drawingml/2006/main" id="17" idx="3"/>
          </p:cNvCxnSpPr>
          <p:nvPr/>
        </p:nvCxnSpPr>
        <p:spPr>
          <a:xfrm xmlns:a="http://schemas.openxmlformats.org/drawingml/2006/main" flipH="1">
            <a:off x="3000375" y="453390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26" name="diagram-157">
            <a:extLst xmlns:a="http://schemas.openxmlformats.org/drawingml/2006/main">
              <a:ext uri="{FF2B5EF4-FFF2-40B4-BE49-F238E27FC236}">
                <a16:creationId xmlns:a16="http://schemas.microsoft.com/office/drawing/2014/main" id="{48F054DA-10C9-4312-85BD-0DA124647CBB}"/>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Map 5–8 steps. Show the role and information or status at every handover.</a:t>
            </a:r>
          </a:p>
        </p:txBody>
      </p:sp>
    </p:spTree>
    <p:extLst>
      <p:ext uri="{BB962C8B-B14F-4D97-AF65-F5344CB8AC3E}">
        <p14:creationId xmlns:p14="http://schemas.microsoft.com/office/powerpoint/2010/main" val="666236235"/>
      </p:ext>
    </p:extLst>
  </p:cSld>
</p:sld>
</file>

<file path=ppt/slides/slide1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diagram-158">
            <a:extLst xmlns:a="http://schemas.openxmlformats.org/drawingml/2006/main">
              <a:ext uri="{FF2B5EF4-FFF2-40B4-BE49-F238E27FC236}">
                <a16:creationId xmlns:a16="http://schemas.microsoft.com/office/drawing/2014/main" id="{416A5BDC-F8D3-40CF-A4E7-5C597A8CA92B}"/>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2 · PRACTICE 2</a:t>
            </a:r>
          </a:p>
        </p:txBody>
      </p:sp>
      <p:sp>
        <p:nvSpPr>
          <p:cNvPr id="2" name="diagram-159">
            <a:extLst xmlns:a="http://schemas.openxmlformats.org/drawingml/2006/main">
              <a:ext uri="{FF2B5EF4-FFF2-40B4-BE49-F238E27FC236}">
                <a16:creationId xmlns:a16="http://schemas.microsoft.com/office/drawing/2014/main" id="{6B59841E-5DC9-43C8-9F2A-9B851A7DB7ED}"/>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Four types of friction</a:t>
            </a:r>
          </a:p>
        </p:txBody>
      </p:sp>
      <p:sp>
        <p:nvSpPr>
          <p:cNvPr id="3" name="diagram-160">
            <a:extLst xmlns:a="http://schemas.openxmlformats.org/drawingml/2006/main">
              <a:ext uri="{FF2B5EF4-FFF2-40B4-BE49-F238E27FC236}">
                <a16:creationId xmlns:a16="http://schemas.microsoft.com/office/drawing/2014/main" id="{4F35CA47-E95B-4AE1-BD7C-143FD4C0B61B}"/>
              </a:ext>
            </a:extLst>
          </p:cNvPr>
          <p:cNvSpPr>
            <a:spLocks xmlns:a="http://schemas.openxmlformats.org/drawingml/2006/main" noGrp="1"/>
          </p:cNvSpPr>
          <p:nvPr/>
        </p:nvSpPr>
        <p:spPr>
          <a:xfrm xmlns:a="http://schemas.openxmlformats.org/drawingml/2006/main">
            <a:off x="762000" y="2238375"/>
            <a:ext cx="5000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B76D13"/>
                </a:solidFill>
                <a:latin typeface="Tahoma"/>
                <a:ea typeface="Tahoma"/>
                <a:cs typeface="Tahoma"/>
              </a:defRPr>
            </a:pPr>
            <a:r>
              <a:rPr sz="2925" b="1">
                <a:solidFill>
                  <a:srgbClr val="B76D13"/>
                </a:solidFill>
                <a:latin typeface="Tahoma"/>
                <a:ea typeface="Tahoma"/>
                <a:cs typeface="Tahoma"/>
              </a:rPr>
              <a:t>Repeated work</a:t>
            </a:r>
          </a:p>
        </p:txBody>
      </p:sp>
      <p:sp>
        <p:nvSpPr>
          <p:cNvPr id="4" name="diagram-161">
            <a:extLst xmlns:a="http://schemas.openxmlformats.org/drawingml/2006/main">
              <a:ext uri="{FF2B5EF4-FFF2-40B4-BE49-F238E27FC236}">
                <a16:creationId xmlns:a16="http://schemas.microsoft.com/office/drawing/2014/main" id="{F94CAF7F-9B46-4B3B-8D5F-2B9ECB1B657E}"/>
              </a:ext>
            </a:extLst>
          </p:cNvPr>
          <p:cNvSpPr>
            <a:spLocks xmlns:a="http://schemas.openxmlformats.org/drawingml/2006/main" noGrp="1"/>
          </p:cNvSpPr>
          <p:nvPr/>
        </p:nvSpPr>
        <p:spPr>
          <a:xfrm xmlns:a="http://schemas.openxmlformats.org/drawingml/2006/main">
            <a:off x="762000" y="290512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24B"/>
                </a:solidFill>
                <a:latin typeface="Tahoma"/>
                <a:ea typeface="Tahoma"/>
                <a:cs typeface="Tahoma"/>
              </a:defRPr>
            </a:pPr>
            <a:r>
              <a:rPr sz="2100" b="0">
                <a:solidFill>
                  <a:srgbClr val="18324B"/>
                </a:solidFill>
                <a:latin typeface="Tahoma"/>
                <a:ea typeface="Tahoma"/>
                <a:cs typeface="Tahoma"/>
              </a:rPr>
              <a:t>Enter the same information again</a:t>
            </a:r>
          </a:p>
        </p:txBody>
      </p:sp>
      <p:sp>
        <p:nvSpPr>
          <p:cNvPr id="5" name="diagram-162">
            <a:extLst xmlns:a="http://schemas.openxmlformats.org/drawingml/2006/main">
              <a:ext uri="{FF2B5EF4-FFF2-40B4-BE49-F238E27FC236}">
                <a16:creationId xmlns:a16="http://schemas.microsoft.com/office/drawing/2014/main" id="{A0C2D71F-84AF-4093-9AAC-F73876CF865D}"/>
              </a:ext>
            </a:extLst>
          </p:cNvPr>
          <p:cNvSpPr>
            <a:spLocks xmlns:a="http://schemas.openxmlformats.org/drawingml/2006/main" noGrp="1"/>
          </p:cNvSpPr>
          <p:nvPr/>
        </p:nvSpPr>
        <p:spPr>
          <a:xfrm xmlns:a="http://schemas.openxmlformats.org/drawingml/2006/main">
            <a:off x="6286500" y="2238375"/>
            <a:ext cx="5000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B76D13"/>
                </a:solidFill>
                <a:latin typeface="Tahoma"/>
                <a:ea typeface="Tahoma"/>
                <a:cs typeface="Tahoma"/>
              </a:defRPr>
            </a:pPr>
            <a:r>
              <a:rPr sz="2925" b="1">
                <a:solidFill>
                  <a:srgbClr val="B76D13"/>
                </a:solidFill>
                <a:latin typeface="Tahoma"/>
                <a:ea typeface="Tahoma"/>
                <a:cs typeface="Tahoma"/>
              </a:rPr>
              <a:t>Waiting</a:t>
            </a:r>
          </a:p>
        </p:txBody>
      </p:sp>
      <p:sp>
        <p:nvSpPr>
          <p:cNvPr id="6" name="diagram-163">
            <a:extLst xmlns:a="http://schemas.openxmlformats.org/drawingml/2006/main">
              <a:ext uri="{FF2B5EF4-FFF2-40B4-BE49-F238E27FC236}">
                <a16:creationId xmlns:a16="http://schemas.microsoft.com/office/drawing/2014/main" id="{B323E683-5902-45CB-879B-6ED474F4AEB6}"/>
              </a:ext>
            </a:extLst>
          </p:cNvPr>
          <p:cNvSpPr>
            <a:spLocks xmlns:a="http://schemas.openxmlformats.org/drawingml/2006/main" noGrp="1"/>
          </p:cNvSpPr>
          <p:nvPr/>
        </p:nvSpPr>
        <p:spPr>
          <a:xfrm xmlns:a="http://schemas.openxmlformats.org/drawingml/2006/main">
            <a:off x="6286500" y="290512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24B"/>
                </a:solidFill>
                <a:latin typeface="Tahoma"/>
                <a:ea typeface="Tahoma"/>
                <a:cs typeface="Tahoma"/>
              </a:defRPr>
            </a:pPr>
            <a:r>
              <a:rPr sz="2100" b="0">
                <a:solidFill>
                  <a:srgbClr val="18324B"/>
                </a:solidFill>
                <a:latin typeface="Tahoma"/>
                <a:ea typeface="Tahoma"/>
                <a:cs typeface="Tahoma"/>
              </a:rPr>
              <a:t>Work pauses during a handover</a:t>
            </a:r>
          </a:p>
        </p:txBody>
      </p:sp>
      <p:sp>
        <p:nvSpPr>
          <p:cNvPr id="7" name="diagram-164">
            <a:extLst xmlns:a="http://schemas.openxmlformats.org/drawingml/2006/main">
              <a:ext uri="{FF2B5EF4-FFF2-40B4-BE49-F238E27FC236}">
                <a16:creationId xmlns:a16="http://schemas.microsoft.com/office/drawing/2014/main" id="{4CE58490-33DA-41D9-9315-23ABB12F364B}"/>
              </a:ext>
            </a:extLst>
          </p:cNvPr>
          <p:cNvSpPr>
            <a:spLocks xmlns:a="http://schemas.openxmlformats.org/drawingml/2006/main" noGrp="1"/>
          </p:cNvSpPr>
          <p:nvPr/>
        </p:nvSpPr>
        <p:spPr>
          <a:xfrm xmlns:a="http://schemas.openxmlformats.org/drawingml/2006/main">
            <a:off x="762000" y="3857625"/>
            <a:ext cx="5000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B76D13"/>
                </a:solidFill>
                <a:latin typeface="Tahoma"/>
                <a:ea typeface="Tahoma"/>
                <a:cs typeface="Tahoma"/>
              </a:defRPr>
            </a:pPr>
            <a:r>
              <a:rPr sz="2925" b="1">
                <a:solidFill>
                  <a:srgbClr val="B76D13"/>
                </a:solidFill>
                <a:latin typeface="Tahoma"/>
                <a:ea typeface="Tahoma"/>
                <a:cs typeface="Tahoma"/>
              </a:rPr>
              <a:t>Missing details</a:t>
            </a:r>
          </a:p>
        </p:txBody>
      </p:sp>
      <p:sp>
        <p:nvSpPr>
          <p:cNvPr id="8" name="diagram-165">
            <a:extLst xmlns:a="http://schemas.openxmlformats.org/drawingml/2006/main">
              <a:ext uri="{FF2B5EF4-FFF2-40B4-BE49-F238E27FC236}">
                <a16:creationId xmlns:a16="http://schemas.microsoft.com/office/drawing/2014/main" id="{5D8784F6-CAA7-4B5B-AD54-68363026E2ED}"/>
              </a:ext>
            </a:extLst>
          </p:cNvPr>
          <p:cNvSpPr>
            <a:spLocks xmlns:a="http://schemas.openxmlformats.org/drawingml/2006/main" noGrp="1"/>
          </p:cNvSpPr>
          <p:nvPr/>
        </p:nvSpPr>
        <p:spPr>
          <a:xfrm xmlns:a="http://schemas.openxmlformats.org/drawingml/2006/main">
            <a:off x="762000" y="45243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24B"/>
                </a:solidFill>
                <a:latin typeface="Tahoma"/>
                <a:ea typeface="Tahoma"/>
                <a:cs typeface="Tahoma"/>
              </a:defRPr>
            </a:pPr>
            <a:r>
              <a:rPr sz="2100" b="0">
                <a:solidFill>
                  <a:srgbClr val="18324B"/>
                </a:solidFill>
                <a:latin typeface="Tahoma"/>
                <a:ea typeface="Tahoma"/>
                <a:cs typeface="Tahoma"/>
              </a:rPr>
              <a:t>The next step cannot start</a:t>
            </a:r>
          </a:p>
        </p:txBody>
      </p:sp>
      <p:sp>
        <p:nvSpPr>
          <p:cNvPr id="9" name="diagram-166">
            <a:extLst xmlns:a="http://schemas.openxmlformats.org/drawingml/2006/main">
              <a:ext uri="{FF2B5EF4-FFF2-40B4-BE49-F238E27FC236}">
                <a16:creationId xmlns:a16="http://schemas.microsoft.com/office/drawing/2014/main" id="{CE032756-44C7-417A-BF5B-046D20CCEDAF}"/>
              </a:ext>
            </a:extLst>
          </p:cNvPr>
          <p:cNvSpPr>
            <a:spLocks xmlns:a="http://schemas.openxmlformats.org/drawingml/2006/main" noGrp="1"/>
          </p:cNvSpPr>
          <p:nvPr/>
        </p:nvSpPr>
        <p:spPr>
          <a:xfrm xmlns:a="http://schemas.openxmlformats.org/drawingml/2006/main">
            <a:off x="6286500" y="3857625"/>
            <a:ext cx="5000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B76D13"/>
                </a:solidFill>
                <a:latin typeface="Tahoma"/>
                <a:ea typeface="Tahoma"/>
                <a:cs typeface="Tahoma"/>
              </a:defRPr>
            </a:pPr>
            <a:r>
              <a:rPr sz="2925" b="1">
                <a:solidFill>
                  <a:srgbClr val="B76D13"/>
                </a:solidFill>
                <a:latin typeface="Tahoma"/>
                <a:ea typeface="Tahoma"/>
                <a:cs typeface="Tahoma"/>
              </a:rPr>
              <a:t>Unclear owner</a:t>
            </a:r>
          </a:p>
        </p:txBody>
      </p:sp>
      <p:sp>
        <p:nvSpPr>
          <p:cNvPr id="10" name="diagram-167">
            <a:extLst xmlns:a="http://schemas.openxmlformats.org/drawingml/2006/main">
              <a:ext uri="{FF2B5EF4-FFF2-40B4-BE49-F238E27FC236}">
                <a16:creationId xmlns:a16="http://schemas.microsoft.com/office/drawing/2014/main" id="{B8E6839B-7401-48C8-B9B2-13BFF526FEFF}"/>
              </a:ext>
            </a:extLst>
          </p:cNvPr>
          <p:cNvSpPr>
            <a:spLocks xmlns:a="http://schemas.openxmlformats.org/drawingml/2006/main" noGrp="1"/>
          </p:cNvSpPr>
          <p:nvPr/>
        </p:nvSpPr>
        <p:spPr>
          <a:xfrm xmlns:a="http://schemas.openxmlformats.org/drawingml/2006/main">
            <a:off x="6286500" y="45243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24B"/>
                </a:solidFill>
                <a:latin typeface="Tahoma"/>
                <a:ea typeface="Tahoma"/>
                <a:cs typeface="Tahoma"/>
              </a:defRPr>
            </a:pPr>
            <a:r>
              <a:rPr sz="2100" b="0">
                <a:solidFill>
                  <a:srgbClr val="18324B"/>
                </a:solidFill>
                <a:latin typeface="Tahoma"/>
                <a:ea typeface="Tahoma"/>
                <a:cs typeface="Tahoma"/>
              </a:rPr>
              <a:t>Nobody takes responsibility</a:t>
            </a:r>
          </a:p>
        </p:txBody>
      </p:sp>
    </p:spTree>
    <p:extLst>
      <p:ext uri="{BB962C8B-B14F-4D97-AF65-F5344CB8AC3E}">
        <p14:creationId xmlns:p14="http://schemas.microsoft.com/office/powerpoint/2010/main" val="1609511843"/>
      </p:ext>
    </p:extLst>
  </p:cSld>
</p:sld>
</file>

<file path=ppt/slides/slide2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5" name="diagram-168">
            <a:extLst xmlns:a="http://schemas.openxmlformats.org/drawingml/2006/main">
              <a:ext uri="{FF2B5EF4-FFF2-40B4-BE49-F238E27FC236}">
                <a16:creationId xmlns:a16="http://schemas.microsoft.com/office/drawing/2014/main" id="{34D70151-6DC3-4EFE-99A5-6C1933CF5472}"/>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2 · PRACTICE 3</a:t>
            </a:r>
          </a:p>
        </p:txBody>
      </p:sp>
      <p:sp>
        <p:nvSpPr>
          <p:cNvPr id="2" name="diagram-169">
            <a:extLst xmlns:a="http://schemas.openxmlformats.org/drawingml/2006/main">
              <a:ext uri="{FF2B5EF4-FFF2-40B4-BE49-F238E27FC236}">
                <a16:creationId xmlns:a16="http://schemas.microsoft.com/office/drawing/2014/main" id="{2BADB668-A0EA-471D-8B42-95F18BB559D9}"/>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Three pain points to compare</a:t>
            </a:r>
          </a:p>
        </p:txBody>
      </p:sp>
      <p:sp>
        <p:nvSpPr>
          <p:cNvPr id="3" name="diagram-170">
            <a:extLst xmlns:a="http://schemas.openxmlformats.org/drawingml/2006/main">
              <a:ext uri="{FF2B5EF4-FFF2-40B4-BE49-F238E27FC236}">
                <a16:creationId xmlns:a16="http://schemas.microsoft.com/office/drawing/2014/main" id="{0E18A9FE-5DA1-4046-8DB5-D3069A7FA898}"/>
              </a:ext>
            </a:extLst>
          </p:cNvPr>
          <p:cNvSpPr>
            <a:spLocks xmlns:a="http://schemas.openxmlformats.org/drawingml/2006/main" noGrp="1"/>
          </p:cNvSpPr>
          <p:nvPr/>
        </p:nvSpPr>
        <p:spPr>
          <a:xfrm xmlns:a="http://schemas.openxmlformats.org/drawingml/2006/main">
            <a:off x="3714750" y="2238375"/>
            <a:ext cx="4667250" cy="80962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4" name="diagram-171">
            <a:extLst xmlns:a="http://schemas.openxmlformats.org/drawingml/2006/main">
              <a:ext uri="{FF2B5EF4-FFF2-40B4-BE49-F238E27FC236}">
                <a16:creationId xmlns:a16="http://schemas.microsoft.com/office/drawing/2014/main" id="{B66A12DA-C87E-41ED-B66E-6C862BD29290}"/>
              </a:ext>
            </a:extLst>
          </p:cNvPr>
          <p:cNvSpPr>
            <a:spLocks xmlns:a="http://schemas.openxmlformats.org/drawingml/2006/main" noGrp="1"/>
          </p:cNvSpPr>
          <p:nvPr/>
        </p:nvSpPr>
        <p:spPr>
          <a:xfrm xmlns:a="http://schemas.openxmlformats.org/drawingml/2006/main">
            <a:off x="3886200" y="2381250"/>
            <a:ext cx="4324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Process map and evidence</a:t>
            </a:r>
          </a:p>
        </p:txBody>
      </p:sp>
      <p:sp>
        <p:nvSpPr>
          <p:cNvPr id="5" name="diagram-172">
            <a:extLst xmlns:a="http://schemas.openxmlformats.org/drawingml/2006/main">
              <a:ext uri="{FF2B5EF4-FFF2-40B4-BE49-F238E27FC236}">
                <a16:creationId xmlns:a16="http://schemas.microsoft.com/office/drawing/2014/main" id="{1A12B914-1137-4033-93CA-25B31B849AF1}"/>
              </a:ext>
            </a:extLst>
          </p:cNvPr>
          <p:cNvSpPr>
            <a:spLocks xmlns:a="http://schemas.openxmlformats.org/drawingml/2006/main" noGrp="1"/>
          </p:cNvSpPr>
          <p:nvPr/>
        </p:nvSpPr>
        <p:spPr>
          <a:xfrm xmlns:a="http://schemas.openxmlformats.org/drawingml/2006/main">
            <a:off x="762000" y="3952875"/>
            <a:ext cx="3333750" cy="80962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6" name="diagram-173">
            <a:extLst xmlns:a="http://schemas.openxmlformats.org/drawingml/2006/main">
              <a:ext uri="{FF2B5EF4-FFF2-40B4-BE49-F238E27FC236}">
                <a16:creationId xmlns:a16="http://schemas.microsoft.com/office/drawing/2014/main" id="{E55187B0-2A1E-428E-870E-853C75682084}"/>
              </a:ext>
            </a:extLst>
          </p:cNvPr>
          <p:cNvSpPr>
            <a:spLocks xmlns:a="http://schemas.openxmlformats.org/drawingml/2006/main" noGrp="1"/>
          </p:cNvSpPr>
          <p:nvPr/>
        </p:nvSpPr>
        <p:spPr>
          <a:xfrm xmlns:a="http://schemas.openxmlformats.org/drawingml/2006/main">
            <a:off x="933450" y="4095750"/>
            <a:ext cx="29908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Pain point A</a:t>
            </a:r>
          </a:p>
        </p:txBody>
      </p:sp>
      <p:cxnSp>
        <p:nvCxnSpPr>
          <p:cNvPr id="21" name=""/>
          <p:cNvCxnSpPr>
            <a:stCxn xmlns:a="http://schemas.openxmlformats.org/drawingml/2006/main" id="3" idx="2"/>
            <a:endCxn xmlns:a="http://schemas.openxmlformats.org/drawingml/2006/main" id="5" idx="0"/>
          </p:cNvCxnSpPr>
          <p:nvPr/>
        </p:nvCxnSpPr>
        <p:spPr>
          <a:xfrm xmlns:a="http://schemas.openxmlformats.org/drawingml/2006/main" flipH="1">
            <a:off x="2428875" y="3048000"/>
            <a:ext cx="3619500" cy="904875"/>
          </a:xfrm>
          <a:prstGeom xmlns:a="http://schemas.openxmlformats.org/drawingml/2006/main" prst="bentConnector4">
            <a:avLst>
              <a:gd name="adj1" fmla="val 0"/>
              <a:gd name="adj2" fmla="val 50000"/>
            </a:avLst>
          </a:prstGeom>
          <a:ln xmlns:a="http://schemas.openxmlformats.org/drawingml/2006/main" w="28575">
            <a:solidFill>
              <a:srgbClr val="174FBA"/>
            </a:solidFill>
            <a:tailEnd type="triangle" w="med" len="med"/>
          </a:ln>
        </p:spPr>
      </p:cxnSp>
      <p:sp>
        <p:nvSpPr>
          <p:cNvPr id="8" name="diagram-174">
            <a:extLst xmlns:a="http://schemas.openxmlformats.org/drawingml/2006/main">
              <a:ext uri="{FF2B5EF4-FFF2-40B4-BE49-F238E27FC236}">
                <a16:creationId xmlns:a16="http://schemas.microsoft.com/office/drawing/2014/main" id="{5C3072BB-A0FB-4B4C-8D49-BA8001753E37}"/>
              </a:ext>
            </a:extLst>
          </p:cNvPr>
          <p:cNvSpPr>
            <a:spLocks xmlns:a="http://schemas.openxmlformats.org/drawingml/2006/main" noGrp="1"/>
          </p:cNvSpPr>
          <p:nvPr/>
        </p:nvSpPr>
        <p:spPr>
          <a:xfrm xmlns:a="http://schemas.openxmlformats.org/drawingml/2006/main">
            <a:off x="4381500" y="3952875"/>
            <a:ext cx="3333750" cy="80962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9" name="diagram-175">
            <a:extLst xmlns:a="http://schemas.openxmlformats.org/drawingml/2006/main">
              <a:ext uri="{FF2B5EF4-FFF2-40B4-BE49-F238E27FC236}">
                <a16:creationId xmlns:a16="http://schemas.microsoft.com/office/drawing/2014/main" id="{CA2E7A7D-2BFE-4950-8DF3-71F185730233}"/>
              </a:ext>
            </a:extLst>
          </p:cNvPr>
          <p:cNvSpPr>
            <a:spLocks xmlns:a="http://schemas.openxmlformats.org/drawingml/2006/main" noGrp="1"/>
          </p:cNvSpPr>
          <p:nvPr/>
        </p:nvSpPr>
        <p:spPr>
          <a:xfrm xmlns:a="http://schemas.openxmlformats.org/drawingml/2006/main">
            <a:off x="4552950" y="4095750"/>
            <a:ext cx="29908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Pain point B</a:t>
            </a:r>
          </a:p>
        </p:txBody>
      </p:sp>
      <p:cxnSp>
        <p:nvCxnSpPr>
          <p:cNvPr id="24" name=""/>
          <p:cNvCxnSpPr>
            <a:stCxn xmlns:a="http://schemas.openxmlformats.org/drawingml/2006/main" id="3" idx="2"/>
            <a:endCxn xmlns:a="http://schemas.openxmlformats.org/drawingml/2006/main" id="8" idx="0"/>
          </p:cNvCxnSpPr>
          <p:nvPr/>
        </p:nvCxnSpPr>
        <p:spPr>
          <a:xfrm xmlns:a="http://schemas.openxmlformats.org/drawingml/2006/main">
            <a:off x="6048375" y="3048000"/>
            <a:ext cx="0" cy="904875"/>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1" name="diagram-176">
            <a:extLst xmlns:a="http://schemas.openxmlformats.org/drawingml/2006/main">
              <a:ext uri="{FF2B5EF4-FFF2-40B4-BE49-F238E27FC236}">
                <a16:creationId xmlns:a16="http://schemas.microsoft.com/office/drawing/2014/main" id="{BA7EE1C6-5B31-4658-A487-11A110FA1C3B}"/>
              </a:ext>
            </a:extLst>
          </p:cNvPr>
          <p:cNvSpPr>
            <a:spLocks xmlns:a="http://schemas.openxmlformats.org/drawingml/2006/main" noGrp="1"/>
          </p:cNvSpPr>
          <p:nvPr/>
        </p:nvSpPr>
        <p:spPr>
          <a:xfrm xmlns:a="http://schemas.openxmlformats.org/drawingml/2006/main">
            <a:off x="8001000" y="3952875"/>
            <a:ext cx="3333750" cy="80962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2" name="diagram-177">
            <a:extLst xmlns:a="http://schemas.openxmlformats.org/drawingml/2006/main">
              <a:ext uri="{FF2B5EF4-FFF2-40B4-BE49-F238E27FC236}">
                <a16:creationId xmlns:a16="http://schemas.microsoft.com/office/drawing/2014/main" id="{47706664-F616-4D6A-88A1-7186F9CEC85E}"/>
              </a:ext>
            </a:extLst>
          </p:cNvPr>
          <p:cNvSpPr>
            <a:spLocks xmlns:a="http://schemas.openxmlformats.org/drawingml/2006/main" noGrp="1"/>
          </p:cNvSpPr>
          <p:nvPr/>
        </p:nvSpPr>
        <p:spPr>
          <a:xfrm xmlns:a="http://schemas.openxmlformats.org/drawingml/2006/main">
            <a:off x="8172450" y="4095750"/>
            <a:ext cx="29908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Pain point C</a:t>
            </a:r>
          </a:p>
        </p:txBody>
      </p:sp>
      <p:cxnSp>
        <p:nvCxnSpPr>
          <p:cNvPr id="27" name=""/>
          <p:cNvCxnSpPr>
            <a:stCxn xmlns:a="http://schemas.openxmlformats.org/drawingml/2006/main" id="3" idx="2"/>
            <a:endCxn xmlns:a="http://schemas.openxmlformats.org/drawingml/2006/main" id="11" idx="0"/>
          </p:cNvCxnSpPr>
          <p:nvPr/>
        </p:nvCxnSpPr>
        <p:spPr>
          <a:xfrm xmlns:a="http://schemas.openxmlformats.org/drawingml/2006/main">
            <a:off x="6048375" y="3048000"/>
            <a:ext cx="3619500" cy="904875"/>
          </a:xfrm>
          <a:prstGeom xmlns:a="http://schemas.openxmlformats.org/drawingml/2006/main" prst="bentConnector4">
            <a:avLst>
              <a:gd name="adj1" fmla="val 0"/>
              <a:gd name="adj2" fmla="val 50000"/>
            </a:avLst>
          </a:prstGeom>
          <a:ln xmlns:a="http://schemas.openxmlformats.org/drawingml/2006/main" w="28575">
            <a:solidFill>
              <a:srgbClr val="174FBA"/>
            </a:solidFill>
            <a:tailEnd type="triangle" w="med" len="med"/>
          </a:ln>
        </p:spPr>
      </p:cxnSp>
      <p:sp>
        <p:nvSpPr>
          <p:cNvPr id="14" name="diagram-178">
            <a:extLst xmlns:a="http://schemas.openxmlformats.org/drawingml/2006/main">
              <a:ext uri="{FF2B5EF4-FFF2-40B4-BE49-F238E27FC236}">
                <a16:creationId xmlns:a16="http://schemas.microsoft.com/office/drawing/2014/main" id="{92153537-7ABA-45EF-B3BA-BCF0F72E01AA}"/>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Each pain point must link to a place on the map</a:t>
            </a:r>
          </a:p>
        </p:txBody>
      </p:sp>
    </p:spTree>
    <p:extLst>
      <p:ext uri="{BB962C8B-B14F-4D97-AF65-F5344CB8AC3E}">
        <p14:creationId xmlns:p14="http://schemas.microsoft.com/office/powerpoint/2010/main" val="956088192"/>
      </p:ext>
    </p:extLst>
  </p:cSld>
</p:sld>
</file>

<file path=ppt/slides/slide21.xml><?xml version="1.0" encoding="utf-8"?>
<p:sld xmlns:p="http://schemas.openxmlformats.org/presentationml/2006/main">
  <p:cSld>
    <p:bg>
      <p:bgPr>
        <a:solidFill xmlns:a="http://schemas.openxmlformats.org/drawingml/2006/main">
          <a:srgbClr val="102D50"/>
        </a:solidFill>
      </p:bgPr>
    </p:bg>
    <p:spTree>
      <p:nvGrpSpPr>
        <p:cNvPr id="1" name=""/>
        <p:cNvGrpSpPr/>
        <p:nvPr/>
      </p:nvGrpSpPr>
      <p:grpSpPr>
        <a:xfrm xmlns:a="http://schemas.openxmlformats.org/drawingml/2006/main"/>
      </p:grpSpPr>
      <p:sp>
        <p:nvSpPr>
          <p:cNvPr id="5" name="diagram-179">
            <a:extLst xmlns:a="http://schemas.openxmlformats.org/drawingml/2006/main">
              <a:ext uri="{FF2B5EF4-FFF2-40B4-BE49-F238E27FC236}">
                <a16:creationId xmlns:a16="http://schemas.microsoft.com/office/drawing/2014/main" id="{53F58D76-3DE9-434A-8B7D-FE3CE62320ED}"/>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FFFFFF"/>
                </a:solidFill>
                <a:latin typeface="Tahoma"/>
                <a:ea typeface="Tahoma"/>
                <a:cs typeface="Tahoma"/>
              </a:defRPr>
            </a:pPr>
            <a:r>
              <a:rPr sz="3225" b="1">
                <a:solidFill>
                  <a:srgbClr val="FFFFFF"/>
                </a:solidFill>
                <a:latin typeface="Tahoma"/>
                <a:ea typeface="Tahoma"/>
                <a:cs typeface="Tahoma"/>
              </a:rPr>
              <a:t>Block 2 checkpoint</a:t>
            </a:r>
          </a:p>
        </p:txBody>
      </p:sp>
      <p:sp>
        <p:nvSpPr>
          <p:cNvPr id="2" name="diagram-180">
            <a:extLst xmlns:a="http://schemas.openxmlformats.org/drawingml/2006/main">
              <a:ext uri="{FF2B5EF4-FFF2-40B4-BE49-F238E27FC236}">
                <a16:creationId xmlns:a16="http://schemas.microsoft.com/office/drawing/2014/main" id="{89239037-F5A6-4377-B890-7738EAF73512}"/>
              </a:ext>
            </a:extLst>
          </p:cNvPr>
          <p:cNvSpPr>
            <a:spLocks xmlns:a="http://schemas.openxmlformats.org/drawingml/2006/main" noGrp="1"/>
          </p:cNvSpPr>
          <p:nvPr/>
        </p:nvSpPr>
        <p:spPr>
          <a:xfrm xmlns:a="http://schemas.openxmlformats.org/drawingml/2006/main">
            <a:off x="762000" y="2428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Tahoma"/>
                <a:ea typeface="Tahoma"/>
                <a:cs typeface="Tahoma"/>
              </a:defRPr>
            </a:pPr>
            <a:r>
              <a:rPr sz="3150" b="1">
                <a:solidFill>
                  <a:srgbClr val="FFFFFF"/>
                </a:solidFill>
                <a:latin typeface="Tahoma"/>
                <a:ea typeface="Tahoma"/>
                <a:cs typeface="Tahoma"/>
              </a:rPr>
              <a:t>One current-process map</a:t>
            </a:r>
          </a:p>
        </p:txBody>
      </p:sp>
      <p:sp>
        <p:nvSpPr>
          <p:cNvPr id="3" name="diagram-181">
            <a:extLst xmlns:a="http://schemas.openxmlformats.org/drawingml/2006/main">
              <a:ext uri="{FF2B5EF4-FFF2-40B4-BE49-F238E27FC236}">
                <a16:creationId xmlns:a16="http://schemas.microsoft.com/office/drawing/2014/main" id="{7C53E394-38BC-41E8-8C81-3A151060C22C}"/>
              </a:ext>
            </a:extLst>
          </p:cNvPr>
          <p:cNvSpPr>
            <a:spLocks xmlns:a="http://schemas.openxmlformats.org/drawingml/2006/main" noGrp="1"/>
          </p:cNvSpPr>
          <p:nvPr/>
        </p:nvSpPr>
        <p:spPr>
          <a:xfrm xmlns:a="http://schemas.openxmlformats.org/drawingml/2006/main">
            <a:off x="762000" y="366712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FFFFFF"/>
                </a:solidFill>
                <a:latin typeface="Tahoma"/>
                <a:ea typeface="Tahoma"/>
                <a:cs typeface="Tahoma"/>
              </a:defRPr>
            </a:pPr>
            <a:r>
              <a:rPr sz="2550" b="0">
                <a:solidFill>
                  <a:srgbClr val="FFFFFF"/>
                </a:solidFill>
                <a:latin typeface="Tahoma"/>
                <a:ea typeface="Tahoma"/>
                <a:cs typeface="Tahoma"/>
              </a:rPr>
              <a:t>Three evidence-linked pain points</a:t>
            </a:r>
          </a:p>
        </p:txBody>
      </p:sp>
      <p:sp>
        <p:nvSpPr>
          <p:cNvPr id="4" name="diagram-182">
            <a:extLst xmlns:a="http://schemas.openxmlformats.org/drawingml/2006/main">
              <a:ext uri="{FF2B5EF4-FFF2-40B4-BE49-F238E27FC236}">
                <a16:creationId xmlns:a16="http://schemas.microsoft.com/office/drawing/2014/main" id="{3AB374DA-58C4-4873-BA6A-6D5DE8021505}"/>
              </a:ext>
            </a:extLst>
          </p:cNvPr>
          <p:cNvSpPr>
            <a:spLocks xmlns:a="http://schemas.openxmlformats.org/drawingml/2006/main" noGrp="1"/>
          </p:cNvSpPr>
          <p:nvPr/>
        </p:nvSpPr>
        <p:spPr>
          <a:xfrm xmlns:a="http://schemas.openxmlformats.org/drawingml/2006/main">
            <a:off x="762000" y="51911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BCAE8"/>
                </a:solidFill>
                <a:latin typeface="Tahoma"/>
                <a:ea typeface="Tahoma"/>
                <a:cs typeface="Tahoma"/>
              </a:defRPr>
            </a:pPr>
            <a:r>
              <a:rPr sz="2175" b="0">
                <a:solidFill>
                  <a:srgbClr val="ABCAE8"/>
                </a:solidFill>
                <a:latin typeface="Tahoma"/>
                <a:ea typeface="Tahoma"/>
                <a:cs typeface="Tahoma"/>
              </a:rPr>
              <a:t>After lunch: select one opportunity</a:t>
            </a:r>
          </a:p>
        </p:txBody>
      </p:sp>
    </p:spTree>
    <p:extLst>
      <p:ext uri="{BB962C8B-B14F-4D97-AF65-F5344CB8AC3E}">
        <p14:creationId xmlns:p14="http://schemas.microsoft.com/office/powerpoint/2010/main" val="1673107464"/>
      </p:ext>
    </p:extLst>
  </p:cSld>
</p:sld>
</file>

<file path=ppt/slides/slide2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2" name="diagram-183">
            <a:extLst xmlns:a="http://schemas.openxmlformats.org/drawingml/2006/main">
              <a:ext uri="{FF2B5EF4-FFF2-40B4-BE49-F238E27FC236}">
                <a16:creationId xmlns:a16="http://schemas.microsoft.com/office/drawing/2014/main" id="{AC1D80A9-6DC8-42EA-8FAB-F79E6B5CA272}"/>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Opportunity readiness gate</a:t>
            </a:r>
          </a:p>
        </p:txBody>
      </p:sp>
      <p:sp>
        <p:nvSpPr>
          <p:cNvPr id="2" name="diagram-184">
            <a:extLst xmlns:a="http://schemas.openxmlformats.org/drawingml/2006/main">
              <a:ext uri="{FF2B5EF4-FFF2-40B4-BE49-F238E27FC236}">
                <a16:creationId xmlns:a16="http://schemas.microsoft.com/office/drawing/2014/main" id="{27CB3259-83C4-4701-AEF4-3C5E2BE70A0B}"/>
              </a:ext>
            </a:extLst>
          </p:cNvPr>
          <p:cNvSpPr>
            <a:spLocks xmlns:a="http://schemas.openxmlformats.org/drawingml/2006/main" noGrp="1"/>
          </p:cNvSpPr>
          <p:nvPr/>
        </p:nvSpPr>
        <p:spPr>
          <a:xfrm xmlns:a="http://schemas.openxmlformats.org/drawingml/2006/main">
            <a:off x="762000" y="2333625"/>
            <a:ext cx="3333750" cy="195262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3" name="diagram-185">
            <a:extLst xmlns:a="http://schemas.openxmlformats.org/drawingml/2006/main">
              <a:ext uri="{FF2B5EF4-FFF2-40B4-BE49-F238E27FC236}">
                <a16:creationId xmlns:a16="http://schemas.microsoft.com/office/drawing/2014/main" id="{9BB4B5F5-6C5D-4820-921C-D4C55AD301BE}"/>
              </a:ext>
            </a:extLst>
          </p:cNvPr>
          <p:cNvSpPr>
            <a:spLocks xmlns:a="http://schemas.openxmlformats.org/drawingml/2006/main" noGrp="1"/>
          </p:cNvSpPr>
          <p:nvPr/>
        </p:nvSpPr>
        <p:spPr>
          <a:xfrm xmlns:a="http://schemas.openxmlformats.org/drawingml/2006/main">
            <a:off x="952500" y="2571750"/>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02D50"/>
                </a:solidFill>
                <a:latin typeface="Tahoma"/>
                <a:ea typeface="Tahoma"/>
                <a:cs typeface="Tahoma"/>
              </a:defRPr>
            </a:pPr>
            <a:r>
              <a:rPr sz="2025" b="1">
                <a:solidFill>
                  <a:srgbClr val="102D50"/>
                </a:solidFill>
                <a:latin typeface="Tahoma"/>
                <a:ea typeface="Tahoma"/>
                <a:cs typeface="Tahoma"/>
              </a:rPr>
              <a:t>Proceed to compare</a:t>
            </a:r>
          </a:p>
        </p:txBody>
      </p:sp>
      <p:sp>
        <p:nvSpPr>
          <p:cNvPr id="4" name="diagram-186">
            <a:extLst xmlns:a="http://schemas.openxmlformats.org/drawingml/2006/main">
              <a:ext uri="{FF2B5EF4-FFF2-40B4-BE49-F238E27FC236}">
                <a16:creationId xmlns:a16="http://schemas.microsoft.com/office/drawing/2014/main" id="{58D5CA7B-58D8-45C5-BA3E-A965D6FCC72C}"/>
              </a:ext>
            </a:extLst>
          </p:cNvPr>
          <p:cNvSpPr>
            <a:spLocks xmlns:a="http://schemas.openxmlformats.org/drawingml/2006/main" noGrp="1"/>
          </p:cNvSpPr>
          <p:nvPr/>
        </p:nvSpPr>
        <p:spPr>
          <a:xfrm xmlns:a="http://schemas.openxmlformats.org/drawingml/2006/main">
            <a:off x="952500" y="3429000"/>
            <a:ext cx="295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No stop condition identified</a:t>
            </a:r>
          </a:p>
        </p:txBody>
      </p:sp>
      <p:sp>
        <p:nvSpPr>
          <p:cNvPr id="5" name="diagram-187">
            <a:extLst xmlns:a="http://schemas.openxmlformats.org/drawingml/2006/main">
              <a:ext uri="{FF2B5EF4-FFF2-40B4-BE49-F238E27FC236}">
                <a16:creationId xmlns:a16="http://schemas.microsoft.com/office/drawing/2014/main" id="{A30B8706-F60B-4B1B-8932-8AFACE6AB08B}"/>
              </a:ext>
            </a:extLst>
          </p:cNvPr>
          <p:cNvSpPr>
            <a:spLocks xmlns:a="http://schemas.openxmlformats.org/drawingml/2006/main" noGrp="1"/>
          </p:cNvSpPr>
          <p:nvPr/>
        </p:nvSpPr>
        <p:spPr>
          <a:xfrm xmlns:a="http://schemas.openxmlformats.org/drawingml/2006/main">
            <a:off x="4381500" y="2333625"/>
            <a:ext cx="3333750" cy="19526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6" name="diagram-188">
            <a:extLst xmlns:a="http://schemas.openxmlformats.org/drawingml/2006/main">
              <a:ext uri="{FF2B5EF4-FFF2-40B4-BE49-F238E27FC236}">
                <a16:creationId xmlns:a16="http://schemas.microsoft.com/office/drawing/2014/main" id="{7215AAEF-8719-46DA-ACAA-B394ABCF40D4}"/>
              </a:ext>
            </a:extLst>
          </p:cNvPr>
          <p:cNvSpPr>
            <a:spLocks xmlns:a="http://schemas.openxmlformats.org/drawingml/2006/main" noGrp="1"/>
          </p:cNvSpPr>
          <p:nvPr/>
        </p:nvSpPr>
        <p:spPr>
          <a:xfrm xmlns:a="http://schemas.openxmlformats.org/drawingml/2006/main">
            <a:off x="4572000" y="2571750"/>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02D50"/>
                </a:solidFill>
                <a:latin typeface="Tahoma"/>
                <a:ea typeface="Tahoma"/>
                <a:cs typeface="Tahoma"/>
              </a:defRPr>
            </a:pPr>
            <a:r>
              <a:rPr sz="2025" b="1">
                <a:solidFill>
                  <a:srgbClr val="102D50"/>
                </a:solidFill>
                <a:latin typeface="Tahoma"/>
                <a:ea typeface="Tahoma"/>
                <a:cs typeface="Tahoma"/>
              </a:rPr>
              <a:t>Explore after validation</a:t>
            </a:r>
          </a:p>
        </p:txBody>
      </p:sp>
      <p:sp>
        <p:nvSpPr>
          <p:cNvPr id="7" name="diagram-189">
            <a:extLst xmlns:a="http://schemas.openxmlformats.org/drawingml/2006/main">
              <a:ext uri="{FF2B5EF4-FFF2-40B4-BE49-F238E27FC236}">
                <a16:creationId xmlns:a16="http://schemas.microsoft.com/office/drawing/2014/main" id="{83F66581-441F-42AA-B8DE-A0D048B17986}"/>
              </a:ext>
            </a:extLst>
          </p:cNvPr>
          <p:cNvSpPr>
            <a:spLocks xmlns:a="http://schemas.openxmlformats.org/drawingml/2006/main" noGrp="1"/>
          </p:cNvSpPr>
          <p:nvPr/>
        </p:nvSpPr>
        <p:spPr>
          <a:xfrm xmlns:a="http://schemas.openxmlformats.org/drawingml/2006/main">
            <a:off x="4572000" y="3429000"/>
            <a:ext cx="295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A responsible role must validate a gap</a:t>
            </a:r>
          </a:p>
        </p:txBody>
      </p:sp>
      <p:sp>
        <p:nvSpPr>
          <p:cNvPr id="8" name="diagram-190">
            <a:extLst xmlns:a="http://schemas.openxmlformats.org/drawingml/2006/main">
              <a:ext uri="{FF2B5EF4-FFF2-40B4-BE49-F238E27FC236}">
                <a16:creationId xmlns:a16="http://schemas.microsoft.com/office/drawing/2014/main" id="{F3747545-BB6D-4B09-A7FB-8D534C0E13FF}"/>
              </a:ext>
            </a:extLst>
          </p:cNvPr>
          <p:cNvSpPr>
            <a:spLocks xmlns:a="http://schemas.openxmlformats.org/drawingml/2006/main" noGrp="1"/>
          </p:cNvSpPr>
          <p:nvPr/>
        </p:nvSpPr>
        <p:spPr>
          <a:xfrm xmlns:a="http://schemas.openxmlformats.org/drawingml/2006/main">
            <a:off x="8001000" y="2333625"/>
            <a:ext cx="3333750" cy="1952625"/>
          </a:xfrm>
          <a:prstGeom xmlns:a="http://schemas.openxmlformats.org/drawingml/2006/main" prst="rect">
            <a:avLst/>
          </a:prstGeom>
          <a:solidFill xmlns:a="http://schemas.openxmlformats.org/drawingml/2006/main">
            <a:srgbClr val="FFF0D9"/>
          </a:solidFill>
          <a:ln xmlns:a="http://schemas.openxmlformats.org/drawingml/2006/main" w="0">
            <a:noFill/>
          </a:ln>
        </p:spPr>
      </p:sp>
      <p:sp>
        <p:nvSpPr>
          <p:cNvPr id="9" name="diagram-191">
            <a:extLst xmlns:a="http://schemas.openxmlformats.org/drawingml/2006/main">
              <a:ext uri="{FF2B5EF4-FFF2-40B4-BE49-F238E27FC236}">
                <a16:creationId xmlns:a16="http://schemas.microsoft.com/office/drawing/2014/main" id="{639531BB-F2D7-4D79-AE19-C0FEC3B74452}"/>
              </a:ext>
            </a:extLst>
          </p:cNvPr>
          <p:cNvSpPr>
            <a:spLocks xmlns:a="http://schemas.openxmlformats.org/drawingml/2006/main" noGrp="1"/>
          </p:cNvSpPr>
          <p:nvPr/>
        </p:nvSpPr>
        <p:spPr>
          <a:xfrm xmlns:a="http://schemas.openxmlformats.org/drawingml/2006/main">
            <a:off x="8191500" y="2571750"/>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02D50"/>
                </a:solidFill>
                <a:latin typeface="Tahoma"/>
                <a:ea typeface="Tahoma"/>
                <a:cs typeface="Tahoma"/>
              </a:defRPr>
            </a:pPr>
            <a:r>
              <a:rPr sz="2025" b="1">
                <a:solidFill>
                  <a:srgbClr val="102D50"/>
                </a:solidFill>
                <a:latin typeface="Tahoma"/>
                <a:ea typeface="Tahoma"/>
                <a:cs typeface="Tahoma"/>
              </a:rPr>
              <a:t>Do not progress in this workshop</a:t>
            </a:r>
          </a:p>
        </p:txBody>
      </p:sp>
      <p:sp>
        <p:nvSpPr>
          <p:cNvPr id="10" name="diagram-192">
            <a:extLst xmlns:a="http://schemas.openxmlformats.org/drawingml/2006/main">
              <a:ext uri="{FF2B5EF4-FFF2-40B4-BE49-F238E27FC236}">
                <a16:creationId xmlns:a16="http://schemas.microsoft.com/office/drawing/2014/main" id="{6FFA1045-9DF5-46EE-8190-063E0964B8E7}"/>
              </a:ext>
            </a:extLst>
          </p:cNvPr>
          <p:cNvSpPr>
            <a:spLocks xmlns:a="http://schemas.openxmlformats.org/drawingml/2006/main" noGrp="1"/>
          </p:cNvSpPr>
          <p:nvPr/>
        </p:nvSpPr>
        <p:spPr>
          <a:xfrm xmlns:a="http://schemas.openxmlformats.org/drawingml/2006/main">
            <a:off x="8191500" y="3429000"/>
            <a:ext cx="295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Stop condition remains</a:t>
            </a:r>
          </a:p>
        </p:txBody>
      </p:sp>
      <p:sp>
        <p:nvSpPr>
          <p:cNvPr id="11" name="diagram-193">
            <a:extLst xmlns:a="http://schemas.openxmlformats.org/drawingml/2006/main">
              <a:ext uri="{FF2B5EF4-FFF2-40B4-BE49-F238E27FC236}">
                <a16:creationId xmlns:a16="http://schemas.microsoft.com/office/drawing/2014/main" id="{6E212BC3-643F-4C18-88C1-9F5F0FF15178}"/>
              </a:ext>
            </a:extLst>
          </p:cNvPr>
          <p:cNvSpPr>
            <a:spLocks xmlns:a="http://schemas.openxmlformats.org/drawingml/2006/main" noGrp="1"/>
          </p:cNvSpPr>
          <p:nvPr/>
        </p:nvSpPr>
        <p:spPr>
          <a:xfrm xmlns:a="http://schemas.openxmlformats.org/drawingml/2006/main">
            <a:off x="762000" y="47625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76D13"/>
                </a:solidFill>
                <a:latin typeface="Tahoma"/>
                <a:ea typeface="Tahoma"/>
                <a:cs typeface="Tahoma"/>
              </a:defRPr>
            </a:pPr>
            <a:r>
              <a:rPr sz="1875" b="1">
                <a:solidFill>
                  <a:srgbClr val="B76D13"/>
                </a:solidFill>
                <a:latin typeface="Tahoma"/>
                <a:ea typeface="Tahoma"/>
                <a:cs typeface="Tahoma"/>
              </a:rPr>
              <a:t>Stop: sensitive data · material harm · unstable rules · frequent unowned exceptions · missing owner</a:t>
            </a:r>
          </a:p>
        </p:txBody>
      </p:sp>
    </p:spTree>
    <p:extLst>
      <p:ext uri="{BB962C8B-B14F-4D97-AF65-F5344CB8AC3E}">
        <p14:creationId xmlns:p14="http://schemas.microsoft.com/office/powerpoint/2010/main" val="1932318543"/>
      </p:ext>
    </p:extLst>
  </p:cSld>
</p:sld>
</file>

<file path=ppt/slides/slide2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30" name="diagram-194">
            <a:extLst xmlns:a="http://schemas.openxmlformats.org/drawingml/2006/main">
              <a:ext uri="{FF2B5EF4-FFF2-40B4-BE49-F238E27FC236}">
                <a16:creationId xmlns:a16="http://schemas.microsoft.com/office/drawing/2014/main" id="{EFE74C84-D432-4C14-83FD-70739930D186}"/>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3 · PRACTICES 1–2</a:t>
            </a:r>
          </a:p>
        </p:txBody>
      </p:sp>
      <p:sp>
        <p:nvSpPr>
          <p:cNvPr id="2" name="diagram-195">
            <a:extLst xmlns:a="http://schemas.openxmlformats.org/drawingml/2006/main">
              <a:ext uri="{FF2B5EF4-FFF2-40B4-BE49-F238E27FC236}">
                <a16:creationId xmlns:a16="http://schemas.microsoft.com/office/drawing/2014/main" id="{4272D28C-63B2-44CE-8A26-F99B327D1EC7}"/>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Compare eligible opportunities</a:t>
            </a:r>
          </a:p>
        </p:txBody>
      </p:sp>
      <p:sp>
        <p:nvSpPr>
          <p:cNvPr id="3" name="diagram-196">
            <a:extLst xmlns:a="http://schemas.openxmlformats.org/drawingml/2006/main">
              <a:ext uri="{FF2B5EF4-FFF2-40B4-BE49-F238E27FC236}">
                <a16:creationId xmlns:a16="http://schemas.microsoft.com/office/drawing/2014/main" id="{6A6F62AC-4B0E-49B4-913C-7BFB540761A0}"/>
              </a:ext>
            </a:extLst>
          </p:cNvPr>
          <p:cNvSpPr>
            <a:spLocks xmlns:a="http://schemas.openxmlformats.org/drawingml/2006/main" noGrp="1"/>
          </p:cNvSpPr>
          <p:nvPr/>
        </p:nvSpPr>
        <p:spPr>
          <a:xfrm xmlns:a="http://schemas.openxmlformats.org/drawingml/2006/main">
            <a:off x="762000" y="2124075"/>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D50"/>
                </a:solidFill>
                <a:latin typeface="Tahoma"/>
                <a:ea typeface="Tahoma"/>
                <a:cs typeface="Tahoma"/>
              </a:defRPr>
            </a:pPr>
            <a:r>
              <a:rPr sz="2175" b="1">
                <a:solidFill>
                  <a:srgbClr val="102D50"/>
                </a:solidFill>
                <a:latin typeface="Tahoma"/>
                <a:ea typeface="Tahoma"/>
                <a:cs typeface="Tahoma"/>
              </a:rPr>
              <a:t>Impact</a:t>
            </a:r>
          </a:p>
        </p:txBody>
      </p:sp>
      <p:sp>
        <p:nvSpPr>
          <p:cNvPr id="4" name="diagram-197">
            <a:extLst xmlns:a="http://schemas.openxmlformats.org/drawingml/2006/main">
              <a:ext uri="{FF2B5EF4-FFF2-40B4-BE49-F238E27FC236}">
                <a16:creationId xmlns:a16="http://schemas.microsoft.com/office/drawing/2014/main" id="{41B39950-3D2E-4FAE-AA59-051B5288414A}"/>
              </a:ext>
            </a:extLst>
          </p:cNvPr>
          <p:cNvSpPr>
            <a:spLocks xmlns:a="http://schemas.openxmlformats.org/drawingml/2006/main" noGrp="1"/>
          </p:cNvSpPr>
          <p:nvPr/>
        </p:nvSpPr>
        <p:spPr>
          <a:xfrm xmlns:a="http://schemas.openxmlformats.org/drawingml/2006/main">
            <a:off x="3333750" y="2047875"/>
            <a:ext cx="762000" cy="6000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198">
            <a:extLst xmlns:a="http://schemas.openxmlformats.org/drawingml/2006/main">
              <a:ext uri="{FF2B5EF4-FFF2-40B4-BE49-F238E27FC236}">
                <a16:creationId xmlns:a16="http://schemas.microsoft.com/office/drawing/2014/main" id="{08EE7966-D2BC-4142-BF49-7B648201AAA0}"/>
              </a:ext>
            </a:extLst>
          </p:cNvPr>
          <p:cNvSpPr>
            <a:spLocks xmlns:a="http://schemas.openxmlformats.org/drawingml/2006/main" noGrp="1"/>
          </p:cNvSpPr>
          <p:nvPr/>
        </p:nvSpPr>
        <p:spPr>
          <a:xfrm xmlns:a="http://schemas.openxmlformats.org/drawingml/2006/main">
            <a:off x="3505200" y="2190750"/>
            <a:ext cx="419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8324B"/>
                </a:solidFill>
                <a:latin typeface="Tahoma"/>
                <a:ea typeface="Tahoma"/>
                <a:cs typeface="Tahoma"/>
              </a:defRPr>
            </a:pPr>
            <a:r>
              <a:rPr sz="1950" b="1">
                <a:solidFill>
                  <a:srgbClr val="18324B"/>
                </a:solidFill>
                <a:latin typeface="Tahoma"/>
                <a:ea typeface="Tahoma"/>
                <a:cs typeface="Tahoma"/>
              </a:rPr>
              <a:t>1</a:t>
            </a:r>
          </a:p>
        </p:txBody>
      </p:sp>
      <p:sp>
        <p:nvSpPr>
          <p:cNvPr id="6" name="diagram-199">
            <a:extLst xmlns:a="http://schemas.openxmlformats.org/drawingml/2006/main">
              <a:ext uri="{FF2B5EF4-FFF2-40B4-BE49-F238E27FC236}">
                <a16:creationId xmlns:a16="http://schemas.microsoft.com/office/drawing/2014/main" id="{8925C55D-981D-44A0-B20A-753F4353D7A8}"/>
              </a:ext>
            </a:extLst>
          </p:cNvPr>
          <p:cNvSpPr>
            <a:spLocks xmlns:a="http://schemas.openxmlformats.org/drawingml/2006/main" noGrp="1"/>
          </p:cNvSpPr>
          <p:nvPr/>
        </p:nvSpPr>
        <p:spPr>
          <a:xfrm xmlns:a="http://schemas.openxmlformats.org/drawingml/2006/main">
            <a:off x="4429125" y="2047875"/>
            <a:ext cx="762000" cy="6000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7" name="diagram-200">
            <a:extLst xmlns:a="http://schemas.openxmlformats.org/drawingml/2006/main">
              <a:ext uri="{FF2B5EF4-FFF2-40B4-BE49-F238E27FC236}">
                <a16:creationId xmlns:a16="http://schemas.microsoft.com/office/drawing/2014/main" id="{75ED44E4-F799-417C-8531-83C8D19A3627}"/>
              </a:ext>
            </a:extLst>
          </p:cNvPr>
          <p:cNvSpPr>
            <a:spLocks xmlns:a="http://schemas.openxmlformats.org/drawingml/2006/main" noGrp="1"/>
          </p:cNvSpPr>
          <p:nvPr/>
        </p:nvSpPr>
        <p:spPr>
          <a:xfrm xmlns:a="http://schemas.openxmlformats.org/drawingml/2006/main">
            <a:off x="4600575" y="2190750"/>
            <a:ext cx="419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8324B"/>
                </a:solidFill>
                <a:latin typeface="Tahoma"/>
                <a:ea typeface="Tahoma"/>
                <a:cs typeface="Tahoma"/>
              </a:defRPr>
            </a:pPr>
            <a:r>
              <a:rPr sz="1950" b="1">
                <a:solidFill>
                  <a:srgbClr val="18324B"/>
                </a:solidFill>
                <a:latin typeface="Tahoma"/>
                <a:ea typeface="Tahoma"/>
                <a:cs typeface="Tahoma"/>
              </a:rPr>
              <a:t>2</a:t>
            </a:r>
          </a:p>
        </p:txBody>
      </p:sp>
      <p:sp>
        <p:nvSpPr>
          <p:cNvPr id="8" name="diagram-201">
            <a:extLst xmlns:a="http://schemas.openxmlformats.org/drawingml/2006/main">
              <a:ext uri="{FF2B5EF4-FFF2-40B4-BE49-F238E27FC236}">
                <a16:creationId xmlns:a16="http://schemas.microsoft.com/office/drawing/2014/main" id="{B2B30724-668C-4FF7-91BF-84445E686278}"/>
              </a:ext>
            </a:extLst>
          </p:cNvPr>
          <p:cNvSpPr>
            <a:spLocks xmlns:a="http://schemas.openxmlformats.org/drawingml/2006/main" noGrp="1"/>
          </p:cNvSpPr>
          <p:nvPr/>
        </p:nvSpPr>
        <p:spPr>
          <a:xfrm xmlns:a="http://schemas.openxmlformats.org/drawingml/2006/main">
            <a:off x="5524500" y="2047875"/>
            <a:ext cx="762000" cy="6000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9" name="diagram-202">
            <a:extLst xmlns:a="http://schemas.openxmlformats.org/drawingml/2006/main">
              <a:ext uri="{FF2B5EF4-FFF2-40B4-BE49-F238E27FC236}">
                <a16:creationId xmlns:a16="http://schemas.microsoft.com/office/drawing/2014/main" id="{141B7771-DE89-44C2-92CF-D39C77C0AC85}"/>
              </a:ext>
            </a:extLst>
          </p:cNvPr>
          <p:cNvSpPr>
            <a:spLocks xmlns:a="http://schemas.openxmlformats.org/drawingml/2006/main" noGrp="1"/>
          </p:cNvSpPr>
          <p:nvPr/>
        </p:nvSpPr>
        <p:spPr>
          <a:xfrm xmlns:a="http://schemas.openxmlformats.org/drawingml/2006/main">
            <a:off x="5695950" y="2190750"/>
            <a:ext cx="419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8324B"/>
                </a:solidFill>
                <a:latin typeface="Tahoma"/>
                <a:ea typeface="Tahoma"/>
                <a:cs typeface="Tahoma"/>
              </a:defRPr>
            </a:pPr>
            <a:r>
              <a:rPr sz="1950" b="1">
                <a:solidFill>
                  <a:srgbClr val="18324B"/>
                </a:solidFill>
                <a:latin typeface="Tahoma"/>
                <a:ea typeface="Tahoma"/>
                <a:cs typeface="Tahoma"/>
              </a:rPr>
              <a:t>3</a:t>
            </a:r>
          </a:p>
        </p:txBody>
      </p:sp>
      <p:sp>
        <p:nvSpPr>
          <p:cNvPr id="10" name="diagram-203">
            <a:extLst xmlns:a="http://schemas.openxmlformats.org/drawingml/2006/main">
              <a:ext uri="{FF2B5EF4-FFF2-40B4-BE49-F238E27FC236}">
                <a16:creationId xmlns:a16="http://schemas.microsoft.com/office/drawing/2014/main" id="{91860DBB-E7EB-4FD4-A931-379F58A6D627}"/>
              </a:ext>
            </a:extLst>
          </p:cNvPr>
          <p:cNvSpPr>
            <a:spLocks xmlns:a="http://schemas.openxmlformats.org/drawingml/2006/main" noGrp="1"/>
          </p:cNvSpPr>
          <p:nvPr/>
        </p:nvSpPr>
        <p:spPr>
          <a:xfrm xmlns:a="http://schemas.openxmlformats.org/drawingml/2006/main">
            <a:off x="7239000" y="2124075"/>
            <a:ext cx="409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Which outcome is affected?</a:t>
            </a:r>
          </a:p>
        </p:txBody>
      </p:sp>
      <p:sp>
        <p:nvSpPr>
          <p:cNvPr id="11" name="diagram-204">
            <a:extLst xmlns:a="http://schemas.openxmlformats.org/drawingml/2006/main">
              <a:ext uri="{FF2B5EF4-FFF2-40B4-BE49-F238E27FC236}">
                <a16:creationId xmlns:a16="http://schemas.microsoft.com/office/drawing/2014/main" id="{983F822F-CCFB-41B2-AAE4-4156302918EB}"/>
              </a:ext>
            </a:extLst>
          </p:cNvPr>
          <p:cNvSpPr>
            <a:spLocks xmlns:a="http://schemas.openxmlformats.org/drawingml/2006/main" noGrp="1"/>
          </p:cNvSpPr>
          <p:nvPr/>
        </p:nvSpPr>
        <p:spPr>
          <a:xfrm xmlns:a="http://schemas.openxmlformats.org/drawingml/2006/main">
            <a:off x="762000" y="3000375"/>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D50"/>
                </a:solidFill>
                <a:latin typeface="Tahoma"/>
                <a:ea typeface="Tahoma"/>
                <a:cs typeface="Tahoma"/>
              </a:defRPr>
            </a:pPr>
            <a:r>
              <a:rPr sz="2175" b="1">
                <a:solidFill>
                  <a:srgbClr val="102D50"/>
                </a:solidFill>
                <a:latin typeface="Tahoma"/>
                <a:ea typeface="Tahoma"/>
                <a:cs typeface="Tahoma"/>
              </a:rPr>
              <a:t>Frequency</a:t>
            </a:r>
          </a:p>
        </p:txBody>
      </p:sp>
      <p:sp>
        <p:nvSpPr>
          <p:cNvPr id="12" name="diagram-205">
            <a:extLst xmlns:a="http://schemas.openxmlformats.org/drawingml/2006/main">
              <a:ext uri="{FF2B5EF4-FFF2-40B4-BE49-F238E27FC236}">
                <a16:creationId xmlns:a16="http://schemas.microsoft.com/office/drawing/2014/main" id="{F30753F8-26E5-4A8D-8D89-54A24243DDCD}"/>
              </a:ext>
            </a:extLst>
          </p:cNvPr>
          <p:cNvSpPr>
            <a:spLocks xmlns:a="http://schemas.openxmlformats.org/drawingml/2006/main" noGrp="1"/>
          </p:cNvSpPr>
          <p:nvPr/>
        </p:nvSpPr>
        <p:spPr>
          <a:xfrm xmlns:a="http://schemas.openxmlformats.org/drawingml/2006/main">
            <a:off x="3333750" y="2924175"/>
            <a:ext cx="762000" cy="6000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3" name="diagram-206">
            <a:extLst xmlns:a="http://schemas.openxmlformats.org/drawingml/2006/main">
              <a:ext uri="{FF2B5EF4-FFF2-40B4-BE49-F238E27FC236}">
                <a16:creationId xmlns:a16="http://schemas.microsoft.com/office/drawing/2014/main" id="{72B0F38E-6357-4AFF-94F5-92B851B30562}"/>
              </a:ext>
            </a:extLst>
          </p:cNvPr>
          <p:cNvSpPr>
            <a:spLocks xmlns:a="http://schemas.openxmlformats.org/drawingml/2006/main" noGrp="1"/>
          </p:cNvSpPr>
          <p:nvPr/>
        </p:nvSpPr>
        <p:spPr>
          <a:xfrm xmlns:a="http://schemas.openxmlformats.org/drawingml/2006/main">
            <a:off x="3505200" y="3067050"/>
            <a:ext cx="419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8324B"/>
                </a:solidFill>
                <a:latin typeface="Tahoma"/>
                <a:ea typeface="Tahoma"/>
                <a:cs typeface="Tahoma"/>
              </a:defRPr>
            </a:pPr>
            <a:r>
              <a:rPr sz="1950" b="1">
                <a:solidFill>
                  <a:srgbClr val="18324B"/>
                </a:solidFill>
                <a:latin typeface="Tahoma"/>
                <a:ea typeface="Tahoma"/>
                <a:cs typeface="Tahoma"/>
              </a:rPr>
              <a:t>1</a:t>
            </a:r>
          </a:p>
        </p:txBody>
      </p:sp>
      <p:sp>
        <p:nvSpPr>
          <p:cNvPr id="14" name="diagram-207">
            <a:extLst xmlns:a="http://schemas.openxmlformats.org/drawingml/2006/main">
              <a:ext uri="{FF2B5EF4-FFF2-40B4-BE49-F238E27FC236}">
                <a16:creationId xmlns:a16="http://schemas.microsoft.com/office/drawing/2014/main" id="{911BBF38-20E7-4C06-9084-8843ED251E92}"/>
              </a:ext>
            </a:extLst>
          </p:cNvPr>
          <p:cNvSpPr>
            <a:spLocks xmlns:a="http://schemas.openxmlformats.org/drawingml/2006/main" noGrp="1"/>
          </p:cNvSpPr>
          <p:nvPr/>
        </p:nvSpPr>
        <p:spPr>
          <a:xfrm xmlns:a="http://schemas.openxmlformats.org/drawingml/2006/main">
            <a:off x="4429125" y="2924175"/>
            <a:ext cx="762000" cy="6000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5" name="diagram-208">
            <a:extLst xmlns:a="http://schemas.openxmlformats.org/drawingml/2006/main">
              <a:ext uri="{FF2B5EF4-FFF2-40B4-BE49-F238E27FC236}">
                <a16:creationId xmlns:a16="http://schemas.microsoft.com/office/drawing/2014/main" id="{5458EE19-2604-407A-83D9-E738B1943165}"/>
              </a:ext>
            </a:extLst>
          </p:cNvPr>
          <p:cNvSpPr>
            <a:spLocks xmlns:a="http://schemas.openxmlformats.org/drawingml/2006/main" noGrp="1"/>
          </p:cNvSpPr>
          <p:nvPr/>
        </p:nvSpPr>
        <p:spPr>
          <a:xfrm xmlns:a="http://schemas.openxmlformats.org/drawingml/2006/main">
            <a:off x="4600575" y="3067050"/>
            <a:ext cx="419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8324B"/>
                </a:solidFill>
                <a:latin typeface="Tahoma"/>
                <a:ea typeface="Tahoma"/>
                <a:cs typeface="Tahoma"/>
              </a:defRPr>
            </a:pPr>
            <a:r>
              <a:rPr sz="1950" b="1">
                <a:solidFill>
                  <a:srgbClr val="18324B"/>
                </a:solidFill>
                <a:latin typeface="Tahoma"/>
                <a:ea typeface="Tahoma"/>
                <a:cs typeface="Tahoma"/>
              </a:rPr>
              <a:t>2</a:t>
            </a:r>
          </a:p>
        </p:txBody>
      </p:sp>
      <p:sp>
        <p:nvSpPr>
          <p:cNvPr id="16" name="diagram-209">
            <a:extLst xmlns:a="http://schemas.openxmlformats.org/drawingml/2006/main">
              <a:ext uri="{FF2B5EF4-FFF2-40B4-BE49-F238E27FC236}">
                <a16:creationId xmlns:a16="http://schemas.microsoft.com/office/drawing/2014/main" id="{AD9EE261-6BA6-4805-B993-104F31FC2C04}"/>
              </a:ext>
            </a:extLst>
          </p:cNvPr>
          <p:cNvSpPr>
            <a:spLocks xmlns:a="http://schemas.openxmlformats.org/drawingml/2006/main" noGrp="1"/>
          </p:cNvSpPr>
          <p:nvPr/>
        </p:nvSpPr>
        <p:spPr>
          <a:xfrm xmlns:a="http://schemas.openxmlformats.org/drawingml/2006/main">
            <a:off x="5524500" y="2924175"/>
            <a:ext cx="762000" cy="6000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7" name="diagram-210">
            <a:extLst xmlns:a="http://schemas.openxmlformats.org/drawingml/2006/main">
              <a:ext uri="{FF2B5EF4-FFF2-40B4-BE49-F238E27FC236}">
                <a16:creationId xmlns:a16="http://schemas.microsoft.com/office/drawing/2014/main" id="{5B0A40E7-DCAD-43BD-A377-FFD1B4D336AE}"/>
              </a:ext>
            </a:extLst>
          </p:cNvPr>
          <p:cNvSpPr>
            <a:spLocks xmlns:a="http://schemas.openxmlformats.org/drawingml/2006/main" noGrp="1"/>
          </p:cNvSpPr>
          <p:nvPr/>
        </p:nvSpPr>
        <p:spPr>
          <a:xfrm xmlns:a="http://schemas.openxmlformats.org/drawingml/2006/main">
            <a:off x="5695950" y="3067050"/>
            <a:ext cx="419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8324B"/>
                </a:solidFill>
                <a:latin typeface="Tahoma"/>
                <a:ea typeface="Tahoma"/>
                <a:cs typeface="Tahoma"/>
              </a:defRPr>
            </a:pPr>
            <a:r>
              <a:rPr sz="1950" b="1">
                <a:solidFill>
                  <a:srgbClr val="18324B"/>
                </a:solidFill>
                <a:latin typeface="Tahoma"/>
                <a:ea typeface="Tahoma"/>
                <a:cs typeface="Tahoma"/>
              </a:rPr>
              <a:t>3</a:t>
            </a:r>
          </a:p>
        </p:txBody>
      </p:sp>
      <p:sp>
        <p:nvSpPr>
          <p:cNvPr id="18" name="diagram-211">
            <a:extLst xmlns:a="http://schemas.openxmlformats.org/drawingml/2006/main">
              <a:ext uri="{FF2B5EF4-FFF2-40B4-BE49-F238E27FC236}">
                <a16:creationId xmlns:a16="http://schemas.microsoft.com/office/drawing/2014/main" id="{8B485A04-C3EB-46D0-978B-C9DDCF1A1ADD}"/>
              </a:ext>
            </a:extLst>
          </p:cNvPr>
          <p:cNvSpPr>
            <a:spLocks xmlns:a="http://schemas.openxmlformats.org/drawingml/2006/main" noGrp="1"/>
          </p:cNvSpPr>
          <p:nvPr/>
        </p:nvSpPr>
        <p:spPr>
          <a:xfrm xmlns:a="http://schemas.openxmlformats.org/drawingml/2006/main">
            <a:off x="7239000" y="3000375"/>
            <a:ext cx="409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How often does it happen?</a:t>
            </a:r>
          </a:p>
        </p:txBody>
      </p:sp>
      <p:sp>
        <p:nvSpPr>
          <p:cNvPr id="19" name="diagram-212">
            <a:extLst xmlns:a="http://schemas.openxmlformats.org/drawingml/2006/main">
              <a:ext uri="{FF2B5EF4-FFF2-40B4-BE49-F238E27FC236}">
                <a16:creationId xmlns:a16="http://schemas.microsoft.com/office/drawing/2014/main" id="{5260C98C-5DBD-4E1D-9991-24F0C8A901A6}"/>
              </a:ext>
            </a:extLst>
          </p:cNvPr>
          <p:cNvSpPr>
            <a:spLocks xmlns:a="http://schemas.openxmlformats.org/drawingml/2006/main" noGrp="1"/>
          </p:cNvSpPr>
          <p:nvPr/>
        </p:nvSpPr>
        <p:spPr>
          <a:xfrm xmlns:a="http://schemas.openxmlformats.org/drawingml/2006/main">
            <a:off x="762000" y="3876675"/>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D50"/>
                </a:solidFill>
                <a:latin typeface="Tahoma"/>
                <a:ea typeface="Tahoma"/>
                <a:cs typeface="Tahoma"/>
              </a:defRPr>
            </a:pPr>
            <a:r>
              <a:rPr sz="2175" b="1">
                <a:solidFill>
                  <a:srgbClr val="102D50"/>
                </a:solidFill>
                <a:latin typeface="Tahoma"/>
                <a:ea typeface="Tahoma"/>
                <a:cs typeface="Tahoma"/>
              </a:rPr>
              <a:t>Readiness</a:t>
            </a:r>
          </a:p>
        </p:txBody>
      </p:sp>
      <p:sp>
        <p:nvSpPr>
          <p:cNvPr id="20" name="diagram-213">
            <a:extLst xmlns:a="http://schemas.openxmlformats.org/drawingml/2006/main">
              <a:ext uri="{FF2B5EF4-FFF2-40B4-BE49-F238E27FC236}">
                <a16:creationId xmlns:a16="http://schemas.microsoft.com/office/drawing/2014/main" id="{073A2AFB-E60F-4263-AE91-87DE451B88CB}"/>
              </a:ext>
            </a:extLst>
          </p:cNvPr>
          <p:cNvSpPr>
            <a:spLocks xmlns:a="http://schemas.openxmlformats.org/drawingml/2006/main" noGrp="1"/>
          </p:cNvSpPr>
          <p:nvPr/>
        </p:nvSpPr>
        <p:spPr>
          <a:xfrm xmlns:a="http://schemas.openxmlformats.org/drawingml/2006/main">
            <a:off x="3333750" y="3800475"/>
            <a:ext cx="762000" cy="6000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21" name="diagram-214">
            <a:extLst xmlns:a="http://schemas.openxmlformats.org/drawingml/2006/main">
              <a:ext uri="{FF2B5EF4-FFF2-40B4-BE49-F238E27FC236}">
                <a16:creationId xmlns:a16="http://schemas.microsoft.com/office/drawing/2014/main" id="{7A0A02BD-1C18-46B3-AD18-0E139004ED41}"/>
              </a:ext>
            </a:extLst>
          </p:cNvPr>
          <p:cNvSpPr>
            <a:spLocks xmlns:a="http://schemas.openxmlformats.org/drawingml/2006/main" noGrp="1"/>
          </p:cNvSpPr>
          <p:nvPr/>
        </p:nvSpPr>
        <p:spPr>
          <a:xfrm xmlns:a="http://schemas.openxmlformats.org/drawingml/2006/main">
            <a:off x="3505200" y="3943350"/>
            <a:ext cx="419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8324B"/>
                </a:solidFill>
                <a:latin typeface="Tahoma"/>
                <a:ea typeface="Tahoma"/>
                <a:cs typeface="Tahoma"/>
              </a:defRPr>
            </a:pPr>
            <a:r>
              <a:rPr sz="1950" b="1">
                <a:solidFill>
                  <a:srgbClr val="18324B"/>
                </a:solidFill>
                <a:latin typeface="Tahoma"/>
                <a:ea typeface="Tahoma"/>
                <a:cs typeface="Tahoma"/>
              </a:rPr>
              <a:t>1</a:t>
            </a:r>
          </a:p>
        </p:txBody>
      </p:sp>
      <p:sp>
        <p:nvSpPr>
          <p:cNvPr id="22" name="diagram-215">
            <a:extLst xmlns:a="http://schemas.openxmlformats.org/drawingml/2006/main">
              <a:ext uri="{FF2B5EF4-FFF2-40B4-BE49-F238E27FC236}">
                <a16:creationId xmlns:a16="http://schemas.microsoft.com/office/drawing/2014/main" id="{2A466CEA-BE5D-416A-A570-1DE1F19F2B9C}"/>
              </a:ext>
            </a:extLst>
          </p:cNvPr>
          <p:cNvSpPr>
            <a:spLocks xmlns:a="http://schemas.openxmlformats.org/drawingml/2006/main" noGrp="1"/>
          </p:cNvSpPr>
          <p:nvPr/>
        </p:nvSpPr>
        <p:spPr>
          <a:xfrm xmlns:a="http://schemas.openxmlformats.org/drawingml/2006/main">
            <a:off x="4429125" y="3800475"/>
            <a:ext cx="762000" cy="6000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23" name="diagram-216">
            <a:extLst xmlns:a="http://schemas.openxmlformats.org/drawingml/2006/main">
              <a:ext uri="{FF2B5EF4-FFF2-40B4-BE49-F238E27FC236}">
                <a16:creationId xmlns:a16="http://schemas.microsoft.com/office/drawing/2014/main" id="{A3288CDE-C2E3-48DC-9944-A8DC5479E6DF}"/>
              </a:ext>
            </a:extLst>
          </p:cNvPr>
          <p:cNvSpPr>
            <a:spLocks xmlns:a="http://schemas.openxmlformats.org/drawingml/2006/main" noGrp="1"/>
          </p:cNvSpPr>
          <p:nvPr/>
        </p:nvSpPr>
        <p:spPr>
          <a:xfrm xmlns:a="http://schemas.openxmlformats.org/drawingml/2006/main">
            <a:off x="4600575" y="3943350"/>
            <a:ext cx="419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8324B"/>
                </a:solidFill>
                <a:latin typeface="Tahoma"/>
                <a:ea typeface="Tahoma"/>
                <a:cs typeface="Tahoma"/>
              </a:defRPr>
            </a:pPr>
            <a:r>
              <a:rPr sz="1950" b="1">
                <a:solidFill>
                  <a:srgbClr val="18324B"/>
                </a:solidFill>
                <a:latin typeface="Tahoma"/>
                <a:ea typeface="Tahoma"/>
                <a:cs typeface="Tahoma"/>
              </a:rPr>
              <a:t>2</a:t>
            </a:r>
          </a:p>
        </p:txBody>
      </p:sp>
      <p:sp>
        <p:nvSpPr>
          <p:cNvPr id="24" name="diagram-217">
            <a:extLst xmlns:a="http://schemas.openxmlformats.org/drawingml/2006/main">
              <a:ext uri="{FF2B5EF4-FFF2-40B4-BE49-F238E27FC236}">
                <a16:creationId xmlns:a16="http://schemas.microsoft.com/office/drawing/2014/main" id="{0C00E9C8-E227-4C38-AE6A-14AF1DDB4FC0}"/>
              </a:ext>
            </a:extLst>
          </p:cNvPr>
          <p:cNvSpPr>
            <a:spLocks xmlns:a="http://schemas.openxmlformats.org/drawingml/2006/main" noGrp="1"/>
          </p:cNvSpPr>
          <p:nvPr/>
        </p:nvSpPr>
        <p:spPr>
          <a:xfrm xmlns:a="http://schemas.openxmlformats.org/drawingml/2006/main">
            <a:off x="5524500" y="3800475"/>
            <a:ext cx="762000" cy="6000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25" name="diagram-218">
            <a:extLst xmlns:a="http://schemas.openxmlformats.org/drawingml/2006/main">
              <a:ext uri="{FF2B5EF4-FFF2-40B4-BE49-F238E27FC236}">
                <a16:creationId xmlns:a16="http://schemas.microsoft.com/office/drawing/2014/main" id="{F1961AF7-22FC-449B-BA14-0D5D313682CB}"/>
              </a:ext>
            </a:extLst>
          </p:cNvPr>
          <p:cNvSpPr>
            <a:spLocks xmlns:a="http://schemas.openxmlformats.org/drawingml/2006/main" noGrp="1"/>
          </p:cNvSpPr>
          <p:nvPr/>
        </p:nvSpPr>
        <p:spPr>
          <a:xfrm xmlns:a="http://schemas.openxmlformats.org/drawingml/2006/main">
            <a:off x="5695950" y="3943350"/>
            <a:ext cx="419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8324B"/>
                </a:solidFill>
                <a:latin typeface="Tahoma"/>
                <a:ea typeface="Tahoma"/>
                <a:cs typeface="Tahoma"/>
              </a:defRPr>
            </a:pPr>
            <a:r>
              <a:rPr sz="1950" b="1">
                <a:solidFill>
                  <a:srgbClr val="18324B"/>
                </a:solidFill>
                <a:latin typeface="Tahoma"/>
                <a:ea typeface="Tahoma"/>
                <a:cs typeface="Tahoma"/>
              </a:rPr>
              <a:t>3</a:t>
            </a:r>
          </a:p>
        </p:txBody>
      </p:sp>
      <p:sp>
        <p:nvSpPr>
          <p:cNvPr id="26" name="diagram-219">
            <a:extLst xmlns:a="http://schemas.openxmlformats.org/drawingml/2006/main">
              <a:ext uri="{FF2B5EF4-FFF2-40B4-BE49-F238E27FC236}">
                <a16:creationId xmlns:a16="http://schemas.microsoft.com/office/drawing/2014/main" id="{CAACF87E-5D70-4E69-A8FD-502CA8AAF55F}"/>
              </a:ext>
            </a:extLst>
          </p:cNvPr>
          <p:cNvSpPr>
            <a:spLocks xmlns:a="http://schemas.openxmlformats.org/drawingml/2006/main" noGrp="1"/>
          </p:cNvSpPr>
          <p:nvPr/>
        </p:nvSpPr>
        <p:spPr>
          <a:xfrm xmlns:a="http://schemas.openxmlformats.org/drawingml/2006/main">
            <a:off x="7239000" y="3876675"/>
            <a:ext cx="409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Are scope, rules, information, and owner clear?</a:t>
            </a:r>
          </a:p>
        </p:txBody>
      </p:sp>
      <p:sp>
        <p:nvSpPr>
          <p:cNvPr id="27" name="diagram-220">
            <a:extLst xmlns:a="http://schemas.openxmlformats.org/drawingml/2006/main">
              <a:ext uri="{FF2B5EF4-FFF2-40B4-BE49-F238E27FC236}">
                <a16:creationId xmlns:a16="http://schemas.microsoft.com/office/drawing/2014/main" id="{02C82378-AC98-4FD4-929B-35405147D316}"/>
              </a:ext>
            </a:extLst>
          </p:cNvPr>
          <p:cNvSpPr>
            <a:spLocks xmlns:a="http://schemas.openxmlformats.org/drawingml/2006/main" noGrp="1"/>
          </p:cNvSpPr>
          <p:nvPr/>
        </p:nvSpPr>
        <p:spPr>
          <a:xfrm xmlns:a="http://schemas.openxmlformats.org/drawingml/2006/main">
            <a:off x="762000" y="4752975"/>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D50"/>
                </a:solidFill>
                <a:latin typeface="Tahoma"/>
                <a:ea typeface="Tahoma"/>
                <a:cs typeface="Tahoma"/>
              </a:defRPr>
            </a:pPr>
            <a:r>
              <a:rPr sz="2175" b="1">
                <a:solidFill>
                  <a:srgbClr val="102D50"/>
                </a:solidFill>
                <a:latin typeface="Tahoma"/>
                <a:ea typeface="Tahoma"/>
                <a:cs typeface="Tahoma"/>
              </a:rPr>
              <a:t>Effort</a:t>
            </a:r>
          </a:p>
        </p:txBody>
      </p:sp>
      <p:sp>
        <p:nvSpPr>
          <p:cNvPr id="28" name="diagram-221">
            <a:extLst xmlns:a="http://schemas.openxmlformats.org/drawingml/2006/main">
              <a:ext uri="{FF2B5EF4-FFF2-40B4-BE49-F238E27FC236}">
                <a16:creationId xmlns:a16="http://schemas.microsoft.com/office/drawing/2014/main" id="{72F5BDF9-AAFB-404C-8DD6-588620C9B69D}"/>
              </a:ext>
            </a:extLst>
          </p:cNvPr>
          <p:cNvSpPr>
            <a:spLocks xmlns:a="http://schemas.openxmlformats.org/drawingml/2006/main" noGrp="1"/>
          </p:cNvSpPr>
          <p:nvPr/>
        </p:nvSpPr>
        <p:spPr>
          <a:xfrm xmlns:a="http://schemas.openxmlformats.org/drawingml/2006/main">
            <a:off x="3333750" y="479107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Low     Medium     High</a:t>
            </a:r>
          </a:p>
        </p:txBody>
      </p:sp>
      <p:sp>
        <p:nvSpPr>
          <p:cNvPr id="29" name="diagram-222">
            <a:extLst xmlns:a="http://schemas.openxmlformats.org/drawingml/2006/main">
              <a:ext uri="{FF2B5EF4-FFF2-40B4-BE49-F238E27FC236}">
                <a16:creationId xmlns:a16="http://schemas.microsoft.com/office/drawing/2014/main" id="{F7EED9E6-4883-4851-B909-1AD48702007C}"/>
              </a:ext>
            </a:extLst>
          </p:cNvPr>
          <p:cNvSpPr>
            <a:spLocks xmlns:a="http://schemas.openxmlformats.org/drawingml/2006/main" noGrp="1"/>
          </p:cNvSpPr>
          <p:nvPr/>
        </p:nvSpPr>
        <p:spPr>
          <a:xfrm xmlns:a="http://schemas.openxmlformats.org/drawingml/2006/main">
            <a:off x="7239000" y="4752975"/>
            <a:ext cx="409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Low / Medium / High</a:t>
            </a:r>
          </a:p>
        </p:txBody>
      </p:sp>
    </p:spTree>
    <p:extLst>
      <p:ext uri="{BB962C8B-B14F-4D97-AF65-F5344CB8AC3E}">
        <p14:creationId xmlns:p14="http://schemas.microsoft.com/office/powerpoint/2010/main" val="2067588310"/>
      </p:ext>
    </p:extLst>
  </p:cSld>
</p:sld>
</file>

<file path=ppt/slides/slide2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5" name="diagram-223">
            <a:extLst xmlns:a="http://schemas.openxmlformats.org/drawingml/2006/main">
              <a:ext uri="{FF2B5EF4-FFF2-40B4-BE49-F238E27FC236}">
                <a16:creationId xmlns:a16="http://schemas.microsoft.com/office/drawing/2014/main" id="{44E356A0-BBC9-4A2E-BEB6-63C9CCFD1213}"/>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3 · PRACTICE 2</a:t>
            </a:r>
          </a:p>
        </p:txBody>
      </p:sp>
      <p:sp>
        <p:nvSpPr>
          <p:cNvPr id="2" name="diagram-224">
            <a:extLst xmlns:a="http://schemas.openxmlformats.org/drawingml/2006/main">
              <a:ext uri="{FF2B5EF4-FFF2-40B4-BE49-F238E27FC236}">
                <a16:creationId xmlns:a16="http://schemas.microsoft.com/office/drawing/2014/main" id="{4E90BF03-51B7-4ECE-929E-D527A349ED85}"/>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A manageable boundary</a:t>
            </a:r>
          </a:p>
        </p:txBody>
      </p:sp>
      <p:sp>
        <p:nvSpPr>
          <p:cNvPr id="3" name="diagram-225">
            <a:extLst xmlns:a="http://schemas.openxmlformats.org/drawingml/2006/main">
              <a:ext uri="{FF2B5EF4-FFF2-40B4-BE49-F238E27FC236}">
                <a16:creationId xmlns:a16="http://schemas.microsoft.com/office/drawing/2014/main" id="{36E879C1-E2F7-459A-84B2-47EF3F7785F6}"/>
              </a:ext>
            </a:extLst>
          </p:cNvPr>
          <p:cNvSpPr>
            <a:spLocks xmlns:a="http://schemas.openxmlformats.org/drawingml/2006/main" noGrp="1"/>
          </p:cNvSpPr>
          <p:nvPr/>
        </p:nvSpPr>
        <p:spPr>
          <a:xfrm xmlns:a="http://schemas.openxmlformats.org/drawingml/2006/main">
            <a:off x="762000" y="2286000"/>
            <a:ext cx="10572750" cy="2619375"/>
          </a:xfrm>
          <a:prstGeom xmlns:a="http://schemas.openxmlformats.org/drawingml/2006/main" prst="rect">
            <a:avLst/>
          </a:prstGeom>
          <a:noFill xmlns:a="http://schemas.openxmlformats.org/drawingml/2006/main"/>
          <a:ln xmlns:a="http://schemas.openxmlformats.org/drawingml/2006/main" w="19050">
            <a:solidFill>
              <a:srgbClr val="174FBA"/>
            </a:solidFill>
          </a:ln>
        </p:spPr>
      </p:sp>
      <p:sp>
        <p:nvSpPr>
          <p:cNvPr id="4" name="diagram-226">
            <a:extLst xmlns:a="http://schemas.openxmlformats.org/drawingml/2006/main">
              <a:ext uri="{FF2B5EF4-FFF2-40B4-BE49-F238E27FC236}">
                <a16:creationId xmlns:a16="http://schemas.microsoft.com/office/drawing/2014/main" id="{19F91F43-FD17-4AE5-AE22-571BDB83F23F}"/>
              </a:ext>
            </a:extLst>
          </p:cNvPr>
          <p:cNvSpPr>
            <a:spLocks xmlns:a="http://schemas.openxmlformats.org/drawingml/2006/main" noGrp="1"/>
          </p:cNvSpPr>
          <p:nvPr/>
        </p:nvSpPr>
        <p:spPr>
          <a:xfrm xmlns:a="http://schemas.openxmlformats.org/drawingml/2006/main">
            <a:off x="1047750" y="2428875"/>
            <a:ext cx="619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4FBA"/>
                </a:solidFill>
                <a:latin typeface="Tahoma"/>
                <a:ea typeface="Tahoma"/>
                <a:cs typeface="Tahoma"/>
              </a:defRPr>
            </a:pPr>
            <a:r>
              <a:rPr sz="2100" b="1">
                <a:solidFill>
                  <a:srgbClr val="174FBA"/>
                </a:solidFill>
                <a:latin typeface="Tahoma"/>
                <a:ea typeface="Tahoma"/>
                <a:cs typeface="Tahoma"/>
              </a:rPr>
              <a:t>Selected boundary</a:t>
            </a:r>
          </a:p>
        </p:txBody>
      </p:sp>
      <p:sp>
        <p:nvSpPr>
          <p:cNvPr id="5" name="diagram-227">
            <a:extLst xmlns:a="http://schemas.openxmlformats.org/drawingml/2006/main">
              <a:ext uri="{FF2B5EF4-FFF2-40B4-BE49-F238E27FC236}">
                <a16:creationId xmlns:a16="http://schemas.microsoft.com/office/drawing/2014/main" id="{7A3C49D7-EB4C-48ED-922A-930A85E400A7}"/>
              </a:ext>
            </a:extLst>
          </p:cNvPr>
          <p:cNvSpPr>
            <a:spLocks xmlns:a="http://schemas.openxmlformats.org/drawingml/2006/main" noGrp="1"/>
          </p:cNvSpPr>
          <p:nvPr/>
        </p:nvSpPr>
        <p:spPr>
          <a:xfrm xmlns:a="http://schemas.openxmlformats.org/drawingml/2006/main">
            <a:off x="762000" y="3190875"/>
            <a:ext cx="325120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6" name="diagram-228">
            <a:extLst xmlns:a="http://schemas.openxmlformats.org/drawingml/2006/main">
              <a:ext uri="{FF2B5EF4-FFF2-40B4-BE49-F238E27FC236}">
                <a16:creationId xmlns:a16="http://schemas.microsoft.com/office/drawing/2014/main" id="{C6522037-4068-4416-B963-C82AFA775324}"/>
              </a:ext>
            </a:extLst>
          </p:cNvPr>
          <p:cNvSpPr>
            <a:spLocks xmlns:a="http://schemas.openxmlformats.org/drawingml/2006/main" noGrp="1"/>
          </p:cNvSpPr>
          <p:nvPr/>
        </p:nvSpPr>
        <p:spPr>
          <a:xfrm xmlns:a="http://schemas.openxmlformats.org/drawingml/2006/main">
            <a:off x="933450" y="3333750"/>
            <a:ext cx="2908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Starts when…</a:t>
            </a:r>
          </a:p>
        </p:txBody>
      </p:sp>
      <p:sp>
        <p:nvSpPr>
          <p:cNvPr id="7" name="diagram-229">
            <a:extLst xmlns:a="http://schemas.openxmlformats.org/drawingml/2006/main">
              <a:ext uri="{FF2B5EF4-FFF2-40B4-BE49-F238E27FC236}">
                <a16:creationId xmlns:a16="http://schemas.microsoft.com/office/drawing/2014/main" id="{EC1F024A-301A-4143-844E-6E1D224F46D1}"/>
              </a:ext>
            </a:extLst>
          </p:cNvPr>
          <p:cNvSpPr>
            <a:spLocks xmlns:a="http://schemas.openxmlformats.org/drawingml/2006/main" noGrp="1"/>
          </p:cNvSpPr>
          <p:nvPr/>
        </p:nvSpPr>
        <p:spPr>
          <a:xfrm xmlns:a="http://schemas.openxmlformats.org/drawingml/2006/main">
            <a:off x="4375150" y="3190875"/>
            <a:ext cx="325120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8" name="diagram-230">
            <a:extLst xmlns:a="http://schemas.openxmlformats.org/drawingml/2006/main">
              <a:ext uri="{FF2B5EF4-FFF2-40B4-BE49-F238E27FC236}">
                <a16:creationId xmlns:a16="http://schemas.microsoft.com/office/drawing/2014/main" id="{9AF31A02-416B-4523-8FF2-47D1CFDCE807}"/>
              </a:ext>
            </a:extLst>
          </p:cNvPr>
          <p:cNvSpPr>
            <a:spLocks xmlns:a="http://schemas.openxmlformats.org/drawingml/2006/main" noGrp="1"/>
          </p:cNvSpPr>
          <p:nvPr/>
        </p:nvSpPr>
        <p:spPr>
          <a:xfrm xmlns:a="http://schemas.openxmlformats.org/drawingml/2006/main">
            <a:off x="4546600" y="3333750"/>
            <a:ext cx="2908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Work to change</a:t>
            </a:r>
          </a:p>
        </p:txBody>
      </p:sp>
      <p:cxnSp>
        <p:nvCxnSpPr>
          <p:cNvPr id="23" name=""/>
          <p:cNvCxnSpPr>
            <a:stCxn xmlns:a="http://schemas.openxmlformats.org/drawingml/2006/main" id="5" idx="3"/>
            <a:endCxn xmlns:a="http://schemas.openxmlformats.org/drawingml/2006/main" id="7" idx="1"/>
          </p:cNvCxnSpPr>
          <p:nvPr/>
        </p:nvCxnSpPr>
        <p:spPr>
          <a:xfrm xmlns:a="http://schemas.openxmlformats.org/drawingml/2006/main">
            <a:off x="4013200" y="3667125"/>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0" name="diagram-231">
            <a:extLst xmlns:a="http://schemas.openxmlformats.org/drawingml/2006/main">
              <a:ext uri="{FF2B5EF4-FFF2-40B4-BE49-F238E27FC236}">
                <a16:creationId xmlns:a16="http://schemas.microsoft.com/office/drawing/2014/main" id="{0591473E-1CB1-4991-AA45-3742B0C8A0E3}"/>
              </a:ext>
            </a:extLst>
          </p:cNvPr>
          <p:cNvSpPr>
            <a:spLocks xmlns:a="http://schemas.openxmlformats.org/drawingml/2006/main" noGrp="1"/>
          </p:cNvSpPr>
          <p:nvPr/>
        </p:nvSpPr>
        <p:spPr>
          <a:xfrm xmlns:a="http://schemas.openxmlformats.org/drawingml/2006/main">
            <a:off x="7988300" y="3190875"/>
            <a:ext cx="325120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1" name="diagram-232">
            <a:extLst xmlns:a="http://schemas.openxmlformats.org/drawingml/2006/main">
              <a:ext uri="{FF2B5EF4-FFF2-40B4-BE49-F238E27FC236}">
                <a16:creationId xmlns:a16="http://schemas.microsoft.com/office/drawing/2014/main" id="{A6F4AB6D-6C0A-40F6-A36E-133DC95E4FD5}"/>
              </a:ext>
            </a:extLst>
          </p:cNvPr>
          <p:cNvSpPr>
            <a:spLocks xmlns:a="http://schemas.openxmlformats.org/drawingml/2006/main" noGrp="1"/>
          </p:cNvSpPr>
          <p:nvPr/>
        </p:nvSpPr>
        <p:spPr>
          <a:xfrm xmlns:a="http://schemas.openxmlformats.org/drawingml/2006/main">
            <a:off x="8159750" y="3333750"/>
            <a:ext cx="2908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Ends when…</a:t>
            </a:r>
          </a:p>
        </p:txBody>
      </p:sp>
      <p:cxnSp>
        <p:nvCxnSpPr>
          <p:cNvPr id="26" name=""/>
          <p:cNvCxnSpPr>
            <a:stCxn xmlns:a="http://schemas.openxmlformats.org/drawingml/2006/main" id="7" idx="3"/>
            <a:endCxn xmlns:a="http://schemas.openxmlformats.org/drawingml/2006/main" id="10" idx="1"/>
          </p:cNvCxnSpPr>
          <p:nvPr/>
        </p:nvCxnSpPr>
        <p:spPr>
          <a:xfrm xmlns:a="http://schemas.openxmlformats.org/drawingml/2006/main">
            <a:off x="7626350" y="3667125"/>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3" name="diagram-233">
            <a:extLst xmlns:a="http://schemas.openxmlformats.org/drawingml/2006/main">
              <a:ext uri="{FF2B5EF4-FFF2-40B4-BE49-F238E27FC236}">
                <a16:creationId xmlns:a16="http://schemas.microsoft.com/office/drawing/2014/main" id="{F899A2F6-2A4F-49F4-8B0C-B829023CDB82}"/>
              </a:ext>
            </a:extLst>
          </p:cNvPr>
          <p:cNvSpPr>
            <a:spLocks xmlns:a="http://schemas.openxmlformats.org/drawingml/2006/main" noGrp="1"/>
          </p:cNvSpPr>
          <p:nvPr/>
        </p:nvSpPr>
        <p:spPr>
          <a:xfrm xmlns:a="http://schemas.openxmlformats.org/drawingml/2006/main">
            <a:off x="952500" y="5191125"/>
            <a:ext cx="5048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8324B"/>
                </a:solidFill>
                <a:latin typeface="Tahoma"/>
                <a:ea typeface="Tahoma"/>
                <a:cs typeface="Tahoma"/>
              </a:defRPr>
            </a:pPr>
            <a:r>
              <a:rPr sz="2250" b="0">
                <a:solidFill>
                  <a:srgbClr val="18324B"/>
                </a:solidFill>
                <a:latin typeface="Tahoma"/>
                <a:ea typeface="Tahoma"/>
                <a:cs typeface="Tahoma"/>
              </a:rPr>
              <a:t>Owner: who is responsible?</a:t>
            </a:r>
          </a:p>
        </p:txBody>
      </p:sp>
      <p:sp>
        <p:nvSpPr>
          <p:cNvPr id="14" name="diagram-234">
            <a:extLst xmlns:a="http://schemas.openxmlformats.org/drawingml/2006/main">
              <a:ext uri="{FF2B5EF4-FFF2-40B4-BE49-F238E27FC236}">
                <a16:creationId xmlns:a16="http://schemas.microsoft.com/office/drawing/2014/main" id="{9877D8E6-4A66-4474-A608-AA2A34547A8A}"/>
              </a:ext>
            </a:extLst>
          </p:cNvPr>
          <p:cNvSpPr>
            <a:spLocks xmlns:a="http://schemas.openxmlformats.org/drawingml/2006/main" noGrp="1"/>
          </p:cNvSpPr>
          <p:nvPr/>
        </p:nvSpPr>
        <p:spPr>
          <a:xfrm xmlns:a="http://schemas.openxmlformats.org/drawingml/2006/main">
            <a:off x="6286500" y="5191125"/>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B76D13"/>
                </a:solidFill>
                <a:latin typeface="Tahoma"/>
                <a:ea typeface="Tahoma"/>
                <a:cs typeface="Tahoma"/>
              </a:defRPr>
            </a:pPr>
            <a:r>
              <a:rPr sz="2250" b="0">
                <a:solidFill>
                  <a:srgbClr val="B76D13"/>
                </a:solidFill>
                <a:latin typeface="Tahoma"/>
                <a:ea typeface="Tahoma"/>
                <a:cs typeface="Tahoma"/>
              </a:rPr>
              <a:t>Outside scope: what is excluded?</a:t>
            </a:r>
          </a:p>
        </p:txBody>
      </p:sp>
    </p:spTree>
    <p:extLst>
      <p:ext uri="{BB962C8B-B14F-4D97-AF65-F5344CB8AC3E}">
        <p14:creationId xmlns:p14="http://schemas.microsoft.com/office/powerpoint/2010/main" val="2051052003"/>
      </p:ext>
    </p:extLst>
  </p:cSld>
</p:sld>
</file>

<file path=ppt/slides/slide2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diagram-235">
            <a:extLst xmlns:a="http://schemas.openxmlformats.org/drawingml/2006/main">
              <a:ext uri="{FF2B5EF4-FFF2-40B4-BE49-F238E27FC236}">
                <a16:creationId xmlns:a16="http://schemas.microsoft.com/office/drawing/2014/main" id="{C2941AA6-5E3D-472F-BA2B-559154E69E03}"/>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3 · PRACTICE 3</a:t>
            </a:r>
          </a:p>
        </p:txBody>
      </p:sp>
      <p:sp>
        <p:nvSpPr>
          <p:cNvPr id="2" name="diagram-236">
            <a:extLst xmlns:a="http://schemas.openxmlformats.org/drawingml/2006/main">
              <a:ext uri="{FF2B5EF4-FFF2-40B4-BE49-F238E27FC236}">
                <a16:creationId xmlns:a16="http://schemas.microsoft.com/office/drawing/2014/main" id="{209C5B23-56E1-4394-8905-EE6055B1327C}"/>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Peer scope review</a:t>
            </a:r>
          </a:p>
        </p:txBody>
      </p:sp>
      <p:sp>
        <p:nvSpPr>
          <p:cNvPr id="3" name="diagram-237">
            <a:extLst xmlns:a="http://schemas.openxmlformats.org/drawingml/2006/main">
              <a:ext uri="{FF2B5EF4-FFF2-40B4-BE49-F238E27FC236}">
                <a16:creationId xmlns:a16="http://schemas.microsoft.com/office/drawing/2014/main" id="{219166FC-6F95-4F3E-A978-7E56AB656DAE}"/>
              </a:ext>
            </a:extLst>
          </p:cNvPr>
          <p:cNvSpPr>
            <a:spLocks xmlns:a="http://schemas.openxmlformats.org/drawingml/2006/main" noGrp="1"/>
          </p:cNvSpPr>
          <p:nvPr/>
        </p:nvSpPr>
        <p:spPr>
          <a:xfrm xmlns:a="http://schemas.openxmlformats.org/drawingml/2006/main">
            <a:off x="952500" y="2762250"/>
            <a:ext cx="4095750" cy="14287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4" name="diagram-238">
            <a:extLst xmlns:a="http://schemas.openxmlformats.org/drawingml/2006/main">
              <a:ext uri="{FF2B5EF4-FFF2-40B4-BE49-F238E27FC236}">
                <a16:creationId xmlns:a16="http://schemas.microsoft.com/office/drawing/2014/main" id="{297F94E4-CA4A-4BAC-959A-E294AFCB34E5}"/>
              </a:ext>
            </a:extLst>
          </p:cNvPr>
          <p:cNvSpPr>
            <a:spLocks xmlns:a="http://schemas.openxmlformats.org/drawingml/2006/main" noGrp="1"/>
          </p:cNvSpPr>
          <p:nvPr/>
        </p:nvSpPr>
        <p:spPr>
          <a:xfrm xmlns:a="http://schemas.openxmlformats.org/drawingml/2006/main">
            <a:off x="1123950" y="2905125"/>
            <a:ext cx="37528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Presenting group</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Opportunity and evidence</a:t>
            </a:r>
          </a:p>
        </p:txBody>
      </p:sp>
      <p:sp>
        <p:nvSpPr>
          <p:cNvPr id="5" name="diagram-239">
            <a:extLst xmlns:a="http://schemas.openxmlformats.org/drawingml/2006/main">
              <a:ext uri="{FF2B5EF4-FFF2-40B4-BE49-F238E27FC236}">
                <a16:creationId xmlns:a16="http://schemas.microsoft.com/office/drawing/2014/main" id="{3301D687-DEF2-4445-B582-9D1E70D6A23F}"/>
              </a:ext>
            </a:extLst>
          </p:cNvPr>
          <p:cNvSpPr>
            <a:spLocks xmlns:a="http://schemas.openxmlformats.org/drawingml/2006/main" noGrp="1"/>
          </p:cNvSpPr>
          <p:nvPr/>
        </p:nvSpPr>
        <p:spPr>
          <a:xfrm xmlns:a="http://schemas.openxmlformats.org/drawingml/2006/main">
            <a:off x="7143750" y="2762250"/>
            <a:ext cx="4095750" cy="14287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6" name="diagram-240">
            <a:extLst xmlns:a="http://schemas.openxmlformats.org/drawingml/2006/main">
              <a:ext uri="{FF2B5EF4-FFF2-40B4-BE49-F238E27FC236}">
                <a16:creationId xmlns:a16="http://schemas.microsoft.com/office/drawing/2014/main" id="{9936121B-FFAC-4749-A0DA-55B5016E056A}"/>
              </a:ext>
            </a:extLst>
          </p:cNvPr>
          <p:cNvSpPr>
            <a:spLocks xmlns:a="http://schemas.openxmlformats.org/drawingml/2006/main" noGrp="1"/>
          </p:cNvSpPr>
          <p:nvPr/>
        </p:nvSpPr>
        <p:spPr>
          <a:xfrm xmlns:a="http://schemas.openxmlformats.org/drawingml/2006/main">
            <a:off x="7315200" y="2905125"/>
            <a:ext cx="37528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Peer group</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Scope and open questions</a:t>
            </a:r>
          </a:p>
        </p:txBody>
      </p:sp>
      <p:cxnSp>
        <p:nvCxnSpPr>
          <p:cNvPr id="15" name=""/>
          <p:cNvCxnSpPr>
            <a:stCxn xmlns:a="http://schemas.openxmlformats.org/drawingml/2006/main" id="3" idx="3"/>
            <a:endCxn xmlns:a="http://schemas.openxmlformats.org/drawingml/2006/main" id="5" idx="1"/>
          </p:cNvCxnSpPr>
          <p:nvPr/>
        </p:nvCxnSpPr>
        <p:spPr>
          <a:xfrm xmlns:a="http://schemas.openxmlformats.org/drawingml/2006/main">
            <a:off x="5048250" y="3476625"/>
            <a:ext cx="209550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8" name="diagram-241">
            <a:extLst xmlns:a="http://schemas.openxmlformats.org/drawingml/2006/main">
              <a:ext uri="{FF2B5EF4-FFF2-40B4-BE49-F238E27FC236}">
                <a16:creationId xmlns:a16="http://schemas.microsoft.com/office/drawing/2014/main" id="{917D08B7-F0B3-4F30-848D-E67C0EDB1E45}"/>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Explain for 2 minutes, discuss for 2 minutes, then swap</a:t>
            </a:r>
          </a:p>
        </p:txBody>
      </p:sp>
    </p:spTree>
    <p:extLst>
      <p:ext uri="{BB962C8B-B14F-4D97-AF65-F5344CB8AC3E}">
        <p14:creationId xmlns:p14="http://schemas.microsoft.com/office/powerpoint/2010/main" val="1797416659"/>
      </p:ext>
    </p:extLst>
  </p:cSld>
</p:sld>
</file>

<file path=ppt/slides/slide2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diagram-242">
            <a:extLst xmlns:a="http://schemas.openxmlformats.org/drawingml/2006/main">
              <a:ext uri="{FF2B5EF4-FFF2-40B4-BE49-F238E27FC236}">
                <a16:creationId xmlns:a16="http://schemas.microsoft.com/office/drawing/2014/main" id="{D416F0E3-B8BB-436D-A681-5435657E2A5E}"/>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The selected bottleneck</a:t>
            </a:r>
          </a:p>
        </p:txBody>
      </p:sp>
      <p:sp>
        <p:nvSpPr>
          <p:cNvPr id="2" name="diagram-243">
            <a:extLst xmlns:a="http://schemas.openxmlformats.org/drawingml/2006/main">
              <a:ext uri="{FF2B5EF4-FFF2-40B4-BE49-F238E27FC236}">
                <a16:creationId xmlns:a16="http://schemas.microsoft.com/office/drawing/2014/main" id="{A81A2B04-2A76-43AD-A7F8-F6C0B7931A7A}"/>
              </a:ext>
            </a:extLst>
          </p:cNvPr>
          <p:cNvSpPr>
            <a:spLocks xmlns:a="http://schemas.openxmlformats.org/drawingml/2006/main" noGrp="1"/>
          </p:cNvSpPr>
          <p:nvPr/>
        </p:nvSpPr>
        <p:spPr>
          <a:xfrm xmlns:a="http://schemas.openxmlformats.org/drawingml/2006/main">
            <a:off x="762000" y="247650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174FBA"/>
                </a:solidFill>
                <a:latin typeface="Tahoma"/>
                <a:ea typeface="Tahoma"/>
                <a:cs typeface="Tahoma"/>
              </a:defRPr>
            </a:pPr>
            <a:r>
              <a:rPr sz="4350" b="1">
                <a:solidFill>
                  <a:srgbClr val="174FBA"/>
                </a:solidFill>
                <a:latin typeface="Tahoma"/>
                <a:ea typeface="Tahoma"/>
                <a:cs typeface="Tahoma"/>
              </a:rPr>
              <a:t>One selected opportunity</a:t>
            </a:r>
          </a:p>
        </p:txBody>
      </p:sp>
      <p:sp>
        <p:nvSpPr>
          <p:cNvPr id="3" name="diagram-244">
            <a:extLst xmlns:a="http://schemas.openxmlformats.org/drawingml/2006/main">
              <a:ext uri="{FF2B5EF4-FFF2-40B4-BE49-F238E27FC236}">
                <a16:creationId xmlns:a16="http://schemas.microsoft.com/office/drawing/2014/main" id="{B39279D4-379E-4775-868B-B95EAE0D6FA4}"/>
              </a:ext>
            </a:extLst>
          </p:cNvPr>
          <p:cNvSpPr>
            <a:spLocks xmlns:a="http://schemas.openxmlformats.org/drawingml/2006/main" noGrp="1"/>
          </p:cNvSpPr>
          <p:nvPr/>
        </p:nvSpPr>
        <p:spPr>
          <a:xfrm xmlns:a="http://schemas.openxmlformats.org/drawingml/2006/main">
            <a:off x="809625" y="3857625"/>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8324B"/>
                </a:solidFill>
                <a:latin typeface="Tahoma"/>
                <a:ea typeface="Tahoma"/>
                <a:cs typeface="Tahoma"/>
              </a:defRPr>
            </a:pPr>
            <a:r>
              <a:rPr sz="2400" b="0">
                <a:solidFill>
                  <a:srgbClr val="18324B"/>
                </a:solidFill>
                <a:latin typeface="Tahoma"/>
                <a:ea typeface="Tahoma"/>
                <a:cs typeface="Tahoma"/>
              </a:rPr>
              <a:t>Evidence-based reason</a:t>
            </a:r>
          </a:p>
        </p:txBody>
      </p:sp>
      <p:sp>
        <p:nvSpPr>
          <p:cNvPr id="4" name="diagram-245">
            <a:extLst xmlns:a="http://schemas.openxmlformats.org/drawingml/2006/main">
              <a:ext uri="{FF2B5EF4-FFF2-40B4-BE49-F238E27FC236}">
                <a16:creationId xmlns:a16="http://schemas.microsoft.com/office/drawing/2014/main" id="{79819E63-B052-4044-9860-745AECD51789}"/>
              </a:ext>
            </a:extLst>
          </p:cNvPr>
          <p:cNvSpPr>
            <a:spLocks xmlns:a="http://schemas.openxmlformats.org/drawingml/2006/main" noGrp="1"/>
          </p:cNvSpPr>
          <p:nvPr/>
        </p:nvSpPr>
        <p:spPr>
          <a:xfrm xmlns:a="http://schemas.openxmlformats.org/drawingml/2006/main">
            <a:off x="6572250" y="385762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8324B"/>
                </a:solidFill>
                <a:latin typeface="Tahoma"/>
                <a:ea typeface="Tahoma"/>
                <a:cs typeface="Tahoma"/>
              </a:defRPr>
            </a:pPr>
            <a:r>
              <a:rPr sz="2400" b="0">
                <a:solidFill>
                  <a:srgbClr val="18324B"/>
                </a:solidFill>
                <a:latin typeface="Tahoma"/>
                <a:ea typeface="Tahoma"/>
                <a:cs typeface="Tahoma"/>
              </a:rPr>
              <a:t>Boundary and owner</a:t>
            </a:r>
          </a:p>
        </p:txBody>
      </p:sp>
      <p:sp>
        <p:nvSpPr>
          <p:cNvPr id="5" name="diagram-246">
            <a:extLst xmlns:a="http://schemas.openxmlformats.org/drawingml/2006/main">
              <a:ext uri="{FF2B5EF4-FFF2-40B4-BE49-F238E27FC236}">
                <a16:creationId xmlns:a16="http://schemas.microsoft.com/office/drawing/2014/main" id="{52D49E3E-028E-4119-B4AF-32401778424D}"/>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Use the same opportunity to design the Blueprint</a:t>
            </a:r>
          </a:p>
        </p:txBody>
      </p:sp>
    </p:spTree>
    <p:extLst>
      <p:ext uri="{BB962C8B-B14F-4D97-AF65-F5344CB8AC3E}">
        <p14:creationId xmlns:p14="http://schemas.microsoft.com/office/powerpoint/2010/main" val="1572020376"/>
      </p:ext>
    </p:extLst>
  </p:cSld>
</p:sld>
</file>

<file path=ppt/slides/slide2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pic>
        <p:nvPicPr>
          <p:cNvPr id="5" name="Leadership workflow blueprint" descr="2D top-down illustration of a leadership team arranging workflow cards with a branch and exception route."/>
          <p:cNvPicPr>
            <a:picLocks xmlns:a="http://schemas.openxmlformats.org/drawingml/2006/main" noChangeAspect="1"/>
          </p:cNvPicPr>
          <p:nvPr/>
        </p:nvPicPr>
        <p:blipFill>
          <a:blip xmlns:r="http://schemas.openxmlformats.org/officeDocument/2006/relationships" xmlns:a="http://schemas.openxmlformats.org/drawingml/2006/main" r:embed="R6d0f695a6bf643c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iagram-247">
            <a:extLst xmlns:a="http://schemas.openxmlformats.org/drawingml/2006/main">
              <a:ext uri="{FF2B5EF4-FFF2-40B4-BE49-F238E27FC236}">
                <a16:creationId xmlns:a16="http://schemas.microsoft.com/office/drawing/2014/main" id="{3CB38955-5D07-41E9-81D2-74C96B80787E}"/>
              </a:ext>
            </a:extLst>
          </p:cNvPr>
          <p:cNvSpPr>
            <a:spLocks xmlns:a="http://schemas.openxmlformats.org/drawingml/2006/main" noGrp="1"/>
          </p:cNvSpPr>
          <p:nvPr/>
        </p:nvSpPr>
        <p:spPr>
          <a:xfrm xmlns:a="http://schemas.openxmlformats.org/drawingml/2006/main">
            <a:off x="619125" y="10477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ABCAE8"/>
                </a:solidFill>
                <a:latin typeface="Tahoma"/>
                <a:ea typeface="Tahoma"/>
                <a:cs typeface="Tahoma"/>
              </a:defRPr>
            </a:pPr>
            <a:r>
              <a:rPr sz="1500" b="1">
                <a:solidFill>
                  <a:srgbClr val="ABCAE8"/>
                </a:solidFill>
                <a:latin typeface="Tahoma"/>
                <a:ea typeface="Tahoma"/>
                <a:cs typeface="Tahoma"/>
              </a:rPr>
              <a:t>MODULE 3</a:t>
            </a:r>
          </a:p>
        </p:txBody>
      </p:sp>
      <p:sp>
        <p:nvSpPr>
          <p:cNvPr id="3" name="diagram-248">
            <a:extLst xmlns:a="http://schemas.openxmlformats.org/drawingml/2006/main">
              <a:ext uri="{FF2B5EF4-FFF2-40B4-BE49-F238E27FC236}">
                <a16:creationId xmlns:a16="http://schemas.microsoft.com/office/drawing/2014/main" id="{FA07B817-8E60-4DB4-BF15-88BEEB72F42E}"/>
              </a:ext>
            </a:extLst>
          </p:cNvPr>
          <p:cNvSpPr>
            <a:spLocks xmlns:a="http://schemas.openxmlformats.org/drawingml/2006/main" noGrp="1"/>
          </p:cNvSpPr>
          <p:nvPr/>
        </p:nvSpPr>
        <p:spPr>
          <a:xfrm xmlns:a="http://schemas.openxmlformats.org/drawingml/2006/main">
            <a:off x="619125" y="1666875"/>
            <a:ext cx="4762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FFFFFF"/>
                </a:solidFill>
                <a:latin typeface="Tahoma"/>
                <a:ea typeface="Tahoma"/>
                <a:cs typeface="Tahoma"/>
              </a:defRPr>
            </a:pPr>
            <a:r>
              <a:rPr sz="3900" b="1">
                <a:solidFill>
                  <a:srgbClr val="FFFFFF"/>
                </a:solidFill>
                <a:latin typeface="Tahoma"/>
                <a:ea typeface="Tahoma"/>
                <a:cs typeface="Tahoma"/>
              </a:rPr>
              <a:t>Strategic</a:t>
            </a:r>
          </a:p>
          <a:p xmlns:a="http://schemas.openxmlformats.org/drawingml/2006/main">
            <a:pPr>
              <a:defRPr sz="3900" b="1">
                <a:solidFill>
                  <a:srgbClr val="FFFFFF"/>
                </a:solidFill>
                <a:latin typeface="Tahoma"/>
                <a:ea typeface="Tahoma"/>
                <a:cs typeface="Tahoma"/>
              </a:defRPr>
            </a:pPr>
            <a:r>
              <a:rPr sz="3900" b="1">
                <a:solidFill>
                  <a:srgbClr val="FFFFFF"/>
                </a:solidFill>
                <a:latin typeface="Tahoma"/>
                <a:ea typeface="Tahoma"/>
                <a:cs typeface="Tahoma"/>
              </a:rPr>
              <a:t>Workflow</a:t>
            </a:r>
          </a:p>
          <a:p xmlns:a="http://schemas.openxmlformats.org/drawingml/2006/main">
            <a:pPr>
              <a:defRPr sz="3900" b="1">
                <a:solidFill>
                  <a:srgbClr val="FFFFFF"/>
                </a:solidFill>
                <a:latin typeface="Tahoma"/>
                <a:ea typeface="Tahoma"/>
                <a:cs typeface="Tahoma"/>
              </a:defRPr>
            </a:pPr>
            <a:r>
              <a:rPr sz="3900" b="1">
                <a:solidFill>
                  <a:srgbClr val="FFFFFF"/>
                </a:solidFill>
                <a:latin typeface="Tahoma"/>
                <a:ea typeface="Tahoma"/>
                <a:cs typeface="Tahoma"/>
              </a:rPr>
              <a:t>Blueprinting</a:t>
            </a:r>
          </a:p>
        </p:txBody>
      </p:sp>
      <p:sp>
        <p:nvSpPr>
          <p:cNvPr id="4" name="diagram-249">
            <a:extLst xmlns:a="http://schemas.openxmlformats.org/drawingml/2006/main">
              <a:ext uri="{FF2B5EF4-FFF2-40B4-BE49-F238E27FC236}">
                <a16:creationId xmlns:a16="http://schemas.microsoft.com/office/drawing/2014/main" id="{3924A62A-CBE8-49E7-9998-BE08ACE873E1}"/>
              </a:ext>
            </a:extLst>
          </p:cNvPr>
          <p:cNvSpPr>
            <a:spLocks xmlns:a="http://schemas.openxmlformats.org/drawingml/2006/main" noGrp="1"/>
          </p:cNvSpPr>
          <p:nvPr/>
        </p:nvSpPr>
        <p:spPr>
          <a:xfrm xmlns:a="http://schemas.openxmlformats.org/drawingml/2006/main">
            <a:off x="666750" y="4953000"/>
            <a:ext cx="4476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D7E7F5"/>
                </a:solidFill>
                <a:latin typeface="Tahoma"/>
                <a:ea typeface="Tahoma"/>
                <a:cs typeface="Tahoma"/>
              </a:defRPr>
            </a:pPr>
            <a:r>
              <a:rPr sz="1950" b="0">
                <a:solidFill>
                  <a:srgbClr val="D7E7F5"/>
                </a:solidFill>
                <a:latin typeface="Tahoma"/>
                <a:ea typeface="Tahoma"/>
                <a:cs typeface="Tahoma"/>
              </a:rPr>
              <a:t>Steps, decisions, and exceptions</a:t>
            </a:r>
          </a:p>
        </p:txBody>
      </p:sp>
    </p:spTree>
    <p:extLst>
      <p:ext uri="{BB962C8B-B14F-4D97-AF65-F5344CB8AC3E}">
        <p14:creationId xmlns:p14="http://schemas.microsoft.com/office/powerpoint/2010/main" val="1328026098"/>
      </p:ext>
    </p:extLst>
  </p:cSld>
</p:sld>
</file>

<file path=ppt/slides/slide2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2" name="diagram-250">
            <a:extLst xmlns:a="http://schemas.openxmlformats.org/drawingml/2006/main">
              <a:ext uri="{FF2B5EF4-FFF2-40B4-BE49-F238E27FC236}">
                <a16:creationId xmlns:a16="http://schemas.microsoft.com/office/drawing/2014/main" id="{CD057774-BDC5-43F0-8BC3-0AC3EF3D2CB1}"/>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Triggers, Actions, and connectors</a:t>
            </a:r>
          </a:p>
        </p:txBody>
      </p:sp>
      <p:sp>
        <p:nvSpPr>
          <p:cNvPr id="2" name="diagram-251">
            <a:extLst xmlns:a="http://schemas.openxmlformats.org/drawingml/2006/main">
              <a:ext uri="{FF2B5EF4-FFF2-40B4-BE49-F238E27FC236}">
                <a16:creationId xmlns:a16="http://schemas.microsoft.com/office/drawing/2014/main" id="{22B25A4D-1CCD-4AD5-8981-D20CDCB9F149}"/>
              </a:ext>
            </a:extLst>
          </p:cNvPr>
          <p:cNvSpPr>
            <a:spLocks xmlns:a="http://schemas.openxmlformats.org/drawingml/2006/main" noGrp="1"/>
          </p:cNvSpPr>
          <p:nvPr/>
        </p:nvSpPr>
        <p:spPr>
          <a:xfrm xmlns:a="http://schemas.openxmlformats.org/drawingml/2006/main">
            <a:off x="666750" y="2762250"/>
            <a:ext cx="2476500" cy="12382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3" name="diagram-252">
            <a:extLst xmlns:a="http://schemas.openxmlformats.org/drawingml/2006/main">
              <a:ext uri="{FF2B5EF4-FFF2-40B4-BE49-F238E27FC236}">
                <a16:creationId xmlns:a16="http://schemas.microsoft.com/office/drawing/2014/main" id="{4E41961B-0FCA-4C00-BDD8-0D0ACAA5D497}"/>
              </a:ext>
            </a:extLst>
          </p:cNvPr>
          <p:cNvSpPr>
            <a:spLocks xmlns:a="http://schemas.openxmlformats.org/drawingml/2006/main" noGrp="1"/>
          </p:cNvSpPr>
          <p:nvPr/>
        </p:nvSpPr>
        <p:spPr>
          <a:xfrm xmlns:a="http://schemas.openxmlformats.org/drawingml/2006/main">
            <a:off x="838200" y="2905125"/>
            <a:ext cx="21336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Trigger</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Request received</a:t>
            </a:r>
          </a:p>
        </p:txBody>
      </p:sp>
      <p:sp>
        <p:nvSpPr>
          <p:cNvPr id="4" name="diagram-253">
            <a:extLst xmlns:a="http://schemas.openxmlformats.org/drawingml/2006/main">
              <a:ext uri="{FF2B5EF4-FFF2-40B4-BE49-F238E27FC236}">
                <a16:creationId xmlns:a16="http://schemas.microsoft.com/office/drawing/2014/main" id="{00BCDB1F-5B64-47E2-A8A7-CE091575DF26}"/>
              </a:ext>
            </a:extLst>
          </p:cNvPr>
          <p:cNvSpPr>
            <a:spLocks xmlns:a="http://schemas.openxmlformats.org/drawingml/2006/main" noGrp="1"/>
          </p:cNvSpPr>
          <p:nvPr/>
        </p:nvSpPr>
        <p:spPr>
          <a:xfrm xmlns:a="http://schemas.openxmlformats.org/drawingml/2006/main">
            <a:off x="4857750" y="2762250"/>
            <a:ext cx="2476500" cy="12382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254">
            <a:extLst xmlns:a="http://schemas.openxmlformats.org/drawingml/2006/main">
              <a:ext uri="{FF2B5EF4-FFF2-40B4-BE49-F238E27FC236}">
                <a16:creationId xmlns:a16="http://schemas.microsoft.com/office/drawing/2014/main" id="{D247CE6A-B3AB-4FA6-ADC1-0D2A8AD063A9}"/>
              </a:ext>
            </a:extLst>
          </p:cNvPr>
          <p:cNvSpPr>
            <a:spLocks xmlns:a="http://schemas.openxmlformats.org/drawingml/2006/main" noGrp="1"/>
          </p:cNvSpPr>
          <p:nvPr/>
        </p:nvSpPr>
        <p:spPr>
          <a:xfrm xmlns:a="http://schemas.openxmlformats.org/drawingml/2006/main">
            <a:off x="5029200" y="2905125"/>
            <a:ext cx="21336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Action</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Send a message</a:t>
            </a:r>
          </a:p>
        </p:txBody>
      </p:sp>
      <p:sp>
        <p:nvSpPr>
          <p:cNvPr id="6" name="diagram-255">
            <a:extLst xmlns:a="http://schemas.openxmlformats.org/drawingml/2006/main">
              <a:ext uri="{FF2B5EF4-FFF2-40B4-BE49-F238E27FC236}">
                <a16:creationId xmlns:a16="http://schemas.microsoft.com/office/drawing/2014/main" id="{CF38611E-2DDF-41CF-BDA6-AC8697E445F5}"/>
              </a:ext>
            </a:extLst>
          </p:cNvPr>
          <p:cNvSpPr>
            <a:spLocks xmlns:a="http://schemas.openxmlformats.org/drawingml/2006/main" noGrp="1"/>
          </p:cNvSpPr>
          <p:nvPr/>
        </p:nvSpPr>
        <p:spPr>
          <a:xfrm xmlns:a="http://schemas.openxmlformats.org/drawingml/2006/main">
            <a:off x="9048750" y="2762250"/>
            <a:ext cx="2476500" cy="12382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7" name="diagram-256">
            <a:extLst xmlns:a="http://schemas.openxmlformats.org/drawingml/2006/main">
              <a:ext uri="{FF2B5EF4-FFF2-40B4-BE49-F238E27FC236}">
                <a16:creationId xmlns:a16="http://schemas.microsoft.com/office/drawing/2014/main" id="{116E97E4-0A80-4CA9-817A-72407734E470}"/>
              </a:ext>
            </a:extLst>
          </p:cNvPr>
          <p:cNvSpPr>
            <a:spLocks xmlns:a="http://schemas.openxmlformats.org/drawingml/2006/main" noGrp="1"/>
          </p:cNvSpPr>
          <p:nvPr/>
        </p:nvSpPr>
        <p:spPr>
          <a:xfrm xmlns:a="http://schemas.openxmlformats.org/drawingml/2006/main">
            <a:off x="9220200" y="2905125"/>
            <a:ext cx="21336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Supported service</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For example, Outlook</a:t>
            </a:r>
          </a:p>
        </p:txBody>
      </p:sp>
      <p:cxnSp>
        <p:nvCxnSpPr>
          <p:cNvPr id="19" name=""/>
          <p:cNvCxnSpPr>
            <a:stCxn xmlns:a="http://schemas.openxmlformats.org/drawingml/2006/main" id="2" idx="3"/>
            <a:endCxn xmlns:a="http://schemas.openxmlformats.org/drawingml/2006/main" id="4" idx="1"/>
          </p:cNvCxnSpPr>
          <p:nvPr/>
        </p:nvCxnSpPr>
        <p:spPr>
          <a:xfrm xmlns:a="http://schemas.openxmlformats.org/drawingml/2006/main">
            <a:off x="3143250" y="3381375"/>
            <a:ext cx="1714500"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20" name=""/>
          <p:cNvCxnSpPr>
            <a:stCxn xmlns:a="http://schemas.openxmlformats.org/drawingml/2006/main" id="4" idx="3"/>
            <a:endCxn xmlns:a="http://schemas.openxmlformats.org/drawingml/2006/main" id="6" idx="1"/>
          </p:cNvCxnSpPr>
          <p:nvPr/>
        </p:nvCxnSpPr>
        <p:spPr>
          <a:xfrm xmlns:a="http://schemas.openxmlformats.org/drawingml/2006/main">
            <a:off x="7334250" y="3381375"/>
            <a:ext cx="171450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0" name="diagram-257">
            <a:extLst xmlns:a="http://schemas.openxmlformats.org/drawingml/2006/main">
              <a:ext uri="{FF2B5EF4-FFF2-40B4-BE49-F238E27FC236}">
                <a16:creationId xmlns:a16="http://schemas.microsoft.com/office/drawing/2014/main" id="{BD91780F-92B3-4E3F-B9AC-2A8B91E7834C}"/>
              </a:ext>
            </a:extLst>
          </p:cNvPr>
          <p:cNvSpPr>
            <a:spLocks xmlns:a="http://schemas.openxmlformats.org/drawingml/2006/main" noGrp="1"/>
          </p:cNvSpPr>
          <p:nvPr/>
        </p:nvSpPr>
        <p:spPr>
          <a:xfrm xmlns:a="http://schemas.openxmlformats.org/drawingml/2006/main">
            <a:off x="4095750" y="4238625"/>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4FBA"/>
                </a:solidFill>
                <a:latin typeface="Tahoma"/>
                <a:ea typeface="Tahoma"/>
                <a:cs typeface="Tahoma"/>
              </a:defRPr>
            </a:pPr>
            <a:r>
              <a:rPr sz="2025" b="1">
                <a:solidFill>
                  <a:srgbClr val="174FBA"/>
                </a:solidFill>
                <a:latin typeface="Tahoma"/>
                <a:ea typeface="Tahoma"/>
                <a:cs typeface="Tahoma"/>
              </a:rPr>
              <a:t>Connector exposes service operations</a:t>
            </a:r>
          </a:p>
        </p:txBody>
      </p:sp>
      <p:sp>
        <p:nvSpPr>
          <p:cNvPr id="11" name="diagram-258">
            <a:extLst xmlns:a="http://schemas.openxmlformats.org/drawingml/2006/main">
              <a:ext uri="{FF2B5EF4-FFF2-40B4-BE49-F238E27FC236}">
                <a16:creationId xmlns:a16="http://schemas.microsoft.com/office/drawing/2014/main" id="{F4CCB4BC-8429-45C2-9F21-D5517EC45303}"/>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Verify connections, permissions, information, and supported behaviour before real use.</a:t>
            </a:r>
          </a:p>
        </p:txBody>
      </p:sp>
    </p:spTree>
    <p:extLst>
      <p:ext uri="{BB962C8B-B14F-4D97-AF65-F5344CB8AC3E}">
        <p14:creationId xmlns:p14="http://schemas.microsoft.com/office/powerpoint/2010/main" val="1994114247"/>
      </p:ext>
    </p:extLst>
  </p:cSld>
</p:sld>
</file>

<file path=ppt/slides/slide2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24" name="diagram-259">
            <a:extLst xmlns:a="http://schemas.openxmlformats.org/drawingml/2006/main">
              <a:ext uri="{FF2B5EF4-FFF2-40B4-BE49-F238E27FC236}">
                <a16:creationId xmlns:a16="http://schemas.microsoft.com/office/drawing/2014/main" id="{E5B3C78C-C716-48AA-BC1A-8948A6FFE821}"/>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Conditions and human decisions</a:t>
            </a:r>
          </a:p>
        </p:txBody>
      </p:sp>
      <p:sp>
        <p:nvSpPr>
          <p:cNvPr id="2" name="diagram-260">
            <a:extLst xmlns:a="http://schemas.openxmlformats.org/drawingml/2006/main">
              <a:ext uri="{FF2B5EF4-FFF2-40B4-BE49-F238E27FC236}">
                <a16:creationId xmlns:a16="http://schemas.microsoft.com/office/drawing/2014/main" id="{0FD32FA9-F09A-4D30-A6EA-45AC762AE685}"/>
              </a:ext>
            </a:extLst>
          </p:cNvPr>
          <p:cNvSpPr>
            <a:spLocks xmlns:a="http://schemas.openxmlformats.org/drawingml/2006/main" noGrp="1"/>
          </p:cNvSpPr>
          <p:nvPr/>
        </p:nvSpPr>
        <p:spPr>
          <a:xfrm xmlns:a="http://schemas.openxmlformats.org/drawingml/2006/main">
            <a:off x="619125" y="2714625"/>
            <a:ext cx="1571625" cy="781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3" name="diagram-261">
            <a:extLst xmlns:a="http://schemas.openxmlformats.org/drawingml/2006/main">
              <a:ext uri="{FF2B5EF4-FFF2-40B4-BE49-F238E27FC236}">
                <a16:creationId xmlns:a16="http://schemas.microsoft.com/office/drawing/2014/main" id="{039FC9CF-6ABD-4DDE-A913-F70E21614212}"/>
              </a:ext>
            </a:extLst>
          </p:cNvPr>
          <p:cNvSpPr>
            <a:spLocks xmlns:a="http://schemas.openxmlformats.org/drawingml/2006/main" noGrp="1"/>
          </p:cNvSpPr>
          <p:nvPr/>
        </p:nvSpPr>
        <p:spPr>
          <a:xfrm xmlns:a="http://schemas.openxmlformats.org/drawingml/2006/main">
            <a:off x="790575" y="2857500"/>
            <a:ext cx="1228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Receive request</a:t>
            </a:r>
          </a:p>
        </p:txBody>
      </p:sp>
      <p:sp>
        <p:nvSpPr>
          <p:cNvPr id="4" name="diagram-262">
            <a:extLst xmlns:a="http://schemas.openxmlformats.org/drawingml/2006/main">
              <a:ext uri="{FF2B5EF4-FFF2-40B4-BE49-F238E27FC236}">
                <a16:creationId xmlns:a16="http://schemas.microsoft.com/office/drawing/2014/main" id="{23436B42-25D1-48A5-BDD1-4F126075B622}"/>
              </a:ext>
            </a:extLst>
          </p:cNvPr>
          <p:cNvSpPr>
            <a:spLocks xmlns:a="http://schemas.openxmlformats.org/drawingml/2006/main" noGrp="1"/>
          </p:cNvSpPr>
          <p:nvPr/>
        </p:nvSpPr>
        <p:spPr>
          <a:xfrm xmlns:a="http://schemas.openxmlformats.org/drawingml/2006/main">
            <a:off x="2619375" y="2714625"/>
            <a:ext cx="1809750" cy="781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263">
            <a:extLst xmlns:a="http://schemas.openxmlformats.org/drawingml/2006/main">
              <a:ext uri="{FF2B5EF4-FFF2-40B4-BE49-F238E27FC236}">
                <a16:creationId xmlns:a16="http://schemas.microsoft.com/office/drawing/2014/main" id="{A7CE6FD3-CDD4-4A8D-99A2-1526382093B6}"/>
              </a:ext>
            </a:extLst>
          </p:cNvPr>
          <p:cNvSpPr>
            <a:spLocks xmlns:a="http://schemas.openxmlformats.org/drawingml/2006/main" noGrp="1"/>
          </p:cNvSpPr>
          <p:nvPr/>
        </p:nvSpPr>
        <p:spPr>
          <a:xfrm xmlns:a="http://schemas.openxmlformats.org/drawingml/2006/main">
            <a:off x="2790825" y="2857500"/>
            <a:ext cx="1466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Details complete?</a:t>
            </a:r>
          </a:p>
        </p:txBody>
      </p:sp>
      <p:sp>
        <p:nvSpPr>
          <p:cNvPr id="6" name="diagram-264">
            <a:extLst xmlns:a="http://schemas.openxmlformats.org/drawingml/2006/main">
              <a:ext uri="{FF2B5EF4-FFF2-40B4-BE49-F238E27FC236}">
                <a16:creationId xmlns:a16="http://schemas.microsoft.com/office/drawing/2014/main" id="{BBE8C410-FBC4-43E1-A0B9-C6DEC333DFF3}"/>
              </a:ext>
            </a:extLst>
          </p:cNvPr>
          <p:cNvSpPr>
            <a:spLocks xmlns:a="http://schemas.openxmlformats.org/drawingml/2006/main" noGrp="1"/>
          </p:cNvSpPr>
          <p:nvPr/>
        </p:nvSpPr>
        <p:spPr>
          <a:xfrm xmlns:a="http://schemas.openxmlformats.org/drawingml/2006/main">
            <a:off x="4857750" y="2714625"/>
            <a:ext cx="2000250" cy="781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7" name="diagram-265">
            <a:extLst xmlns:a="http://schemas.openxmlformats.org/drawingml/2006/main">
              <a:ext uri="{FF2B5EF4-FFF2-40B4-BE49-F238E27FC236}">
                <a16:creationId xmlns:a16="http://schemas.microsoft.com/office/drawing/2014/main" id="{91662C06-22EC-409B-997E-31CE83BCF5D8}"/>
              </a:ext>
            </a:extLst>
          </p:cNvPr>
          <p:cNvSpPr>
            <a:spLocks xmlns:a="http://schemas.openxmlformats.org/drawingml/2006/main" noGrp="1"/>
          </p:cNvSpPr>
          <p:nvPr/>
        </p:nvSpPr>
        <p:spPr>
          <a:xfrm xmlns:a="http://schemas.openxmlformats.org/drawingml/2006/main">
            <a:off x="5029200" y="2857500"/>
            <a:ext cx="165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8324B"/>
                </a:solidFill>
                <a:latin typeface="Tahoma"/>
                <a:ea typeface="Tahoma"/>
                <a:cs typeface="Tahoma"/>
              </a:defRPr>
            </a:pPr>
            <a:r>
              <a:rPr sz="1800" b="1">
                <a:solidFill>
                  <a:srgbClr val="18324B"/>
                </a:solidFill>
                <a:latin typeface="Tahoma"/>
                <a:ea typeface="Tahoma"/>
                <a:cs typeface="Tahoma"/>
              </a:rPr>
              <a:t>Human approval</a:t>
            </a:r>
          </a:p>
          <a:p xmlns:a="http://schemas.openxmlformats.org/drawingml/2006/main">
            <a:pPr>
              <a:defRPr sz="1800" b="1">
                <a:solidFill>
                  <a:srgbClr val="18324B"/>
                </a:solidFill>
                <a:latin typeface="Tahoma"/>
                <a:ea typeface="Tahoma"/>
                <a:cs typeface="Tahoma"/>
              </a:defRPr>
            </a:pPr>
            <a:r>
              <a:rPr sz="1800" b="1">
                <a:solidFill>
                  <a:srgbClr val="18324B"/>
                </a:solidFill>
                <a:latin typeface="Tahoma"/>
                <a:ea typeface="Tahoma"/>
                <a:cs typeface="Tahoma"/>
              </a:rPr>
              <a:t>decision</a:t>
            </a:r>
          </a:p>
        </p:txBody>
      </p:sp>
      <p:sp>
        <p:nvSpPr>
          <p:cNvPr id="8" name="diagram-266">
            <a:extLst xmlns:a="http://schemas.openxmlformats.org/drawingml/2006/main">
              <a:ext uri="{FF2B5EF4-FFF2-40B4-BE49-F238E27FC236}">
                <a16:creationId xmlns:a16="http://schemas.microsoft.com/office/drawing/2014/main" id="{A28BC4B4-B9DA-486A-8A07-C8E2E1716831}"/>
              </a:ext>
            </a:extLst>
          </p:cNvPr>
          <p:cNvSpPr>
            <a:spLocks xmlns:a="http://schemas.openxmlformats.org/drawingml/2006/main" noGrp="1"/>
          </p:cNvSpPr>
          <p:nvPr/>
        </p:nvSpPr>
        <p:spPr>
          <a:xfrm xmlns:a="http://schemas.openxmlformats.org/drawingml/2006/main">
            <a:off x="7524750" y="2095500"/>
            <a:ext cx="2428875" cy="8763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9" name="diagram-267">
            <a:extLst xmlns:a="http://schemas.openxmlformats.org/drawingml/2006/main">
              <a:ext uri="{FF2B5EF4-FFF2-40B4-BE49-F238E27FC236}">
                <a16:creationId xmlns:a16="http://schemas.microsoft.com/office/drawing/2014/main" id="{0D2E02FA-3A34-49D7-BF15-F64979143AA2}"/>
              </a:ext>
            </a:extLst>
          </p:cNvPr>
          <p:cNvSpPr>
            <a:spLocks xmlns:a="http://schemas.openxmlformats.org/drawingml/2006/main" noGrp="1"/>
          </p:cNvSpPr>
          <p:nvPr/>
        </p:nvSpPr>
        <p:spPr>
          <a:xfrm xmlns:a="http://schemas.openxmlformats.org/drawingml/2006/main">
            <a:off x="7696200" y="2238375"/>
            <a:ext cx="20859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Approved</a:t>
            </a:r>
          </a:p>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Notify requester</a:t>
            </a:r>
          </a:p>
        </p:txBody>
      </p:sp>
      <p:sp>
        <p:nvSpPr>
          <p:cNvPr id="10" name="diagram-268">
            <a:extLst xmlns:a="http://schemas.openxmlformats.org/drawingml/2006/main">
              <a:ext uri="{FF2B5EF4-FFF2-40B4-BE49-F238E27FC236}">
                <a16:creationId xmlns:a16="http://schemas.microsoft.com/office/drawing/2014/main" id="{45530ED9-10AF-4CBB-8537-260BE42719F0}"/>
              </a:ext>
            </a:extLst>
          </p:cNvPr>
          <p:cNvSpPr>
            <a:spLocks xmlns:a="http://schemas.openxmlformats.org/drawingml/2006/main" noGrp="1"/>
          </p:cNvSpPr>
          <p:nvPr/>
        </p:nvSpPr>
        <p:spPr>
          <a:xfrm xmlns:a="http://schemas.openxmlformats.org/drawingml/2006/main">
            <a:off x="7524750" y="3476625"/>
            <a:ext cx="2428875" cy="876300"/>
          </a:xfrm>
          <a:prstGeom xmlns:a="http://schemas.openxmlformats.org/drawingml/2006/main" prst="rect">
            <a:avLst/>
          </a:prstGeom>
          <a:solidFill xmlns:a="http://schemas.openxmlformats.org/drawingml/2006/main">
            <a:srgbClr val="FFF0D9"/>
          </a:solidFill>
          <a:ln xmlns:a="http://schemas.openxmlformats.org/drawingml/2006/main" w="0">
            <a:noFill/>
          </a:ln>
        </p:spPr>
      </p:sp>
      <p:sp>
        <p:nvSpPr>
          <p:cNvPr id="11" name="diagram-269">
            <a:extLst xmlns:a="http://schemas.openxmlformats.org/drawingml/2006/main">
              <a:ext uri="{FF2B5EF4-FFF2-40B4-BE49-F238E27FC236}">
                <a16:creationId xmlns:a16="http://schemas.microsoft.com/office/drawing/2014/main" id="{9320304F-CA30-4242-A8D5-5BDA5C331D9E}"/>
              </a:ext>
            </a:extLst>
          </p:cNvPr>
          <p:cNvSpPr>
            <a:spLocks xmlns:a="http://schemas.openxmlformats.org/drawingml/2006/main" noGrp="1"/>
          </p:cNvSpPr>
          <p:nvPr/>
        </p:nvSpPr>
        <p:spPr>
          <a:xfrm xmlns:a="http://schemas.openxmlformats.org/drawingml/2006/main">
            <a:off x="7696200" y="3619500"/>
            <a:ext cx="20859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Rejected</a:t>
            </a:r>
          </a:p>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Notify requester</a:t>
            </a:r>
          </a:p>
        </p:txBody>
      </p:sp>
      <p:sp>
        <p:nvSpPr>
          <p:cNvPr id="12" name="diagram-270">
            <a:extLst xmlns:a="http://schemas.openxmlformats.org/drawingml/2006/main">
              <a:ext uri="{FF2B5EF4-FFF2-40B4-BE49-F238E27FC236}">
                <a16:creationId xmlns:a16="http://schemas.microsoft.com/office/drawing/2014/main" id="{EA2C5497-179C-4B9E-B935-DC5D13CC88DF}"/>
              </a:ext>
            </a:extLst>
          </p:cNvPr>
          <p:cNvSpPr>
            <a:spLocks xmlns:a="http://schemas.openxmlformats.org/drawingml/2006/main" noGrp="1"/>
          </p:cNvSpPr>
          <p:nvPr/>
        </p:nvSpPr>
        <p:spPr>
          <a:xfrm xmlns:a="http://schemas.openxmlformats.org/drawingml/2006/main">
            <a:off x="2619375" y="4457700"/>
            <a:ext cx="2667000" cy="838200"/>
          </a:xfrm>
          <a:prstGeom xmlns:a="http://schemas.openxmlformats.org/drawingml/2006/main" prst="rect">
            <a:avLst/>
          </a:prstGeom>
          <a:solidFill xmlns:a="http://schemas.openxmlformats.org/drawingml/2006/main">
            <a:srgbClr val="FFF0D9"/>
          </a:solidFill>
          <a:ln xmlns:a="http://schemas.openxmlformats.org/drawingml/2006/main" w="0">
            <a:noFill/>
          </a:ln>
        </p:spPr>
      </p:sp>
      <p:sp>
        <p:nvSpPr>
          <p:cNvPr id="13" name="diagram-271">
            <a:extLst xmlns:a="http://schemas.openxmlformats.org/drawingml/2006/main">
              <a:ext uri="{FF2B5EF4-FFF2-40B4-BE49-F238E27FC236}">
                <a16:creationId xmlns:a16="http://schemas.microsoft.com/office/drawing/2014/main" id="{EA2F112B-1FBF-480C-9743-B2C552C8F56D}"/>
              </a:ext>
            </a:extLst>
          </p:cNvPr>
          <p:cNvSpPr>
            <a:spLocks xmlns:a="http://schemas.openxmlformats.org/drawingml/2006/main" noGrp="1"/>
          </p:cNvSpPr>
          <p:nvPr/>
        </p:nvSpPr>
        <p:spPr>
          <a:xfrm xmlns:a="http://schemas.openxmlformats.org/drawingml/2006/main">
            <a:off x="2790825" y="4600575"/>
            <a:ext cx="23241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Request details</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Owner: coordinator</a:t>
            </a:r>
          </a:p>
        </p:txBody>
      </p:sp>
      <p:cxnSp>
        <p:nvCxnSpPr>
          <p:cNvPr id="37" name=""/>
          <p:cNvCxnSpPr>
            <a:stCxn xmlns:a="http://schemas.openxmlformats.org/drawingml/2006/main" id="2" idx="3"/>
            <a:endCxn xmlns:a="http://schemas.openxmlformats.org/drawingml/2006/main" id="4" idx="1"/>
          </p:cNvCxnSpPr>
          <p:nvPr/>
        </p:nvCxnSpPr>
        <p:spPr>
          <a:xfrm xmlns:a="http://schemas.openxmlformats.org/drawingml/2006/main">
            <a:off x="2190750" y="310515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38" name=""/>
          <p:cNvCxnSpPr>
            <a:stCxn xmlns:a="http://schemas.openxmlformats.org/drawingml/2006/main" id="4" idx="3"/>
            <a:endCxn xmlns:a="http://schemas.openxmlformats.org/drawingml/2006/main" id="6" idx="1"/>
          </p:cNvCxnSpPr>
          <p:nvPr/>
        </p:nvCxnSpPr>
        <p:spPr>
          <a:xfrm xmlns:a="http://schemas.openxmlformats.org/drawingml/2006/main">
            <a:off x="4429125" y="310515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39" name=""/>
          <p:cNvCxnSpPr>
            <a:stCxn xmlns:a="http://schemas.openxmlformats.org/drawingml/2006/main" id="6" idx="3"/>
            <a:endCxn xmlns:a="http://schemas.openxmlformats.org/drawingml/2006/main" id="8" idx="1"/>
          </p:cNvCxnSpPr>
          <p:nvPr/>
        </p:nvCxnSpPr>
        <p:spPr>
          <a:xfrm xmlns:a="http://schemas.openxmlformats.org/drawingml/2006/main" flipV="1">
            <a:off x="6858000" y="2533650"/>
            <a:ext cx="666750" cy="57150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40" name=""/>
          <p:cNvCxnSpPr>
            <a:stCxn xmlns:a="http://schemas.openxmlformats.org/drawingml/2006/main" id="6" idx="3"/>
            <a:endCxn xmlns:a="http://schemas.openxmlformats.org/drawingml/2006/main" id="10" idx="1"/>
          </p:cNvCxnSpPr>
          <p:nvPr/>
        </p:nvCxnSpPr>
        <p:spPr>
          <a:xfrm xmlns:a="http://schemas.openxmlformats.org/drawingml/2006/main">
            <a:off x="6858000" y="3105150"/>
            <a:ext cx="666750" cy="809625"/>
          </a:xfrm>
          <a:prstGeom xmlns:a="http://schemas.openxmlformats.org/drawingml/2006/main" prst="straightConnector1">
            <a:avLst/>
          </a:prstGeom>
          <a:ln xmlns:a="http://schemas.openxmlformats.org/drawingml/2006/main" w="28575">
            <a:solidFill>
              <a:srgbClr val="B76D13"/>
            </a:solidFill>
            <a:tailEnd type="triangle" w="med" len="med"/>
          </a:ln>
        </p:spPr>
      </p:cxnSp>
      <p:cxnSp>
        <p:nvCxnSpPr>
          <p:cNvPr id="41" name=""/>
          <p:cNvCxnSpPr>
            <a:stCxn xmlns:a="http://schemas.openxmlformats.org/drawingml/2006/main" id="4" idx="2"/>
            <a:endCxn xmlns:a="http://schemas.openxmlformats.org/drawingml/2006/main" id="12" idx="0"/>
          </p:cNvCxnSpPr>
          <p:nvPr/>
        </p:nvCxnSpPr>
        <p:spPr>
          <a:xfrm xmlns:a="http://schemas.openxmlformats.org/drawingml/2006/main">
            <a:off x="3524250" y="3495675"/>
            <a:ext cx="428625" cy="962025"/>
          </a:xfrm>
          <a:prstGeom xmlns:a="http://schemas.openxmlformats.org/drawingml/2006/main" prst="bentConnector4">
            <a:avLst>
              <a:gd name="adj1" fmla="val 0"/>
              <a:gd name="adj2" fmla="val 23762"/>
            </a:avLst>
          </a:prstGeom>
          <a:ln xmlns:a="http://schemas.openxmlformats.org/drawingml/2006/main" w="28575">
            <a:solidFill>
              <a:srgbClr val="B76D13"/>
            </a:solidFill>
            <a:tailEnd type="triangle" w="med" len="med"/>
          </a:ln>
        </p:spPr>
      </p:cxnSp>
      <p:sp>
        <p:nvSpPr>
          <p:cNvPr id="19" name="diagram-272">
            <a:extLst xmlns:a="http://schemas.openxmlformats.org/drawingml/2006/main">
              <a:ext uri="{FF2B5EF4-FFF2-40B4-BE49-F238E27FC236}">
                <a16:creationId xmlns:a16="http://schemas.microsoft.com/office/drawing/2014/main" id="{078998AB-E513-497C-AE1F-DC40CEA09D50}"/>
              </a:ext>
            </a:extLst>
          </p:cNvPr>
          <p:cNvSpPr>
            <a:spLocks xmlns:a="http://schemas.openxmlformats.org/drawingml/2006/main" noGrp="1"/>
          </p:cNvSpPr>
          <p:nvPr/>
        </p:nvSpPr>
        <p:spPr>
          <a:xfrm xmlns:a="http://schemas.openxmlformats.org/drawingml/2006/main">
            <a:off x="4286250" y="2381250"/>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74FBA"/>
                </a:solidFill>
                <a:latin typeface="Tahoma"/>
                <a:ea typeface="Tahoma"/>
                <a:cs typeface="Tahoma"/>
              </a:defRPr>
            </a:pPr>
            <a:r>
              <a:rPr sz="1350" b="1">
                <a:solidFill>
                  <a:srgbClr val="174FBA"/>
                </a:solidFill>
                <a:latin typeface="Tahoma"/>
                <a:ea typeface="Tahoma"/>
                <a:cs typeface="Tahoma"/>
              </a:rPr>
              <a:t>Complete</a:t>
            </a:r>
          </a:p>
        </p:txBody>
      </p:sp>
      <p:sp>
        <p:nvSpPr>
          <p:cNvPr id="20" name="diagram-273">
            <a:extLst xmlns:a="http://schemas.openxmlformats.org/drawingml/2006/main">
              <a:ext uri="{FF2B5EF4-FFF2-40B4-BE49-F238E27FC236}">
                <a16:creationId xmlns:a16="http://schemas.microsoft.com/office/drawing/2014/main" id="{E85067B0-D6B4-41F9-B4F1-C865C5AA37F2}"/>
              </a:ext>
            </a:extLst>
          </p:cNvPr>
          <p:cNvSpPr>
            <a:spLocks xmlns:a="http://schemas.openxmlformats.org/drawingml/2006/main" noGrp="1"/>
          </p:cNvSpPr>
          <p:nvPr/>
        </p:nvSpPr>
        <p:spPr>
          <a:xfrm xmlns:a="http://schemas.openxmlformats.org/drawingml/2006/main">
            <a:off x="1952625" y="4010025"/>
            <a:ext cx="1476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Incomplete</a:t>
            </a:r>
          </a:p>
        </p:txBody>
      </p:sp>
      <p:sp>
        <p:nvSpPr>
          <p:cNvPr id="21" name="diagram-274">
            <a:extLst xmlns:a="http://schemas.openxmlformats.org/drawingml/2006/main">
              <a:ext uri="{FF2B5EF4-FFF2-40B4-BE49-F238E27FC236}">
                <a16:creationId xmlns:a16="http://schemas.microsoft.com/office/drawing/2014/main" id="{54C504FF-325A-4875-AEC3-442470AC6B54}"/>
              </a:ext>
            </a:extLst>
          </p:cNvPr>
          <p:cNvSpPr>
            <a:spLocks xmlns:a="http://schemas.openxmlformats.org/drawingml/2006/main" noGrp="1"/>
          </p:cNvSpPr>
          <p:nvPr/>
        </p:nvSpPr>
        <p:spPr>
          <a:xfrm xmlns:a="http://schemas.openxmlformats.org/drawingml/2006/main">
            <a:off x="6572250" y="2143125"/>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74FBA"/>
                </a:solidFill>
                <a:latin typeface="Tahoma"/>
                <a:ea typeface="Tahoma"/>
                <a:cs typeface="Tahoma"/>
              </a:defRPr>
            </a:pPr>
            <a:r>
              <a:rPr sz="1350" b="1">
                <a:solidFill>
                  <a:srgbClr val="174FBA"/>
                </a:solidFill>
                <a:latin typeface="Tahoma"/>
                <a:ea typeface="Tahoma"/>
                <a:cs typeface="Tahoma"/>
              </a:rPr>
              <a:t>Approve</a:t>
            </a:r>
          </a:p>
        </p:txBody>
      </p:sp>
      <p:sp>
        <p:nvSpPr>
          <p:cNvPr id="22" name="diagram-275">
            <a:extLst xmlns:a="http://schemas.openxmlformats.org/drawingml/2006/main">
              <a:ext uri="{FF2B5EF4-FFF2-40B4-BE49-F238E27FC236}">
                <a16:creationId xmlns:a16="http://schemas.microsoft.com/office/drawing/2014/main" id="{DB8607C0-E9FF-42EA-B51E-3D6E93AED33D}"/>
              </a:ext>
            </a:extLst>
          </p:cNvPr>
          <p:cNvSpPr>
            <a:spLocks xmlns:a="http://schemas.openxmlformats.org/drawingml/2006/main" noGrp="1"/>
          </p:cNvSpPr>
          <p:nvPr/>
        </p:nvSpPr>
        <p:spPr>
          <a:xfrm xmlns:a="http://schemas.openxmlformats.org/drawingml/2006/main">
            <a:off x="6572250" y="3714750"/>
            <a:ext cx="1047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Reject</a:t>
            </a:r>
          </a:p>
        </p:txBody>
      </p:sp>
      <p:sp>
        <p:nvSpPr>
          <p:cNvPr id="23" name="diagram-276">
            <a:extLst xmlns:a="http://schemas.openxmlformats.org/drawingml/2006/main">
              <a:ext uri="{FF2B5EF4-FFF2-40B4-BE49-F238E27FC236}">
                <a16:creationId xmlns:a16="http://schemas.microsoft.com/office/drawing/2014/main" id="{8EBD5F1F-6C3C-4E60-93C1-58B5E71A7167}"/>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A person approves or rejects; both outcomes continue to notification or owned follow-up.</a:t>
            </a:r>
          </a:p>
        </p:txBody>
      </p:sp>
    </p:spTree>
    <p:extLst>
      <p:ext uri="{BB962C8B-B14F-4D97-AF65-F5344CB8AC3E}">
        <p14:creationId xmlns:p14="http://schemas.microsoft.com/office/powerpoint/2010/main" val="1615886002"/>
      </p:ext>
    </p:extLst>
  </p:cSld>
</p:sld>
</file>

<file path=ppt/slides/slide3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28" name="diagram-277">
            <a:extLst xmlns:a="http://schemas.openxmlformats.org/drawingml/2006/main">
              <a:ext uri="{FF2B5EF4-FFF2-40B4-BE49-F238E27FC236}">
                <a16:creationId xmlns:a16="http://schemas.microsoft.com/office/drawing/2014/main" id="{B182507B-7E6C-4EA3-B0F9-7EE5F4ED456E}"/>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Workflow Blueprint anatomy</a:t>
            </a:r>
          </a:p>
        </p:txBody>
      </p:sp>
      <p:sp>
        <p:nvSpPr>
          <p:cNvPr id="2" name="diagram-278">
            <a:extLst xmlns:a="http://schemas.openxmlformats.org/drawingml/2006/main">
              <a:ext uri="{FF2B5EF4-FFF2-40B4-BE49-F238E27FC236}">
                <a16:creationId xmlns:a16="http://schemas.microsoft.com/office/drawing/2014/main" id="{899B5D5B-AA7D-489A-88F8-B65F5CF756CF}"/>
              </a:ext>
            </a:extLst>
          </p:cNvPr>
          <p:cNvSpPr>
            <a:spLocks xmlns:a="http://schemas.openxmlformats.org/drawingml/2006/main" noGrp="1"/>
          </p:cNvSpPr>
          <p:nvPr/>
        </p:nvSpPr>
        <p:spPr>
          <a:xfrm xmlns:a="http://schemas.openxmlformats.org/drawingml/2006/main">
            <a:off x="619125" y="2714625"/>
            <a:ext cx="1571625" cy="781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3" name="diagram-279">
            <a:extLst xmlns:a="http://schemas.openxmlformats.org/drawingml/2006/main">
              <a:ext uri="{FF2B5EF4-FFF2-40B4-BE49-F238E27FC236}">
                <a16:creationId xmlns:a16="http://schemas.microsoft.com/office/drawing/2014/main" id="{770049E0-71F8-41DA-9A85-75ABA7A10F2D}"/>
              </a:ext>
            </a:extLst>
          </p:cNvPr>
          <p:cNvSpPr>
            <a:spLocks xmlns:a="http://schemas.openxmlformats.org/drawingml/2006/main" noGrp="1"/>
          </p:cNvSpPr>
          <p:nvPr/>
        </p:nvSpPr>
        <p:spPr>
          <a:xfrm xmlns:a="http://schemas.openxmlformats.org/drawingml/2006/main">
            <a:off x="790575" y="2857500"/>
            <a:ext cx="1228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Receive request</a:t>
            </a:r>
          </a:p>
        </p:txBody>
      </p:sp>
      <p:sp>
        <p:nvSpPr>
          <p:cNvPr id="4" name="diagram-280">
            <a:extLst xmlns:a="http://schemas.openxmlformats.org/drawingml/2006/main">
              <a:ext uri="{FF2B5EF4-FFF2-40B4-BE49-F238E27FC236}">
                <a16:creationId xmlns:a16="http://schemas.microsoft.com/office/drawing/2014/main" id="{6D18150A-32F0-4EDB-BE06-1AE77883D623}"/>
              </a:ext>
            </a:extLst>
          </p:cNvPr>
          <p:cNvSpPr>
            <a:spLocks xmlns:a="http://schemas.openxmlformats.org/drawingml/2006/main" noGrp="1"/>
          </p:cNvSpPr>
          <p:nvPr/>
        </p:nvSpPr>
        <p:spPr>
          <a:xfrm xmlns:a="http://schemas.openxmlformats.org/drawingml/2006/main">
            <a:off x="2619375" y="2714625"/>
            <a:ext cx="1809750" cy="781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281">
            <a:extLst xmlns:a="http://schemas.openxmlformats.org/drawingml/2006/main">
              <a:ext uri="{FF2B5EF4-FFF2-40B4-BE49-F238E27FC236}">
                <a16:creationId xmlns:a16="http://schemas.microsoft.com/office/drawing/2014/main" id="{26785B8B-FAE1-4BA1-9B64-1BC8CF9F955E}"/>
              </a:ext>
            </a:extLst>
          </p:cNvPr>
          <p:cNvSpPr>
            <a:spLocks xmlns:a="http://schemas.openxmlformats.org/drawingml/2006/main" noGrp="1"/>
          </p:cNvSpPr>
          <p:nvPr/>
        </p:nvSpPr>
        <p:spPr>
          <a:xfrm xmlns:a="http://schemas.openxmlformats.org/drawingml/2006/main">
            <a:off x="2790825" y="2857500"/>
            <a:ext cx="1466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Details complete?</a:t>
            </a:r>
          </a:p>
        </p:txBody>
      </p:sp>
      <p:sp>
        <p:nvSpPr>
          <p:cNvPr id="6" name="diagram-282">
            <a:extLst xmlns:a="http://schemas.openxmlformats.org/drawingml/2006/main">
              <a:ext uri="{FF2B5EF4-FFF2-40B4-BE49-F238E27FC236}">
                <a16:creationId xmlns:a16="http://schemas.microsoft.com/office/drawing/2014/main" id="{CC3517C2-204E-4D52-8F1C-6BA402407CD3}"/>
              </a:ext>
            </a:extLst>
          </p:cNvPr>
          <p:cNvSpPr>
            <a:spLocks xmlns:a="http://schemas.openxmlformats.org/drawingml/2006/main" noGrp="1"/>
          </p:cNvSpPr>
          <p:nvPr/>
        </p:nvSpPr>
        <p:spPr>
          <a:xfrm xmlns:a="http://schemas.openxmlformats.org/drawingml/2006/main">
            <a:off x="4857750" y="2714625"/>
            <a:ext cx="2000250" cy="78105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7" name="diagram-283">
            <a:extLst xmlns:a="http://schemas.openxmlformats.org/drawingml/2006/main">
              <a:ext uri="{FF2B5EF4-FFF2-40B4-BE49-F238E27FC236}">
                <a16:creationId xmlns:a16="http://schemas.microsoft.com/office/drawing/2014/main" id="{946A9FFB-ADD0-4FA7-877A-590D2F8306F7}"/>
              </a:ext>
            </a:extLst>
          </p:cNvPr>
          <p:cNvSpPr>
            <a:spLocks xmlns:a="http://schemas.openxmlformats.org/drawingml/2006/main" noGrp="1"/>
          </p:cNvSpPr>
          <p:nvPr/>
        </p:nvSpPr>
        <p:spPr>
          <a:xfrm xmlns:a="http://schemas.openxmlformats.org/drawingml/2006/main">
            <a:off x="5029200" y="2857500"/>
            <a:ext cx="165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8324B"/>
                </a:solidFill>
                <a:latin typeface="Tahoma"/>
                <a:ea typeface="Tahoma"/>
                <a:cs typeface="Tahoma"/>
              </a:defRPr>
            </a:pPr>
            <a:r>
              <a:rPr sz="1800" b="1">
                <a:solidFill>
                  <a:srgbClr val="18324B"/>
                </a:solidFill>
                <a:latin typeface="Tahoma"/>
                <a:ea typeface="Tahoma"/>
                <a:cs typeface="Tahoma"/>
              </a:rPr>
              <a:t>Human approval</a:t>
            </a:r>
          </a:p>
          <a:p xmlns:a="http://schemas.openxmlformats.org/drawingml/2006/main">
            <a:pPr>
              <a:defRPr sz="1800" b="1">
                <a:solidFill>
                  <a:srgbClr val="18324B"/>
                </a:solidFill>
                <a:latin typeface="Tahoma"/>
                <a:ea typeface="Tahoma"/>
                <a:cs typeface="Tahoma"/>
              </a:defRPr>
            </a:pPr>
            <a:r>
              <a:rPr sz="1800" b="1">
                <a:solidFill>
                  <a:srgbClr val="18324B"/>
                </a:solidFill>
                <a:latin typeface="Tahoma"/>
                <a:ea typeface="Tahoma"/>
                <a:cs typeface="Tahoma"/>
              </a:rPr>
              <a:t>decision</a:t>
            </a:r>
          </a:p>
        </p:txBody>
      </p:sp>
      <p:sp>
        <p:nvSpPr>
          <p:cNvPr id="8" name="diagram-284">
            <a:extLst xmlns:a="http://schemas.openxmlformats.org/drawingml/2006/main">
              <a:ext uri="{FF2B5EF4-FFF2-40B4-BE49-F238E27FC236}">
                <a16:creationId xmlns:a16="http://schemas.microsoft.com/office/drawing/2014/main" id="{03D9A09D-EA61-4B68-AF12-EA272EF86DBA}"/>
              </a:ext>
            </a:extLst>
          </p:cNvPr>
          <p:cNvSpPr>
            <a:spLocks xmlns:a="http://schemas.openxmlformats.org/drawingml/2006/main" noGrp="1"/>
          </p:cNvSpPr>
          <p:nvPr/>
        </p:nvSpPr>
        <p:spPr>
          <a:xfrm xmlns:a="http://schemas.openxmlformats.org/drawingml/2006/main">
            <a:off x="7524750" y="2095500"/>
            <a:ext cx="2428875" cy="8763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9" name="diagram-285">
            <a:extLst xmlns:a="http://schemas.openxmlformats.org/drawingml/2006/main">
              <a:ext uri="{FF2B5EF4-FFF2-40B4-BE49-F238E27FC236}">
                <a16:creationId xmlns:a16="http://schemas.microsoft.com/office/drawing/2014/main" id="{6BCD6E6A-E8BB-4C1F-BA9B-C7385D11CE5D}"/>
              </a:ext>
            </a:extLst>
          </p:cNvPr>
          <p:cNvSpPr>
            <a:spLocks xmlns:a="http://schemas.openxmlformats.org/drawingml/2006/main" noGrp="1"/>
          </p:cNvSpPr>
          <p:nvPr/>
        </p:nvSpPr>
        <p:spPr>
          <a:xfrm xmlns:a="http://schemas.openxmlformats.org/drawingml/2006/main">
            <a:off x="7696200" y="2238375"/>
            <a:ext cx="20859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Approved</a:t>
            </a:r>
          </a:p>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Notify requester</a:t>
            </a:r>
          </a:p>
        </p:txBody>
      </p:sp>
      <p:sp>
        <p:nvSpPr>
          <p:cNvPr id="10" name="diagram-286">
            <a:extLst xmlns:a="http://schemas.openxmlformats.org/drawingml/2006/main">
              <a:ext uri="{FF2B5EF4-FFF2-40B4-BE49-F238E27FC236}">
                <a16:creationId xmlns:a16="http://schemas.microsoft.com/office/drawing/2014/main" id="{4F734D62-62D2-443A-9F00-901E6E3C84ED}"/>
              </a:ext>
            </a:extLst>
          </p:cNvPr>
          <p:cNvSpPr>
            <a:spLocks xmlns:a="http://schemas.openxmlformats.org/drawingml/2006/main" noGrp="1"/>
          </p:cNvSpPr>
          <p:nvPr/>
        </p:nvSpPr>
        <p:spPr>
          <a:xfrm xmlns:a="http://schemas.openxmlformats.org/drawingml/2006/main">
            <a:off x="7524750" y="3476625"/>
            <a:ext cx="2428875" cy="876300"/>
          </a:xfrm>
          <a:prstGeom xmlns:a="http://schemas.openxmlformats.org/drawingml/2006/main" prst="rect">
            <a:avLst/>
          </a:prstGeom>
          <a:solidFill xmlns:a="http://schemas.openxmlformats.org/drawingml/2006/main">
            <a:srgbClr val="FFF0D9"/>
          </a:solidFill>
          <a:ln xmlns:a="http://schemas.openxmlformats.org/drawingml/2006/main" w="0">
            <a:noFill/>
          </a:ln>
        </p:spPr>
      </p:sp>
      <p:sp>
        <p:nvSpPr>
          <p:cNvPr id="11" name="diagram-287">
            <a:extLst xmlns:a="http://schemas.openxmlformats.org/drawingml/2006/main">
              <a:ext uri="{FF2B5EF4-FFF2-40B4-BE49-F238E27FC236}">
                <a16:creationId xmlns:a16="http://schemas.microsoft.com/office/drawing/2014/main" id="{A6B45AEE-7114-4852-8B23-43B8A3DB08BC}"/>
              </a:ext>
            </a:extLst>
          </p:cNvPr>
          <p:cNvSpPr>
            <a:spLocks xmlns:a="http://schemas.openxmlformats.org/drawingml/2006/main" noGrp="1"/>
          </p:cNvSpPr>
          <p:nvPr/>
        </p:nvSpPr>
        <p:spPr>
          <a:xfrm xmlns:a="http://schemas.openxmlformats.org/drawingml/2006/main">
            <a:off x="7696200" y="3619500"/>
            <a:ext cx="20859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Rejected</a:t>
            </a:r>
          </a:p>
          <a:p xmlns:a="http://schemas.openxmlformats.org/drawingml/2006/main">
            <a:pPr>
              <a:defRPr sz="1725" b="1">
                <a:solidFill>
                  <a:srgbClr val="18324B"/>
                </a:solidFill>
                <a:latin typeface="Tahoma"/>
                <a:ea typeface="Tahoma"/>
                <a:cs typeface="Tahoma"/>
              </a:defRPr>
            </a:pPr>
            <a:r>
              <a:rPr sz="1725" b="1">
                <a:solidFill>
                  <a:srgbClr val="18324B"/>
                </a:solidFill>
                <a:latin typeface="Tahoma"/>
                <a:ea typeface="Tahoma"/>
                <a:cs typeface="Tahoma"/>
              </a:rPr>
              <a:t>Notify requester</a:t>
            </a:r>
          </a:p>
        </p:txBody>
      </p:sp>
      <p:sp>
        <p:nvSpPr>
          <p:cNvPr id="12" name="diagram-288">
            <a:extLst xmlns:a="http://schemas.openxmlformats.org/drawingml/2006/main">
              <a:ext uri="{FF2B5EF4-FFF2-40B4-BE49-F238E27FC236}">
                <a16:creationId xmlns:a16="http://schemas.microsoft.com/office/drawing/2014/main" id="{2F459C6D-A8D7-41F1-BAE1-D25AAB639D4A}"/>
              </a:ext>
            </a:extLst>
          </p:cNvPr>
          <p:cNvSpPr>
            <a:spLocks xmlns:a="http://schemas.openxmlformats.org/drawingml/2006/main" noGrp="1"/>
          </p:cNvSpPr>
          <p:nvPr/>
        </p:nvSpPr>
        <p:spPr>
          <a:xfrm xmlns:a="http://schemas.openxmlformats.org/drawingml/2006/main">
            <a:off x="2619375" y="4457700"/>
            <a:ext cx="2667000" cy="838200"/>
          </a:xfrm>
          <a:prstGeom xmlns:a="http://schemas.openxmlformats.org/drawingml/2006/main" prst="rect">
            <a:avLst/>
          </a:prstGeom>
          <a:solidFill xmlns:a="http://schemas.openxmlformats.org/drawingml/2006/main">
            <a:srgbClr val="FFF0D9"/>
          </a:solidFill>
          <a:ln xmlns:a="http://schemas.openxmlformats.org/drawingml/2006/main" w="0">
            <a:noFill/>
          </a:ln>
        </p:spPr>
      </p:sp>
      <p:sp>
        <p:nvSpPr>
          <p:cNvPr id="13" name="diagram-289">
            <a:extLst xmlns:a="http://schemas.openxmlformats.org/drawingml/2006/main">
              <a:ext uri="{FF2B5EF4-FFF2-40B4-BE49-F238E27FC236}">
                <a16:creationId xmlns:a16="http://schemas.microsoft.com/office/drawing/2014/main" id="{1C5E0684-C835-41F0-88FE-EF3D36B4623E}"/>
              </a:ext>
            </a:extLst>
          </p:cNvPr>
          <p:cNvSpPr>
            <a:spLocks xmlns:a="http://schemas.openxmlformats.org/drawingml/2006/main" noGrp="1"/>
          </p:cNvSpPr>
          <p:nvPr/>
        </p:nvSpPr>
        <p:spPr>
          <a:xfrm xmlns:a="http://schemas.openxmlformats.org/drawingml/2006/main">
            <a:off x="2790825" y="4600575"/>
            <a:ext cx="23241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Request details</a:t>
            </a:r>
          </a:p>
          <a:p xmlns:a="http://schemas.openxmlformats.org/drawingml/2006/main">
            <a:pPr>
              <a:defRPr sz="1500" b="1">
                <a:solidFill>
                  <a:srgbClr val="18324B"/>
                </a:solidFill>
                <a:latin typeface="Tahoma"/>
                <a:ea typeface="Tahoma"/>
                <a:cs typeface="Tahoma"/>
              </a:defRPr>
            </a:pPr>
            <a:r>
              <a:rPr sz="1500" b="1">
                <a:solidFill>
                  <a:srgbClr val="18324B"/>
                </a:solidFill>
                <a:latin typeface="Tahoma"/>
                <a:ea typeface="Tahoma"/>
                <a:cs typeface="Tahoma"/>
              </a:rPr>
              <a:t>Owner: coordinator</a:t>
            </a:r>
          </a:p>
        </p:txBody>
      </p:sp>
      <p:cxnSp>
        <p:nvCxnSpPr>
          <p:cNvPr id="41" name=""/>
          <p:cNvCxnSpPr>
            <a:stCxn xmlns:a="http://schemas.openxmlformats.org/drawingml/2006/main" id="2" idx="3"/>
            <a:endCxn xmlns:a="http://schemas.openxmlformats.org/drawingml/2006/main" id="4" idx="1"/>
          </p:cNvCxnSpPr>
          <p:nvPr/>
        </p:nvCxnSpPr>
        <p:spPr>
          <a:xfrm xmlns:a="http://schemas.openxmlformats.org/drawingml/2006/main">
            <a:off x="2190750" y="310515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42" name=""/>
          <p:cNvCxnSpPr>
            <a:stCxn xmlns:a="http://schemas.openxmlformats.org/drawingml/2006/main" id="4" idx="3"/>
            <a:endCxn xmlns:a="http://schemas.openxmlformats.org/drawingml/2006/main" id="6" idx="1"/>
          </p:cNvCxnSpPr>
          <p:nvPr/>
        </p:nvCxnSpPr>
        <p:spPr>
          <a:xfrm xmlns:a="http://schemas.openxmlformats.org/drawingml/2006/main">
            <a:off x="4429125" y="3105150"/>
            <a:ext cx="42862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flipV="1">
            <a:off x="6858000" y="2533650"/>
            <a:ext cx="666750" cy="57150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44" name=""/>
          <p:cNvCxnSpPr>
            <a:stCxn xmlns:a="http://schemas.openxmlformats.org/drawingml/2006/main" id="6" idx="3"/>
            <a:endCxn xmlns:a="http://schemas.openxmlformats.org/drawingml/2006/main" id="10" idx="1"/>
          </p:cNvCxnSpPr>
          <p:nvPr/>
        </p:nvCxnSpPr>
        <p:spPr>
          <a:xfrm xmlns:a="http://schemas.openxmlformats.org/drawingml/2006/main">
            <a:off x="6858000" y="3105150"/>
            <a:ext cx="666750" cy="809625"/>
          </a:xfrm>
          <a:prstGeom xmlns:a="http://schemas.openxmlformats.org/drawingml/2006/main" prst="straightConnector1">
            <a:avLst/>
          </a:prstGeom>
          <a:ln xmlns:a="http://schemas.openxmlformats.org/drawingml/2006/main" w="28575">
            <a:solidFill>
              <a:srgbClr val="B76D13"/>
            </a:solidFill>
            <a:tailEnd type="triangle" w="med" len="med"/>
          </a:ln>
        </p:spPr>
      </p:cxnSp>
      <p:cxnSp>
        <p:nvCxnSpPr>
          <p:cNvPr id="45" name=""/>
          <p:cNvCxnSpPr>
            <a:stCxn xmlns:a="http://schemas.openxmlformats.org/drawingml/2006/main" id="4" idx="2"/>
            <a:endCxn xmlns:a="http://schemas.openxmlformats.org/drawingml/2006/main" id="12" idx="0"/>
          </p:cNvCxnSpPr>
          <p:nvPr/>
        </p:nvCxnSpPr>
        <p:spPr>
          <a:xfrm xmlns:a="http://schemas.openxmlformats.org/drawingml/2006/main">
            <a:off x="3524250" y="3495675"/>
            <a:ext cx="428625" cy="962025"/>
          </a:xfrm>
          <a:prstGeom xmlns:a="http://schemas.openxmlformats.org/drawingml/2006/main" prst="bentConnector4">
            <a:avLst>
              <a:gd name="adj1" fmla="val 0"/>
              <a:gd name="adj2" fmla="val 23762"/>
            </a:avLst>
          </a:prstGeom>
          <a:ln xmlns:a="http://schemas.openxmlformats.org/drawingml/2006/main" w="28575">
            <a:solidFill>
              <a:srgbClr val="B76D13"/>
            </a:solidFill>
            <a:tailEnd type="triangle" w="med" len="med"/>
          </a:ln>
        </p:spPr>
      </p:cxnSp>
      <p:sp>
        <p:nvSpPr>
          <p:cNvPr id="19" name="diagram-290">
            <a:extLst xmlns:a="http://schemas.openxmlformats.org/drawingml/2006/main">
              <a:ext uri="{FF2B5EF4-FFF2-40B4-BE49-F238E27FC236}">
                <a16:creationId xmlns:a16="http://schemas.microsoft.com/office/drawing/2014/main" id="{1FE4AD75-094C-41AF-AA27-7E588340B9DB}"/>
              </a:ext>
            </a:extLst>
          </p:cNvPr>
          <p:cNvSpPr>
            <a:spLocks xmlns:a="http://schemas.openxmlformats.org/drawingml/2006/main" noGrp="1"/>
          </p:cNvSpPr>
          <p:nvPr/>
        </p:nvSpPr>
        <p:spPr>
          <a:xfrm xmlns:a="http://schemas.openxmlformats.org/drawingml/2006/main">
            <a:off x="4286250" y="2381250"/>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74FBA"/>
                </a:solidFill>
                <a:latin typeface="Tahoma"/>
                <a:ea typeface="Tahoma"/>
                <a:cs typeface="Tahoma"/>
              </a:defRPr>
            </a:pPr>
            <a:r>
              <a:rPr sz="1350" b="1">
                <a:solidFill>
                  <a:srgbClr val="174FBA"/>
                </a:solidFill>
                <a:latin typeface="Tahoma"/>
                <a:ea typeface="Tahoma"/>
                <a:cs typeface="Tahoma"/>
              </a:rPr>
              <a:t>Complete</a:t>
            </a:r>
          </a:p>
        </p:txBody>
      </p:sp>
      <p:sp>
        <p:nvSpPr>
          <p:cNvPr id="20" name="diagram-291">
            <a:extLst xmlns:a="http://schemas.openxmlformats.org/drawingml/2006/main">
              <a:ext uri="{FF2B5EF4-FFF2-40B4-BE49-F238E27FC236}">
                <a16:creationId xmlns:a16="http://schemas.microsoft.com/office/drawing/2014/main" id="{B5E20966-A439-44D9-ACAE-42B37D70A752}"/>
              </a:ext>
            </a:extLst>
          </p:cNvPr>
          <p:cNvSpPr>
            <a:spLocks xmlns:a="http://schemas.openxmlformats.org/drawingml/2006/main" noGrp="1"/>
          </p:cNvSpPr>
          <p:nvPr/>
        </p:nvSpPr>
        <p:spPr>
          <a:xfrm xmlns:a="http://schemas.openxmlformats.org/drawingml/2006/main">
            <a:off x="1952625" y="4010025"/>
            <a:ext cx="1476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Incomplete</a:t>
            </a:r>
          </a:p>
        </p:txBody>
      </p:sp>
      <p:sp>
        <p:nvSpPr>
          <p:cNvPr id="21" name="diagram-292">
            <a:extLst xmlns:a="http://schemas.openxmlformats.org/drawingml/2006/main">
              <a:ext uri="{FF2B5EF4-FFF2-40B4-BE49-F238E27FC236}">
                <a16:creationId xmlns:a16="http://schemas.microsoft.com/office/drawing/2014/main" id="{C56CF326-AEF7-4A1C-90AF-FD517940C537}"/>
              </a:ext>
            </a:extLst>
          </p:cNvPr>
          <p:cNvSpPr>
            <a:spLocks xmlns:a="http://schemas.openxmlformats.org/drawingml/2006/main" noGrp="1"/>
          </p:cNvSpPr>
          <p:nvPr/>
        </p:nvSpPr>
        <p:spPr>
          <a:xfrm xmlns:a="http://schemas.openxmlformats.org/drawingml/2006/main">
            <a:off x="6572250" y="2143125"/>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174FBA"/>
                </a:solidFill>
                <a:latin typeface="Tahoma"/>
                <a:ea typeface="Tahoma"/>
                <a:cs typeface="Tahoma"/>
              </a:defRPr>
            </a:pPr>
            <a:r>
              <a:rPr sz="1350" b="1">
                <a:solidFill>
                  <a:srgbClr val="174FBA"/>
                </a:solidFill>
                <a:latin typeface="Tahoma"/>
                <a:ea typeface="Tahoma"/>
                <a:cs typeface="Tahoma"/>
              </a:rPr>
              <a:t>Approve</a:t>
            </a:r>
          </a:p>
        </p:txBody>
      </p:sp>
      <p:sp>
        <p:nvSpPr>
          <p:cNvPr id="22" name="diagram-293">
            <a:extLst xmlns:a="http://schemas.openxmlformats.org/drawingml/2006/main">
              <a:ext uri="{FF2B5EF4-FFF2-40B4-BE49-F238E27FC236}">
                <a16:creationId xmlns:a16="http://schemas.microsoft.com/office/drawing/2014/main" id="{39FB5E9E-3385-4456-9A40-6BCDF8E679E4}"/>
              </a:ext>
            </a:extLst>
          </p:cNvPr>
          <p:cNvSpPr>
            <a:spLocks xmlns:a="http://schemas.openxmlformats.org/drawingml/2006/main" noGrp="1"/>
          </p:cNvSpPr>
          <p:nvPr/>
        </p:nvSpPr>
        <p:spPr>
          <a:xfrm xmlns:a="http://schemas.openxmlformats.org/drawingml/2006/main">
            <a:off x="6572250" y="3714750"/>
            <a:ext cx="1047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Reject</a:t>
            </a:r>
          </a:p>
        </p:txBody>
      </p:sp>
      <p:sp>
        <p:nvSpPr>
          <p:cNvPr id="23" name="diagram-294">
            <a:extLst xmlns:a="http://schemas.openxmlformats.org/drawingml/2006/main">
              <a:ext uri="{FF2B5EF4-FFF2-40B4-BE49-F238E27FC236}">
                <a16:creationId xmlns:a16="http://schemas.microsoft.com/office/drawing/2014/main" id="{234976E3-18E8-4F44-8686-5C1961264AD0}"/>
              </a:ext>
            </a:extLst>
          </p:cNvPr>
          <p:cNvSpPr>
            <a:spLocks xmlns:a="http://schemas.openxmlformats.org/drawingml/2006/main" noGrp="1"/>
          </p:cNvSpPr>
          <p:nvPr/>
        </p:nvSpPr>
        <p:spPr>
          <a:xfrm xmlns:a="http://schemas.openxmlformats.org/drawingml/2006/main">
            <a:off x="619125" y="2238375"/>
            <a:ext cx="1571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4FBA"/>
                </a:solidFill>
                <a:latin typeface="Tahoma"/>
                <a:ea typeface="Tahoma"/>
                <a:cs typeface="Tahoma"/>
              </a:defRPr>
            </a:pPr>
            <a:r>
              <a:rPr sz="1500" b="1">
                <a:solidFill>
                  <a:srgbClr val="174FBA"/>
                </a:solidFill>
                <a:latin typeface="Tahoma"/>
                <a:ea typeface="Tahoma"/>
                <a:cs typeface="Tahoma"/>
              </a:rPr>
              <a:t>Trigger</a:t>
            </a:r>
          </a:p>
        </p:txBody>
      </p:sp>
      <p:sp>
        <p:nvSpPr>
          <p:cNvPr id="24" name="diagram-295">
            <a:extLst xmlns:a="http://schemas.openxmlformats.org/drawingml/2006/main">
              <a:ext uri="{FF2B5EF4-FFF2-40B4-BE49-F238E27FC236}">
                <a16:creationId xmlns:a16="http://schemas.microsoft.com/office/drawing/2014/main" id="{52030FFF-4742-46A9-BAD0-A95B45737636}"/>
              </a:ext>
            </a:extLst>
          </p:cNvPr>
          <p:cNvSpPr>
            <a:spLocks xmlns:a="http://schemas.openxmlformats.org/drawingml/2006/main" noGrp="1"/>
          </p:cNvSpPr>
          <p:nvPr/>
        </p:nvSpPr>
        <p:spPr>
          <a:xfrm xmlns:a="http://schemas.openxmlformats.org/drawingml/2006/main">
            <a:off x="2619375" y="2238375"/>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4FBA"/>
                </a:solidFill>
                <a:latin typeface="Tahoma"/>
                <a:ea typeface="Tahoma"/>
                <a:cs typeface="Tahoma"/>
              </a:defRPr>
            </a:pPr>
            <a:r>
              <a:rPr sz="1500" b="1">
                <a:solidFill>
                  <a:srgbClr val="174FBA"/>
                </a:solidFill>
                <a:latin typeface="Tahoma"/>
                <a:ea typeface="Tahoma"/>
                <a:cs typeface="Tahoma"/>
              </a:rPr>
              <a:t>Condition</a:t>
            </a:r>
          </a:p>
        </p:txBody>
      </p:sp>
      <p:sp>
        <p:nvSpPr>
          <p:cNvPr id="25" name="diagram-296">
            <a:extLst xmlns:a="http://schemas.openxmlformats.org/drawingml/2006/main">
              <a:ext uri="{FF2B5EF4-FFF2-40B4-BE49-F238E27FC236}">
                <a16:creationId xmlns:a16="http://schemas.microsoft.com/office/drawing/2014/main" id="{DBBB0339-1D48-44AE-AC2E-6A0242DEF1BF}"/>
              </a:ext>
            </a:extLst>
          </p:cNvPr>
          <p:cNvSpPr>
            <a:spLocks xmlns:a="http://schemas.openxmlformats.org/drawingml/2006/main" noGrp="1"/>
          </p:cNvSpPr>
          <p:nvPr/>
        </p:nvSpPr>
        <p:spPr>
          <a:xfrm xmlns:a="http://schemas.openxmlformats.org/drawingml/2006/main">
            <a:off x="4857750" y="223837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4FBA"/>
                </a:solidFill>
                <a:latin typeface="Tahoma"/>
                <a:ea typeface="Tahoma"/>
                <a:cs typeface="Tahoma"/>
              </a:defRPr>
            </a:pPr>
            <a:r>
              <a:rPr sz="1500" b="1">
                <a:solidFill>
                  <a:srgbClr val="174FBA"/>
                </a:solidFill>
                <a:latin typeface="Tahoma"/>
                <a:ea typeface="Tahoma"/>
                <a:cs typeface="Tahoma"/>
              </a:rPr>
              <a:t>Human decision</a:t>
            </a:r>
          </a:p>
        </p:txBody>
      </p:sp>
      <p:sp>
        <p:nvSpPr>
          <p:cNvPr id="26" name="diagram-297">
            <a:extLst xmlns:a="http://schemas.openxmlformats.org/drawingml/2006/main">
              <a:ext uri="{FF2B5EF4-FFF2-40B4-BE49-F238E27FC236}">
                <a16:creationId xmlns:a16="http://schemas.microsoft.com/office/drawing/2014/main" id="{F9CCA28D-4463-4660-8D28-DD6D6F350976}"/>
              </a:ext>
            </a:extLst>
          </p:cNvPr>
          <p:cNvSpPr>
            <a:spLocks xmlns:a="http://schemas.openxmlformats.org/drawingml/2006/main" noGrp="1"/>
          </p:cNvSpPr>
          <p:nvPr/>
        </p:nvSpPr>
        <p:spPr>
          <a:xfrm xmlns:a="http://schemas.openxmlformats.org/drawingml/2006/main">
            <a:off x="7524750" y="1619250"/>
            <a:ext cx="2428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4FBA"/>
                </a:solidFill>
                <a:latin typeface="Tahoma"/>
                <a:ea typeface="Tahoma"/>
                <a:cs typeface="Tahoma"/>
              </a:defRPr>
            </a:pPr>
            <a:r>
              <a:rPr sz="1500" b="1">
                <a:solidFill>
                  <a:srgbClr val="174FBA"/>
                </a:solidFill>
                <a:latin typeface="Tahoma"/>
                <a:ea typeface="Tahoma"/>
                <a:cs typeface="Tahoma"/>
              </a:rPr>
              <a:t>Actions</a:t>
            </a:r>
          </a:p>
        </p:txBody>
      </p:sp>
      <p:sp>
        <p:nvSpPr>
          <p:cNvPr id="27" name="diagram-298">
            <a:extLst xmlns:a="http://schemas.openxmlformats.org/drawingml/2006/main">
              <a:ext uri="{FF2B5EF4-FFF2-40B4-BE49-F238E27FC236}">
                <a16:creationId xmlns:a16="http://schemas.microsoft.com/office/drawing/2014/main" id="{1E42CAF3-0E0F-4239-BE10-0C5FE8AF4215}"/>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Both decisions reach an explicit outcome; every exception route has an owner.</a:t>
            </a:r>
          </a:p>
        </p:txBody>
      </p:sp>
    </p:spTree>
    <p:extLst>
      <p:ext uri="{BB962C8B-B14F-4D97-AF65-F5344CB8AC3E}">
        <p14:creationId xmlns:p14="http://schemas.microsoft.com/office/powerpoint/2010/main" val="1728683490"/>
      </p:ext>
    </p:extLst>
  </p:cSld>
</p:sld>
</file>

<file path=ppt/slides/slide3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7" name="diagram-299">
            <a:extLst xmlns:a="http://schemas.openxmlformats.org/drawingml/2006/main">
              <a:ext uri="{FF2B5EF4-FFF2-40B4-BE49-F238E27FC236}">
                <a16:creationId xmlns:a16="http://schemas.microsoft.com/office/drawing/2014/main" id="{7F23D7AD-0CB9-4788-8BA2-E20B94F79A99}"/>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4 · PRACTICE 1</a:t>
            </a:r>
          </a:p>
        </p:txBody>
      </p:sp>
      <p:sp>
        <p:nvSpPr>
          <p:cNvPr id="2" name="diagram-300">
            <a:extLst xmlns:a="http://schemas.openxmlformats.org/drawingml/2006/main">
              <a:ext uri="{FF2B5EF4-FFF2-40B4-BE49-F238E27FC236}">
                <a16:creationId xmlns:a16="http://schemas.microsoft.com/office/drawing/2014/main" id="{43A83ABA-04FE-447F-9268-65750482BD88}"/>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Flow cards: the normal path</a:t>
            </a:r>
          </a:p>
        </p:txBody>
      </p:sp>
      <p:sp>
        <p:nvSpPr>
          <p:cNvPr id="3" name="diagram-301">
            <a:extLst xmlns:a="http://schemas.openxmlformats.org/drawingml/2006/main">
              <a:ext uri="{FF2B5EF4-FFF2-40B4-BE49-F238E27FC236}">
                <a16:creationId xmlns:a16="http://schemas.microsoft.com/office/drawing/2014/main" id="{76EC1DF6-6DCA-478E-B7FF-4E417ED2F5F1}"/>
              </a:ext>
            </a:extLst>
          </p:cNvPr>
          <p:cNvSpPr>
            <a:spLocks xmlns:a="http://schemas.openxmlformats.org/drawingml/2006/main" noGrp="1"/>
          </p:cNvSpPr>
          <p:nvPr/>
        </p:nvSpPr>
        <p:spPr>
          <a:xfrm xmlns:a="http://schemas.openxmlformats.org/drawingml/2006/main">
            <a:off x="762000" y="2571750"/>
            <a:ext cx="2347913"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4" name="diagram-302">
            <a:extLst xmlns:a="http://schemas.openxmlformats.org/drawingml/2006/main">
              <a:ext uri="{FF2B5EF4-FFF2-40B4-BE49-F238E27FC236}">
                <a16:creationId xmlns:a16="http://schemas.microsoft.com/office/drawing/2014/main" id="{2AD752E2-A850-483E-BF79-C65FEBD74191}"/>
              </a:ext>
            </a:extLst>
          </p:cNvPr>
          <p:cNvSpPr>
            <a:spLocks xmlns:a="http://schemas.openxmlformats.org/drawingml/2006/main" noGrp="1"/>
          </p:cNvSpPr>
          <p:nvPr/>
        </p:nvSpPr>
        <p:spPr>
          <a:xfrm xmlns:a="http://schemas.openxmlformats.org/drawingml/2006/main">
            <a:off x="933450" y="2714625"/>
            <a:ext cx="2005013"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Trigger</a:t>
            </a:r>
          </a:p>
        </p:txBody>
      </p:sp>
      <p:sp>
        <p:nvSpPr>
          <p:cNvPr id="5" name="diagram-303">
            <a:extLst xmlns:a="http://schemas.openxmlformats.org/drawingml/2006/main">
              <a:ext uri="{FF2B5EF4-FFF2-40B4-BE49-F238E27FC236}">
                <a16:creationId xmlns:a16="http://schemas.microsoft.com/office/drawing/2014/main" id="{C005C70B-A895-44B3-964E-58D1BB53B662}"/>
              </a:ext>
            </a:extLst>
          </p:cNvPr>
          <p:cNvSpPr>
            <a:spLocks xmlns:a="http://schemas.openxmlformats.org/drawingml/2006/main" noGrp="1"/>
          </p:cNvSpPr>
          <p:nvPr/>
        </p:nvSpPr>
        <p:spPr>
          <a:xfrm xmlns:a="http://schemas.openxmlformats.org/drawingml/2006/main">
            <a:off x="3471863" y="2571750"/>
            <a:ext cx="2347913"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6" name="diagram-304">
            <a:extLst xmlns:a="http://schemas.openxmlformats.org/drawingml/2006/main">
              <a:ext uri="{FF2B5EF4-FFF2-40B4-BE49-F238E27FC236}">
                <a16:creationId xmlns:a16="http://schemas.microsoft.com/office/drawing/2014/main" id="{8B92DA14-CB51-4795-AB2C-E9B28817E386}"/>
              </a:ext>
            </a:extLst>
          </p:cNvPr>
          <p:cNvSpPr>
            <a:spLocks xmlns:a="http://schemas.openxmlformats.org/drawingml/2006/main" noGrp="1"/>
          </p:cNvSpPr>
          <p:nvPr/>
        </p:nvSpPr>
        <p:spPr>
          <a:xfrm xmlns:a="http://schemas.openxmlformats.org/drawingml/2006/main">
            <a:off x="3643313" y="2714625"/>
            <a:ext cx="2005013"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Action</a:t>
            </a:r>
          </a:p>
        </p:txBody>
      </p:sp>
      <p:cxnSp>
        <p:nvCxnSpPr>
          <p:cNvPr id="23" name=""/>
          <p:cNvCxnSpPr>
            <a:stCxn xmlns:a="http://schemas.openxmlformats.org/drawingml/2006/main" id="3" idx="3"/>
            <a:endCxn xmlns:a="http://schemas.openxmlformats.org/drawingml/2006/main" id="5" idx="1"/>
          </p:cNvCxnSpPr>
          <p:nvPr/>
        </p:nvCxnSpPr>
        <p:spPr>
          <a:xfrm xmlns:a="http://schemas.openxmlformats.org/drawingml/2006/main">
            <a:off x="3109913" y="304800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8" name="diagram-305">
            <a:extLst xmlns:a="http://schemas.openxmlformats.org/drawingml/2006/main">
              <a:ext uri="{FF2B5EF4-FFF2-40B4-BE49-F238E27FC236}">
                <a16:creationId xmlns:a16="http://schemas.microsoft.com/office/drawing/2014/main" id="{2BDD4A32-1762-4E90-8AB9-4277A207AE52}"/>
              </a:ext>
            </a:extLst>
          </p:cNvPr>
          <p:cNvSpPr>
            <a:spLocks xmlns:a="http://schemas.openxmlformats.org/drawingml/2006/main" noGrp="1"/>
          </p:cNvSpPr>
          <p:nvPr/>
        </p:nvSpPr>
        <p:spPr>
          <a:xfrm xmlns:a="http://schemas.openxmlformats.org/drawingml/2006/main">
            <a:off x="6181725" y="2571750"/>
            <a:ext cx="2347913"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9" name="diagram-306">
            <a:extLst xmlns:a="http://schemas.openxmlformats.org/drawingml/2006/main">
              <a:ext uri="{FF2B5EF4-FFF2-40B4-BE49-F238E27FC236}">
                <a16:creationId xmlns:a16="http://schemas.microsoft.com/office/drawing/2014/main" id="{B17B8C7A-1F3D-4B13-B779-117EC4FD14CD}"/>
              </a:ext>
            </a:extLst>
          </p:cNvPr>
          <p:cNvSpPr>
            <a:spLocks xmlns:a="http://schemas.openxmlformats.org/drawingml/2006/main" noGrp="1"/>
          </p:cNvSpPr>
          <p:nvPr/>
        </p:nvSpPr>
        <p:spPr>
          <a:xfrm xmlns:a="http://schemas.openxmlformats.org/drawingml/2006/main">
            <a:off x="6353175" y="2714625"/>
            <a:ext cx="2005013"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Action</a:t>
            </a:r>
          </a:p>
        </p:txBody>
      </p:sp>
      <p:cxnSp>
        <p:nvCxnSpPr>
          <p:cNvPr id="26" name=""/>
          <p:cNvCxnSpPr>
            <a:stCxn xmlns:a="http://schemas.openxmlformats.org/drawingml/2006/main" id="5" idx="3"/>
            <a:endCxn xmlns:a="http://schemas.openxmlformats.org/drawingml/2006/main" id="8" idx="1"/>
          </p:cNvCxnSpPr>
          <p:nvPr/>
        </p:nvCxnSpPr>
        <p:spPr>
          <a:xfrm xmlns:a="http://schemas.openxmlformats.org/drawingml/2006/main">
            <a:off x="5819776" y="3048000"/>
            <a:ext cx="361949"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1" name="diagram-307">
            <a:extLst xmlns:a="http://schemas.openxmlformats.org/drawingml/2006/main">
              <a:ext uri="{FF2B5EF4-FFF2-40B4-BE49-F238E27FC236}">
                <a16:creationId xmlns:a16="http://schemas.microsoft.com/office/drawing/2014/main" id="{2B5FFA3D-9EB8-476A-9305-F8779FD6F9CF}"/>
              </a:ext>
            </a:extLst>
          </p:cNvPr>
          <p:cNvSpPr>
            <a:spLocks xmlns:a="http://schemas.openxmlformats.org/drawingml/2006/main" noGrp="1"/>
          </p:cNvSpPr>
          <p:nvPr/>
        </p:nvSpPr>
        <p:spPr>
          <a:xfrm xmlns:a="http://schemas.openxmlformats.org/drawingml/2006/main">
            <a:off x="8891588" y="2571750"/>
            <a:ext cx="2347913"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2" name="diagram-308">
            <a:extLst xmlns:a="http://schemas.openxmlformats.org/drawingml/2006/main">
              <a:ext uri="{FF2B5EF4-FFF2-40B4-BE49-F238E27FC236}">
                <a16:creationId xmlns:a16="http://schemas.microsoft.com/office/drawing/2014/main" id="{92B425E7-AB5F-4238-BBC2-1F8EE491DDE1}"/>
              </a:ext>
            </a:extLst>
          </p:cNvPr>
          <p:cNvSpPr>
            <a:spLocks xmlns:a="http://schemas.openxmlformats.org/drawingml/2006/main" noGrp="1"/>
          </p:cNvSpPr>
          <p:nvPr/>
        </p:nvSpPr>
        <p:spPr>
          <a:xfrm xmlns:a="http://schemas.openxmlformats.org/drawingml/2006/main">
            <a:off x="9063038" y="2714625"/>
            <a:ext cx="2005013"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Outcome</a:t>
            </a:r>
          </a:p>
        </p:txBody>
      </p:sp>
      <p:cxnSp>
        <p:nvCxnSpPr>
          <p:cNvPr id="29" name=""/>
          <p:cNvCxnSpPr>
            <a:stCxn xmlns:a="http://schemas.openxmlformats.org/drawingml/2006/main" id="8" idx="3"/>
            <a:endCxn xmlns:a="http://schemas.openxmlformats.org/drawingml/2006/main" id="11" idx="1"/>
          </p:cNvCxnSpPr>
          <p:nvPr/>
        </p:nvCxnSpPr>
        <p:spPr>
          <a:xfrm xmlns:a="http://schemas.openxmlformats.org/drawingml/2006/main">
            <a:off x="8529638" y="3048000"/>
            <a:ext cx="36195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4" name="diagram-309">
            <a:extLst xmlns:a="http://schemas.openxmlformats.org/drawingml/2006/main">
              <a:ext uri="{FF2B5EF4-FFF2-40B4-BE49-F238E27FC236}">
                <a16:creationId xmlns:a16="http://schemas.microsoft.com/office/drawing/2014/main" id="{6100D458-94F9-47A3-955E-1104E501E834}"/>
              </a:ext>
            </a:extLst>
          </p:cNvPr>
          <p:cNvSpPr>
            <a:spLocks xmlns:a="http://schemas.openxmlformats.org/drawingml/2006/main" noGrp="1"/>
          </p:cNvSpPr>
          <p:nvPr/>
        </p:nvSpPr>
        <p:spPr>
          <a:xfrm xmlns:a="http://schemas.openxmlformats.org/drawingml/2006/main">
            <a:off x="809625" y="40957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02D50"/>
                </a:solidFill>
                <a:latin typeface="Tahoma"/>
                <a:ea typeface="Tahoma"/>
                <a:cs typeface="Tahoma"/>
              </a:defRPr>
            </a:pPr>
            <a:r>
              <a:rPr sz="2175" b="1">
                <a:solidFill>
                  <a:srgbClr val="102D50"/>
                </a:solidFill>
                <a:latin typeface="Tahoma"/>
                <a:ea typeface="Tahoma"/>
                <a:cs typeface="Tahoma"/>
              </a:rPr>
              <a:t>Use only cards that explain the selected opportunity</a:t>
            </a:r>
          </a:p>
        </p:txBody>
      </p:sp>
      <p:sp>
        <p:nvSpPr>
          <p:cNvPr id="15" name="diagram-310">
            <a:extLst xmlns:a="http://schemas.openxmlformats.org/drawingml/2006/main">
              <a:ext uri="{FF2B5EF4-FFF2-40B4-BE49-F238E27FC236}">
                <a16:creationId xmlns:a16="http://schemas.microsoft.com/office/drawing/2014/main" id="{A02CC4DF-7477-4EA5-9689-33CFE2C0C58E}"/>
              </a:ext>
            </a:extLst>
          </p:cNvPr>
          <p:cNvSpPr>
            <a:spLocks xmlns:a="http://schemas.openxmlformats.org/drawingml/2006/main" noGrp="1"/>
          </p:cNvSpPr>
          <p:nvPr/>
        </p:nvSpPr>
        <p:spPr>
          <a:xfrm xmlns:a="http://schemas.openxmlformats.org/drawingml/2006/main">
            <a:off x="762000" y="4905375"/>
            <a:ext cx="10572750" cy="781050"/>
          </a:xfrm>
          <a:prstGeom xmlns:a="http://schemas.openxmlformats.org/drawingml/2006/main" prst="rect">
            <a:avLst/>
          </a:prstGeom>
          <a:solidFill xmlns:a="http://schemas.openxmlformats.org/drawingml/2006/main">
            <a:srgbClr val="FFF0D9"/>
          </a:solidFill>
          <a:ln xmlns:a="http://schemas.openxmlformats.org/drawingml/2006/main" w="19050">
            <a:solidFill>
              <a:srgbClr val="B76D13"/>
            </a:solidFill>
          </a:ln>
        </p:spPr>
      </p:sp>
      <p:sp>
        <p:nvSpPr>
          <p:cNvPr id="16" name="diagram-311">
            <a:extLst xmlns:a="http://schemas.openxmlformats.org/drawingml/2006/main">
              <a:ext uri="{FF2B5EF4-FFF2-40B4-BE49-F238E27FC236}">
                <a16:creationId xmlns:a16="http://schemas.microsoft.com/office/drawing/2014/main" id="{CED9E852-E619-4C94-9FE7-C3D6FF22C3A9}"/>
              </a:ext>
            </a:extLst>
          </p:cNvPr>
          <p:cNvSpPr>
            <a:spLocks xmlns:a="http://schemas.openxmlformats.org/drawingml/2006/main" noGrp="1"/>
          </p:cNvSpPr>
          <p:nvPr/>
        </p:nvSpPr>
        <p:spPr>
          <a:xfrm xmlns:a="http://schemas.openxmlformats.org/drawingml/2006/main">
            <a:off x="1000125" y="5067300"/>
            <a:ext cx="1009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02D50"/>
                </a:solidFill>
                <a:latin typeface="Tahoma"/>
                <a:ea typeface="Tahoma"/>
                <a:cs typeface="Tahoma"/>
              </a:defRPr>
            </a:pPr>
            <a:r>
              <a:rPr sz="1950" b="1">
                <a:solidFill>
                  <a:srgbClr val="102D50"/>
                </a:solidFill>
                <a:latin typeface="Tahoma"/>
                <a:ea typeface="Tahoma"/>
                <a:cs typeface="Tahoma"/>
              </a:rPr>
              <a:t>Correction: Start and wait for an approval is an Action after a valid Trigger.</a:t>
            </a:r>
          </a:p>
        </p:txBody>
      </p:sp>
    </p:spTree>
    <p:extLst>
      <p:ext uri="{BB962C8B-B14F-4D97-AF65-F5344CB8AC3E}">
        <p14:creationId xmlns:p14="http://schemas.microsoft.com/office/powerpoint/2010/main" val="1367431597"/>
      </p:ext>
    </p:extLst>
  </p:cSld>
</p:sld>
</file>

<file path=ppt/slides/slide32.xml><?xml version="1.0" encoding="utf-8"?>
<p:sld xmlns:p="http://schemas.openxmlformats.org/presentationml/2006/main">
  <p:cSld>
    <p:bg>
      <p:bgPr>
        <a:solidFill xmlns:a="http://schemas.openxmlformats.org/drawingml/2006/main">
          <a:srgbClr val="102D50"/>
        </a:solidFill>
      </p:bgPr>
    </p:bg>
    <p:spTree>
      <p:nvGrpSpPr>
        <p:cNvPr id="1" name=""/>
        <p:cNvGrpSpPr/>
        <p:nvPr/>
      </p:nvGrpSpPr>
      <p:grpSpPr>
        <a:xfrm xmlns:a="http://schemas.openxmlformats.org/drawingml/2006/main"/>
      </p:grpSpPr>
      <p:sp>
        <p:nvSpPr>
          <p:cNvPr id="5" name="diagram-312">
            <a:extLst xmlns:a="http://schemas.openxmlformats.org/drawingml/2006/main">
              <a:ext uri="{FF2B5EF4-FFF2-40B4-BE49-F238E27FC236}">
                <a16:creationId xmlns:a16="http://schemas.microsoft.com/office/drawing/2014/main" id="{E53AC034-B929-4CBD-A712-DB7076C4069D}"/>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FFFFFF"/>
                </a:solidFill>
                <a:latin typeface="Tahoma"/>
                <a:ea typeface="Tahoma"/>
                <a:cs typeface="Tahoma"/>
              </a:defRPr>
            </a:pPr>
            <a:r>
              <a:rPr sz="3225" b="1">
                <a:solidFill>
                  <a:srgbClr val="FFFFFF"/>
                </a:solidFill>
                <a:latin typeface="Tahoma"/>
                <a:ea typeface="Tahoma"/>
                <a:cs typeface="Tahoma"/>
              </a:rPr>
              <a:t>Block 3 checkpoint</a:t>
            </a:r>
          </a:p>
        </p:txBody>
      </p:sp>
      <p:sp>
        <p:nvSpPr>
          <p:cNvPr id="2" name="diagram-313">
            <a:extLst xmlns:a="http://schemas.openxmlformats.org/drawingml/2006/main">
              <a:ext uri="{FF2B5EF4-FFF2-40B4-BE49-F238E27FC236}">
                <a16:creationId xmlns:a16="http://schemas.microsoft.com/office/drawing/2014/main" id="{D44B0B53-3A87-4400-AA1F-0F1C9A9F2CB4}"/>
              </a:ext>
            </a:extLst>
          </p:cNvPr>
          <p:cNvSpPr>
            <a:spLocks xmlns:a="http://schemas.openxmlformats.org/drawingml/2006/main" noGrp="1"/>
          </p:cNvSpPr>
          <p:nvPr/>
        </p:nvSpPr>
        <p:spPr>
          <a:xfrm xmlns:a="http://schemas.openxmlformats.org/drawingml/2006/main">
            <a:off x="762000" y="2428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Tahoma"/>
                <a:ea typeface="Tahoma"/>
                <a:cs typeface="Tahoma"/>
              </a:defRPr>
            </a:pPr>
            <a:r>
              <a:rPr sz="3150" b="1">
                <a:solidFill>
                  <a:srgbClr val="FFFFFF"/>
                </a:solidFill>
                <a:latin typeface="Tahoma"/>
                <a:ea typeface="Tahoma"/>
                <a:cs typeface="Tahoma"/>
              </a:rPr>
              <a:t>One selected opportunity</a:t>
            </a:r>
          </a:p>
        </p:txBody>
      </p:sp>
      <p:sp>
        <p:nvSpPr>
          <p:cNvPr id="3" name="diagram-314">
            <a:extLst xmlns:a="http://schemas.openxmlformats.org/drawingml/2006/main">
              <a:ext uri="{FF2B5EF4-FFF2-40B4-BE49-F238E27FC236}">
                <a16:creationId xmlns:a16="http://schemas.microsoft.com/office/drawing/2014/main" id="{019DB653-94BF-44CB-A90E-9A51E29EE2E4}"/>
              </a:ext>
            </a:extLst>
          </p:cNvPr>
          <p:cNvSpPr>
            <a:spLocks xmlns:a="http://schemas.openxmlformats.org/drawingml/2006/main" noGrp="1"/>
          </p:cNvSpPr>
          <p:nvPr/>
        </p:nvSpPr>
        <p:spPr>
          <a:xfrm xmlns:a="http://schemas.openxmlformats.org/drawingml/2006/main">
            <a:off x="762000" y="366712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FFFFFF"/>
                </a:solidFill>
                <a:latin typeface="Tahoma"/>
                <a:ea typeface="Tahoma"/>
                <a:cs typeface="Tahoma"/>
              </a:defRPr>
            </a:pPr>
            <a:r>
              <a:rPr sz="2550" b="0">
                <a:solidFill>
                  <a:srgbClr val="FFFFFF"/>
                </a:solidFill>
                <a:latin typeface="Tahoma"/>
                <a:ea typeface="Tahoma"/>
                <a:cs typeface="Tahoma"/>
              </a:rPr>
              <a:t>A visible Trigger-to-outcome path</a:t>
            </a:r>
          </a:p>
        </p:txBody>
      </p:sp>
      <p:sp>
        <p:nvSpPr>
          <p:cNvPr id="4" name="diagram-315">
            <a:extLst xmlns:a="http://schemas.openxmlformats.org/drawingml/2006/main">
              <a:ext uri="{FF2B5EF4-FFF2-40B4-BE49-F238E27FC236}">
                <a16:creationId xmlns:a16="http://schemas.microsoft.com/office/drawing/2014/main" id="{C7D6A3BB-D8E7-4EF7-AE69-BBD0D5DCB370}"/>
              </a:ext>
            </a:extLst>
          </p:cNvPr>
          <p:cNvSpPr>
            <a:spLocks xmlns:a="http://schemas.openxmlformats.org/drawingml/2006/main" noGrp="1"/>
          </p:cNvSpPr>
          <p:nvPr/>
        </p:nvSpPr>
        <p:spPr>
          <a:xfrm xmlns:a="http://schemas.openxmlformats.org/drawingml/2006/main">
            <a:off x="762000" y="51911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BCAE8"/>
                </a:solidFill>
                <a:latin typeface="Tahoma"/>
                <a:ea typeface="Tahoma"/>
                <a:cs typeface="Tahoma"/>
              </a:defRPr>
            </a:pPr>
            <a:r>
              <a:rPr sz="2175" b="0">
                <a:solidFill>
                  <a:srgbClr val="ABCAE8"/>
                </a:solidFill>
                <a:latin typeface="Tahoma"/>
                <a:ea typeface="Tahoma"/>
                <a:cs typeface="Tahoma"/>
              </a:rPr>
              <a:t>After the break: people and exceptions</a:t>
            </a:r>
          </a:p>
        </p:txBody>
      </p:sp>
    </p:spTree>
    <p:extLst>
      <p:ext uri="{BB962C8B-B14F-4D97-AF65-F5344CB8AC3E}">
        <p14:creationId xmlns:p14="http://schemas.microsoft.com/office/powerpoint/2010/main" val="850912776"/>
      </p:ext>
    </p:extLst>
  </p:cSld>
</p:sld>
</file>

<file path=ppt/slides/slide3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22" name="diagram-316">
            <a:extLst xmlns:a="http://schemas.openxmlformats.org/drawingml/2006/main">
              <a:ext uri="{FF2B5EF4-FFF2-40B4-BE49-F238E27FC236}">
                <a16:creationId xmlns:a16="http://schemas.microsoft.com/office/drawing/2014/main" id="{554AE300-7FCE-45E6-9216-7650FA9DF9B3}"/>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4 · PRACTICES 2–3</a:t>
            </a:r>
          </a:p>
        </p:txBody>
      </p:sp>
      <p:sp>
        <p:nvSpPr>
          <p:cNvPr id="2" name="diagram-317">
            <a:extLst xmlns:a="http://schemas.openxmlformats.org/drawingml/2006/main">
              <a:ext uri="{FF2B5EF4-FFF2-40B4-BE49-F238E27FC236}">
                <a16:creationId xmlns:a16="http://schemas.microsoft.com/office/drawing/2014/main" id="{4CAAB075-D919-4FD8-B6AB-46A70CE1601B}"/>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Flow cards: people and exceptions</a:t>
            </a:r>
          </a:p>
        </p:txBody>
      </p:sp>
      <p:sp>
        <p:nvSpPr>
          <p:cNvPr id="3" name="diagram-318">
            <a:extLst xmlns:a="http://schemas.openxmlformats.org/drawingml/2006/main">
              <a:ext uri="{FF2B5EF4-FFF2-40B4-BE49-F238E27FC236}">
                <a16:creationId xmlns:a16="http://schemas.microsoft.com/office/drawing/2014/main" id="{D55FC8DA-06A6-4F10-BAE8-1D9BC8692F6F}"/>
              </a:ext>
            </a:extLst>
          </p:cNvPr>
          <p:cNvSpPr>
            <a:spLocks xmlns:a="http://schemas.openxmlformats.org/drawingml/2006/main" noGrp="1"/>
          </p:cNvSpPr>
          <p:nvPr/>
        </p:nvSpPr>
        <p:spPr>
          <a:xfrm xmlns:a="http://schemas.openxmlformats.org/drawingml/2006/main">
            <a:off x="762000" y="2143125"/>
            <a:ext cx="2619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4FBA"/>
                </a:solidFill>
                <a:latin typeface="Tahoma"/>
                <a:ea typeface="Tahoma"/>
                <a:cs typeface="Tahoma"/>
              </a:defRPr>
            </a:pPr>
            <a:r>
              <a:rPr sz="2100" b="1">
                <a:solidFill>
                  <a:srgbClr val="174FBA"/>
                </a:solidFill>
                <a:latin typeface="Tahoma"/>
                <a:ea typeface="Tahoma"/>
                <a:cs typeface="Tahoma"/>
              </a:rPr>
              <a:t>Missing information</a:t>
            </a:r>
          </a:p>
        </p:txBody>
      </p:sp>
      <p:sp>
        <p:nvSpPr>
          <p:cNvPr id="4" name="diagram-319">
            <a:extLst xmlns:a="http://schemas.openxmlformats.org/drawingml/2006/main">
              <a:ext uri="{FF2B5EF4-FFF2-40B4-BE49-F238E27FC236}">
                <a16:creationId xmlns:a16="http://schemas.microsoft.com/office/drawing/2014/main" id="{83E95080-10B7-4DE3-A747-E0A1211DD465}"/>
              </a:ext>
            </a:extLst>
          </p:cNvPr>
          <p:cNvSpPr>
            <a:spLocks xmlns:a="http://schemas.openxmlformats.org/drawingml/2006/main" noGrp="1"/>
          </p:cNvSpPr>
          <p:nvPr/>
        </p:nvSpPr>
        <p:spPr>
          <a:xfrm xmlns:a="http://schemas.openxmlformats.org/drawingml/2006/main">
            <a:off x="3619500" y="2095500"/>
            <a:ext cx="2952750" cy="6858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320">
            <a:extLst xmlns:a="http://schemas.openxmlformats.org/drawingml/2006/main">
              <a:ext uri="{FF2B5EF4-FFF2-40B4-BE49-F238E27FC236}">
                <a16:creationId xmlns:a16="http://schemas.microsoft.com/office/drawing/2014/main" id="{E400623D-9221-476E-92A2-CEF9867ABF60}"/>
              </a:ext>
            </a:extLst>
          </p:cNvPr>
          <p:cNvSpPr>
            <a:spLocks xmlns:a="http://schemas.openxmlformats.org/drawingml/2006/main" noGrp="1"/>
          </p:cNvSpPr>
          <p:nvPr/>
        </p:nvSpPr>
        <p:spPr>
          <a:xfrm xmlns:a="http://schemas.openxmlformats.org/drawingml/2006/main">
            <a:off x="3790950" y="2238375"/>
            <a:ext cx="2609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Owner: coordinator</a:t>
            </a:r>
          </a:p>
        </p:txBody>
      </p:sp>
      <p:sp>
        <p:nvSpPr>
          <p:cNvPr id="6" name="diagram-321">
            <a:extLst xmlns:a="http://schemas.openxmlformats.org/drawingml/2006/main">
              <a:ext uri="{FF2B5EF4-FFF2-40B4-BE49-F238E27FC236}">
                <a16:creationId xmlns:a16="http://schemas.microsoft.com/office/drawing/2014/main" id="{800AF0A1-CC61-4639-8EE5-300253F22632}"/>
              </a:ext>
            </a:extLst>
          </p:cNvPr>
          <p:cNvSpPr>
            <a:spLocks xmlns:a="http://schemas.openxmlformats.org/drawingml/2006/main" noGrp="1"/>
          </p:cNvSpPr>
          <p:nvPr/>
        </p:nvSpPr>
        <p:spPr>
          <a:xfrm xmlns:a="http://schemas.openxmlformats.org/drawingml/2006/main">
            <a:off x="7905750" y="2095500"/>
            <a:ext cx="3143250" cy="685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diagram-322">
            <a:extLst xmlns:a="http://schemas.openxmlformats.org/drawingml/2006/main">
              <a:ext uri="{FF2B5EF4-FFF2-40B4-BE49-F238E27FC236}">
                <a16:creationId xmlns:a16="http://schemas.microsoft.com/office/drawing/2014/main" id="{1425E76B-7865-40B1-9AC8-8468B270298A}"/>
              </a:ext>
            </a:extLst>
          </p:cNvPr>
          <p:cNvSpPr>
            <a:spLocks xmlns:a="http://schemas.openxmlformats.org/drawingml/2006/main" noGrp="1"/>
          </p:cNvSpPr>
          <p:nvPr/>
        </p:nvSpPr>
        <p:spPr>
          <a:xfrm xmlns:a="http://schemas.openxmlformats.org/drawingml/2006/main">
            <a:off x="8077200" y="2238375"/>
            <a:ext cx="2800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Resume at completeness check</a:t>
            </a:r>
          </a:p>
        </p:txBody>
      </p:sp>
      <p:cxnSp>
        <p:nvCxnSpPr>
          <p:cNvPr id="29" name=""/>
          <p:cNvCxnSpPr>
            <a:stCxn xmlns:a="http://schemas.openxmlformats.org/drawingml/2006/main" id="4" idx="3"/>
            <a:endCxn xmlns:a="http://schemas.openxmlformats.org/drawingml/2006/main" id="6" idx="1"/>
          </p:cNvCxnSpPr>
          <p:nvPr/>
        </p:nvCxnSpPr>
        <p:spPr>
          <a:xfrm xmlns:a="http://schemas.openxmlformats.org/drawingml/2006/main">
            <a:off x="6572250" y="2438400"/>
            <a:ext cx="133350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9" name="diagram-323">
            <a:extLst xmlns:a="http://schemas.openxmlformats.org/drawingml/2006/main">
              <a:ext uri="{FF2B5EF4-FFF2-40B4-BE49-F238E27FC236}">
                <a16:creationId xmlns:a16="http://schemas.microsoft.com/office/drawing/2014/main" id="{A9338013-B6C5-4605-A306-6DA8CCB4586A}"/>
              </a:ext>
            </a:extLst>
          </p:cNvPr>
          <p:cNvSpPr>
            <a:spLocks xmlns:a="http://schemas.openxmlformats.org/drawingml/2006/main" noGrp="1"/>
          </p:cNvSpPr>
          <p:nvPr/>
        </p:nvSpPr>
        <p:spPr>
          <a:xfrm xmlns:a="http://schemas.openxmlformats.org/drawingml/2006/main">
            <a:off x="762000" y="3333750"/>
            <a:ext cx="2619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76D13"/>
                </a:solidFill>
                <a:latin typeface="Tahoma"/>
                <a:ea typeface="Tahoma"/>
                <a:cs typeface="Tahoma"/>
              </a:defRPr>
            </a:pPr>
            <a:r>
              <a:rPr sz="2100" b="1">
                <a:solidFill>
                  <a:srgbClr val="B76D13"/>
                </a:solidFill>
                <a:latin typeface="Tahoma"/>
                <a:ea typeface="Tahoma"/>
                <a:cs typeface="Tahoma"/>
              </a:rPr>
              <a:t>Rejection</a:t>
            </a:r>
          </a:p>
        </p:txBody>
      </p:sp>
      <p:sp>
        <p:nvSpPr>
          <p:cNvPr id="10" name="diagram-324">
            <a:extLst xmlns:a="http://schemas.openxmlformats.org/drawingml/2006/main">
              <a:ext uri="{FF2B5EF4-FFF2-40B4-BE49-F238E27FC236}">
                <a16:creationId xmlns:a16="http://schemas.microsoft.com/office/drawing/2014/main" id="{D974BD9C-19E7-4496-87B7-D7C21E66EF5D}"/>
              </a:ext>
            </a:extLst>
          </p:cNvPr>
          <p:cNvSpPr>
            <a:spLocks xmlns:a="http://schemas.openxmlformats.org/drawingml/2006/main" noGrp="1"/>
          </p:cNvSpPr>
          <p:nvPr/>
        </p:nvSpPr>
        <p:spPr>
          <a:xfrm xmlns:a="http://schemas.openxmlformats.org/drawingml/2006/main">
            <a:off x="3619500" y="3286125"/>
            <a:ext cx="2952750" cy="685800"/>
          </a:xfrm>
          <a:prstGeom xmlns:a="http://schemas.openxmlformats.org/drawingml/2006/main" prst="rect">
            <a:avLst/>
          </a:prstGeom>
          <a:solidFill xmlns:a="http://schemas.openxmlformats.org/drawingml/2006/main">
            <a:srgbClr val="FFF0D9"/>
          </a:solidFill>
          <a:ln xmlns:a="http://schemas.openxmlformats.org/drawingml/2006/main" w="0">
            <a:noFill/>
          </a:ln>
        </p:spPr>
      </p:sp>
      <p:sp>
        <p:nvSpPr>
          <p:cNvPr id="11" name="diagram-325">
            <a:extLst xmlns:a="http://schemas.openxmlformats.org/drawingml/2006/main">
              <a:ext uri="{FF2B5EF4-FFF2-40B4-BE49-F238E27FC236}">
                <a16:creationId xmlns:a16="http://schemas.microsoft.com/office/drawing/2014/main" id="{E171761A-D1D4-46F1-8C60-279FFFC351AE}"/>
              </a:ext>
            </a:extLst>
          </p:cNvPr>
          <p:cNvSpPr>
            <a:spLocks xmlns:a="http://schemas.openxmlformats.org/drawingml/2006/main" noGrp="1"/>
          </p:cNvSpPr>
          <p:nvPr/>
        </p:nvSpPr>
        <p:spPr>
          <a:xfrm xmlns:a="http://schemas.openxmlformats.org/drawingml/2006/main">
            <a:off x="3790950" y="3429000"/>
            <a:ext cx="2609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Owner: manager + coordinator</a:t>
            </a:r>
          </a:p>
        </p:txBody>
      </p:sp>
      <p:sp>
        <p:nvSpPr>
          <p:cNvPr id="12" name="diagram-326">
            <a:extLst xmlns:a="http://schemas.openxmlformats.org/drawingml/2006/main">
              <a:ext uri="{FF2B5EF4-FFF2-40B4-BE49-F238E27FC236}">
                <a16:creationId xmlns:a16="http://schemas.microsoft.com/office/drawing/2014/main" id="{38832851-C4BF-41A1-AC18-68D9BB86612A}"/>
              </a:ext>
            </a:extLst>
          </p:cNvPr>
          <p:cNvSpPr>
            <a:spLocks xmlns:a="http://schemas.openxmlformats.org/drawingml/2006/main" noGrp="1"/>
          </p:cNvSpPr>
          <p:nvPr/>
        </p:nvSpPr>
        <p:spPr>
          <a:xfrm xmlns:a="http://schemas.openxmlformats.org/drawingml/2006/main">
            <a:off x="7905750" y="3286125"/>
            <a:ext cx="3143250" cy="685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3" name="diagram-327">
            <a:extLst xmlns:a="http://schemas.openxmlformats.org/drawingml/2006/main">
              <a:ext uri="{FF2B5EF4-FFF2-40B4-BE49-F238E27FC236}">
                <a16:creationId xmlns:a16="http://schemas.microsoft.com/office/drawing/2014/main" id="{A594E3D5-E646-4AC9-8307-9BE9BA4C998A}"/>
              </a:ext>
            </a:extLst>
          </p:cNvPr>
          <p:cNvSpPr>
            <a:spLocks xmlns:a="http://schemas.openxmlformats.org/drawingml/2006/main" noGrp="1"/>
          </p:cNvSpPr>
          <p:nvPr/>
        </p:nvSpPr>
        <p:spPr>
          <a:xfrm xmlns:a="http://schemas.openxmlformats.org/drawingml/2006/main">
            <a:off x="8077200" y="3429000"/>
            <a:ext cx="2800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Notify requester</a:t>
            </a:r>
          </a:p>
        </p:txBody>
      </p:sp>
      <p:cxnSp>
        <p:nvCxnSpPr>
          <p:cNvPr id="35" name=""/>
          <p:cNvCxnSpPr>
            <a:stCxn xmlns:a="http://schemas.openxmlformats.org/drawingml/2006/main" id="10" idx="3"/>
            <a:endCxn xmlns:a="http://schemas.openxmlformats.org/drawingml/2006/main" id="12" idx="1"/>
          </p:cNvCxnSpPr>
          <p:nvPr/>
        </p:nvCxnSpPr>
        <p:spPr>
          <a:xfrm xmlns:a="http://schemas.openxmlformats.org/drawingml/2006/main">
            <a:off x="6572250" y="3629025"/>
            <a:ext cx="133350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5" name="diagram-328">
            <a:extLst xmlns:a="http://schemas.openxmlformats.org/drawingml/2006/main">
              <a:ext uri="{FF2B5EF4-FFF2-40B4-BE49-F238E27FC236}">
                <a16:creationId xmlns:a16="http://schemas.microsoft.com/office/drawing/2014/main" id="{0539F510-9607-431B-9031-277A2B1834FB}"/>
              </a:ext>
            </a:extLst>
          </p:cNvPr>
          <p:cNvSpPr>
            <a:spLocks xmlns:a="http://schemas.openxmlformats.org/drawingml/2006/main" noGrp="1"/>
          </p:cNvSpPr>
          <p:nvPr/>
        </p:nvSpPr>
        <p:spPr>
          <a:xfrm xmlns:a="http://schemas.openxmlformats.org/drawingml/2006/main">
            <a:off x="762000" y="4524375"/>
            <a:ext cx="2619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4FBA"/>
                </a:solidFill>
                <a:latin typeface="Tahoma"/>
                <a:ea typeface="Tahoma"/>
                <a:cs typeface="Tahoma"/>
              </a:defRPr>
            </a:pPr>
            <a:r>
              <a:rPr sz="2100" b="1">
                <a:solidFill>
                  <a:srgbClr val="174FBA"/>
                </a:solidFill>
                <a:latin typeface="Tahoma"/>
                <a:ea typeface="Tahoma"/>
                <a:cs typeface="Tahoma"/>
              </a:rPr>
              <a:t>Stalled work</a:t>
            </a:r>
          </a:p>
        </p:txBody>
      </p:sp>
      <p:sp>
        <p:nvSpPr>
          <p:cNvPr id="16" name="diagram-329">
            <a:extLst xmlns:a="http://schemas.openxmlformats.org/drawingml/2006/main">
              <a:ext uri="{FF2B5EF4-FFF2-40B4-BE49-F238E27FC236}">
                <a16:creationId xmlns:a16="http://schemas.microsoft.com/office/drawing/2014/main" id="{A0D8F428-CEAA-4F00-AEFF-B994185F6EBA}"/>
              </a:ext>
            </a:extLst>
          </p:cNvPr>
          <p:cNvSpPr>
            <a:spLocks xmlns:a="http://schemas.openxmlformats.org/drawingml/2006/main" noGrp="1"/>
          </p:cNvSpPr>
          <p:nvPr/>
        </p:nvSpPr>
        <p:spPr>
          <a:xfrm xmlns:a="http://schemas.openxmlformats.org/drawingml/2006/main">
            <a:off x="3619500" y="4476750"/>
            <a:ext cx="2952750" cy="6858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7" name="diagram-330">
            <a:extLst xmlns:a="http://schemas.openxmlformats.org/drawingml/2006/main">
              <a:ext uri="{FF2B5EF4-FFF2-40B4-BE49-F238E27FC236}">
                <a16:creationId xmlns:a16="http://schemas.microsoft.com/office/drawing/2014/main" id="{FF811247-3E84-4E1A-931C-75137136A876}"/>
              </a:ext>
            </a:extLst>
          </p:cNvPr>
          <p:cNvSpPr>
            <a:spLocks xmlns:a="http://schemas.openxmlformats.org/drawingml/2006/main" noGrp="1"/>
          </p:cNvSpPr>
          <p:nvPr/>
        </p:nvSpPr>
        <p:spPr>
          <a:xfrm xmlns:a="http://schemas.openxmlformats.org/drawingml/2006/main">
            <a:off x="3790950" y="4619625"/>
            <a:ext cx="2609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Owner: process owner</a:t>
            </a:r>
          </a:p>
        </p:txBody>
      </p:sp>
      <p:sp>
        <p:nvSpPr>
          <p:cNvPr id="18" name="diagram-331">
            <a:extLst xmlns:a="http://schemas.openxmlformats.org/drawingml/2006/main">
              <a:ext uri="{FF2B5EF4-FFF2-40B4-BE49-F238E27FC236}">
                <a16:creationId xmlns:a16="http://schemas.microsoft.com/office/drawing/2014/main" id="{135A8905-C3DD-4426-89C0-3A30E29FB369}"/>
              </a:ext>
            </a:extLst>
          </p:cNvPr>
          <p:cNvSpPr>
            <a:spLocks xmlns:a="http://schemas.openxmlformats.org/drawingml/2006/main" noGrp="1"/>
          </p:cNvSpPr>
          <p:nvPr/>
        </p:nvSpPr>
        <p:spPr>
          <a:xfrm xmlns:a="http://schemas.openxmlformats.org/drawingml/2006/main">
            <a:off x="7905750" y="4476750"/>
            <a:ext cx="3143250" cy="685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9" name="diagram-332">
            <a:extLst xmlns:a="http://schemas.openxmlformats.org/drawingml/2006/main">
              <a:ext uri="{FF2B5EF4-FFF2-40B4-BE49-F238E27FC236}">
                <a16:creationId xmlns:a16="http://schemas.microsoft.com/office/drawing/2014/main" id="{1F92B536-B689-486B-81D0-D1C103995A0D}"/>
              </a:ext>
            </a:extLst>
          </p:cNvPr>
          <p:cNvSpPr>
            <a:spLocks xmlns:a="http://schemas.openxmlformats.org/drawingml/2006/main" noGrp="1"/>
          </p:cNvSpPr>
          <p:nvPr/>
        </p:nvSpPr>
        <p:spPr>
          <a:xfrm xmlns:a="http://schemas.openxmlformats.org/drawingml/2006/main">
            <a:off x="8077200" y="4619625"/>
            <a:ext cx="2800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8324B"/>
                </a:solidFill>
                <a:latin typeface="Tahoma"/>
                <a:ea typeface="Tahoma"/>
                <a:cs typeface="Tahoma"/>
              </a:defRPr>
            </a:pPr>
            <a:r>
              <a:rPr sz="1575" b="1">
                <a:solidFill>
                  <a:srgbClr val="18324B"/>
                </a:solidFill>
                <a:latin typeface="Tahoma"/>
                <a:ea typeface="Tahoma"/>
                <a:cs typeface="Tahoma"/>
              </a:rPr>
              <a:t>Follow up or escalate</a:t>
            </a:r>
          </a:p>
        </p:txBody>
      </p:sp>
      <p:cxnSp>
        <p:nvCxnSpPr>
          <p:cNvPr id="41" name=""/>
          <p:cNvCxnSpPr>
            <a:stCxn xmlns:a="http://schemas.openxmlformats.org/drawingml/2006/main" id="16" idx="3"/>
            <a:endCxn xmlns:a="http://schemas.openxmlformats.org/drawingml/2006/main" id="18" idx="1"/>
          </p:cNvCxnSpPr>
          <p:nvPr/>
        </p:nvCxnSpPr>
        <p:spPr>
          <a:xfrm xmlns:a="http://schemas.openxmlformats.org/drawingml/2006/main">
            <a:off x="6572250" y="4819650"/>
            <a:ext cx="1333500"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21" name="diagram-333">
            <a:extLst xmlns:a="http://schemas.openxmlformats.org/drawingml/2006/main">
              <a:ext uri="{FF2B5EF4-FFF2-40B4-BE49-F238E27FC236}">
                <a16:creationId xmlns:a16="http://schemas.microsoft.com/office/drawing/2014/main" id="{6D9F57AC-BFDC-4111-BBD9-52461C633B46}"/>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Show each route on separate sticky notes and keep the fictional case as the rehearsal fallback.</a:t>
            </a:r>
          </a:p>
        </p:txBody>
      </p:sp>
    </p:spTree>
    <p:extLst>
      <p:ext uri="{BB962C8B-B14F-4D97-AF65-F5344CB8AC3E}">
        <p14:creationId xmlns:p14="http://schemas.microsoft.com/office/powerpoint/2010/main" val="1897788963"/>
      </p:ext>
    </p:extLst>
  </p:cSld>
</p:sld>
</file>

<file path=ppt/slides/slide3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diagram-334">
            <a:extLst xmlns:a="http://schemas.openxmlformats.org/drawingml/2006/main">
              <a:ext uri="{FF2B5EF4-FFF2-40B4-BE49-F238E27FC236}">
                <a16:creationId xmlns:a16="http://schemas.microsoft.com/office/drawing/2014/main" id="{53B3CC80-F24A-4070-A88D-6ECC06C37FE1}"/>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4 · PRACTICE 4</a:t>
            </a:r>
          </a:p>
        </p:txBody>
      </p:sp>
      <p:sp>
        <p:nvSpPr>
          <p:cNvPr id="2" name="diagram-335">
            <a:extLst xmlns:a="http://schemas.openxmlformats.org/drawingml/2006/main">
              <a:ext uri="{FF2B5EF4-FFF2-40B4-BE49-F238E27FC236}">
                <a16:creationId xmlns:a16="http://schemas.microsoft.com/office/drawing/2014/main" id="{58ED3A85-4F89-4F40-ABC3-4D45CF37090D}"/>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Walk-test two cases</a:t>
            </a:r>
          </a:p>
        </p:txBody>
      </p:sp>
      <p:sp>
        <p:nvSpPr>
          <p:cNvPr id="3" name="diagram-336">
            <a:extLst xmlns:a="http://schemas.openxmlformats.org/drawingml/2006/main">
              <a:ext uri="{FF2B5EF4-FFF2-40B4-BE49-F238E27FC236}">
                <a16:creationId xmlns:a16="http://schemas.microsoft.com/office/drawing/2014/main" id="{E8FD05B4-164F-4790-B955-E15D21ECCDDA}"/>
              </a:ext>
            </a:extLst>
          </p:cNvPr>
          <p:cNvSpPr>
            <a:spLocks xmlns:a="http://schemas.openxmlformats.org/drawingml/2006/main" noGrp="1"/>
          </p:cNvSpPr>
          <p:nvPr/>
        </p:nvSpPr>
        <p:spPr>
          <a:xfrm xmlns:a="http://schemas.openxmlformats.org/drawingml/2006/main">
            <a:off x="5905500" y="2190750"/>
            <a:ext cx="19050" cy="28098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4" name="diagram-337">
            <a:extLst xmlns:a="http://schemas.openxmlformats.org/drawingml/2006/main">
              <a:ext uri="{FF2B5EF4-FFF2-40B4-BE49-F238E27FC236}">
                <a16:creationId xmlns:a16="http://schemas.microsoft.com/office/drawing/2014/main" id="{2D119439-F354-46C2-A7F2-AD073C4C8973}"/>
              </a:ext>
            </a:extLst>
          </p:cNvPr>
          <p:cNvSpPr>
            <a:spLocks xmlns:a="http://schemas.openxmlformats.org/drawingml/2006/main" noGrp="1"/>
          </p:cNvSpPr>
          <p:nvPr/>
        </p:nvSpPr>
        <p:spPr>
          <a:xfrm xmlns:a="http://schemas.openxmlformats.org/drawingml/2006/main">
            <a:off x="762000" y="214312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4FBA"/>
                </a:solidFill>
                <a:latin typeface="Tahoma"/>
                <a:ea typeface="Tahoma"/>
                <a:cs typeface="Tahoma"/>
              </a:defRPr>
            </a:pPr>
            <a:r>
              <a:rPr sz="2850" b="1">
                <a:solidFill>
                  <a:srgbClr val="174FBA"/>
                </a:solidFill>
                <a:latin typeface="Tahoma"/>
                <a:ea typeface="Tahoma"/>
                <a:cs typeface="Tahoma"/>
              </a:rPr>
              <a:t>R-101: normal case</a:t>
            </a:r>
          </a:p>
        </p:txBody>
      </p:sp>
      <p:sp>
        <p:nvSpPr>
          <p:cNvPr id="5" name="diagram-338">
            <a:extLst xmlns:a="http://schemas.openxmlformats.org/drawingml/2006/main">
              <a:ext uri="{FF2B5EF4-FFF2-40B4-BE49-F238E27FC236}">
                <a16:creationId xmlns:a16="http://schemas.microsoft.com/office/drawing/2014/main" id="{2D7ED00B-E213-4546-A116-EC24847A79D5}"/>
              </a:ext>
            </a:extLst>
          </p:cNvPr>
          <p:cNvSpPr>
            <a:spLocks xmlns:a="http://schemas.openxmlformats.org/drawingml/2006/main" noGrp="1"/>
          </p:cNvSpPr>
          <p:nvPr/>
        </p:nvSpPr>
        <p:spPr>
          <a:xfrm xmlns:a="http://schemas.openxmlformats.org/drawingml/2006/main">
            <a:off x="6572250" y="214312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B76D13"/>
                </a:solidFill>
                <a:latin typeface="Tahoma"/>
                <a:ea typeface="Tahoma"/>
                <a:cs typeface="Tahoma"/>
              </a:defRPr>
            </a:pPr>
            <a:r>
              <a:rPr sz="2850" b="1">
                <a:solidFill>
                  <a:srgbClr val="B76D13"/>
                </a:solidFill>
                <a:latin typeface="Tahoma"/>
                <a:ea typeface="Tahoma"/>
                <a:cs typeface="Tahoma"/>
              </a:rPr>
              <a:t>R-102 / R-103: exception</a:t>
            </a:r>
          </a:p>
        </p:txBody>
      </p:sp>
      <p:sp>
        <p:nvSpPr>
          <p:cNvPr id="6" name="diagram-339">
            <a:extLst xmlns:a="http://schemas.openxmlformats.org/drawingml/2006/main">
              <a:ext uri="{FF2B5EF4-FFF2-40B4-BE49-F238E27FC236}">
                <a16:creationId xmlns:a16="http://schemas.microsoft.com/office/drawing/2014/main" id="{C57F3920-5F93-4B4D-BA1D-8A9BED681AB7}"/>
              </a:ext>
            </a:extLst>
          </p:cNvPr>
          <p:cNvSpPr>
            <a:spLocks xmlns:a="http://schemas.openxmlformats.org/drawingml/2006/main" noGrp="1"/>
          </p:cNvSpPr>
          <p:nvPr/>
        </p:nvSpPr>
        <p:spPr>
          <a:xfrm xmlns:a="http://schemas.openxmlformats.org/drawingml/2006/main">
            <a:off x="762000" y="304800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24B"/>
                </a:solidFill>
                <a:latin typeface="Tahoma"/>
                <a:ea typeface="Tahoma"/>
                <a:cs typeface="Tahoma"/>
              </a:defRPr>
            </a:pPr>
            <a:r>
              <a:rPr sz="2175" b="0">
                <a:solidFill>
                  <a:srgbClr val="18324B"/>
                </a:solidFill>
                <a:latin typeface="Tahoma"/>
                <a:ea typeface="Tahoma"/>
                <a:cs typeface="Tahoma"/>
              </a:rPr>
              <a:t>Follow visible steps only</a:t>
            </a:r>
          </a:p>
        </p:txBody>
      </p:sp>
      <p:sp>
        <p:nvSpPr>
          <p:cNvPr id="7" name="diagram-340">
            <a:extLst xmlns:a="http://schemas.openxmlformats.org/drawingml/2006/main">
              <a:ext uri="{FF2B5EF4-FFF2-40B4-BE49-F238E27FC236}">
                <a16:creationId xmlns:a16="http://schemas.microsoft.com/office/drawing/2014/main" id="{3B6A7F85-10FB-4BD4-A69D-1DFF4BE269AD}"/>
              </a:ext>
            </a:extLst>
          </p:cNvPr>
          <p:cNvSpPr>
            <a:spLocks xmlns:a="http://schemas.openxmlformats.org/drawingml/2006/main" noGrp="1"/>
          </p:cNvSpPr>
          <p:nvPr/>
        </p:nvSpPr>
        <p:spPr>
          <a:xfrm xmlns:a="http://schemas.openxmlformats.org/drawingml/2006/main">
            <a:off x="762000" y="371475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24B"/>
                </a:solidFill>
                <a:latin typeface="Tahoma"/>
                <a:ea typeface="Tahoma"/>
                <a:cs typeface="Tahoma"/>
              </a:defRPr>
            </a:pPr>
            <a:r>
              <a:rPr sz="2175" b="0">
                <a:solidFill>
                  <a:srgbClr val="18324B"/>
                </a:solidFill>
                <a:latin typeface="Tahoma"/>
                <a:ea typeface="Tahoma"/>
                <a:cs typeface="Tahoma"/>
              </a:rPr>
              <a:t>Check the outcome</a:t>
            </a:r>
          </a:p>
        </p:txBody>
      </p:sp>
      <p:sp>
        <p:nvSpPr>
          <p:cNvPr id="8" name="diagram-341">
            <a:extLst xmlns:a="http://schemas.openxmlformats.org/drawingml/2006/main">
              <a:ext uri="{FF2B5EF4-FFF2-40B4-BE49-F238E27FC236}">
                <a16:creationId xmlns:a16="http://schemas.microsoft.com/office/drawing/2014/main" id="{DBF39746-2D93-48D6-9802-71D1EB023E1E}"/>
              </a:ext>
            </a:extLst>
          </p:cNvPr>
          <p:cNvSpPr>
            <a:spLocks xmlns:a="http://schemas.openxmlformats.org/drawingml/2006/main" noGrp="1"/>
          </p:cNvSpPr>
          <p:nvPr/>
        </p:nvSpPr>
        <p:spPr>
          <a:xfrm xmlns:a="http://schemas.openxmlformats.org/drawingml/2006/main">
            <a:off x="6572250" y="304800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24B"/>
                </a:solidFill>
                <a:latin typeface="Tahoma"/>
                <a:ea typeface="Tahoma"/>
                <a:cs typeface="Tahoma"/>
              </a:defRPr>
            </a:pPr>
            <a:r>
              <a:rPr sz="2175" b="0">
                <a:solidFill>
                  <a:srgbClr val="18324B"/>
                </a:solidFill>
                <a:latin typeface="Tahoma"/>
                <a:ea typeface="Tahoma"/>
                <a:cs typeface="Tahoma"/>
              </a:rPr>
              <a:t>Record the gap before editing</a:t>
            </a:r>
          </a:p>
        </p:txBody>
      </p:sp>
      <p:sp>
        <p:nvSpPr>
          <p:cNvPr id="9" name="diagram-342">
            <a:extLst xmlns:a="http://schemas.openxmlformats.org/drawingml/2006/main">
              <a:ext uri="{FF2B5EF4-FFF2-40B4-BE49-F238E27FC236}">
                <a16:creationId xmlns:a16="http://schemas.microsoft.com/office/drawing/2014/main" id="{282C6B3C-D135-4FA9-9CAE-8A195A346071}"/>
              </a:ext>
            </a:extLst>
          </p:cNvPr>
          <p:cNvSpPr>
            <a:spLocks xmlns:a="http://schemas.openxmlformats.org/drawingml/2006/main" noGrp="1"/>
          </p:cNvSpPr>
          <p:nvPr/>
        </p:nvSpPr>
        <p:spPr>
          <a:xfrm xmlns:a="http://schemas.openxmlformats.org/drawingml/2006/main">
            <a:off x="6572250" y="371475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24B"/>
                </a:solidFill>
                <a:latin typeface="Tahoma"/>
                <a:ea typeface="Tahoma"/>
                <a:cs typeface="Tahoma"/>
              </a:defRPr>
            </a:pPr>
            <a:r>
              <a:rPr sz="2175" b="0">
                <a:solidFill>
                  <a:srgbClr val="18324B"/>
                </a:solidFill>
                <a:latin typeface="Tahoma"/>
                <a:ea typeface="Tahoma"/>
                <a:cs typeface="Tahoma"/>
              </a:rPr>
              <a:t>Revise and retest the affected path</a:t>
            </a:r>
          </a:p>
        </p:txBody>
      </p:sp>
      <p:sp>
        <p:nvSpPr>
          <p:cNvPr id="10" name="diagram-343">
            <a:extLst xmlns:a="http://schemas.openxmlformats.org/drawingml/2006/main">
              <a:ext uri="{FF2B5EF4-FFF2-40B4-BE49-F238E27FC236}">
                <a16:creationId xmlns:a16="http://schemas.microsoft.com/office/drawing/2014/main" id="{F3985038-32B6-4A38-A4C7-63EEC4812323}"/>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If progress stops, identify who takes responsibility</a:t>
            </a:r>
          </a:p>
        </p:txBody>
      </p:sp>
    </p:spTree>
    <p:extLst>
      <p:ext uri="{BB962C8B-B14F-4D97-AF65-F5344CB8AC3E}">
        <p14:creationId xmlns:p14="http://schemas.microsoft.com/office/powerpoint/2010/main" val="2112796539"/>
      </p:ext>
    </p:extLst>
  </p:cSld>
</p:sld>
</file>

<file path=ppt/slides/slide3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0" name="diagram-344">
            <a:extLst xmlns:a="http://schemas.openxmlformats.org/drawingml/2006/main">
              <a:ext uri="{FF2B5EF4-FFF2-40B4-BE49-F238E27FC236}">
                <a16:creationId xmlns:a16="http://schemas.microsoft.com/office/drawing/2014/main" id="{1E197B1D-FAB3-47F9-8F34-B70269962AE2}"/>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5 · PRACTICE 1</a:t>
            </a:r>
          </a:p>
        </p:txBody>
      </p:sp>
      <p:sp>
        <p:nvSpPr>
          <p:cNvPr id="2" name="diagram-345">
            <a:extLst xmlns:a="http://schemas.openxmlformats.org/drawingml/2006/main">
              <a:ext uri="{FF2B5EF4-FFF2-40B4-BE49-F238E27FC236}">
                <a16:creationId xmlns:a16="http://schemas.microsoft.com/office/drawing/2014/main" id="{3B261BE9-D559-4BF9-BBA2-F94BBBCA502F}"/>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Text for Copilot review</a:t>
            </a:r>
          </a:p>
        </p:txBody>
      </p:sp>
      <p:sp>
        <p:nvSpPr>
          <p:cNvPr id="3" name="diagram-346">
            <a:extLst xmlns:a="http://schemas.openxmlformats.org/drawingml/2006/main">
              <a:ext uri="{FF2B5EF4-FFF2-40B4-BE49-F238E27FC236}">
                <a16:creationId xmlns:a16="http://schemas.microsoft.com/office/drawing/2014/main" id="{2A45835E-7556-452A-8D18-38B526A6325B}"/>
              </a:ext>
            </a:extLst>
          </p:cNvPr>
          <p:cNvSpPr>
            <a:spLocks xmlns:a="http://schemas.openxmlformats.org/drawingml/2006/main" noGrp="1"/>
          </p:cNvSpPr>
          <p:nvPr/>
        </p:nvSpPr>
        <p:spPr>
          <a:xfrm xmlns:a="http://schemas.openxmlformats.org/drawingml/2006/main">
            <a:off x="762000" y="2286000"/>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02D50"/>
                </a:solidFill>
                <a:latin typeface="Tahoma"/>
                <a:ea typeface="Tahoma"/>
                <a:cs typeface="Tahoma"/>
              </a:defRPr>
            </a:pPr>
            <a:r>
              <a:rPr sz="2325" b="1">
                <a:solidFill>
                  <a:srgbClr val="102D50"/>
                </a:solidFill>
                <a:latin typeface="Tahoma"/>
                <a:ea typeface="Tahoma"/>
                <a:cs typeface="Tahoma"/>
              </a:rPr>
              <a:t>Problem / outcome</a:t>
            </a:r>
          </a:p>
        </p:txBody>
      </p:sp>
      <p:sp>
        <p:nvSpPr>
          <p:cNvPr id="4" name="diagram-347">
            <a:extLst xmlns:a="http://schemas.openxmlformats.org/drawingml/2006/main">
              <a:ext uri="{FF2B5EF4-FFF2-40B4-BE49-F238E27FC236}">
                <a16:creationId xmlns:a16="http://schemas.microsoft.com/office/drawing/2014/main" id="{C9A4D885-1631-42B5-9D88-8694A950E727}"/>
              </a:ext>
            </a:extLst>
          </p:cNvPr>
          <p:cNvSpPr>
            <a:spLocks xmlns:a="http://schemas.openxmlformats.org/drawingml/2006/main" noGrp="1"/>
          </p:cNvSpPr>
          <p:nvPr/>
        </p:nvSpPr>
        <p:spPr>
          <a:xfrm xmlns:a="http://schemas.openxmlformats.org/drawingml/2006/main">
            <a:off x="7667625" y="2305050"/>
            <a:ext cx="3762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80"/>
                </a:solidFill>
                <a:latin typeface="Tahoma"/>
                <a:ea typeface="Tahoma"/>
                <a:cs typeface="Tahoma"/>
              </a:defRPr>
            </a:pPr>
            <a:r>
              <a:rPr sz="2025" b="0">
                <a:solidFill>
                  <a:srgbClr val="536B80"/>
                </a:solidFill>
                <a:latin typeface="Tahoma"/>
                <a:ea typeface="Tahoma"/>
                <a:cs typeface="Tahoma"/>
              </a:rPr>
              <a:t>Why change the work?</a:t>
            </a:r>
          </a:p>
        </p:txBody>
      </p:sp>
      <p:sp>
        <p:nvSpPr>
          <p:cNvPr id="5" name="diagram-348">
            <a:extLst xmlns:a="http://schemas.openxmlformats.org/drawingml/2006/main">
              <a:ext uri="{FF2B5EF4-FFF2-40B4-BE49-F238E27FC236}">
                <a16:creationId xmlns:a16="http://schemas.microsoft.com/office/drawing/2014/main" id="{D9BDC584-C495-4E12-BB4A-2B24DDDEF5A7}"/>
              </a:ext>
            </a:extLst>
          </p:cNvPr>
          <p:cNvSpPr>
            <a:spLocks xmlns:a="http://schemas.openxmlformats.org/drawingml/2006/main" noGrp="1"/>
          </p:cNvSpPr>
          <p:nvPr/>
        </p:nvSpPr>
        <p:spPr>
          <a:xfrm xmlns:a="http://schemas.openxmlformats.org/drawingml/2006/main">
            <a:off x="762000" y="328612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02D50"/>
                </a:solidFill>
                <a:latin typeface="Tahoma"/>
                <a:ea typeface="Tahoma"/>
                <a:cs typeface="Tahoma"/>
              </a:defRPr>
            </a:pPr>
            <a:r>
              <a:rPr sz="2325" b="1">
                <a:solidFill>
                  <a:srgbClr val="102D50"/>
                </a:solidFill>
                <a:latin typeface="Tahoma"/>
                <a:ea typeface="Tahoma"/>
                <a:cs typeface="Tahoma"/>
              </a:rPr>
              <a:t>Trigger / steps / branches</a:t>
            </a:r>
          </a:p>
        </p:txBody>
      </p:sp>
      <p:sp>
        <p:nvSpPr>
          <p:cNvPr id="6" name="diagram-349">
            <a:extLst xmlns:a="http://schemas.openxmlformats.org/drawingml/2006/main">
              <a:ext uri="{FF2B5EF4-FFF2-40B4-BE49-F238E27FC236}">
                <a16:creationId xmlns:a16="http://schemas.microsoft.com/office/drawing/2014/main" id="{B71AC070-C185-4213-ABA5-7316CABD832B}"/>
              </a:ext>
            </a:extLst>
          </p:cNvPr>
          <p:cNvSpPr>
            <a:spLocks xmlns:a="http://schemas.openxmlformats.org/drawingml/2006/main" noGrp="1"/>
          </p:cNvSpPr>
          <p:nvPr/>
        </p:nvSpPr>
        <p:spPr>
          <a:xfrm xmlns:a="http://schemas.openxmlformats.org/drawingml/2006/main">
            <a:off x="7667625" y="3305175"/>
            <a:ext cx="3762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80"/>
                </a:solidFill>
                <a:latin typeface="Tahoma"/>
                <a:ea typeface="Tahoma"/>
                <a:cs typeface="Tahoma"/>
              </a:defRPr>
            </a:pPr>
            <a:r>
              <a:rPr sz="2025" b="0">
                <a:solidFill>
                  <a:srgbClr val="536B80"/>
                </a:solidFill>
                <a:latin typeface="Tahoma"/>
                <a:ea typeface="Tahoma"/>
                <a:cs typeface="Tahoma"/>
              </a:rPr>
              <a:t>How does the draft work?</a:t>
            </a:r>
          </a:p>
        </p:txBody>
      </p:sp>
      <p:sp>
        <p:nvSpPr>
          <p:cNvPr id="7" name="diagram-350">
            <a:extLst xmlns:a="http://schemas.openxmlformats.org/drawingml/2006/main">
              <a:ext uri="{FF2B5EF4-FFF2-40B4-BE49-F238E27FC236}">
                <a16:creationId xmlns:a16="http://schemas.microsoft.com/office/drawing/2014/main" id="{64E7422A-87A1-41D1-BA01-F0C8041AE0AD}"/>
              </a:ext>
            </a:extLst>
          </p:cNvPr>
          <p:cNvSpPr>
            <a:spLocks xmlns:a="http://schemas.openxmlformats.org/drawingml/2006/main" noGrp="1"/>
          </p:cNvSpPr>
          <p:nvPr/>
        </p:nvSpPr>
        <p:spPr>
          <a:xfrm xmlns:a="http://schemas.openxmlformats.org/drawingml/2006/main">
            <a:off x="762000" y="4286250"/>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02D50"/>
                </a:solidFill>
                <a:latin typeface="Tahoma"/>
                <a:ea typeface="Tahoma"/>
                <a:cs typeface="Tahoma"/>
              </a:defRPr>
            </a:pPr>
            <a:r>
              <a:rPr sz="2325" b="1">
                <a:solidFill>
                  <a:srgbClr val="102D50"/>
                </a:solidFill>
                <a:latin typeface="Tahoma"/>
                <a:ea typeface="Tahoma"/>
                <a:cs typeface="Tahoma"/>
              </a:rPr>
              <a:t>People / exceptions / assumptions</a:t>
            </a:r>
          </a:p>
        </p:txBody>
      </p:sp>
      <p:sp>
        <p:nvSpPr>
          <p:cNvPr id="8" name="diagram-351">
            <a:extLst xmlns:a="http://schemas.openxmlformats.org/drawingml/2006/main">
              <a:ext uri="{FF2B5EF4-FFF2-40B4-BE49-F238E27FC236}">
                <a16:creationId xmlns:a16="http://schemas.microsoft.com/office/drawing/2014/main" id="{639D36E3-6323-4876-832F-4D8FFEAA384E}"/>
              </a:ext>
            </a:extLst>
          </p:cNvPr>
          <p:cNvSpPr>
            <a:spLocks xmlns:a="http://schemas.openxmlformats.org/drawingml/2006/main" noGrp="1"/>
          </p:cNvSpPr>
          <p:nvPr/>
        </p:nvSpPr>
        <p:spPr>
          <a:xfrm xmlns:a="http://schemas.openxmlformats.org/drawingml/2006/main">
            <a:off x="7667625" y="4305300"/>
            <a:ext cx="3762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80"/>
                </a:solidFill>
                <a:latin typeface="Tahoma"/>
                <a:ea typeface="Tahoma"/>
                <a:cs typeface="Tahoma"/>
              </a:defRPr>
            </a:pPr>
            <a:r>
              <a:rPr sz="2025" b="0">
                <a:solidFill>
                  <a:srgbClr val="536B80"/>
                </a:solidFill>
                <a:latin typeface="Tahoma"/>
                <a:ea typeface="Tahoma"/>
                <a:cs typeface="Tahoma"/>
              </a:rPr>
              <a:t>What needs verification?</a:t>
            </a:r>
          </a:p>
        </p:txBody>
      </p:sp>
      <p:sp>
        <p:nvSpPr>
          <p:cNvPr id="9" name="diagram-352">
            <a:extLst xmlns:a="http://schemas.openxmlformats.org/drawingml/2006/main">
              <a:ext uri="{FF2B5EF4-FFF2-40B4-BE49-F238E27FC236}">
                <a16:creationId xmlns:a16="http://schemas.microsoft.com/office/drawing/2014/main" id="{1E08E8DC-B4FA-41BA-9130-C2DDC34415FD}"/>
              </a:ext>
            </a:extLst>
          </p:cNvPr>
          <p:cNvSpPr>
            <a:spLocks xmlns:a="http://schemas.openxmlformats.org/drawingml/2006/main" noGrp="1"/>
          </p:cNvSpPr>
          <p:nvPr/>
        </p:nvSpPr>
        <p:spPr>
          <a:xfrm xmlns:a="http://schemas.openxmlformats.org/drawingml/2006/main">
            <a:off x="762000" y="52863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36B80"/>
                </a:solidFill>
                <a:latin typeface="Tahoma"/>
                <a:ea typeface="Tahoma"/>
                <a:cs typeface="Tahoma"/>
              </a:defRPr>
            </a:pPr>
            <a:r>
              <a:rPr sz="2100" b="0">
                <a:solidFill>
                  <a:srgbClr val="536B80"/>
                </a:solidFill>
                <a:latin typeface="Tahoma"/>
                <a:ea typeface="Tahoma"/>
                <a:cs typeface="Tahoma"/>
              </a:rPr>
              <a:t>Use safe fictional text. No card-image upload is required</a:t>
            </a:r>
          </a:p>
        </p:txBody>
      </p:sp>
    </p:spTree>
    <p:extLst>
      <p:ext uri="{BB962C8B-B14F-4D97-AF65-F5344CB8AC3E}">
        <p14:creationId xmlns:p14="http://schemas.microsoft.com/office/powerpoint/2010/main" val="1661419743"/>
      </p:ext>
    </p:extLst>
  </p:cSld>
</p:sld>
</file>

<file path=ppt/slides/slide3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diagram-353">
            <a:extLst xmlns:a="http://schemas.openxmlformats.org/drawingml/2006/main">
              <a:ext uri="{FF2B5EF4-FFF2-40B4-BE49-F238E27FC236}">
                <a16:creationId xmlns:a16="http://schemas.microsoft.com/office/drawing/2014/main" id="{71C57554-A7F9-44A8-A382-06FA8B3EADB4}"/>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5 · PRACTICE 2</a:t>
            </a:r>
          </a:p>
        </p:txBody>
      </p:sp>
      <p:sp>
        <p:nvSpPr>
          <p:cNvPr id="2" name="diagram-354">
            <a:extLst xmlns:a="http://schemas.openxmlformats.org/drawingml/2006/main">
              <a:ext uri="{FF2B5EF4-FFF2-40B4-BE49-F238E27FC236}">
                <a16:creationId xmlns:a16="http://schemas.microsoft.com/office/drawing/2014/main" id="{7BEF2B7F-9909-4ACB-A964-E4ABA650B3F3}"/>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Copilot as a second reader</a:t>
            </a:r>
          </a:p>
        </p:txBody>
      </p:sp>
      <p:pic>
        <p:nvPicPr>
          <p:cNvPr id="9" name="Copilot as a second reader" descr="2D editorial illustration of a leader reviewing a workflow document while a chat panel acts as a second reader."/>
          <p:cNvPicPr>
            <a:picLocks xmlns:a="http://schemas.openxmlformats.org/drawingml/2006/main" noChangeAspect="1"/>
          </p:cNvPicPr>
          <p:nvPr/>
        </p:nvPicPr>
        <p:blipFill>
          <a:blip xmlns:r="http://schemas.openxmlformats.org/officeDocument/2006/relationships" xmlns:a="http://schemas.openxmlformats.org/drawingml/2006/main" r:embed="R412cace77f864dcb"/>
          <a:srcRect xmlns:a="http://schemas.openxmlformats.org/drawingml/2006/main" l="0" t="16337" r="0" b="16337"/>
          <a:stretch xmlns:a="http://schemas.openxmlformats.org/drawingml/2006/main">
            <a:fillRect l="0" t="0" r="0" b="0"/>
          </a:stretch>
        </p:blipFill>
        <p:spPr>
          <a:xfrm xmlns:a="http://schemas.openxmlformats.org/drawingml/2006/main">
            <a:off x="0" y="1809750"/>
            <a:ext cx="12192000" cy="4619625"/>
          </a:xfrm>
          <a:prstGeom xmlns:a="http://schemas.openxmlformats.org/drawingml/2006/main" prst="rect">
            <a:avLst/>
          </a:prstGeom>
        </p:spPr>
      </p:pic>
      <p:sp>
        <p:nvSpPr>
          <p:cNvPr id="4" name="diagram-355">
            <a:extLst xmlns:a="http://schemas.openxmlformats.org/drawingml/2006/main">
              <a:ext uri="{FF2B5EF4-FFF2-40B4-BE49-F238E27FC236}">
                <a16:creationId xmlns:a16="http://schemas.microsoft.com/office/drawing/2014/main" id="{72C7484C-8FB9-45A6-B46C-2A66E1B96690}"/>
              </a:ext>
            </a:extLst>
          </p:cNvPr>
          <p:cNvSpPr>
            <a:spLocks xmlns:a="http://schemas.openxmlformats.org/drawingml/2006/main" noGrp="1"/>
          </p:cNvSpPr>
          <p:nvPr/>
        </p:nvSpPr>
        <p:spPr>
          <a:xfrm xmlns:a="http://schemas.openxmlformats.org/drawingml/2006/main">
            <a:off x="714375" y="2714625"/>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74FBA"/>
                </a:solidFill>
                <a:latin typeface="Tahoma"/>
                <a:ea typeface="Tahoma"/>
                <a:cs typeface="Tahoma"/>
              </a:defRPr>
            </a:pPr>
            <a:r>
              <a:rPr sz="2550" b="1">
                <a:solidFill>
                  <a:srgbClr val="174FBA"/>
                </a:solidFill>
                <a:latin typeface="Tahoma"/>
                <a:ea typeface="Tahoma"/>
                <a:cs typeface="Tahoma"/>
              </a:rPr>
              <a:t>Second reader</a:t>
            </a:r>
          </a:p>
        </p:txBody>
      </p:sp>
      <p:sp>
        <p:nvSpPr>
          <p:cNvPr id="5" name="diagram-356">
            <a:extLst xmlns:a="http://schemas.openxmlformats.org/drawingml/2006/main">
              <a:ext uri="{FF2B5EF4-FFF2-40B4-BE49-F238E27FC236}">
                <a16:creationId xmlns:a16="http://schemas.microsoft.com/office/drawing/2014/main" id="{FA20FA2B-79DB-4975-A449-E44F2903A583}"/>
              </a:ext>
            </a:extLst>
          </p:cNvPr>
          <p:cNvSpPr>
            <a:spLocks xmlns:a="http://schemas.openxmlformats.org/drawingml/2006/main" noGrp="1"/>
          </p:cNvSpPr>
          <p:nvPr/>
        </p:nvSpPr>
        <p:spPr>
          <a:xfrm xmlns:a="http://schemas.openxmlformats.org/drawingml/2006/main">
            <a:off x="714375" y="3476625"/>
            <a:ext cx="4095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02D50"/>
                </a:solidFill>
                <a:latin typeface="Tahoma"/>
                <a:ea typeface="Tahoma"/>
                <a:cs typeface="Tahoma"/>
              </a:defRPr>
            </a:pPr>
            <a:r>
              <a:rPr sz="2025" b="1">
                <a:solidFill>
                  <a:srgbClr val="102D50"/>
                </a:solidFill>
                <a:latin typeface="Tahoma"/>
                <a:ea typeface="Tahoma"/>
                <a:cs typeface="Tahoma"/>
              </a:rPr>
              <a:t>People judge every item</a:t>
            </a:r>
          </a:p>
        </p:txBody>
      </p:sp>
      <p:sp>
        <p:nvSpPr>
          <p:cNvPr id="6" name="diagram-357">
            <a:extLst xmlns:a="http://schemas.openxmlformats.org/drawingml/2006/main">
              <a:ext uri="{FF2B5EF4-FFF2-40B4-BE49-F238E27FC236}">
                <a16:creationId xmlns:a16="http://schemas.microsoft.com/office/drawing/2014/main" id="{294DB968-6D01-4CEC-B33D-EC9A5E4E9481}"/>
              </a:ext>
            </a:extLst>
          </p:cNvPr>
          <p:cNvSpPr>
            <a:spLocks xmlns:a="http://schemas.openxmlformats.org/drawingml/2006/main" noGrp="1"/>
          </p:cNvSpPr>
          <p:nvPr/>
        </p:nvSpPr>
        <p:spPr>
          <a:xfrm xmlns:a="http://schemas.openxmlformats.org/drawingml/2006/main">
            <a:off x="714375" y="4095750"/>
            <a:ext cx="4095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76D13"/>
                </a:solidFill>
                <a:latin typeface="Tahoma"/>
                <a:ea typeface="Tahoma"/>
                <a:cs typeface="Tahoma"/>
              </a:defRPr>
            </a:pPr>
            <a:r>
              <a:rPr sz="1875" b="1">
                <a:solidFill>
                  <a:srgbClr val="B76D13"/>
                </a:solidFill>
                <a:latin typeface="Tahoma"/>
                <a:ea typeface="Tahoma"/>
                <a:cs typeface="Tahoma"/>
              </a:rPr>
              <a:t>No readiness certification</a:t>
            </a:r>
          </a:p>
        </p:txBody>
      </p:sp>
    </p:spTree>
    <p:extLst>
      <p:ext uri="{BB962C8B-B14F-4D97-AF65-F5344CB8AC3E}">
        <p14:creationId xmlns:p14="http://schemas.microsoft.com/office/powerpoint/2010/main" val="589783675"/>
      </p:ext>
    </p:extLst>
  </p:cSld>
</p:sld>
</file>

<file path=ppt/slides/slide3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20" name="diagram-358">
            <a:extLst xmlns:a="http://schemas.openxmlformats.org/drawingml/2006/main">
              <a:ext uri="{FF2B5EF4-FFF2-40B4-BE49-F238E27FC236}">
                <a16:creationId xmlns:a16="http://schemas.microsoft.com/office/drawing/2014/main" id="{6A254BDE-7FA0-43B5-A4C1-A796D555EB1C}"/>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Human judgement after Copilot</a:t>
            </a:r>
          </a:p>
        </p:txBody>
      </p:sp>
      <p:sp>
        <p:nvSpPr>
          <p:cNvPr id="2" name="diagram-359">
            <a:extLst xmlns:a="http://schemas.openxmlformats.org/drawingml/2006/main">
              <a:ext uri="{FF2B5EF4-FFF2-40B4-BE49-F238E27FC236}">
                <a16:creationId xmlns:a16="http://schemas.microsoft.com/office/drawing/2014/main" id="{0B55628B-08F6-40BC-A4AD-FC956E3BCCE3}"/>
              </a:ext>
            </a:extLst>
          </p:cNvPr>
          <p:cNvSpPr>
            <a:spLocks xmlns:a="http://schemas.openxmlformats.org/drawingml/2006/main" noGrp="1"/>
          </p:cNvSpPr>
          <p:nvPr/>
        </p:nvSpPr>
        <p:spPr>
          <a:xfrm xmlns:a="http://schemas.openxmlformats.org/drawingml/2006/main">
            <a:off x="762000" y="2333625"/>
            <a:ext cx="314325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3" name="diagram-360">
            <a:extLst xmlns:a="http://schemas.openxmlformats.org/drawingml/2006/main">
              <a:ext uri="{FF2B5EF4-FFF2-40B4-BE49-F238E27FC236}">
                <a16:creationId xmlns:a16="http://schemas.microsoft.com/office/drawing/2014/main" id="{577A7CB9-5486-44BE-8A11-6BA8045DBA92}"/>
              </a:ext>
            </a:extLst>
          </p:cNvPr>
          <p:cNvSpPr>
            <a:spLocks xmlns:a="http://schemas.openxmlformats.org/drawingml/2006/main" noGrp="1"/>
          </p:cNvSpPr>
          <p:nvPr/>
        </p:nvSpPr>
        <p:spPr>
          <a:xfrm xmlns:a="http://schemas.openxmlformats.org/drawingml/2006/main">
            <a:off x="933450" y="2476500"/>
            <a:ext cx="2800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Paper-tested</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draft</a:t>
            </a:r>
          </a:p>
        </p:txBody>
      </p:sp>
      <p:sp>
        <p:nvSpPr>
          <p:cNvPr id="4" name="diagram-361">
            <a:extLst xmlns:a="http://schemas.openxmlformats.org/drawingml/2006/main">
              <a:ext uri="{FF2B5EF4-FFF2-40B4-BE49-F238E27FC236}">
                <a16:creationId xmlns:a16="http://schemas.microsoft.com/office/drawing/2014/main" id="{2D71A453-8E39-4DA6-A598-B8E5DEA930AB}"/>
              </a:ext>
            </a:extLst>
          </p:cNvPr>
          <p:cNvSpPr>
            <a:spLocks xmlns:a="http://schemas.openxmlformats.org/drawingml/2006/main" noGrp="1"/>
          </p:cNvSpPr>
          <p:nvPr/>
        </p:nvSpPr>
        <p:spPr>
          <a:xfrm xmlns:a="http://schemas.openxmlformats.org/drawingml/2006/main">
            <a:off x="4429125" y="2333625"/>
            <a:ext cx="314325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5" name="diagram-362">
            <a:extLst xmlns:a="http://schemas.openxmlformats.org/drawingml/2006/main">
              <a:ext uri="{FF2B5EF4-FFF2-40B4-BE49-F238E27FC236}">
                <a16:creationId xmlns:a16="http://schemas.microsoft.com/office/drawing/2014/main" id="{EFC48A20-CDBC-4747-8416-BD593EDDD316}"/>
              </a:ext>
            </a:extLst>
          </p:cNvPr>
          <p:cNvSpPr>
            <a:spLocks xmlns:a="http://schemas.openxmlformats.org/drawingml/2006/main" noGrp="1"/>
          </p:cNvSpPr>
          <p:nvPr/>
        </p:nvSpPr>
        <p:spPr>
          <a:xfrm xmlns:a="http://schemas.openxmlformats.org/drawingml/2006/main">
            <a:off x="4600575" y="2476500"/>
            <a:ext cx="2800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Sanitised</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text</a:t>
            </a:r>
          </a:p>
        </p:txBody>
      </p:sp>
      <p:sp>
        <p:nvSpPr>
          <p:cNvPr id="6" name="diagram-363">
            <a:extLst xmlns:a="http://schemas.openxmlformats.org/drawingml/2006/main">
              <a:ext uri="{FF2B5EF4-FFF2-40B4-BE49-F238E27FC236}">
                <a16:creationId xmlns:a16="http://schemas.microsoft.com/office/drawing/2014/main" id="{0D139E97-C7B5-44CD-B8B7-71E8A82DB75F}"/>
              </a:ext>
            </a:extLst>
          </p:cNvPr>
          <p:cNvSpPr>
            <a:spLocks xmlns:a="http://schemas.openxmlformats.org/drawingml/2006/main" noGrp="1"/>
          </p:cNvSpPr>
          <p:nvPr/>
        </p:nvSpPr>
        <p:spPr>
          <a:xfrm xmlns:a="http://schemas.openxmlformats.org/drawingml/2006/main">
            <a:off x="8096250" y="2333625"/>
            <a:ext cx="314325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7" name="diagram-364">
            <a:extLst xmlns:a="http://schemas.openxmlformats.org/drawingml/2006/main">
              <a:ext uri="{FF2B5EF4-FFF2-40B4-BE49-F238E27FC236}">
                <a16:creationId xmlns:a16="http://schemas.microsoft.com/office/drawing/2014/main" id="{F4C827CC-58C6-4699-9C09-A2ED4E6368DF}"/>
              </a:ext>
            </a:extLst>
          </p:cNvPr>
          <p:cNvSpPr>
            <a:spLocks xmlns:a="http://schemas.openxmlformats.org/drawingml/2006/main" noGrp="1"/>
          </p:cNvSpPr>
          <p:nvPr/>
        </p:nvSpPr>
        <p:spPr>
          <a:xfrm xmlns:a="http://schemas.openxmlformats.org/drawingml/2006/main">
            <a:off x="8267700" y="2476500"/>
            <a:ext cx="2800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Copilot</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suggestions</a:t>
            </a:r>
          </a:p>
        </p:txBody>
      </p:sp>
      <p:sp>
        <p:nvSpPr>
          <p:cNvPr id="8" name="diagram-365">
            <a:extLst xmlns:a="http://schemas.openxmlformats.org/drawingml/2006/main">
              <a:ext uri="{FF2B5EF4-FFF2-40B4-BE49-F238E27FC236}">
                <a16:creationId xmlns:a16="http://schemas.microsoft.com/office/drawing/2014/main" id="{B2B63D37-2830-43F8-B680-9F997191CED0}"/>
              </a:ext>
            </a:extLst>
          </p:cNvPr>
          <p:cNvSpPr>
            <a:spLocks xmlns:a="http://schemas.openxmlformats.org/drawingml/2006/main" noGrp="1"/>
          </p:cNvSpPr>
          <p:nvPr/>
        </p:nvSpPr>
        <p:spPr>
          <a:xfrm xmlns:a="http://schemas.openxmlformats.org/drawingml/2006/main">
            <a:off x="8096250" y="4191000"/>
            <a:ext cx="3143250" cy="952500"/>
          </a:xfrm>
          <a:prstGeom xmlns:a="http://schemas.openxmlformats.org/drawingml/2006/main" prst="rect">
            <a:avLst/>
          </a:prstGeom>
          <a:solidFill xmlns:a="http://schemas.openxmlformats.org/drawingml/2006/main">
            <a:srgbClr val="FFF0D9"/>
          </a:solidFill>
          <a:ln xmlns:a="http://schemas.openxmlformats.org/drawingml/2006/main" w="0">
            <a:noFill/>
          </a:ln>
        </p:spPr>
      </p:sp>
      <p:sp>
        <p:nvSpPr>
          <p:cNvPr id="9" name="diagram-366">
            <a:extLst xmlns:a="http://schemas.openxmlformats.org/drawingml/2006/main">
              <a:ext uri="{FF2B5EF4-FFF2-40B4-BE49-F238E27FC236}">
                <a16:creationId xmlns:a16="http://schemas.microsoft.com/office/drawing/2014/main" id="{8B58CD54-6ABA-488C-B6DB-EE3E428F94C4}"/>
              </a:ext>
            </a:extLst>
          </p:cNvPr>
          <p:cNvSpPr>
            <a:spLocks xmlns:a="http://schemas.openxmlformats.org/drawingml/2006/main" noGrp="1"/>
          </p:cNvSpPr>
          <p:nvPr/>
        </p:nvSpPr>
        <p:spPr>
          <a:xfrm xmlns:a="http://schemas.openxmlformats.org/drawingml/2006/main">
            <a:off x="8267700" y="4333875"/>
            <a:ext cx="2800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Human decision</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on every item</a:t>
            </a:r>
          </a:p>
        </p:txBody>
      </p:sp>
      <p:sp>
        <p:nvSpPr>
          <p:cNvPr id="10" name="diagram-367">
            <a:extLst xmlns:a="http://schemas.openxmlformats.org/drawingml/2006/main">
              <a:ext uri="{FF2B5EF4-FFF2-40B4-BE49-F238E27FC236}">
                <a16:creationId xmlns:a16="http://schemas.microsoft.com/office/drawing/2014/main" id="{3C345413-AB71-463B-82B7-4FDEC6D9DAB3}"/>
              </a:ext>
            </a:extLst>
          </p:cNvPr>
          <p:cNvSpPr>
            <a:spLocks xmlns:a="http://schemas.openxmlformats.org/drawingml/2006/main" noGrp="1"/>
          </p:cNvSpPr>
          <p:nvPr/>
        </p:nvSpPr>
        <p:spPr>
          <a:xfrm xmlns:a="http://schemas.openxmlformats.org/drawingml/2006/main">
            <a:off x="4429125" y="4191000"/>
            <a:ext cx="314325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1" name="diagram-368">
            <a:extLst xmlns:a="http://schemas.openxmlformats.org/drawingml/2006/main">
              <a:ext uri="{FF2B5EF4-FFF2-40B4-BE49-F238E27FC236}">
                <a16:creationId xmlns:a16="http://schemas.microsoft.com/office/drawing/2014/main" id="{02A4E615-2DAE-4D44-96A9-5D08A49CC258}"/>
              </a:ext>
            </a:extLst>
          </p:cNvPr>
          <p:cNvSpPr>
            <a:spLocks xmlns:a="http://schemas.openxmlformats.org/drawingml/2006/main" noGrp="1"/>
          </p:cNvSpPr>
          <p:nvPr/>
        </p:nvSpPr>
        <p:spPr>
          <a:xfrm xmlns:a="http://schemas.openxmlformats.org/drawingml/2006/main">
            <a:off x="4600575" y="4333875"/>
            <a:ext cx="2800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Apply up to</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two changes</a:t>
            </a:r>
          </a:p>
        </p:txBody>
      </p:sp>
      <p:sp>
        <p:nvSpPr>
          <p:cNvPr id="12" name="diagram-369">
            <a:extLst xmlns:a="http://schemas.openxmlformats.org/drawingml/2006/main">
              <a:ext uri="{FF2B5EF4-FFF2-40B4-BE49-F238E27FC236}">
                <a16:creationId xmlns:a16="http://schemas.microsoft.com/office/drawing/2014/main" id="{C2CC2765-E613-4397-AFDB-9818C6AFF4B1}"/>
              </a:ext>
            </a:extLst>
          </p:cNvPr>
          <p:cNvSpPr>
            <a:spLocks xmlns:a="http://schemas.openxmlformats.org/drawingml/2006/main" noGrp="1"/>
          </p:cNvSpPr>
          <p:nvPr/>
        </p:nvSpPr>
        <p:spPr>
          <a:xfrm xmlns:a="http://schemas.openxmlformats.org/drawingml/2006/main">
            <a:off x="762000" y="4191000"/>
            <a:ext cx="3143250" cy="952500"/>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3" name="diagram-370">
            <a:extLst xmlns:a="http://schemas.openxmlformats.org/drawingml/2006/main">
              <a:ext uri="{FF2B5EF4-FFF2-40B4-BE49-F238E27FC236}">
                <a16:creationId xmlns:a16="http://schemas.microsoft.com/office/drawing/2014/main" id="{4040B0C9-ACF0-4D4B-AB35-BC779DFC540E}"/>
              </a:ext>
            </a:extLst>
          </p:cNvPr>
          <p:cNvSpPr>
            <a:spLocks xmlns:a="http://schemas.openxmlformats.org/drawingml/2006/main" noGrp="1"/>
          </p:cNvSpPr>
          <p:nvPr/>
        </p:nvSpPr>
        <p:spPr>
          <a:xfrm xmlns:a="http://schemas.openxmlformats.org/drawingml/2006/main">
            <a:off x="933450" y="4333875"/>
            <a:ext cx="2800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Handover</a:t>
            </a:r>
          </a:p>
          <a:p xmlns:a="http://schemas.openxmlformats.org/drawingml/2006/main">
            <a:pPr>
              <a:defRPr sz="2025" b="1">
                <a:solidFill>
                  <a:srgbClr val="18324B"/>
                </a:solidFill>
                <a:latin typeface="Tahoma"/>
                <a:ea typeface="Tahoma"/>
                <a:cs typeface="Tahoma"/>
              </a:defRPr>
            </a:pPr>
            <a:r>
              <a:rPr sz="2025" b="1">
                <a:solidFill>
                  <a:srgbClr val="18324B"/>
                </a:solidFill>
                <a:latin typeface="Tahoma"/>
                <a:ea typeface="Tahoma"/>
                <a:cs typeface="Tahoma"/>
              </a:rPr>
              <a:t>and open questions</a:t>
            </a:r>
          </a:p>
        </p:txBody>
      </p:sp>
      <p:cxnSp>
        <p:nvCxnSpPr>
          <p:cNvPr id="33" name=""/>
          <p:cNvCxnSpPr>
            <a:stCxn xmlns:a="http://schemas.openxmlformats.org/drawingml/2006/main" id="2" idx="3"/>
            <a:endCxn xmlns:a="http://schemas.openxmlformats.org/drawingml/2006/main" id="4" idx="1"/>
          </p:cNvCxnSpPr>
          <p:nvPr/>
        </p:nvCxnSpPr>
        <p:spPr>
          <a:xfrm xmlns:a="http://schemas.openxmlformats.org/drawingml/2006/main">
            <a:off x="3905250" y="2809875"/>
            <a:ext cx="52387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34" name=""/>
          <p:cNvCxnSpPr>
            <a:stCxn xmlns:a="http://schemas.openxmlformats.org/drawingml/2006/main" id="4" idx="3"/>
            <a:endCxn xmlns:a="http://schemas.openxmlformats.org/drawingml/2006/main" id="6" idx="1"/>
          </p:cNvCxnSpPr>
          <p:nvPr/>
        </p:nvCxnSpPr>
        <p:spPr>
          <a:xfrm xmlns:a="http://schemas.openxmlformats.org/drawingml/2006/main">
            <a:off x="7572375" y="2809875"/>
            <a:ext cx="52387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35" name=""/>
          <p:cNvCxnSpPr>
            <a:stCxn xmlns:a="http://schemas.openxmlformats.org/drawingml/2006/main" id="6" idx="2"/>
            <a:endCxn xmlns:a="http://schemas.openxmlformats.org/drawingml/2006/main" id="8" idx="0"/>
          </p:cNvCxnSpPr>
          <p:nvPr/>
        </p:nvCxnSpPr>
        <p:spPr>
          <a:xfrm xmlns:a="http://schemas.openxmlformats.org/drawingml/2006/main">
            <a:off x="9667875" y="3286125"/>
            <a:ext cx="0" cy="904875"/>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36" name=""/>
          <p:cNvCxnSpPr>
            <a:stCxn xmlns:a="http://schemas.openxmlformats.org/drawingml/2006/main" id="8" idx="1"/>
            <a:endCxn xmlns:a="http://schemas.openxmlformats.org/drawingml/2006/main" id="10" idx="3"/>
          </p:cNvCxnSpPr>
          <p:nvPr/>
        </p:nvCxnSpPr>
        <p:spPr>
          <a:xfrm xmlns:a="http://schemas.openxmlformats.org/drawingml/2006/main" flipH="1">
            <a:off x="7572375" y="4667250"/>
            <a:ext cx="523875" cy="0"/>
          </a:xfrm>
          <a:prstGeom xmlns:a="http://schemas.openxmlformats.org/drawingml/2006/main" prst="straightConnector1">
            <a:avLst/>
          </a:prstGeom>
          <a:ln xmlns:a="http://schemas.openxmlformats.org/drawingml/2006/main" w="28575">
            <a:solidFill>
              <a:srgbClr val="174FBA"/>
            </a:solidFill>
            <a:tailEnd type="triangle" w="med" len="med"/>
          </a:ln>
        </p:spPr>
      </p:cxnSp>
      <p:cxnSp>
        <p:nvCxnSpPr>
          <p:cNvPr id="37" name=""/>
          <p:cNvCxnSpPr>
            <a:stCxn xmlns:a="http://schemas.openxmlformats.org/drawingml/2006/main" id="10" idx="1"/>
            <a:endCxn xmlns:a="http://schemas.openxmlformats.org/drawingml/2006/main" id="12" idx="3"/>
          </p:cNvCxnSpPr>
          <p:nvPr/>
        </p:nvCxnSpPr>
        <p:spPr>
          <a:xfrm xmlns:a="http://schemas.openxmlformats.org/drawingml/2006/main" flipH="1">
            <a:off x="3905250" y="4667250"/>
            <a:ext cx="523875" cy="0"/>
          </a:xfrm>
          <a:prstGeom xmlns:a="http://schemas.openxmlformats.org/drawingml/2006/main" prst="straightConnector1">
            <a:avLst/>
          </a:prstGeom>
          <a:ln xmlns:a="http://schemas.openxmlformats.org/drawingml/2006/main" w="28575">
            <a:solidFill>
              <a:srgbClr val="174FBA"/>
            </a:solidFill>
            <a:tailEnd type="triangle" w="med" len="med"/>
          </a:ln>
        </p:spPr>
      </p:cxnSp>
      <p:sp>
        <p:nvSpPr>
          <p:cNvPr id="19" name="diagram-371">
            <a:extLst xmlns:a="http://schemas.openxmlformats.org/drawingml/2006/main">
              <a:ext uri="{FF2B5EF4-FFF2-40B4-BE49-F238E27FC236}">
                <a16:creationId xmlns:a16="http://schemas.microsoft.com/office/drawing/2014/main" id="{20F1FD06-9391-4C46-A84F-1987298EEEB5}"/>
              </a:ext>
            </a:extLst>
          </p:cNvPr>
          <p:cNvSpPr>
            <a:spLocks xmlns:a="http://schemas.openxmlformats.org/drawingml/2006/main" noGrp="1"/>
          </p:cNvSpPr>
          <p:nvPr/>
        </p:nvSpPr>
        <p:spPr>
          <a:xfrm xmlns:a="http://schemas.openxmlformats.org/drawingml/2006/main">
            <a:off x="762000" y="5619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4FBA"/>
                </a:solidFill>
                <a:latin typeface="Tahoma"/>
                <a:ea typeface="Tahoma"/>
                <a:cs typeface="Tahoma"/>
              </a:defRPr>
            </a:pPr>
            <a:r>
              <a:rPr sz="2025" b="1">
                <a:solidFill>
                  <a:srgbClr val="174FBA"/>
                </a:solidFill>
                <a:latin typeface="Tahoma"/>
                <a:ea typeface="Tahoma"/>
                <a:cs typeface="Tahoma"/>
              </a:rPr>
              <a:t>Adopt / Adapt / Verify / Reject</a:t>
            </a:r>
          </a:p>
        </p:txBody>
      </p:sp>
    </p:spTree>
    <p:extLst>
      <p:ext uri="{BB962C8B-B14F-4D97-AF65-F5344CB8AC3E}">
        <p14:creationId xmlns:p14="http://schemas.microsoft.com/office/powerpoint/2010/main" val="82295945"/>
      </p:ext>
    </p:extLst>
  </p:cSld>
</p:sld>
</file>

<file path=ppt/slides/slide3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5" name="diagram-372">
            <a:extLst xmlns:a="http://schemas.openxmlformats.org/drawingml/2006/main">
              <a:ext uri="{FF2B5EF4-FFF2-40B4-BE49-F238E27FC236}">
                <a16:creationId xmlns:a16="http://schemas.microsoft.com/office/drawing/2014/main" id="{51EE3A6F-3CDB-4AF9-91D9-69EF97B42DC5}"/>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5 · PRACTICE 3</a:t>
            </a:r>
          </a:p>
        </p:txBody>
      </p:sp>
      <p:sp>
        <p:nvSpPr>
          <p:cNvPr id="2" name="diagram-373">
            <a:extLst xmlns:a="http://schemas.openxmlformats.org/drawingml/2006/main">
              <a:ext uri="{FF2B5EF4-FFF2-40B4-BE49-F238E27FC236}">
                <a16:creationId xmlns:a16="http://schemas.microsoft.com/office/drawing/2014/main" id="{ED64F900-D220-4F6E-A8D3-5096BBB8C4EF}"/>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A structured review request</a:t>
            </a:r>
          </a:p>
        </p:txBody>
      </p:sp>
      <p:sp>
        <p:nvSpPr>
          <p:cNvPr id="3" name="diagram-374">
            <a:extLst xmlns:a="http://schemas.openxmlformats.org/drawingml/2006/main">
              <a:ext uri="{FF2B5EF4-FFF2-40B4-BE49-F238E27FC236}">
                <a16:creationId xmlns:a16="http://schemas.microsoft.com/office/drawing/2014/main" id="{27D941B2-4268-4A8C-9141-0A15801FDB1A}"/>
              </a:ext>
            </a:extLst>
          </p:cNvPr>
          <p:cNvSpPr>
            <a:spLocks xmlns:a="http://schemas.openxmlformats.org/drawingml/2006/main" noGrp="1"/>
          </p:cNvSpPr>
          <p:nvPr/>
        </p:nvSpPr>
        <p:spPr>
          <a:xfrm xmlns:a="http://schemas.openxmlformats.org/drawingml/2006/main">
            <a:off x="619125" y="2333625"/>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74FBA"/>
                </a:solidFill>
                <a:latin typeface="Tahoma"/>
                <a:ea typeface="Tahoma"/>
                <a:cs typeface="Tahoma"/>
              </a:defRPr>
            </a:pPr>
            <a:r>
              <a:rPr sz="3375" b="1">
                <a:solidFill>
                  <a:srgbClr val="174FBA"/>
                </a:solidFill>
                <a:latin typeface="Tahoma"/>
                <a:ea typeface="Tahoma"/>
                <a:cs typeface="Tahoma"/>
              </a:rPr>
              <a:t>01</a:t>
            </a:r>
          </a:p>
        </p:txBody>
      </p:sp>
      <p:sp>
        <p:nvSpPr>
          <p:cNvPr id="4" name="diagram-375">
            <a:extLst xmlns:a="http://schemas.openxmlformats.org/drawingml/2006/main">
              <a:ext uri="{FF2B5EF4-FFF2-40B4-BE49-F238E27FC236}">
                <a16:creationId xmlns:a16="http://schemas.microsoft.com/office/drawing/2014/main" id="{C0888318-30D8-4BFD-984B-9BBC0A69B213}"/>
              </a:ext>
            </a:extLst>
          </p:cNvPr>
          <p:cNvSpPr>
            <a:spLocks xmlns:a="http://schemas.openxmlformats.org/drawingml/2006/main" noGrp="1"/>
          </p:cNvSpPr>
          <p:nvPr/>
        </p:nvSpPr>
        <p:spPr>
          <a:xfrm xmlns:a="http://schemas.openxmlformats.org/drawingml/2006/main">
            <a:off x="619125" y="3095625"/>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02D50"/>
                </a:solidFill>
                <a:latin typeface="Tahoma"/>
                <a:ea typeface="Tahoma"/>
                <a:cs typeface="Tahoma"/>
              </a:defRPr>
            </a:pPr>
            <a:r>
              <a:rPr sz="2250" b="1">
                <a:solidFill>
                  <a:srgbClr val="102D50"/>
                </a:solidFill>
                <a:latin typeface="Tahoma"/>
                <a:ea typeface="Tahoma"/>
                <a:cs typeface="Tahoma"/>
              </a:rPr>
              <a:t>Goal</a:t>
            </a:r>
          </a:p>
        </p:txBody>
      </p:sp>
      <p:sp>
        <p:nvSpPr>
          <p:cNvPr id="5" name="diagram-376">
            <a:extLst xmlns:a="http://schemas.openxmlformats.org/drawingml/2006/main">
              <a:ext uri="{FF2B5EF4-FFF2-40B4-BE49-F238E27FC236}">
                <a16:creationId xmlns:a16="http://schemas.microsoft.com/office/drawing/2014/main" id="{0CC49217-47C8-4B68-9C05-9DF073F6ECD1}"/>
              </a:ext>
            </a:extLst>
          </p:cNvPr>
          <p:cNvSpPr>
            <a:spLocks xmlns:a="http://schemas.openxmlformats.org/drawingml/2006/main" noGrp="1"/>
          </p:cNvSpPr>
          <p:nvPr/>
        </p:nvSpPr>
        <p:spPr>
          <a:xfrm xmlns:a="http://schemas.openxmlformats.org/drawingml/2006/main">
            <a:off x="619125" y="3762375"/>
            <a:ext cx="238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What should the review achieve?</a:t>
            </a:r>
          </a:p>
        </p:txBody>
      </p:sp>
      <p:sp>
        <p:nvSpPr>
          <p:cNvPr id="6" name="diagram-377">
            <a:extLst xmlns:a="http://schemas.openxmlformats.org/drawingml/2006/main">
              <a:ext uri="{FF2B5EF4-FFF2-40B4-BE49-F238E27FC236}">
                <a16:creationId xmlns:a16="http://schemas.microsoft.com/office/drawing/2014/main" id="{311F0FAE-D8FE-4DC7-9723-F59495ADCF26}"/>
              </a:ext>
            </a:extLst>
          </p:cNvPr>
          <p:cNvSpPr>
            <a:spLocks xmlns:a="http://schemas.openxmlformats.org/drawingml/2006/main" noGrp="1"/>
          </p:cNvSpPr>
          <p:nvPr/>
        </p:nvSpPr>
        <p:spPr>
          <a:xfrm xmlns:a="http://schemas.openxmlformats.org/drawingml/2006/main">
            <a:off x="3476625" y="2333625"/>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74FBA"/>
                </a:solidFill>
                <a:latin typeface="Tahoma"/>
                <a:ea typeface="Tahoma"/>
                <a:cs typeface="Tahoma"/>
              </a:defRPr>
            </a:pPr>
            <a:r>
              <a:rPr sz="3375" b="1">
                <a:solidFill>
                  <a:srgbClr val="174FBA"/>
                </a:solidFill>
                <a:latin typeface="Tahoma"/>
                <a:ea typeface="Tahoma"/>
                <a:cs typeface="Tahoma"/>
              </a:rPr>
              <a:t>02</a:t>
            </a:r>
          </a:p>
        </p:txBody>
      </p:sp>
      <p:sp>
        <p:nvSpPr>
          <p:cNvPr id="7" name="diagram-378">
            <a:extLst xmlns:a="http://schemas.openxmlformats.org/drawingml/2006/main">
              <a:ext uri="{FF2B5EF4-FFF2-40B4-BE49-F238E27FC236}">
                <a16:creationId xmlns:a16="http://schemas.microsoft.com/office/drawing/2014/main" id="{77A479EB-C022-47C1-9EAB-1F4ACCBE9CEC}"/>
              </a:ext>
            </a:extLst>
          </p:cNvPr>
          <p:cNvSpPr>
            <a:spLocks xmlns:a="http://schemas.openxmlformats.org/drawingml/2006/main" noGrp="1"/>
          </p:cNvSpPr>
          <p:nvPr/>
        </p:nvSpPr>
        <p:spPr>
          <a:xfrm xmlns:a="http://schemas.openxmlformats.org/drawingml/2006/main">
            <a:off x="3476625" y="3095625"/>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02D50"/>
                </a:solidFill>
                <a:latin typeface="Tahoma"/>
                <a:ea typeface="Tahoma"/>
                <a:cs typeface="Tahoma"/>
              </a:defRPr>
            </a:pPr>
            <a:r>
              <a:rPr sz="2250" b="1">
                <a:solidFill>
                  <a:srgbClr val="102D50"/>
                </a:solidFill>
                <a:latin typeface="Tahoma"/>
                <a:ea typeface="Tahoma"/>
                <a:cs typeface="Tahoma"/>
              </a:rPr>
              <a:t>Context</a:t>
            </a:r>
          </a:p>
        </p:txBody>
      </p:sp>
      <p:sp>
        <p:nvSpPr>
          <p:cNvPr id="8" name="diagram-379">
            <a:extLst xmlns:a="http://schemas.openxmlformats.org/drawingml/2006/main">
              <a:ext uri="{FF2B5EF4-FFF2-40B4-BE49-F238E27FC236}">
                <a16:creationId xmlns:a16="http://schemas.microsoft.com/office/drawing/2014/main" id="{0419DD1F-3A81-48E6-811B-E2B59F074CA8}"/>
              </a:ext>
            </a:extLst>
          </p:cNvPr>
          <p:cNvSpPr>
            <a:spLocks xmlns:a="http://schemas.openxmlformats.org/drawingml/2006/main" noGrp="1"/>
          </p:cNvSpPr>
          <p:nvPr/>
        </p:nvSpPr>
        <p:spPr>
          <a:xfrm xmlns:a="http://schemas.openxmlformats.org/drawingml/2006/main">
            <a:off x="3476625" y="3762375"/>
            <a:ext cx="238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What situation and limits apply?</a:t>
            </a:r>
          </a:p>
        </p:txBody>
      </p:sp>
      <p:sp>
        <p:nvSpPr>
          <p:cNvPr id="9" name="diagram-380">
            <a:extLst xmlns:a="http://schemas.openxmlformats.org/drawingml/2006/main">
              <a:ext uri="{FF2B5EF4-FFF2-40B4-BE49-F238E27FC236}">
                <a16:creationId xmlns:a16="http://schemas.microsoft.com/office/drawing/2014/main" id="{AB5C2CE5-141A-41CB-B0B4-EB8A621F01F6}"/>
              </a:ext>
            </a:extLst>
          </p:cNvPr>
          <p:cNvSpPr>
            <a:spLocks xmlns:a="http://schemas.openxmlformats.org/drawingml/2006/main" noGrp="1"/>
          </p:cNvSpPr>
          <p:nvPr/>
        </p:nvSpPr>
        <p:spPr>
          <a:xfrm xmlns:a="http://schemas.openxmlformats.org/drawingml/2006/main">
            <a:off x="6334125" y="2333625"/>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74FBA"/>
                </a:solidFill>
                <a:latin typeface="Tahoma"/>
                <a:ea typeface="Tahoma"/>
                <a:cs typeface="Tahoma"/>
              </a:defRPr>
            </a:pPr>
            <a:r>
              <a:rPr sz="3375" b="1">
                <a:solidFill>
                  <a:srgbClr val="174FBA"/>
                </a:solidFill>
                <a:latin typeface="Tahoma"/>
                <a:ea typeface="Tahoma"/>
                <a:cs typeface="Tahoma"/>
              </a:rPr>
              <a:t>03</a:t>
            </a:r>
          </a:p>
        </p:txBody>
      </p:sp>
      <p:sp>
        <p:nvSpPr>
          <p:cNvPr id="10" name="diagram-381">
            <a:extLst xmlns:a="http://schemas.openxmlformats.org/drawingml/2006/main">
              <a:ext uri="{FF2B5EF4-FFF2-40B4-BE49-F238E27FC236}">
                <a16:creationId xmlns:a16="http://schemas.microsoft.com/office/drawing/2014/main" id="{CB3EC26F-3F84-4116-ADC6-8F61CACEE80E}"/>
              </a:ext>
            </a:extLst>
          </p:cNvPr>
          <p:cNvSpPr>
            <a:spLocks xmlns:a="http://schemas.openxmlformats.org/drawingml/2006/main" noGrp="1"/>
          </p:cNvSpPr>
          <p:nvPr/>
        </p:nvSpPr>
        <p:spPr>
          <a:xfrm xmlns:a="http://schemas.openxmlformats.org/drawingml/2006/main">
            <a:off x="6334125" y="3095625"/>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02D50"/>
                </a:solidFill>
                <a:latin typeface="Tahoma"/>
                <a:ea typeface="Tahoma"/>
                <a:cs typeface="Tahoma"/>
              </a:defRPr>
            </a:pPr>
            <a:r>
              <a:rPr sz="2250" b="1">
                <a:solidFill>
                  <a:srgbClr val="102D50"/>
                </a:solidFill>
                <a:latin typeface="Tahoma"/>
                <a:ea typeface="Tahoma"/>
                <a:cs typeface="Tahoma"/>
              </a:rPr>
              <a:t>Source</a:t>
            </a:r>
          </a:p>
        </p:txBody>
      </p:sp>
      <p:sp>
        <p:nvSpPr>
          <p:cNvPr id="11" name="diagram-382">
            <a:extLst xmlns:a="http://schemas.openxmlformats.org/drawingml/2006/main">
              <a:ext uri="{FF2B5EF4-FFF2-40B4-BE49-F238E27FC236}">
                <a16:creationId xmlns:a16="http://schemas.microsoft.com/office/drawing/2014/main" id="{289FA024-358D-4E25-8F68-0FC57725C09E}"/>
              </a:ext>
            </a:extLst>
          </p:cNvPr>
          <p:cNvSpPr>
            <a:spLocks xmlns:a="http://schemas.openxmlformats.org/drawingml/2006/main" noGrp="1"/>
          </p:cNvSpPr>
          <p:nvPr/>
        </p:nvSpPr>
        <p:spPr>
          <a:xfrm xmlns:a="http://schemas.openxmlformats.org/drawingml/2006/main">
            <a:off x="6334125" y="3762375"/>
            <a:ext cx="238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What tested evidence is supplied?</a:t>
            </a:r>
          </a:p>
        </p:txBody>
      </p:sp>
      <p:sp>
        <p:nvSpPr>
          <p:cNvPr id="12" name="diagram-383">
            <a:extLst xmlns:a="http://schemas.openxmlformats.org/drawingml/2006/main">
              <a:ext uri="{FF2B5EF4-FFF2-40B4-BE49-F238E27FC236}">
                <a16:creationId xmlns:a16="http://schemas.microsoft.com/office/drawing/2014/main" id="{A63810D7-A94C-434C-B92A-57171BCE509B}"/>
              </a:ext>
            </a:extLst>
          </p:cNvPr>
          <p:cNvSpPr>
            <a:spLocks xmlns:a="http://schemas.openxmlformats.org/drawingml/2006/main" noGrp="1"/>
          </p:cNvSpPr>
          <p:nvPr/>
        </p:nvSpPr>
        <p:spPr>
          <a:xfrm xmlns:a="http://schemas.openxmlformats.org/drawingml/2006/main">
            <a:off x="9191625" y="2333625"/>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74FBA"/>
                </a:solidFill>
                <a:latin typeface="Tahoma"/>
                <a:ea typeface="Tahoma"/>
                <a:cs typeface="Tahoma"/>
              </a:defRPr>
            </a:pPr>
            <a:r>
              <a:rPr sz="3375" b="1">
                <a:solidFill>
                  <a:srgbClr val="174FBA"/>
                </a:solidFill>
                <a:latin typeface="Tahoma"/>
                <a:ea typeface="Tahoma"/>
                <a:cs typeface="Tahoma"/>
              </a:rPr>
              <a:t>04</a:t>
            </a:r>
          </a:p>
        </p:txBody>
      </p:sp>
      <p:sp>
        <p:nvSpPr>
          <p:cNvPr id="13" name="diagram-384">
            <a:extLst xmlns:a="http://schemas.openxmlformats.org/drawingml/2006/main">
              <a:ext uri="{FF2B5EF4-FFF2-40B4-BE49-F238E27FC236}">
                <a16:creationId xmlns:a16="http://schemas.microsoft.com/office/drawing/2014/main" id="{7627516C-7D40-4895-8084-5637F4C4DFD3}"/>
              </a:ext>
            </a:extLst>
          </p:cNvPr>
          <p:cNvSpPr>
            <a:spLocks xmlns:a="http://schemas.openxmlformats.org/drawingml/2006/main" noGrp="1"/>
          </p:cNvSpPr>
          <p:nvPr/>
        </p:nvSpPr>
        <p:spPr>
          <a:xfrm xmlns:a="http://schemas.openxmlformats.org/drawingml/2006/main">
            <a:off x="9191625" y="3095625"/>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02D50"/>
                </a:solidFill>
                <a:latin typeface="Tahoma"/>
                <a:ea typeface="Tahoma"/>
                <a:cs typeface="Tahoma"/>
              </a:defRPr>
            </a:pPr>
            <a:r>
              <a:rPr sz="2250" b="1">
                <a:solidFill>
                  <a:srgbClr val="102D50"/>
                </a:solidFill>
                <a:latin typeface="Tahoma"/>
                <a:ea typeface="Tahoma"/>
                <a:cs typeface="Tahoma"/>
              </a:rPr>
              <a:t>Expectation</a:t>
            </a:r>
          </a:p>
        </p:txBody>
      </p:sp>
      <p:sp>
        <p:nvSpPr>
          <p:cNvPr id="14" name="diagram-385">
            <a:extLst xmlns:a="http://schemas.openxmlformats.org/drawingml/2006/main">
              <a:ext uri="{FF2B5EF4-FFF2-40B4-BE49-F238E27FC236}">
                <a16:creationId xmlns:a16="http://schemas.microsoft.com/office/drawing/2014/main" id="{A5ECC395-93B3-414D-960D-ECBCEC398084}"/>
              </a:ext>
            </a:extLst>
          </p:cNvPr>
          <p:cNvSpPr>
            <a:spLocks xmlns:a="http://schemas.openxmlformats.org/drawingml/2006/main" noGrp="1"/>
          </p:cNvSpPr>
          <p:nvPr/>
        </p:nvSpPr>
        <p:spPr>
          <a:xfrm xmlns:a="http://schemas.openxmlformats.org/drawingml/2006/main">
            <a:off x="9191625" y="3762375"/>
            <a:ext cx="238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80"/>
                </a:solidFill>
                <a:latin typeface="Tahoma"/>
                <a:ea typeface="Tahoma"/>
                <a:cs typeface="Tahoma"/>
              </a:defRPr>
            </a:pPr>
            <a:r>
              <a:rPr sz="1725" b="0">
                <a:solidFill>
                  <a:srgbClr val="536B80"/>
                </a:solidFill>
                <a:latin typeface="Tahoma"/>
                <a:ea typeface="Tahoma"/>
                <a:cs typeface="Tahoma"/>
              </a:rPr>
              <a:t>Maximum four traceable items</a:t>
            </a:r>
          </a:p>
        </p:txBody>
      </p:sp>
    </p:spTree>
    <p:extLst>
      <p:ext uri="{BB962C8B-B14F-4D97-AF65-F5344CB8AC3E}">
        <p14:creationId xmlns:p14="http://schemas.microsoft.com/office/powerpoint/2010/main" val="1336081104"/>
      </p:ext>
    </p:extLst>
  </p:cSld>
</p:sld>
</file>

<file path=ppt/slides/slide3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8" name="diagram-386">
            <a:extLst xmlns:a="http://schemas.openxmlformats.org/drawingml/2006/main">
              <a:ext uri="{FF2B5EF4-FFF2-40B4-BE49-F238E27FC236}">
                <a16:creationId xmlns:a16="http://schemas.microsoft.com/office/drawing/2014/main" id="{99A2C900-12F3-4096-A492-86C4F20D4E1C}"/>
              </a:ext>
            </a:extLst>
          </p:cNvPr>
          <p:cNvSpPr>
            <a:spLocks xmlns:a="http://schemas.openxmlformats.org/drawingml/2006/main" noGrp="1"/>
          </p:cNvSpPr>
          <p:nvPr/>
        </p:nvSpPr>
        <p:spPr>
          <a:xfrm xmlns:a="http://schemas.openxmlformats.org/drawingml/2006/main">
            <a:off x="7429500" y="3333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76D13"/>
                </a:solidFill>
                <a:latin typeface="Tahoma"/>
                <a:ea typeface="Tahoma"/>
                <a:cs typeface="Tahoma"/>
              </a:defRPr>
            </a:pPr>
            <a:r>
              <a:rPr sz="1350" b="1">
                <a:solidFill>
                  <a:srgbClr val="B76D13"/>
                </a:solidFill>
                <a:latin typeface="Tahoma"/>
                <a:ea typeface="Tahoma"/>
                <a:cs typeface="Tahoma"/>
              </a:rPr>
              <a:t>EXERCISE 5 · PRACTICES 4–6</a:t>
            </a:r>
          </a:p>
        </p:txBody>
      </p:sp>
      <p:sp>
        <p:nvSpPr>
          <p:cNvPr id="2" name="diagram-387">
            <a:extLst xmlns:a="http://schemas.openxmlformats.org/drawingml/2006/main">
              <a:ext uri="{FF2B5EF4-FFF2-40B4-BE49-F238E27FC236}">
                <a16:creationId xmlns:a16="http://schemas.microsoft.com/office/drawing/2014/main" id="{93D67A58-C71E-4D86-BF61-ACAC8748C05C}"/>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D50"/>
                </a:solidFill>
                <a:latin typeface="Tahoma"/>
                <a:ea typeface="Tahoma"/>
                <a:cs typeface="Tahoma"/>
              </a:defRPr>
            </a:pPr>
            <a:r>
              <a:rPr sz="3225" b="1">
                <a:solidFill>
                  <a:srgbClr val="102D50"/>
                </a:solidFill>
                <a:latin typeface="Tahoma"/>
                <a:ea typeface="Tahoma"/>
                <a:cs typeface="Tahoma"/>
              </a:rPr>
              <a:t>Review decisions and handover</a:t>
            </a:r>
          </a:p>
        </p:txBody>
      </p:sp>
      <p:sp>
        <p:nvSpPr>
          <p:cNvPr id="3" name="diagram-388">
            <a:extLst xmlns:a="http://schemas.openxmlformats.org/drawingml/2006/main">
              <a:ext uri="{FF2B5EF4-FFF2-40B4-BE49-F238E27FC236}">
                <a16:creationId xmlns:a16="http://schemas.microsoft.com/office/drawing/2014/main" id="{0F7DBA1B-9171-4DC9-90DB-A902A6B870AD}"/>
              </a:ext>
            </a:extLst>
          </p:cNvPr>
          <p:cNvSpPr>
            <a:spLocks xmlns:a="http://schemas.openxmlformats.org/drawingml/2006/main" noGrp="1"/>
          </p:cNvSpPr>
          <p:nvPr/>
        </p:nvSpPr>
        <p:spPr>
          <a:xfrm xmlns:a="http://schemas.openxmlformats.org/drawingml/2006/main">
            <a:off x="762000" y="195262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4FBA"/>
                </a:solidFill>
                <a:latin typeface="Tahoma"/>
                <a:ea typeface="Tahoma"/>
                <a:cs typeface="Tahoma"/>
              </a:defRPr>
            </a:pPr>
            <a:r>
              <a:rPr sz="2400" b="1">
                <a:solidFill>
                  <a:srgbClr val="174FBA"/>
                </a:solidFill>
                <a:latin typeface="Tahoma"/>
                <a:ea typeface="Tahoma"/>
                <a:cs typeface="Tahoma"/>
              </a:rPr>
              <a:t>Adopt</a:t>
            </a:r>
          </a:p>
        </p:txBody>
      </p:sp>
      <p:sp>
        <p:nvSpPr>
          <p:cNvPr id="4" name="diagram-389">
            <a:extLst xmlns:a="http://schemas.openxmlformats.org/drawingml/2006/main">
              <a:ext uri="{FF2B5EF4-FFF2-40B4-BE49-F238E27FC236}">
                <a16:creationId xmlns:a16="http://schemas.microsoft.com/office/drawing/2014/main" id="{BF414201-C895-4996-B215-2511EFDF36D1}"/>
              </a:ext>
            </a:extLst>
          </p:cNvPr>
          <p:cNvSpPr>
            <a:spLocks xmlns:a="http://schemas.openxmlformats.org/drawingml/2006/main" noGrp="1"/>
          </p:cNvSpPr>
          <p:nvPr/>
        </p:nvSpPr>
        <p:spPr>
          <a:xfrm xmlns:a="http://schemas.openxmlformats.org/drawingml/2006/main">
            <a:off x="762000" y="2428875"/>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24B"/>
                </a:solidFill>
                <a:latin typeface="Tahoma"/>
                <a:ea typeface="Tahoma"/>
                <a:cs typeface="Tahoma"/>
              </a:defRPr>
            </a:pPr>
            <a:r>
              <a:rPr sz="1725" b="0">
                <a:solidFill>
                  <a:srgbClr val="18324B"/>
                </a:solidFill>
                <a:latin typeface="Tahoma"/>
                <a:ea typeface="Tahoma"/>
                <a:cs typeface="Tahoma"/>
              </a:rPr>
              <a:t>Supported and useful as written</a:t>
            </a:r>
          </a:p>
        </p:txBody>
      </p:sp>
      <p:sp>
        <p:nvSpPr>
          <p:cNvPr id="5" name="diagram-390">
            <a:extLst xmlns:a="http://schemas.openxmlformats.org/drawingml/2006/main">
              <a:ext uri="{FF2B5EF4-FFF2-40B4-BE49-F238E27FC236}">
                <a16:creationId xmlns:a16="http://schemas.microsoft.com/office/drawing/2014/main" id="{A90DA85B-94BB-4203-81E9-F82BE5F7A738}"/>
              </a:ext>
            </a:extLst>
          </p:cNvPr>
          <p:cNvSpPr>
            <a:spLocks xmlns:a="http://schemas.openxmlformats.org/drawingml/2006/main" noGrp="1"/>
          </p:cNvSpPr>
          <p:nvPr/>
        </p:nvSpPr>
        <p:spPr>
          <a:xfrm xmlns:a="http://schemas.openxmlformats.org/drawingml/2006/main">
            <a:off x="6334125" y="195262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4FBA"/>
                </a:solidFill>
                <a:latin typeface="Tahoma"/>
                <a:ea typeface="Tahoma"/>
                <a:cs typeface="Tahoma"/>
              </a:defRPr>
            </a:pPr>
            <a:r>
              <a:rPr sz="2400" b="1">
                <a:solidFill>
                  <a:srgbClr val="174FBA"/>
                </a:solidFill>
                <a:latin typeface="Tahoma"/>
                <a:ea typeface="Tahoma"/>
                <a:cs typeface="Tahoma"/>
              </a:rPr>
              <a:t>Adapt</a:t>
            </a:r>
          </a:p>
        </p:txBody>
      </p:sp>
      <p:sp>
        <p:nvSpPr>
          <p:cNvPr id="6" name="diagram-391">
            <a:extLst xmlns:a="http://schemas.openxmlformats.org/drawingml/2006/main">
              <a:ext uri="{FF2B5EF4-FFF2-40B4-BE49-F238E27FC236}">
                <a16:creationId xmlns:a16="http://schemas.microsoft.com/office/drawing/2014/main" id="{2CBC71DC-EE46-4D4B-8DAB-80916B8920E9}"/>
              </a:ext>
            </a:extLst>
          </p:cNvPr>
          <p:cNvSpPr>
            <a:spLocks xmlns:a="http://schemas.openxmlformats.org/drawingml/2006/main" noGrp="1"/>
          </p:cNvSpPr>
          <p:nvPr/>
        </p:nvSpPr>
        <p:spPr>
          <a:xfrm xmlns:a="http://schemas.openxmlformats.org/drawingml/2006/main">
            <a:off x="6334125" y="2428875"/>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24B"/>
                </a:solidFill>
                <a:latin typeface="Tahoma"/>
                <a:ea typeface="Tahoma"/>
                <a:cs typeface="Tahoma"/>
              </a:defRPr>
            </a:pPr>
            <a:r>
              <a:rPr sz="1725" b="0">
                <a:solidFill>
                  <a:srgbClr val="18324B"/>
                </a:solidFill>
                <a:latin typeface="Tahoma"/>
                <a:ea typeface="Tahoma"/>
                <a:cs typeface="Tahoma"/>
              </a:rPr>
              <a:t>Useful after modification</a:t>
            </a:r>
          </a:p>
        </p:txBody>
      </p:sp>
      <p:sp>
        <p:nvSpPr>
          <p:cNvPr id="7" name="diagram-392">
            <a:extLst xmlns:a="http://schemas.openxmlformats.org/drawingml/2006/main">
              <a:ext uri="{FF2B5EF4-FFF2-40B4-BE49-F238E27FC236}">
                <a16:creationId xmlns:a16="http://schemas.microsoft.com/office/drawing/2014/main" id="{3BB02E42-D69C-40C2-9948-AE501D6B9639}"/>
              </a:ext>
            </a:extLst>
          </p:cNvPr>
          <p:cNvSpPr>
            <a:spLocks xmlns:a="http://schemas.openxmlformats.org/drawingml/2006/main" noGrp="1"/>
          </p:cNvSpPr>
          <p:nvPr/>
        </p:nvSpPr>
        <p:spPr>
          <a:xfrm xmlns:a="http://schemas.openxmlformats.org/drawingml/2006/main">
            <a:off x="762000" y="314325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B76D13"/>
                </a:solidFill>
                <a:latin typeface="Tahoma"/>
                <a:ea typeface="Tahoma"/>
                <a:cs typeface="Tahoma"/>
              </a:defRPr>
            </a:pPr>
            <a:r>
              <a:rPr sz="2400" b="1">
                <a:solidFill>
                  <a:srgbClr val="B76D13"/>
                </a:solidFill>
                <a:latin typeface="Tahoma"/>
                <a:ea typeface="Tahoma"/>
                <a:cs typeface="Tahoma"/>
              </a:rPr>
              <a:t>Verify</a:t>
            </a:r>
          </a:p>
        </p:txBody>
      </p:sp>
      <p:sp>
        <p:nvSpPr>
          <p:cNvPr id="8" name="diagram-393">
            <a:extLst xmlns:a="http://schemas.openxmlformats.org/drawingml/2006/main">
              <a:ext uri="{FF2B5EF4-FFF2-40B4-BE49-F238E27FC236}">
                <a16:creationId xmlns:a16="http://schemas.microsoft.com/office/drawing/2014/main" id="{16E39DC8-7BB1-4E14-859D-5FFB02841210}"/>
              </a:ext>
            </a:extLst>
          </p:cNvPr>
          <p:cNvSpPr>
            <a:spLocks xmlns:a="http://schemas.openxmlformats.org/drawingml/2006/main" noGrp="1"/>
          </p:cNvSpPr>
          <p:nvPr/>
        </p:nvSpPr>
        <p:spPr>
          <a:xfrm xmlns:a="http://schemas.openxmlformats.org/drawingml/2006/main">
            <a:off x="762000" y="3619500"/>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24B"/>
                </a:solidFill>
                <a:latin typeface="Tahoma"/>
                <a:ea typeface="Tahoma"/>
                <a:cs typeface="Tahoma"/>
              </a:defRPr>
            </a:pPr>
            <a:r>
              <a:rPr sz="1725" b="0">
                <a:solidFill>
                  <a:srgbClr val="18324B"/>
                </a:solidFill>
                <a:latin typeface="Tahoma"/>
                <a:ea typeface="Tahoma"/>
                <a:cs typeface="Tahoma"/>
              </a:rPr>
              <a:t>A responsible person must confirm</a:t>
            </a:r>
          </a:p>
        </p:txBody>
      </p:sp>
      <p:sp>
        <p:nvSpPr>
          <p:cNvPr id="9" name="diagram-394">
            <a:extLst xmlns:a="http://schemas.openxmlformats.org/drawingml/2006/main">
              <a:ext uri="{FF2B5EF4-FFF2-40B4-BE49-F238E27FC236}">
                <a16:creationId xmlns:a16="http://schemas.microsoft.com/office/drawing/2014/main" id="{8618F008-73BD-4E61-9260-C0A6FB3DF07F}"/>
              </a:ext>
            </a:extLst>
          </p:cNvPr>
          <p:cNvSpPr>
            <a:spLocks xmlns:a="http://schemas.openxmlformats.org/drawingml/2006/main" noGrp="1"/>
          </p:cNvSpPr>
          <p:nvPr/>
        </p:nvSpPr>
        <p:spPr>
          <a:xfrm xmlns:a="http://schemas.openxmlformats.org/drawingml/2006/main">
            <a:off x="6334125" y="314325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B76D13"/>
                </a:solidFill>
                <a:latin typeface="Tahoma"/>
                <a:ea typeface="Tahoma"/>
                <a:cs typeface="Tahoma"/>
              </a:defRPr>
            </a:pPr>
            <a:r>
              <a:rPr sz="2400" b="1">
                <a:solidFill>
                  <a:srgbClr val="B76D13"/>
                </a:solidFill>
                <a:latin typeface="Tahoma"/>
                <a:ea typeface="Tahoma"/>
                <a:cs typeface="Tahoma"/>
              </a:rPr>
              <a:t>Reject</a:t>
            </a:r>
          </a:p>
        </p:txBody>
      </p:sp>
      <p:sp>
        <p:nvSpPr>
          <p:cNvPr id="10" name="diagram-395">
            <a:extLst xmlns:a="http://schemas.openxmlformats.org/drawingml/2006/main">
              <a:ext uri="{FF2B5EF4-FFF2-40B4-BE49-F238E27FC236}">
                <a16:creationId xmlns:a16="http://schemas.microsoft.com/office/drawing/2014/main" id="{6EA52C3A-A816-4B86-9238-04E5E3B05FA6}"/>
              </a:ext>
            </a:extLst>
          </p:cNvPr>
          <p:cNvSpPr>
            <a:spLocks xmlns:a="http://schemas.openxmlformats.org/drawingml/2006/main" noGrp="1"/>
          </p:cNvSpPr>
          <p:nvPr/>
        </p:nvSpPr>
        <p:spPr>
          <a:xfrm xmlns:a="http://schemas.openxmlformats.org/drawingml/2006/main">
            <a:off x="6334125" y="3619500"/>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24B"/>
                </a:solidFill>
                <a:latin typeface="Tahoma"/>
                <a:ea typeface="Tahoma"/>
                <a:cs typeface="Tahoma"/>
              </a:defRPr>
            </a:pPr>
            <a:r>
              <a:rPr sz="1725" b="0">
                <a:solidFill>
                  <a:srgbClr val="18324B"/>
                </a:solidFill>
                <a:latin typeface="Tahoma"/>
                <a:ea typeface="Tahoma"/>
                <a:cs typeface="Tahoma"/>
              </a:rPr>
              <a:t>Unsupported or outside scope</a:t>
            </a:r>
          </a:p>
        </p:txBody>
      </p:sp>
      <p:sp>
        <p:nvSpPr>
          <p:cNvPr id="11" name="diagram-396">
            <a:extLst xmlns:a="http://schemas.openxmlformats.org/drawingml/2006/main">
              <a:ext uri="{FF2B5EF4-FFF2-40B4-BE49-F238E27FC236}">
                <a16:creationId xmlns:a16="http://schemas.microsoft.com/office/drawing/2014/main" id="{769AF2CF-B567-434C-897E-1073FE74BE7C}"/>
              </a:ext>
            </a:extLst>
          </p:cNvPr>
          <p:cNvSpPr>
            <a:spLocks xmlns:a="http://schemas.openxmlformats.org/drawingml/2006/main" noGrp="1"/>
          </p:cNvSpPr>
          <p:nvPr/>
        </p:nvSpPr>
        <p:spPr>
          <a:xfrm xmlns:a="http://schemas.openxmlformats.org/drawingml/2006/main">
            <a:off x="762000" y="4619625"/>
            <a:ext cx="10572750" cy="904875"/>
          </a:xfrm>
          <a:prstGeom xmlns:a="http://schemas.openxmlformats.org/drawingml/2006/main" prst="rect">
            <a:avLst/>
          </a:prstGeom>
          <a:solidFill xmlns:a="http://schemas.openxmlformats.org/drawingml/2006/main">
            <a:srgbClr val="E8EFF7"/>
          </a:solidFill>
          <a:ln xmlns:a="http://schemas.openxmlformats.org/drawingml/2006/main" w="0">
            <a:noFill/>
          </a:ln>
        </p:spPr>
      </p:sp>
      <p:sp>
        <p:nvSpPr>
          <p:cNvPr id="12" name="diagram-397">
            <a:extLst xmlns:a="http://schemas.openxmlformats.org/drawingml/2006/main">
              <a:ext uri="{FF2B5EF4-FFF2-40B4-BE49-F238E27FC236}">
                <a16:creationId xmlns:a16="http://schemas.microsoft.com/office/drawing/2014/main" id="{CA4C18AF-4848-4B31-B0F0-697CE38AE25C}"/>
              </a:ext>
            </a:extLst>
          </p:cNvPr>
          <p:cNvSpPr>
            <a:spLocks xmlns:a="http://schemas.openxmlformats.org/drawingml/2006/main" noGrp="1"/>
          </p:cNvSpPr>
          <p:nvPr/>
        </p:nvSpPr>
        <p:spPr>
          <a:xfrm xmlns:a="http://schemas.openxmlformats.org/drawingml/2006/main">
            <a:off x="1000125" y="4810125"/>
            <a:ext cx="295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4FBA"/>
                </a:solidFill>
                <a:latin typeface="Tahoma"/>
                <a:ea typeface="Tahoma"/>
                <a:cs typeface="Tahoma"/>
              </a:defRPr>
            </a:pPr>
            <a:r>
              <a:rPr sz="1800" b="1">
                <a:solidFill>
                  <a:srgbClr val="174FBA"/>
                </a:solidFill>
                <a:latin typeface="Tahoma"/>
                <a:ea typeface="Tahoma"/>
                <a:cs typeface="Tahoma"/>
              </a:rPr>
              <a:t>Judge every item</a:t>
            </a:r>
          </a:p>
        </p:txBody>
      </p:sp>
      <p:sp>
        <p:nvSpPr>
          <p:cNvPr id="13" name="diagram-398">
            <a:extLst xmlns:a="http://schemas.openxmlformats.org/drawingml/2006/main">
              <a:ext uri="{FF2B5EF4-FFF2-40B4-BE49-F238E27FC236}">
                <a16:creationId xmlns:a16="http://schemas.microsoft.com/office/drawing/2014/main" id="{A4A65FE3-D53C-449C-87E3-85A0C7BAF0B9}"/>
              </a:ext>
            </a:extLst>
          </p:cNvPr>
          <p:cNvSpPr>
            <a:spLocks xmlns:a="http://schemas.openxmlformats.org/drawingml/2006/main" noGrp="1"/>
          </p:cNvSpPr>
          <p:nvPr/>
        </p:nvSpPr>
        <p:spPr>
          <a:xfrm xmlns:a="http://schemas.openxmlformats.org/drawingml/2006/main">
            <a:off x="1000125" y="5191125"/>
            <a:ext cx="295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36B80"/>
                </a:solidFill>
                <a:latin typeface="Tahoma"/>
                <a:ea typeface="Tahoma"/>
                <a:cs typeface="Tahoma"/>
              </a:defRPr>
            </a:pPr>
            <a:r>
              <a:rPr sz="1500" b="0">
                <a:solidFill>
                  <a:srgbClr val="536B80"/>
                </a:solidFill>
                <a:latin typeface="Tahoma"/>
                <a:ea typeface="Tahoma"/>
                <a:cs typeface="Tahoma"/>
              </a:rPr>
              <a:t>7 min</a:t>
            </a:r>
          </a:p>
        </p:txBody>
      </p:sp>
      <p:sp>
        <p:nvSpPr>
          <p:cNvPr id="14" name="diagram-399">
            <a:extLst xmlns:a="http://schemas.openxmlformats.org/drawingml/2006/main">
              <a:ext uri="{FF2B5EF4-FFF2-40B4-BE49-F238E27FC236}">
                <a16:creationId xmlns:a16="http://schemas.microsoft.com/office/drawing/2014/main" id="{9B85A823-0A60-448B-B15D-21373695D54D}"/>
              </a:ext>
            </a:extLst>
          </p:cNvPr>
          <p:cNvSpPr>
            <a:spLocks xmlns:a="http://schemas.openxmlformats.org/drawingml/2006/main" noGrp="1"/>
          </p:cNvSpPr>
          <p:nvPr/>
        </p:nvSpPr>
        <p:spPr>
          <a:xfrm xmlns:a="http://schemas.openxmlformats.org/drawingml/2006/main">
            <a:off x="4429125" y="4810125"/>
            <a:ext cx="295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4FBA"/>
                </a:solidFill>
                <a:latin typeface="Tahoma"/>
                <a:ea typeface="Tahoma"/>
                <a:cs typeface="Tahoma"/>
              </a:defRPr>
            </a:pPr>
            <a:r>
              <a:rPr sz="1800" b="1">
                <a:solidFill>
                  <a:srgbClr val="174FBA"/>
                </a:solidFill>
                <a:latin typeface="Tahoma"/>
                <a:ea typeface="Tahoma"/>
                <a:cs typeface="Tahoma"/>
              </a:rPr>
              <a:t>Apply ≤2 changes</a:t>
            </a:r>
          </a:p>
        </p:txBody>
      </p:sp>
      <p:sp>
        <p:nvSpPr>
          <p:cNvPr id="15" name="diagram-400">
            <a:extLst xmlns:a="http://schemas.openxmlformats.org/drawingml/2006/main">
              <a:ext uri="{FF2B5EF4-FFF2-40B4-BE49-F238E27FC236}">
                <a16:creationId xmlns:a16="http://schemas.microsoft.com/office/drawing/2014/main" id="{66AA66EB-34EE-4070-A6BA-9ED94E828D53}"/>
              </a:ext>
            </a:extLst>
          </p:cNvPr>
          <p:cNvSpPr>
            <a:spLocks xmlns:a="http://schemas.openxmlformats.org/drawingml/2006/main" noGrp="1"/>
          </p:cNvSpPr>
          <p:nvPr/>
        </p:nvSpPr>
        <p:spPr>
          <a:xfrm xmlns:a="http://schemas.openxmlformats.org/drawingml/2006/main">
            <a:off x="4429125" y="5191125"/>
            <a:ext cx="295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36B80"/>
                </a:solidFill>
                <a:latin typeface="Tahoma"/>
                <a:ea typeface="Tahoma"/>
                <a:cs typeface="Tahoma"/>
              </a:defRPr>
            </a:pPr>
            <a:r>
              <a:rPr sz="1500" b="0">
                <a:solidFill>
                  <a:srgbClr val="536B80"/>
                </a:solidFill>
                <a:latin typeface="Tahoma"/>
                <a:ea typeface="Tahoma"/>
                <a:cs typeface="Tahoma"/>
              </a:rPr>
              <a:t>5 min</a:t>
            </a:r>
          </a:p>
        </p:txBody>
      </p:sp>
      <p:sp>
        <p:nvSpPr>
          <p:cNvPr id="16" name="diagram-401">
            <a:extLst xmlns:a="http://schemas.openxmlformats.org/drawingml/2006/main">
              <a:ext uri="{FF2B5EF4-FFF2-40B4-BE49-F238E27FC236}">
                <a16:creationId xmlns:a16="http://schemas.microsoft.com/office/drawing/2014/main" id="{A11E6107-93DC-4436-83E3-480A45C06AA9}"/>
              </a:ext>
            </a:extLst>
          </p:cNvPr>
          <p:cNvSpPr>
            <a:spLocks xmlns:a="http://schemas.openxmlformats.org/drawingml/2006/main" noGrp="1"/>
          </p:cNvSpPr>
          <p:nvPr/>
        </p:nvSpPr>
        <p:spPr>
          <a:xfrm xmlns:a="http://schemas.openxmlformats.org/drawingml/2006/main">
            <a:off x="7858125" y="4810125"/>
            <a:ext cx="314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4FBA"/>
                </a:solidFill>
                <a:latin typeface="Tahoma"/>
                <a:ea typeface="Tahoma"/>
                <a:cs typeface="Tahoma"/>
              </a:defRPr>
            </a:pPr>
            <a:r>
              <a:rPr sz="1800" b="1">
                <a:solidFill>
                  <a:srgbClr val="174FBA"/>
                </a:solidFill>
                <a:latin typeface="Tahoma"/>
                <a:ea typeface="Tahoma"/>
                <a:cs typeface="Tahoma"/>
              </a:rPr>
              <a:t>Complete handover</a:t>
            </a:r>
          </a:p>
        </p:txBody>
      </p:sp>
      <p:sp>
        <p:nvSpPr>
          <p:cNvPr id="17" name="diagram-402">
            <a:extLst xmlns:a="http://schemas.openxmlformats.org/drawingml/2006/main">
              <a:ext uri="{FF2B5EF4-FFF2-40B4-BE49-F238E27FC236}">
                <a16:creationId xmlns:a16="http://schemas.microsoft.com/office/drawing/2014/main" id="{3753EB12-E671-4D7D-94C7-D6C4FC627B3A}"/>
              </a:ext>
            </a:extLst>
          </p:cNvPr>
          <p:cNvSpPr>
            <a:spLocks xmlns:a="http://schemas.openxmlformats.org/drawingml/2006/main" noGrp="1"/>
          </p:cNvSpPr>
          <p:nvPr/>
        </p:nvSpPr>
        <p:spPr>
          <a:xfrm xmlns:a="http://schemas.openxmlformats.org/drawingml/2006/main">
            <a:off x="7858125" y="5191125"/>
            <a:ext cx="314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36B80"/>
                </a:solidFill>
                <a:latin typeface="Tahoma"/>
                <a:ea typeface="Tahoma"/>
                <a:cs typeface="Tahoma"/>
              </a:defRPr>
            </a:pPr>
            <a:r>
              <a:rPr sz="1500" b="0">
                <a:solidFill>
                  <a:srgbClr val="536B80"/>
                </a:solidFill>
                <a:latin typeface="Tahoma"/>
                <a:ea typeface="Tahoma"/>
                <a:cs typeface="Tahoma"/>
              </a:rPr>
              <a:t>7 min</a:t>
            </a:r>
          </a:p>
        </p:txBody>
      </p:sp>
    </p:spTree>
    <p:extLst>
      <p:ext uri="{BB962C8B-B14F-4D97-AF65-F5344CB8AC3E}">
        <p14:creationId xmlns:p14="http://schemas.microsoft.com/office/powerpoint/2010/main" val="1800859455"/>
      </p:ext>
    </p:extLst>
  </p:cSld>
</p:sld>
</file>

<file path=ppt/slides/slide40.xml><?xml version="1.0" encoding="utf-8"?>
<p:sld xmlns:p="http://schemas.openxmlformats.org/presentationml/2006/main">
  <p:cSld>
    <p:bg>
      <p:bgPr>
        <a:solidFill xmlns:a="http://schemas.openxmlformats.org/drawingml/2006/main">
          <a:srgbClr val="102D50"/>
        </a:solidFill>
      </p:bgPr>
    </p:bg>
    <p:spTree>
      <p:nvGrpSpPr>
        <p:cNvPr id="1" name=""/>
        <p:cNvGrpSpPr/>
        <p:nvPr/>
      </p:nvGrpSpPr>
      <p:grpSpPr>
        <a:xfrm xmlns:a="http://schemas.openxmlformats.org/drawingml/2006/main"/>
      </p:grpSpPr>
      <p:sp>
        <p:nvSpPr>
          <p:cNvPr id="7" name="diagram-403">
            <a:extLst xmlns:a="http://schemas.openxmlformats.org/drawingml/2006/main">
              <a:ext uri="{FF2B5EF4-FFF2-40B4-BE49-F238E27FC236}">
                <a16:creationId xmlns:a16="http://schemas.microsoft.com/office/drawing/2014/main" id="{F2DABBA2-A420-41EE-972C-01F9B58B5D95}"/>
              </a:ext>
            </a:extLst>
          </p:cNvPr>
          <p:cNvSpPr>
            <a:spLocks xmlns:a="http://schemas.openxmlformats.org/drawingml/2006/main" noGrp="1"/>
          </p:cNvSpPr>
          <p:nvPr/>
        </p:nvSpPr>
        <p:spPr>
          <a:xfrm xmlns:a="http://schemas.openxmlformats.org/drawingml/2006/main">
            <a:off x="666750" y="1000125"/>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FFFFFF"/>
                </a:solidFill>
                <a:latin typeface="Tahoma"/>
                <a:ea typeface="Tahoma"/>
                <a:cs typeface="Tahoma"/>
              </a:defRPr>
            </a:pPr>
            <a:r>
              <a:rPr sz="3225" b="1">
                <a:solidFill>
                  <a:srgbClr val="FFFFFF"/>
                </a:solidFill>
                <a:latin typeface="Tahoma"/>
                <a:ea typeface="Tahoma"/>
                <a:cs typeface="Tahoma"/>
              </a:rPr>
              <a:t>Outputs and next steps</a:t>
            </a:r>
          </a:p>
        </p:txBody>
      </p:sp>
      <p:sp>
        <p:nvSpPr>
          <p:cNvPr id="2" name="diagram-404">
            <a:extLst xmlns:a="http://schemas.openxmlformats.org/drawingml/2006/main">
              <a:ext uri="{FF2B5EF4-FFF2-40B4-BE49-F238E27FC236}">
                <a16:creationId xmlns:a16="http://schemas.microsoft.com/office/drawing/2014/main" id="{B37824C0-E58C-498F-8892-582A349D2D9E}"/>
              </a:ext>
            </a:extLst>
          </p:cNvPr>
          <p:cNvSpPr>
            <a:spLocks xmlns:a="http://schemas.openxmlformats.org/drawingml/2006/main" noGrp="1"/>
          </p:cNvSpPr>
          <p:nvPr/>
        </p:nvSpPr>
        <p:spPr>
          <a:xfrm xmlns:a="http://schemas.openxmlformats.org/drawingml/2006/main">
            <a:off x="762000" y="2286000"/>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Tahoma"/>
                <a:ea typeface="Tahoma"/>
                <a:cs typeface="Tahoma"/>
              </a:defRPr>
            </a:pPr>
            <a:r>
              <a:rPr sz="2700" b="1">
                <a:solidFill>
                  <a:srgbClr val="FFFFFF"/>
                </a:solidFill>
                <a:latin typeface="Tahoma"/>
                <a:ea typeface="Tahoma"/>
                <a:cs typeface="Tahoma"/>
              </a:rPr>
              <a:t>Selected opportunity</a:t>
            </a:r>
          </a:p>
        </p:txBody>
      </p:sp>
      <p:sp>
        <p:nvSpPr>
          <p:cNvPr id="3" name="diagram-405">
            <a:extLst xmlns:a="http://schemas.openxmlformats.org/drawingml/2006/main">
              <a:ext uri="{FF2B5EF4-FFF2-40B4-BE49-F238E27FC236}">
                <a16:creationId xmlns:a16="http://schemas.microsoft.com/office/drawing/2014/main" id="{0881ED8E-9E62-42A1-A583-B9F164A672AE}"/>
              </a:ext>
            </a:extLst>
          </p:cNvPr>
          <p:cNvSpPr>
            <a:spLocks xmlns:a="http://schemas.openxmlformats.org/drawingml/2006/main" noGrp="1"/>
          </p:cNvSpPr>
          <p:nvPr/>
        </p:nvSpPr>
        <p:spPr>
          <a:xfrm xmlns:a="http://schemas.openxmlformats.org/drawingml/2006/main">
            <a:off x="6381750" y="2286000"/>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Tahoma"/>
                <a:ea typeface="Tahoma"/>
                <a:cs typeface="Tahoma"/>
              </a:defRPr>
            </a:pPr>
            <a:r>
              <a:rPr sz="2700" b="1">
                <a:solidFill>
                  <a:srgbClr val="FFFFFF"/>
                </a:solidFill>
                <a:latin typeface="Tahoma"/>
                <a:ea typeface="Tahoma"/>
                <a:cs typeface="Tahoma"/>
              </a:rPr>
              <a:t>Tested Blueprint</a:t>
            </a:r>
          </a:p>
        </p:txBody>
      </p:sp>
      <p:sp>
        <p:nvSpPr>
          <p:cNvPr id="4" name="diagram-406">
            <a:extLst xmlns:a="http://schemas.openxmlformats.org/drawingml/2006/main">
              <a:ext uri="{FF2B5EF4-FFF2-40B4-BE49-F238E27FC236}">
                <a16:creationId xmlns:a16="http://schemas.microsoft.com/office/drawing/2014/main" id="{927D6D11-47B0-4301-9ACA-E28A779CEE41}"/>
              </a:ext>
            </a:extLst>
          </p:cNvPr>
          <p:cNvSpPr>
            <a:spLocks xmlns:a="http://schemas.openxmlformats.org/drawingml/2006/main" noGrp="1"/>
          </p:cNvSpPr>
          <p:nvPr/>
        </p:nvSpPr>
        <p:spPr>
          <a:xfrm xmlns:a="http://schemas.openxmlformats.org/drawingml/2006/main">
            <a:off x="762000" y="3524250"/>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FFFFFF"/>
                </a:solidFill>
                <a:latin typeface="Tahoma"/>
                <a:ea typeface="Tahoma"/>
                <a:cs typeface="Tahoma"/>
              </a:defRPr>
            </a:pPr>
            <a:r>
              <a:rPr sz="2325" b="1">
                <a:solidFill>
                  <a:srgbClr val="FFFFFF"/>
                </a:solidFill>
                <a:latin typeface="Tahoma"/>
                <a:ea typeface="Tahoma"/>
                <a:cs typeface="Tahoma"/>
              </a:rPr>
              <a:t>Human-reviewed decision record</a:t>
            </a:r>
          </a:p>
        </p:txBody>
      </p:sp>
      <p:sp>
        <p:nvSpPr>
          <p:cNvPr id="5" name="diagram-407">
            <a:extLst xmlns:a="http://schemas.openxmlformats.org/drawingml/2006/main">
              <a:ext uri="{FF2B5EF4-FFF2-40B4-BE49-F238E27FC236}">
                <a16:creationId xmlns:a16="http://schemas.microsoft.com/office/drawing/2014/main" id="{7CF808BD-A7E7-479B-9C8E-1837D8762DEA}"/>
              </a:ext>
            </a:extLst>
          </p:cNvPr>
          <p:cNvSpPr>
            <a:spLocks xmlns:a="http://schemas.openxmlformats.org/drawingml/2006/main" noGrp="1"/>
          </p:cNvSpPr>
          <p:nvPr/>
        </p:nvSpPr>
        <p:spPr>
          <a:xfrm xmlns:a="http://schemas.openxmlformats.org/drawingml/2006/main">
            <a:off x="6381750" y="3524250"/>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Tahoma"/>
                <a:ea typeface="Tahoma"/>
                <a:cs typeface="Tahoma"/>
              </a:defRPr>
            </a:pPr>
            <a:r>
              <a:rPr sz="2700" b="1">
                <a:solidFill>
                  <a:srgbClr val="FFFFFF"/>
                </a:solidFill>
                <a:latin typeface="Tahoma"/>
                <a:ea typeface="Tahoma"/>
                <a:cs typeface="Tahoma"/>
              </a:rPr>
              <a:t>Handover Card</a:t>
            </a:r>
          </a:p>
        </p:txBody>
      </p:sp>
      <p:sp>
        <p:nvSpPr>
          <p:cNvPr id="6" name="diagram-408">
            <a:extLst xmlns:a="http://schemas.openxmlformats.org/drawingml/2006/main">
              <a:ext uri="{FF2B5EF4-FFF2-40B4-BE49-F238E27FC236}">
                <a16:creationId xmlns:a16="http://schemas.microsoft.com/office/drawing/2014/main" id="{C1BEDF26-ACA8-47EC-90D1-FF400C3895EC}"/>
              </a:ext>
            </a:extLst>
          </p:cNvPr>
          <p:cNvSpPr>
            <a:spLocks xmlns:a="http://schemas.openxmlformats.org/drawingml/2006/main" noGrp="1"/>
          </p:cNvSpPr>
          <p:nvPr/>
        </p:nvSpPr>
        <p:spPr>
          <a:xfrm xmlns:a="http://schemas.openxmlformats.org/drawingml/2006/main">
            <a:off x="762000" y="5238750"/>
            <a:ext cx="1057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ABCAE8"/>
                </a:solidFill>
                <a:latin typeface="Tahoma"/>
                <a:ea typeface="Tahoma"/>
                <a:cs typeface="Tahoma"/>
              </a:defRPr>
            </a:pPr>
            <a:r>
              <a:rPr sz="2400" b="0">
                <a:solidFill>
                  <a:srgbClr val="ABCAE8"/>
                </a:solidFill>
                <a:latin typeface="Tahoma"/>
                <a:ea typeface="Tahoma"/>
                <a:cs typeface="Tahoma"/>
              </a:rPr>
              <a:t>What will you discuss, with whom, and when?</a:t>
            </a:r>
          </a:p>
        </p:txBody>
      </p:sp>
    </p:spTree>
    <p:extLst>
      <p:ext uri="{BB962C8B-B14F-4D97-AF65-F5344CB8AC3E}">
        <p14:creationId xmlns:p14="http://schemas.microsoft.com/office/powerpoint/2010/main" val="4627080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2026-09-28T07:16:07.0780000Z</dcterms:created>
  <dcterms:modified xsi:type="dcterms:W3CDTF">2026-09-28T07:16:07.0780000Z</dcterms:modified>
</coreProperties>
</file>